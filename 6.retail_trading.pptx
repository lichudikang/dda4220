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Default Extension="png" ContentType="image/png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17396" y="2605532"/>
            <a:ext cx="5848984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AFABAB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AFABAB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992" y="107187"/>
            <a:ext cx="10743967" cy="1519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807971"/>
            <a:ext cx="7687945" cy="2497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AFABAB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4715" y="6432927"/>
            <a:ext cx="257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kahoot.it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P0dAqlP3Imc" TargetMode="External"/><Relationship Id="rId3" Type="http://schemas.openxmlformats.org/officeDocument/2006/relationships/hyperlink" Target="https://www.youtube.com/watch?v=Z_nsrcnwHQc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investingintheweb.com/brokers/the-largest-robo-" TargetMode="Externa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2HSW" TargetMode="External"/><Relationship Id="rId3" Type="http://schemas.openxmlformats.org/officeDocument/2006/relationships/image" Target="../media/image34.jpg"/><Relationship Id="rId4" Type="http://schemas.openxmlformats.org/officeDocument/2006/relationships/image" Target="../media/image35.png"/><Relationship Id="rId5" Type="http://schemas.openxmlformats.org/officeDocument/2006/relationships/image" Target="../media/image36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6.</a:t>
            </a:r>
            <a:r>
              <a:rPr dirty="0" sz="6000" spc="-65"/>
              <a:t> </a:t>
            </a:r>
            <a:r>
              <a:rPr dirty="0" sz="6000"/>
              <a:t>Retail</a:t>
            </a:r>
            <a:r>
              <a:rPr dirty="0" sz="6000" spc="-65"/>
              <a:t> </a:t>
            </a:r>
            <a:r>
              <a:rPr dirty="0" sz="6000" spc="-10"/>
              <a:t>Trading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5433218" y="4053332"/>
            <a:ext cx="1325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Qi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Wang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4460875" cy="312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Investors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FinTech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investors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Brokerages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Case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study: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Schwab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3761" y="2863596"/>
            <a:ext cx="397382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1369" y="1529329"/>
            <a:ext cx="5901250" cy="463461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2992" y="446532"/>
            <a:ext cx="395795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335643" y="1546859"/>
            <a:ext cx="5684520" cy="425323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39395" marR="172720" indent="-226695">
              <a:lnSpc>
                <a:spcPct val="79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i="1">
                <a:latin typeface="Century Gothic"/>
                <a:cs typeface="Century Gothic"/>
              </a:rPr>
              <a:t>Retail</a:t>
            </a:r>
            <a:r>
              <a:rPr dirty="0" sz="2000" spc="-50" i="1">
                <a:latin typeface="Century Gothic"/>
                <a:cs typeface="Century Gothic"/>
              </a:rPr>
              <a:t> </a:t>
            </a:r>
            <a:r>
              <a:rPr dirty="0" sz="2000" i="1">
                <a:latin typeface="Century Gothic"/>
                <a:cs typeface="Century Gothic"/>
              </a:rPr>
              <a:t>investors</a:t>
            </a:r>
            <a:r>
              <a:rPr dirty="0" sz="2000" spc="-50" i="1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individuals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in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own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personal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account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rather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institution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or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organization.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ts val="215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collectively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bought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around</a:t>
            </a:r>
            <a:endParaRPr sz="2000">
              <a:latin typeface="Century Gothic"/>
              <a:cs typeface="Century Gothic"/>
            </a:endParaRPr>
          </a:p>
          <a:p>
            <a:pPr marL="241300" marR="5080">
              <a:lnSpc>
                <a:spcPct val="79000"/>
              </a:lnSpc>
              <a:spcBef>
                <a:spcPts val="250"/>
              </a:spcBef>
            </a:pPr>
            <a:r>
              <a:rPr dirty="0" sz="2000">
                <a:latin typeface="Century Gothic"/>
                <a:cs typeface="Century Gothic"/>
              </a:rPr>
              <a:t>$3.4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trillion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worth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equities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first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half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2025,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according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Nasdaq.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1705"/>
              </a:lnSpc>
            </a:pPr>
            <a:r>
              <a:rPr dirty="0" sz="2000">
                <a:latin typeface="Century Gothic"/>
                <a:cs typeface="Century Gothic"/>
              </a:rPr>
              <a:t>Also,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sold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about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$3.2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trillion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worth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50">
                <a:latin typeface="Century Gothic"/>
                <a:cs typeface="Century Gothic"/>
              </a:rPr>
              <a:t>—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10"/>
              </a:lnSpc>
            </a:pPr>
            <a:r>
              <a:rPr dirty="0" sz="2000">
                <a:latin typeface="Century Gothic"/>
                <a:cs typeface="Century Gothic"/>
              </a:rPr>
              <a:t>bringing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total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$6.6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trillion.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2000">
              <a:latin typeface="Century Gothic"/>
              <a:cs typeface="Century Gothic"/>
            </a:endParaRPr>
          </a:p>
          <a:p>
            <a:pPr marL="239395" marR="260985" indent="-226695">
              <a:lnSpc>
                <a:spcPct val="807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SEC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chairman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Jay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Clayton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stated,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“Our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analysis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starts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ends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long-</a:t>
            </a:r>
            <a:r>
              <a:rPr dirty="0" sz="2000" spc="-20">
                <a:latin typeface="Century Gothic"/>
                <a:cs typeface="Century Gothic"/>
              </a:rPr>
              <a:t>term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interests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Main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Street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[retail 	investor].”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Investment</a:t>
            </a:r>
            <a:r>
              <a:rPr dirty="0" spc="-180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6277610" cy="147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invest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stock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market?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Which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brokerage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app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use?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5970" y="1755140"/>
            <a:ext cx="3824604" cy="2482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Century Gothic"/>
                <a:cs typeface="Century Gothic"/>
              </a:rPr>
              <a:t>Kahoot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entury Gothic"/>
              <a:cs typeface="Century Gothic"/>
            </a:endParaRPr>
          </a:p>
          <a:p>
            <a:pPr marL="298450" marR="113664" indent="-285750">
              <a:lnSpc>
                <a:spcPts val="209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Century Gothic"/>
                <a:cs typeface="Century Gothic"/>
              </a:rPr>
              <a:t>Please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u="sng" sz="180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2"/>
              </a:rPr>
              <a:t>www.kahoot.it</a:t>
            </a:r>
            <a:r>
              <a:rPr dirty="0" u="none" sz="1800" spc="-40">
                <a:solidFill>
                  <a:srgbClr val="0563C1"/>
                </a:solidFill>
                <a:latin typeface="Century Gothic"/>
                <a:cs typeface="Century Gothic"/>
              </a:rPr>
              <a:t> </a:t>
            </a:r>
            <a:r>
              <a:rPr dirty="0" u="none" sz="1800" spc="-25">
                <a:latin typeface="Century Gothic"/>
                <a:cs typeface="Century Gothic"/>
              </a:rPr>
              <a:t>on </a:t>
            </a:r>
            <a:r>
              <a:rPr dirty="0" u="none" sz="1800">
                <a:latin typeface="Century Gothic"/>
                <a:cs typeface="Century Gothic"/>
              </a:rPr>
              <a:t>your</a:t>
            </a:r>
            <a:r>
              <a:rPr dirty="0" u="none" sz="1800" spc="-25">
                <a:latin typeface="Century Gothic"/>
                <a:cs typeface="Century Gothic"/>
              </a:rPr>
              <a:t> </a:t>
            </a:r>
            <a:r>
              <a:rPr dirty="0" u="none" sz="1800">
                <a:latin typeface="Century Gothic"/>
                <a:cs typeface="Century Gothic"/>
              </a:rPr>
              <a:t>phone</a:t>
            </a:r>
            <a:r>
              <a:rPr dirty="0" u="none" sz="1800" spc="-15">
                <a:latin typeface="Century Gothic"/>
                <a:cs typeface="Century Gothic"/>
              </a:rPr>
              <a:t> </a:t>
            </a:r>
            <a:r>
              <a:rPr dirty="0" u="none" sz="1800">
                <a:latin typeface="Century Gothic"/>
                <a:cs typeface="Century Gothic"/>
              </a:rPr>
              <a:t>or</a:t>
            </a:r>
            <a:r>
              <a:rPr dirty="0" u="none" sz="1800" spc="-20">
                <a:latin typeface="Century Gothic"/>
                <a:cs typeface="Century Gothic"/>
              </a:rPr>
              <a:t> </a:t>
            </a:r>
            <a:r>
              <a:rPr dirty="0" u="none" sz="1800" spc="-10">
                <a:latin typeface="Century Gothic"/>
                <a:cs typeface="Century Gothic"/>
              </a:rPr>
              <a:t>computer.</a:t>
            </a:r>
            <a:endParaRPr sz="1800">
              <a:latin typeface="Century Gothic"/>
              <a:cs typeface="Century Gothic"/>
            </a:endParaRPr>
          </a:p>
          <a:p>
            <a:pPr marL="298450" marR="624205" indent="-285750">
              <a:lnSpc>
                <a:spcPts val="221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Century Gothic"/>
                <a:cs typeface="Century Gothic"/>
              </a:rPr>
              <a:t>Enter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FF0000"/>
                </a:solidFill>
                <a:latin typeface="Century Gothic"/>
                <a:cs typeface="Century Gothic"/>
              </a:rPr>
              <a:t>game</a:t>
            </a:r>
            <a:r>
              <a:rPr dirty="0" sz="1800" spc="-2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FF0000"/>
                </a:solidFill>
                <a:latin typeface="Century Gothic"/>
                <a:cs typeface="Century Gothic"/>
              </a:rPr>
              <a:t>pin</a:t>
            </a:r>
            <a:r>
              <a:rPr dirty="0" sz="1800" spc="-2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(see </a:t>
            </a:r>
            <a:r>
              <a:rPr dirty="0" sz="1800">
                <a:latin typeface="Century Gothic"/>
                <a:cs typeface="Century Gothic"/>
              </a:rPr>
              <a:t>projector)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device.</a:t>
            </a:r>
            <a:endParaRPr sz="1800">
              <a:latin typeface="Century Gothic"/>
              <a:cs typeface="Century Gothic"/>
            </a:endParaRPr>
          </a:p>
          <a:p>
            <a:pPr marL="297815" indent="-285115">
              <a:lnSpc>
                <a:spcPts val="2005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800">
                <a:latin typeface="Century Gothic"/>
                <a:cs typeface="Century Gothic"/>
              </a:rPr>
              <a:t>When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asked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nickname,</a:t>
            </a:r>
            <a:endParaRPr sz="1800">
              <a:latin typeface="Century Gothic"/>
              <a:cs typeface="Century Gothic"/>
            </a:endParaRPr>
          </a:p>
          <a:p>
            <a:pPr marL="298450" marR="5080">
              <a:lnSpc>
                <a:spcPts val="2090"/>
              </a:lnSpc>
              <a:spcBef>
                <a:spcPts val="175"/>
              </a:spcBef>
            </a:pPr>
            <a:r>
              <a:rPr dirty="0" sz="1800">
                <a:latin typeface="Century Gothic"/>
                <a:cs typeface="Century Gothic"/>
              </a:rPr>
              <a:t>enter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20" b="1">
                <a:solidFill>
                  <a:srgbClr val="FF0000"/>
                </a:solidFill>
                <a:latin typeface="Century Gothic"/>
                <a:cs typeface="Century Gothic"/>
              </a:rPr>
              <a:t>8-</a:t>
            </a:r>
            <a:r>
              <a:rPr dirty="0" sz="1800" b="1">
                <a:solidFill>
                  <a:srgbClr val="FF0000"/>
                </a:solidFill>
                <a:latin typeface="Century Gothic"/>
                <a:cs typeface="Century Gothic"/>
              </a:rPr>
              <a:t>digit</a:t>
            </a:r>
            <a:r>
              <a:rPr dirty="0" sz="1800" spc="-3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entury Gothic"/>
                <a:cs typeface="Century Gothic"/>
              </a:rPr>
              <a:t>student</a:t>
            </a:r>
            <a:r>
              <a:rPr dirty="0" sz="1800" spc="-3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1800" spc="-25" b="1">
                <a:solidFill>
                  <a:srgbClr val="FF0000"/>
                </a:solidFill>
                <a:latin typeface="Century Gothic"/>
                <a:cs typeface="Century Gothic"/>
              </a:rPr>
              <a:t>ID </a:t>
            </a:r>
            <a:r>
              <a:rPr dirty="0" sz="1800">
                <a:latin typeface="Century Gothic"/>
                <a:cs typeface="Century Gothic"/>
              </a:rPr>
              <a:t>(E.g.,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55123456)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on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your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device.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75"/>
              <a:t> </a:t>
            </a:r>
            <a:r>
              <a:rPr dirty="0"/>
              <a:t>active</a:t>
            </a:r>
            <a:r>
              <a:rPr dirty="0" spc="-75"/>
              <a:t> </a:t>
            </a:r>
            <a:r>
              <a:rPr dirty="0"/>
              <a:t>retail</a:t>
            </a:r>
            <a:r>
              <a:rPr dirty="0" spc="-85"/>
              <a:t> </a:t>
            </a:r>
            <a:r>
              <a:rPr dirty="0" spc="-10"/>
              <a:t>investor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1462" y="0"/>
            <a:ext cx="2540537" cy="1690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1821179"/>
            <a:ext cx="9801225" cy="405384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Feb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2020,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Milos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Randelovic,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average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citizen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B.C.,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started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engage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in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20">
                <a:latin typeface="Century Gothic"/>
                <a:cs typeface="Century Gothic"/>
              </a:rPr>
              <a:t>day-</a:t>
            </a:r>
            <a:r>
              <a:rPr dirty="0" sz="2000" spc="-10">
                <a:latin typeface="Century Gothic"/>
                <a:cs typeface="Century Gothic"/>
              </a:rPr>
              <a:t>trading.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Read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some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trading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books,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scrutinized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how-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websites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browsed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YouTube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channels.</a:t>
            </a:r>
            <a:endParaRPr sz="1600">
              <a:latin typeface="Century Gothic"/>
              <a:cs typeface="Century Gothic"/>
            </a:endParaRPr>
          </a:p>
          <a:p>
            <a:pPr lvl="1" marL="698500" marR="274955" indent="-228600">
              <a:lnSpc>
                <a:spcPts val="1700"/>
              </a:lnSpc>
              <a:spcBef>
                <a:spcPts val="53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“With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all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research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did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following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markets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every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day,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felt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could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make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some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good </a:t>
            </a:r>
            <a:r>
              <a:rPr dirty="0" sz="1600" spc="-10">
                <a:latin typeface="Century Gothic"/>
                <a:cs typeface="Century Gothic"/>
              </a:rPr>
              <a:t>money.”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39395" indent="-226695">
              <a:lnSpc>
                <a:spcPts val="2255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Nearly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year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out,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initial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$10,000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sum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he’d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aside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shrunk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by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55"/>
              </a:lnSpc>
            </a:pPr>
            <a:r>
              <a:rPr dirty="0" sz="2000">
                <a:latin typeface="Century Gothic"/>
                <a:cs typeface="Century Gothic"/>
              </a:rPr>
              <a:t>$6,500,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despite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rocketing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during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time.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“I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found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out,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obviously,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it’s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much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harder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than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how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it’s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presented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media.”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90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“Day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addictive,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like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gambling.”</a:t>
            </a:r>
            <a:endParaRPr sz="2000">
              <a:latin typeface="Century Gothic"/>
              <a:cs typeface="Century Gothic"/>
            </a:endParaRPr>
          </a:p>
          <a:p>
            <a:pPr lvl="1" marL="698500" marR="158115" indent="-228600">
              <a:lnSpc>
                <a:spcPts val="170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Research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has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shown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that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market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actual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gambling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(lottery)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substitute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 spc="-25">
                <a:latin typeface="Century Gothic"/>
                <a:cs typeface="Century Gothic"/>
              </a:rPr>
              <a:t>one </a:t>
            </a:r>
            <a:r>
              <a:rPr dirty="0" sz="1600">
                <a:latin typeface="Century Gothic"/>
                <a:cs typeface="Century Gothic"/>
              </a:rPr>
              <a:t>another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(Gao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Lin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2015).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retail</a:t>
            </a:r>
            <a:r>
              <a:rPr dirty="0" spc="-80"/>
              <a:t> </a:t>
            </a:r>
            <a:r>
              <a:rPr dirty="0" spc="-10"/>
              <a:t>trades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10169525" cy="29292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perform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poorly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markets.</a:t>
            </a:r>
            <a:endParaRPr sz="2400">
              <a:latin typeface="Century Gothic"/>
              <a:cs typeface="Century Gothic"/>
            </a:endParaRPr>
          </a:p>
          <a:p>
            <a:pPr lvl="1" marL="696595" marR="132715" indent="-226695">
              <a:lnSpc>
                <a:spcPts val="2210"/>
              </a:lnSpc>
              <a:spcBef>
                <a:spcPts val="46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estimate,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average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3.7%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annually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(the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most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active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quantile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10.4%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annually)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average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Taiwan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9%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annually.</a:t>
            </a:r>
            <a:endParaRPr sz="2000">
              <a:latin typeface="Century Gothic"/>
              <a:cs typeface="Century Gothic"/>
            </a:endParaRPr>
          </a:p>
          <a:p>
            <a:pPr lvl="2" marL="1154430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154430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loss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equal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2.8%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total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personal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income,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2.2%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Taiwan’s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total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GDP.</a:t>
            </a:r>
            <a:endParaRPr sz="18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0029" marR="238125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Men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more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women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loses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more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result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(Barber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25">
                <a:latin typeface="Century Gothic"/>
                <a:cs typeface="Century Gothic"/>
              </a:rPr>
              <a:t>and </a:t>
            </a:r>
            <a:r>
              <a:rPr dirty="0" sz="1800" spc="-25">
                <a:latin typeface="Century Gothic"/>
                <a:cs typeface="Century Gothic"/>
              </a:rPr>
              <a:t>	</a:t>
            </a:r>
            <a:r>
              <a:rPr dirty="0" sz="1800">
                <a:latin typeface="Century Gothic"/>
                <a:cs typeface="Century Gothic"/>
              </a:rPr>
              <a:t>Odean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2001)</a:t>
            </a:r>
            <a:r>
              <a:rPr dirty="0" sz="2400" spc="-1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85"/>
              <a:t> </a:t>
            </a:r>
            <a:r>
              <a:rPr dirty="0"/>
              <a:t>do</a:t>
            </a:r>
            <a:r>
              <a:rPr dirty="0" spc="-95"/>
              <a:t> </a:t>
            </a:r>
            <a:r>
              <a:rPr dirty="0"/>
              <a:t>retail</a:t>
            </a:r>
            <a:r>
              <a:rPr dirty="0" spc="-95"/>
              <a:t> </a:t>
            </a:r>
            <a:r>
              <a:rPr dirty="0"/>
              <a:t>investors</a:t>
            </a:r>
            <a:r>
              <a:rPr dirty="0" spc="-85"/>
              <a:t> </a:t>
            </a:r>
            <a:r>
              <a:rPr dirty="0" spc="-10"/>
              <a:t>underperform?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588"/>
            <a:ext cx="10063480" cy="417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Information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asymmetry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 spc="-10">
                <a:latin typeface="Century Gothic"/>
                <a:cs typeface="Century Gothic"/>
              </a:rPr>
              <a:t>Overconfidence:</a:t>
            </a:r>
            <a:endParaRPr sz="2200">
              <a:latin typeface="Century Gothic"/>
              <a:cs typeface="Century Gothic"/>
            </a:endParaRPr>
          </a:p>
          <a:p>
            <a:pPr lvl="1" marL="926465" indent="-456565">
              <a:lnSpc>
                <a:spcPct val="100000"/>
              </a:lnSpc>
              <a:spcBef>
                <a:spcPts val="60"/>
              </a:spcBef>
              <a:buAutoNum type="arabicParenR"/>
              <a:tabLst>
                <a:tab pos="926465" algn="l"/>
              </a:tabLst>
            </a:pPr>
            <a:r>
              <a:rPr dirty="0" sz="1900">
                <a:latin typeface="Century Gothic"/>
                <a:cs typeface="Century Gothic"/>
              </a:rPr>
              <a:t>Belief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that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one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knows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more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than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one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actually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does.</a:t>
            </a:r>
            <a:endParaRPr sz="1900">
              <a:latin typeface="Century Gothic"/>
              <a:cs typeface="Century Gothic"/>
            </a:endParaRPr>
          </a:p>
          <a:p>
            <a:pPr lvl="1" marL="926465" indent="-456565">
              <a:lnSpc>
                <a:spcPct val="100000"/>
              </a:lnSpc>
              <a:spcBef>
                <a:spcPts val="120"/>
              </a:spcBef>
              <a:buAutoNum type="arabicParenR"/>
              <a:tabLst>
                <a:tab pos="926465" algn="l"/>
              </a:tabLst>
            </a:pPr>
            <a:r>
              <a:rPr dirty="0" sz="1900">
                <a:latin typeface="Century Gothic"/>
                <a:cs typeface="Century Gothic"/>
              </a:rPr>
              <a:t>Belief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that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one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better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than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median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person.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90"/>
              </a:spcBef>
              <a:buFont typeface="Century Gothic"/>
              <a:buAutoNum type="arabicParenR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Sensation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seeking</a:t>
            </a:r>
            <a:endParaRPr sz="2200">
              <a:latin typeface="Century Gothic"/>
              <a:cs typeface="Century Gothic"/>
            </a:endParaRPr>
          </a:p>
          <a:p>
            <a:pPr marL="697230" marR="5080" indent="-227329">
              <a:lnSpc>
                <a:spcPct val="7890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e.g.,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trading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is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often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substituted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by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lotteries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–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trading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Taiwan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dropped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by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25%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when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legal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lottery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was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introduced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2002.</a:t>
            </a:r>
            <a:endParaRPr sz="19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 spc="-10">
                <a:latin typeface="Century Gothic"/>
                <a:cs typeface="Century Gothic"/>
              </a:rPr>
              <a:t>Familiarity</a:t>
            </a:r>
            <a:endParaRPr sz="2200">
              <a:latin typeface="Century Gothic"/>
              <a:cs typeface="Century Gothic"/>
            </a:endParaRPr>
          </a:p>
          <a:p>
            <a:pPr lvl="1" marL="697230" marR="260985" indent="-227329">
              <a:lnSpc>
                <a:spcPct val="7890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investors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tend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to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overinvest</a:t>
            </a:r>
            <a:r>
              <a:rPr dirty="0" sz="1900" spc="-2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stocks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geographical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and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occupational 	familiarity.</a:t>
            </a:r>
            <a:endParaRPr sz="1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72795"/>
            <a:ext cx="95116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0"/>
              <a:t> </a:t>
            </a:r>
            <a:r>
              <a:rPr dirty="0"/>
              <a:t>patterns:</a:t>
            </a:r>
            <a:r>
              <a:rPr dirty="0" spc="-110"/>
              <a:t> </a:t>
            </a:r>
            <a:r>
              <a:rPr dirty="0"/>
              <a:t>disposition</a:t>
            </a:r>
            <a:r>
              <a:rPr dirty="0" spc="-90"/>
              <a:t> </a:t>
            </a:r>
            <a:r>
              <a:rPr dirty="0" spc="-10"/>
              <a:t>effects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622" y="1308099"/>
            <a:ext cx="89287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entury Gothic"/>
                <a:cs typeface="Century Gothic"/>
              </a:rPr>
              <a:t>Disposition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effects:</a:t>
            </a:r>
            <a:r>
              <a:rPr dirty="0" sz="2800" spc="-9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selling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winners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and</a:t>
            </a:r>
            <a:r>
              <a:rPr dirty="0" sz="2800" spc="-9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holding</a:t>
            </a:r>
            <a:r>
              <a:rPr dirty="0" sz="2800" spc="-8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losers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528" y="2177028"/>
            <a:ext cx="4553270" cy="2960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4427" y="2194526"/>
            <a:ext cx="4612039" cy="29211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61009" y="5330952"/>
            <a:ext cx="45332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Grey</a:t>
            </a:r>
            <a:r>
              <a:rPr dirty="0" sz="1100" spc="-3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lines</a:t>
            </a:r>
            <a:r>
              <a:rPr dirty="0" sz="1100" spc="-4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represent</a:t>
            </a:r>
            <a:r>
              <a:rPr dirty="0" sz="1100" spc="-3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95%</a:t>
            </a:r>
            <a:r>
              <a:rPr dirty="0" sz="1100" spc="-3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confidence</a:t>
            </a:r>
            <a:r>
              <a:rPr dirty="0" sz="1100" spc="-35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intervals</a:t>
            </a:r>
            <a:r>
              <a:rPr dirty="0" sz="1100" spc="-4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on</a:t>
            </a:r>
            <a:r>
              <a:rPr dirty="0" sz="1100" spc="-3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estimated</a:t>
            </a:r>
            <a:r>
              <a:rPr dirty="0" sz="1100" spc="-25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>
                <a:solidFill>
                  <a:srgbClr val="211D1E"/>
                </a:solidFill>
                <a:latin typeface="Segoe UI"/>
                <a:cs typeface="Segoe UI"/>
              </a:rPr>
              <a:t>hazard</a:t>
            </a:r>
            <a:r>
              <a:rPr dirty="0" sz="1100" spc="-30">
                <a:solidFill>
                  <a:srgbClr val="211D1E"/>
                </a:solidFill>
                <a:latin typeface="Segoe UI"/>
                <a:cs typeface="Segoe UI"/>
              </a:rPr>
              <a:t> </a:t>
            </a:r>
            <a:r>
              <a:rPr dirty="0" sz="1100" spc="-10">
                <a:solidFill>
                  <a:srgbClr val="211D1E"/>
                </a:solidFill>
                <a:latin typeface="Segoe UI"/>
                <a:cs typeface="Segoe UI"/>
              </a:rPr>
              <a:t>ratios.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592695" y="5941567"/>
            <a:ext cx="90741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Calibri"/>
                <a:cs typeface="Calibri"/>
              </a:rPr>
              <a:t>Barber,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B.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M.,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&amp;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Odean,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80">
                <a:latin typeface="Calibri"/>
                <a:cs typeface="Calibri"/>
              </a:rPr>
              <a:t>T.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(2013).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behavior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individual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investors.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Handbook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Economics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Finance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(Vol. </a:t>
            </a:r>
            <a:r>
              <a:rPr dirty="0" sz="1500">
                <a:latin typeface="Calibri"/>
                <a:cs typeface="Calibri"/>
              </a:rPr>
              <a:t>2,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pp.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1533-</a:t>
            </a:r>
            <a:r>
              <a:rPr dirty="0" sz="1500">
                <a:latin typeface="Calibri"/>
                <a:cs typeface="Calibri"/>
              </a:rPr>
              <a:t>1570).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Elsevier.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0483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Trading</a:t>
            </a:r>
            <a:r>
              <a:rPr dirty="0" sz="4000" spc="-60"/>
              <a:t> </a:t>
            </a:r>
            <a:r>
              <a:rPr dirty="0" sz="4000"/>
              <a:t>patterns:</a:t>
            </a:r>
            <a:r>
              <a:rPr dirty="0" sz="4000" spc="-50"/>
              <a:t> </a:t>
            </a:r>
            <a:r>
              <a:rPr dirty="0" sz="4000"/>
              <a:t>reinforcement</a:t>
            </a:r>
            <a:r>
              <a:rPr dirty="0" sz="4000" spc="-65"/>
              <a:t> </a:t>
            </a:r>
            <a:r>
              <a:rPr dirty="0" sz="4000" spc="-10"/>
              <a:t>learning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293985" cy="3567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repurchase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previously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sold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profit.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117475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industry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if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previous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investments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this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industry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earned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return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967105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tend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frequently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most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recent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are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successful.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18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Investor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cohorts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who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experienced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returns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throughout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their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lives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less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averse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more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likely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stocks.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0483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Trading</a:t>
            </a:r>
            <a:r>
              <a:rPr dirty="0" sz="4000" spc="-50"/>
              <a:t> </a:t>
            </a:r>
            <a:r>
              <a:rPr dirty="0" sz="4000"/>
              <a:t>patterns:</a:t>
            </a:r>
            <a:r>
              <a:rPr dirty="0" sz="4000" spc="-35"/>
              <a:t> </a:t>
            </a:r>
            <a:r>
              <a:rPr dirty="0" sz="4000"/>
              <a:t>limited</a:t>
            </a:r>
            <a:r>
              <a:rPr dirty="0" sz="4000" spc="-45"/>
              <a:t> </a:t>
            </a:r>
            <a:r>
              <a:rPr dirty="0" sz="4000" spc="-10"/>
              <a:t>attention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173970" cy="2822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Individuals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have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limited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amount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attention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devote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investing.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Directing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little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attention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important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information</a:t>
            </a:r>
            <a:endParaRPr sz="2000">
              <a:latin typeface="Century Gothic"/>
              <a:cs typeface="Century Gothic"/>
            </a:endParaRPr>
          </a:p>
          <a:p>
            <a:pPr lvl="1" marL="698500" marR="99060" indent="-228600">
              <a:lnSpc>
                <a:spcPts val="170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Market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reaction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earnings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announcement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weaker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on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Fridays,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when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investors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are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more </a:t>
            </a:r>
            <a:r>
              <a:rPr dirty="0" sz="1600">
                <a:latin typeface="Century Gothic"/>
                <a:cs typeface="Century Gothic"/>
              </a:rPr>
              <a:t>likely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2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be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distracted.</a:t>
            </a:r>
            <a:endParaRPr sz="16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005"/>
              </a:spcBef>
              <a:buFont typeface="Arial"/>
              <a:buChar char="•"/>
            </a:pPr>
            <a:endParaRPr sz="16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Overreacting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attention-</a:t>
            </a:r>
            <a:r>
              <a:rPr dirty="0" sz="2000">
                <a:latin typeface="Century Gothic"/>
                <a:cs typeface="Century Gothic"/>
              </a:rPr>
              <a:t>grabbing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events</a:t>
            </a:r>
            <a:endParaRPr sz="2000">
              <a:latin typeface="Century Gothic"/>
              <a:cs typeface="Century Gothic"/>
            </a:endParaRPr>
          </a:p>
          <a:p>
            <a:pPr lvl="1" marL="698500" marR="102235" indent="-228600">
              <a:lnSpc>
                <a:spcPts val="17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investors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are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more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likely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to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invest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news,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experiencing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high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abnormal </a:t>
            </a:r>
            <a:r>
              <a:rPr dirty="0" sz="1600">
                <a:latin typeface="Century Gothic"/>
                <a:cs typeface="Century Gothic"/>
              </a:rPr>
              <a:t>trading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volumes,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stocks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with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extreme</a:t>
            </a:r>
            <a:r>
              <a:rPr dirty="0" sz="1600" spc="-3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one-</a:t>
            </a:r>
            <a:r>
              <a:rPr dirty="0" sz="1600">
                <a:latin typeface="Century Gothic"/>
                <a:cs typeface="Century Gothic"/>
              </a:rPr>
              <a:t>day</a:t>
            </a:r>
            <a:r>
              <a:rPr dirty="0" sz="1600" spc="-2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returns.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Trading</a:t>
            </a:r>
            <a:r>
              <a:rPr dirty="0" spc="-105"/>
              <a:t> </a:t>
            </a:r>
            <a:r>
              <a:rPr dirty="0"/>
              <a:t>patterns:</a:t>
            </a:r>
            <a:r>
              <a:rPr dirty="0" spc="-105"/>
              <a:t> </a:t>
            </a:r>
            <a:r>
              <a:rPr dirty="0" spc="-25"/>
              <a:t>under-</a:t>
            </a:r>
            <a:r>
              <a:rPr dirty="0" spc="-10"/>
              <a:t>diversification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242550" cy="274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On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average,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retail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investors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hold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only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four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stocks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(Barber</a:t>
            </a:r>
            <a:r>
              <a:rPr dirty="0" sz="1700" spc="-2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and</a:t>
            </a:r>
            <a:r>
              <a:rPr dirty="0" sz="1700" spc="-3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Odean</a:t>
            </a:r>
            <a:r>
              <a:rPr dirty="0" sz="1700" spc="-20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2000)</a:t>
            </a:r>
            <a:r>
              <a:rPr dirty="0" sz="2200" spc="-10">
                <a:latin typeface="Century Gothic"/>
                <a:cs typeface="Century Gothic"/>
              </a:rPr>
              <a:t>.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2515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Retail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investors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tend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overinvest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local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stocks.</a:t>
            </a:r>
            <a:endParaRPr sz="22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ct val="7050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30%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investors’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portfolio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stocks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headquartered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within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240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mile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radius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25">
                <a:latin typeface="Century Gothic"/>
                <a:cs typeface="Century Gothic"/>
              </a:rPr>
              <a:t>of </a:t>
            </a:r>
            <a:r>
              <a:rPr dirty="0" sz="1900" spc="-25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their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 spc="-20">
                <a:latin typeface="Century Gothic"/>
                <a:cs typeface="Century Gothic"/>
              </a:rPr>
              <a:t>home.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775"/>
              </a:spcBef>
              <a:buFont typeface="Arial"/>
              <a:buChar char="•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ts val="2525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Retail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investors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tend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overinvest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company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stocks.</a:t>
            </a:r>
            <a:endParaRPr sz="2200">
              <a:latin typeface="Century Gothic"/>
              <a:cs typeface="Century Gothic"/>
            </a:endParaRPr>
          </a:p>
          <a:p>
            <a:pPr lvl="1" marL="697230" marR="437515" indent="-227329">
              <a:lnSpc>
                <a:spcPct val="70500"/>
              </a:lnSpc>
              <a:spcBef>
                <a:spcPts val="55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Enron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employees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had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62%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their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retirement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plan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assets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invested</a:t>
            </a:r>
            <a:r>
              <a:rPr dirty="0" sz="1900" spc="-4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</a:t>
            </a:r>
            <a:r>
              <a:rPr dirty="0" sz="1900" spc="-3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company </a:t>
            </a:r>
            <a:r>
              <a:rPr dirty="0" sz="1900" spc="-10">
                <a:latin typeface="Century Gothic"/>
                <a:cs typeface="Century Gothic"/>
              </a:rPr>
              <a:t>	</a:t>
            </a:r>
            <a:r>
              <a:rPr dirty="0" sz="1900">
                <a:latin typeface="Century Gothic"/>
                <a:cs typeface="Century Gothic"/>
              </a:rPr>
              <a:t>stocks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at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the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end</a:t>
            </a:r>
            <a:r>
              <a:rPr dirty="0" sz="1900" spc="-3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of</a:t>
            </a:r>
            <a:r>
              <a:rPr dirty="0" sz="1900" spc="-20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2000.</a:t>
            </a:r>
            <a:endParaRPr sz="19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926" y="4591790"/>
            <a:ext cx="4748885" cy="21580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0555" y="2863596"/>
            <a:ext cx="70199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FinTech</a:t>
            </a:r>
            <a:r>
              <a:rPr dirty="0" spc="-90"/>
              <a:t> </a:t>
            </a:r>
            <a:r>
              <a:rPr dirty="0"/>
              <a:t>for</a:t>
            </a:r>
            <a:r>
              <a:rPr dirty="0" spc="-90"/>
              <a:t> </a:t>
            </a: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FinTech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90"/>
              <a:t> </a:t>
            </a: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solidFill>
                  <a:srgbClr val="000000"/>
                </a:solidFill>
              </a:rPr>
              <a:t>Online</a:t>
            </a:r>
            <a:r>
              <a:rPr dirty="0" spc="-8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trading</a:t>
            </a: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5"/>
              <a:t>Robo-</a:t>
            </a:r>
            <a:r>
              <a:rPr dirty="0" spc="-10"/>
              <a:t>advisor</a:t>
            </a:r>
          </a:p>
          <a:p>
            <a:pPr>
              <a:lnSpc>
                <a:spcPct val="100000"/>
              </a:lnSpc>
              <a:spcBef>
                <a:spcPts val="1220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0"/>
              <a:t>Tech-</a:t>
            </a:r>
            <a:r>
              <a:rPr dirty="0"/>
              <a:t>enabled</a:t>
            </a:r>
            <a:r>
              <a:rPr dirty="0" spc="-105"/>
              <a:t> </a:t>
            </a:r>
            <a:r>
              <a:rPr dirty="0"/>
              <a:t>information</a:t>
            </a:r>
            <a:r>
              <a:rPr dirty="0" spc="-90"/>
              <a:t> </a:t>
            </a:r>
            <a:r>
              <a:rPr dirty="0" spc="-10"/>
              <a:t>democratization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dirty="0" spc="-135"/>
              <a:t> </a:t>
            </a:r>
            <a:r>
              <a:rPr dirty="0" spc="-10"/>
              <a:t>trading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8151495" cy="36810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Some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slogans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back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then: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“The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slow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first.”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“Trading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home?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Slow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kill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you.”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“If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your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broker’s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great,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how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still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work?”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“I’m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managing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portfolio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better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ever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did.”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Discover: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u="sng" sz="18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2"/>
              </a:rPr>
              <a:t>https://www.youtube.com/watch?v=P0dAqlP3Imc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3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Robinhood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Arial"/>
              <a:buChar char="•"/>
              <a:tabLst>
                <a:tab pos="696595" algn="l"/>
              </a:tabLst>
            </a:pPr>
            <a:r>
              <a:rPr dirty="0" u="sng" sz="20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3"/>
              </a:rPr>
              <a:t>https://www.youtube.com/watch?v=Z_nsrcnwHQc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895" y="539701"/>
            <a:ext cx="4333947" cy="57785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5735" y="539701"/>
            <a:ext cx="4333944" cy="57785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Speed</a:t>
            </a:r>
            <a:r>
              <a:rPr dirty="0" spc="-55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curse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671"/>
            <a:ext cx="10221595" cy="369824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Barber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Odean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(2002)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1,607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investors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switched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from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phone-</a:t>
            </a:r>
            <a:r>
              <a:rPr dirty="0" sz="1400">
                <a:latin typeface="Century Gothic"/>
                <a:cs typeface="Century Gothic"/>
              </a:rPr>
              <a:t>based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online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trading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during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1990s.</a:t>
            </a:r>
            <a:endParaRPr sz="14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400">
                <a:latin typeface="Century Gothic"/>
                <a:cs typeface="Century Gothic"/>
              </a:rPr>
              <a:t>Those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switch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online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trading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perform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well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prior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to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going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online,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beating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market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by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more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2%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annually.</a:t>
            </a:r>
            <a:endParaRPr sz="1400">
              <a:latin typeface="Century Gothic"/>
              <a:cs typeface="Century Gothic"/>
            </a:endParaRPr>
          </a:p>
          <a:p>
            <a:pPr lvl="1" marL="698500" marR="137795" indent="-228600">
              <a:lnSpc>
                <a:spcPts val="14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400">
                <a:latin typeface="Century Gothic"/>
                <a:cs typeface="Century Gothic"/>
              </a:rPr>
              <a:t>After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going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online,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they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more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actively,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more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speculatively,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and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less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profitably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than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before—</a:t>
            </a:r>
            <a:r>
              <a:rPr dirty="0" sz="1400">
                <a:latin typeface="Century Gothic"/>
                <a:cs typeface="Century Gothic"/>
              </a:rPr>
              <a:t>lagging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25">
                <a:latin typeface="Century Gothic"/>
                <a:cs typeface="Century Gothic"/>
              </a:rPr>
              <a:t>the </a:t>
            </a:r>
            <a:r>
              <a:rPr dirty="0" sz="1400">
                <a:latin typeface="Century Gothic"/>
                <a:cs typeface="Century Gothic"/>
              </a:rPr>
              <a:t>market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by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more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than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3%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annually.</a:t>
            </a:r>
            <a:endParaRPr sz="1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165"/>
              </a:spcBef>
              <a:buFont typeface="Arial"/>
              <a:buChar char="•"/>
            </a:pPr>
            <a:endParaRPr sz="1400">
              <a:latin typeface="Century Gothic"/>
              <a:cs typeface="Century Gothic"/>
            </a:endParaRPr>
          </a:p>
          <a:p>
            <a:pPr marL="241300" marR="462915" indent="-228600">
              <a:lnSpc>
                <a:spcPts val="202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Century Gothic"/>
                <a:cs typeface="Century Gothic"/>
              </a:rPr>
              <a:t>Eaton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al.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(2021)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similarly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find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that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Robinhood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ownership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changes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are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unrelated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20">
                <a:latin typeface="Century Gothic"/>
                <a:cs typeface="Century Gothic"/>
              </a:rPr>
              <a:t>with </a:t>
            </a:r>
            <a:r>
              <a:rPr dirty="0" sz="1800">
                <a:latin typeface="Century Gothic"/>
                <a:cs typeface="Century Gothic"/>
              </a:rPr>
              <a:t>future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returns.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Online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gave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retail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investors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illusions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knowledge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control.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entury Gothic"/>
                <a:cs typeface="Century Gothic"/>
              </a:rPr>
              <a:t>Even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speed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for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institutional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trading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can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have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adverse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effects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(Shkilko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and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Sokolov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2021)</a:t>
            </a:r>
            <a:r>
              <a:rPr dirty="0" sz="1800" spc="-10">
                <a:latin typeface="Century Gothic"/>
                <a:cs typeface="Century Gothic"/>
              </a:rPr>
              <a:t>.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GameStop,</a:t>
            </a:r>
            <a:r>
              <a:rPr dirty="0" spc="-70"/>
              <a:t> </a:t>
            </a:r>
            <a:r>
              <a:rPr dirty="0"/>
              <a:t>AMC</a:t>
            </a:r>
            <a:r>
              <a:rPr dirty="0" spc="-60"/>
              <a:t> </a:t>
            </a:r>
            <a:r>
              <a:rPr dirty="0" spc="-10"/>
              <a:t>incident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7269480" cy="168973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508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GameStop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computer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game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around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4800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brick-</a:t>
            </a:r>
            <a:r>
              <a:rPr dirty="0" sz="2000" spc="-20">
                <a:latin typeface="Century Gothic"/>
                <a:cs typeface="Century Gothic"/>
              </a:rPr>
              <a:t>and-</a:t>
            </a:r>
            <a:r>
              <a:rPr dirty="0" sz="2000">
                <a:latin typeface="Century Gothic"/>
                <a:cs typeface="Century Gothic"/>
              </a:rPr>
              <a:t>mortar</a:t>
            </a:r>
            <a:r>
              <a:rPr dirty="0" sz="2000" spc="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stores.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44577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Declining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sales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since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2018,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yet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stock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suddenly 	skyrocketed.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9030" y="1768802"/>
            <a:ext cx="2477905" cy="16601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9931" y="4158452"/>
            <a:ext cx="4447005" cy="1784167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77801" y="4356035"/>
          <a:ext cx="5138420" cy="48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965"/>
                <a:gridCol w="938530"/>
                <a:gridCol w="905510"/>
                <a:gridCol w="906144"/>
                <a:gridCol w="687704"/>
              </a:tblGrid>
              <a:tr h="240029">
                <a:tc>
                  <a:txBody>
                    <a:bodyPr/>
                    <a:lstStyle/>
                    <a:p>
                      <a:pPr marL="125095">
                        <a:lnSpc>
                          <a:spcPts val="1855"/>
                        </a:lnSpc>
                      </a:pPr>
                      <a:r>
                        <a:rPr dirty="0" sz="1600">
                          <a:latin typeface="Century Gothic"/>
                          <a:cs typeface="Century Gothic"/>
                        </a:rPr>
                        <a:t>(US$</a:t>
                      </a:r>
                      <a:r>
                        <a:rPr dirty="0" sz="1600" spc="-3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>
                          <a:latin typeface="Century Gothic"/>
                          <a:cs typeface="Century Gothic"/>
                        </a:rPr>
                        <a:t>Millions)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1855"/>
                        </a:lnSpc>
                      </a:pPr>
                      <a:r>
                        <a:rPr dirty="0" sz="1600" spc="-20" b="1">
                          <a:latin typeface="Century Gothic"/>
                          <a:cs typeface="Century Gothic"/>
                        </a:rPr>
                        <a:t>2021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 b="1">
                          <a:latin typeface="Century Gothic"/>
                          <a:cs typeface="Century Gothic"/>
                        </a:rPr>
                        <a:t>2020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dirty="0" sz="1600" spc="-20" b="1">
                          <a:latin typeface="Century Gothic"/>
                          <a:cs typeface="Century Gothic"/>
                        </a:rPr>
                        <a:t>2019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5"/>
                        </a:lnSpc>
                      </a:pPr>
                      <a:r>
                        <a:rPr dirty="0" sz="1600" spc="-20" b="1">
                          <a:latin typeface="Century Gothic"/>
                          <a:cs typeface="Century Gothic"/>
                        </a:rPr>
                        <a:t>2018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marL="4445">
                        <a:lnSpc>
                          <a:spcPts val="1795"/>
                        </a:lnSpc>
                      </a:pPr>
                      <a:r>
                        <a:rPr dirty="0" sz="1600" b="1">
                          <a:latin typeface="Century Gothic"/>
                          <a:cs typeface="Century Gothic"/>
                        </a:rPr>
                        <a:t>Net</a:t>
                      </a:r>
                      <a:r>
                        <a:rPr dirty="0" sz="16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10" b="1">
                          <a:latin typeface="Century Gothic"/>
                          <a:cs typeface="Century Gothic"/>
                        </a:rPr>
                        <a:t>Income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4455">
                        <a:lnSpc>
                          <a:spcPts val="1795"/>
                        </a:lnSpc>
                      </a:pPr>
                      <a:r>
                        <a:rPr dirty="0" sz="1600" spc="-1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215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795"/>
                        </a:lnSpc>
                      </a:pPr>
                      <a:r>
                        <a:rPr dirty="0" sz="1600" spc="-1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464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795"/>
                        </a:lnSpc>
                      </a:pPr>
                      <a:r>
                        <a:rPr dirty="0" sz="1600" spc="-1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dirty="0" sz="1600" spc="-25">
                          <a:latin typeface="Century Gothic"/>
                          <a:cs typeface="Century Gothic"/>
                        </a:rPr>
                        <a:t>795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95"/>
                        </a:lnSpc>
                      </a:pPr>
                      <a:r>
                        <a:rPr dirty="0" sz="1600" spc="-25">
                          <a:latin typeface="Century Gothic"/>
                          <a:cs typeface="Century Gothic"/>
                        </a:rPr>
                        <a:t>230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169863" y="4831588"/>
            <a:ext cx="50780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5440" algn="l"/>
                <a:tab pos="2520315" algn="l"/>
                <a:tab pos="3538854" algn="l"/>
                <a:tab pos="4444365" algn="l"/>
              </a:tabLst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Sales</a:t>
            </a:r>
            <a:r>
              <a:rPr dirty="0" u="sng" sz="1600" spc="-35" b="1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Growth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-21.28%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-21.96%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-3.06%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	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-0.71%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GameStop,</a:t>
            </a:r>
            <a:r>
              <a:rPr dirty="0" spc="-70"/>
              <a:t> </a:t>
            </a:r>
            <a:r>
              <a:rPr dirty="0"/>
              <a:t>AMC</a:t>
            </a:r>
            <a:r>
              <a:rPr dirty="0" spc="-60"/>
              <a:t> </a:t>
            </a:r>
            <a:r>
              <a:rPr dirty="0" spc="-10"/>
              <a:t>incident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061575" cy="3567429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73660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January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2021,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Melvin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Capital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other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hedge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funds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shorted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GameStop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several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other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securities.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ts val="221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Users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“wallstreetbets”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subreddit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rallied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together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short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squeezed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the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 spc="-10">
                <a:latin typeface="Century Gothic"/>
                <a:cs typeface="Century Gothic"/>
              </a:rPr>
              <a:t>stocks.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372110" indent="-226695">
              <a:lnSpc>
                <a:spcPts val="211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Melvin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Capital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30%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value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result.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Other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hedge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funds,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institutional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investors,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existing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shareholders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gained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substantially.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1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high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volatility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also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made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many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investors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lost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fortune.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FinTech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90"/>
              <a:t> </a:t>
            </a: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Online</a:t>
            </a:r>
            <a:r>
              <a:rPr dirty="0" spc="-85"/>
              <a:t> </a:t>
            </a:r>
            <a:r>
              <a:rPr dirty="0" spc="-10"/>
              <a:t>trading</a:t>
            </a: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5">
                <a:solidFill>
                  <a:srgbClr val="000000"/>
                </a:solidFill>
              </a:rPr>
              <a:t>Robo-</a:t>
            </a:r>
            <a:r>
              <a:rPr dirty="0" spc="-10">
                <a:solidFill>
                  <a:srgbClr val="000000"/>
                </a:solidFill>
              </a:rPr>
              <a:t>advisor</a:t>
            </a:r>
          </a:p>
          <a:p>
            <a:pPr>
              <a:lnSpc>
                <a:spcPct val="100000"/>
              </a:lnSpc>
              <a:spcBef>
                <a:spcPts val="1220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0"/>
              <a:t>Tech-</a:t>
            </a:r>
            <a:r>
              <a:rPr dirty="0"/>
              <a:t>enabled</a:t>
            </a:r>
            <a:r>
              <a:rPr dirty="0" spc="-105"/>
              <a:t> </a:t>
            </a:r>
            <a:r>
              <a:rPr dirty="0"/>
              <a:t>information</a:t>
            </a:r>
            <a:r>
              <a:rPr dirty="0" spc="-90"/>
              <a:t> </a:t>
            </a:r>
            <a:r>
              <a:rPr dirty="0" spc="-10"/>
              <a:t>democratization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3212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Robo-advisors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216" y="1694179"/>
            <a:ext cx="4662805" cy="379793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just" marL="239395" marR="5080" indent="-227329">
              <a:lnSpc>
                <a:spcPct val="88700"/>
              </a:lnSpc>
              <a:spcBef>
                <a:spcPts val="4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 spc="-20">
                <a:latin typeface="Century Gothic"/>
                <a:cs typeface="Century Gothic"/>
              </a:rPr>
              <a:t>Robo-</a:t>
            </a:r>
            <a:r>
              <a:rPr dirty="0" sz="2400">
                <a:latin typeface="Century Gothic"/>
                <a:cs typeface="Century Gothic"/>
              </a:rPr>
              <a:t>advisors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AI-enabled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digitalized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service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agents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that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provide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financial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advice.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Typical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functionality:</a:t>
            </a:r>
            <a:endParaRPr sz="2400">
              <a:latin typeface="Century Gothic"/>
              <a:cs typeface="Century Gothic"/>
            </a:endParaRPr>
          </a:p>
          <a:p>
            <a:pPr lvl="1" marL="695960" marR="30480" indent="-226695">
              <a:lnSpc>
                <a:spcPct val="90000"/>
              </a:lnSpc>
              <a:spcBef>
                <a:spcPts val="5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Century Gothic"/>
                <a:cs typeface="Century Gothic"/>
              </a:rPr>
              <a:t>Regular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rebalancing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portfolio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(mostly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ETFs)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with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pre-</a:t>
            </a:r>
            <a:r>
              <a:rPr dirty="0" sz="2000">
                <a:latin typeface="Century Gothic"/>
                <a:cs typeface="Century Gothic"/>
              </a:rPr>
              <a:t>set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goals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levels.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Tax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harvesting</a:t>
            </a:r>
            <a:endParaRPr sz="2000">
              <a:latin typeface="Century Gothic"/>
              <a:cs typeface="Century Gothic"/>
            </a:endParaRPr>
          </a:p>
          <a:p>
            <a:pPr lvl="1" marL="695960" marR="274320" indent="-226695">
              <a:lnSpc>
                <a:spcPts val="2210"/>
              </a:lnSpc>
              <a:spcBef>
                <a:spcPts val="42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planning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(retirement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investment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plans)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3471" y="1278022"/>
            <a:ext cx="6594967" cy="43420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dirty="0" sz="4000" spc="-30"/>
              <a:t>Robo-</a:t>
            </a:r>
            <a:r>
              <a:rPr dirty="0" sz="4000"/>
              <a:t>advisors:</a:t>
            </a:r>
            <a:r>
              <a:rPr dirty="0" sz="4000" spc="-30"/>
              <a:t> </a:t>
            </a:r>
            <a:r>
              <a:rPr dirty="0" sz="4000"/>
              <a:t>asset</a:t>
            </a:r>
            <a:r>
              <a:rPr dirty="0" sz="4000" spc="-40"/>
              <a:t> </a:t>
            </a:r>
            <a:r>
              <a:rPr dirty="0" sz="4000"/>
              <a:t>under</a:t>
            </a:r>
            <a:r>
              <a:rPr dirty="0" sz="4000" spc="-40"/>
              <a:t> </a:t>
            </a:r>
            <a:r>
              <a:rPr dirty="0" sz="4000" spc="-10"/>
              <a:t>management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42070" y="2228595"/>
            <a:ext cx="5582920" cy="16078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665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According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Statista,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the Robo-</a:t>
            </a:r>
            <a:r>
              <a:rPr dirty="0" sz="2800">
                <a:latin typeface="Century Gothic"/>
                <a:cs typeface="Century Gothic"/>
              </a:rPr>
              <a:t>advisory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is </a:t>
            </a:r>
            <a:r>
              <a:rPr dirty="0" sz="2800">
                <a:latin typeface="Century Gothic"/>
                <a:cs typeface="Century Gothic"/>
              </a:rPr>
              <a:t>expected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reach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$2.06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trillion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AUM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at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end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2025.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2070" y="6106667"/>
            <a:ext cx="48679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entury Gothic"/>
                <a:cs typeface="Century Gothic"/>
                <a:hlinkClick r:id="rId2"/>
              </a:rPr>
              <a:t>https://investingintheweb.com/brokers/the-largest-robo-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2070" y="6310884"/>
            <a:ext cx="15182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entury Gothic"/>
                <a:cs typeface="Century Gothic"/>
              </a:rPr>
              <a:t>advisors-by-</a:t>
            </a:r>
            <a:r>
              <a:rPr dirty="0" sz="1400" spc="-20">
                <a:latin typeface="Century Gothic"/>
                <a:cs typeface="Century Gothic"/>
              </a:rPr>
              <a:t>aum/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22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150" y="681355"/>
            <a:ext cx="3013710" cy="288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2663" y="1072884"/>
            <a:ext cx="4112756" cy="54947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Robo-</a:t>
            </a:r>
            <a:r>
              <a:rPr dirty="0"/>
              <a:t>advisor:</a:t>
            </a:r>
            <a:r>
              <a:rPr dirty="0" spc="-70"/>
              <a:t> </a:t>
            </a:r>
            <a:r>
              <a:rPr dirty="0"/>
              <a:t>Does</a:t>
            </a:r>
            <a:r>
              <a:rPr dirty="0" spc="-55"/>
              <a:t> </a:t>
            </a:r>
            <a:r>
              <a:rPr dirty="0"/>
              <a:t>it</a:t>
            </a:r>
            <a:r>
              <a:rPr dirty="0" spc="-60"/>
              <a:t> </a:t>
            </a:r>
            <a:r>
              <a:rPr dirty="0" spc="-10"/>
              <a:t>help?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79380" cy="28695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2159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Empirical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findings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quality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investment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advice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robots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are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encouraging,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yet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conclusive.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3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ts val="2735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adopting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robo-</a:t>
            </a:r>
            <a:r>
              <a:rPr dirty="0" sz="2400">
                <a:latin typeface="Century Gothic"/>
                <a:cs typeface="Century Gothic"/>
              </a:rPr>
              <a:t>advising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experience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diversification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benefits.</a:t>
            </a:r>
            <a:endParaRPr sz="2400">
              <a:latin typeface="Century Gothic"/>
              <a:cs typeface="Century Gothic"/>
            </a:endParaRPr>
          </a:p>
          <a:p>
            <a:pPr marL="241300">
              <a:lnSpc>
                <a:spcPts val="2735"/>
              </a:lnSpc>
            </a:pPr>
            <a:r>
              <a:rPr dirty="0" sz="1800">
                <a:latin typeface="Century Gothic"/>
                <a:cs typeface="Century Gothic"/>
              </a:rPr>
              <a:t>(D’Acunto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et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al.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2019)</a:t>
            </a:r>
            <a:r>
              <a:rPr dirty="0" sz="2400" spc="-10">
                <a:latin typeface="Century Gothic"/>
                <a:cs typeface="Century Gothic"/>
              </a:rPr>
              <a:t>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15"/>
              </a:spcBef>
            </a:pP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20">
                <a:latin typeface="Century Gothic"/>
                <a:cs typeface="Century Gothic"/>
              </a:rPr>
              <a:t>Robo-</a:t>
            </a:r>
            <a:r>
              <a:rPr dirty="0" sz="2400">
                <a:latin typeface="Century Gothic"/>
                <a:cs typeface="Century Gothic"/>
              </a:rPr>
              <a:t>advisors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potentially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mitigate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disposition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effect.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FinTech</a:t>
            </a:r>
            <a:r>
              <a:rPr dirty="0" spc="-105"/>
              <a:t> </a:t>
            </a:r>
            <a:r>
              <a:rPr dirty="0"/>
              <a:t>for</a:t>
            </a:r>
            <a:r>
              <a:rPr dirty="0" spc="-90"/>
              <a:t> </a:t>
            </a:r>
            <a:r>
              <a:rPr dirty="0"/>
              <a:t>retail</a:t>
            </a:r>
            <a:r>
              <a:rPr dirty="0" spc="-100"/>
              <a:t> </a:t>
            </a:r>
            <a:r>
              <a:rPr dirty="0" spc="-10"/>
              <a:t>investors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Online</a:t>
            </a:r>
            <a:r>
              <a:rPr dirty="0" spc="-85"/>
              <a:t> </a:t>
            </a:r>
            <a:r>
              <a:rPr dirty="0" spc="-10"/>
              <a:t>trading</a:t>
            </a: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5"/>
              <a:t>Robo-</a:t>
            </a:r>
            <a:r>
              <a:rPr dirty="0" spc="-10"/>
              <a:t>advisor</a:t>
            </a:r>
          </a:p>
          <a:p>
            <a:pPr>
              <a:lnSpc>
                <a:spcPct val="100000"/>
              </a:lnSpc>
              <a:spcBef>
                <a:spcPts val="1220"/>
              </a:spcBef>
              <a:buFont typeface="Arial"/>
              <a:buChar char="•"/>
            </a:p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pc="-20">
                <a:solidFill>
                  <a:srgbClr val="000000"/>
                </a:solidFill>
              </a:rPr>
              <a:t>Tech-</a:t>
            </a:r>
            <a:r>
              <a:rPr dirty="0">
                <a:solidFill>
                  <a:srgbClr val="000000"/>
                </a:solidFill>
              </a:rPr>
              <a:t>enabled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information</a:t>
            </a:r>
            <a:r>
              <a:rPr dirty="0" spc="-9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democratization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Information</a:t>
            </a:r>
            <a:r>
              <a:rPr dirty="0" spc="-120"/>
              <a:t> </a:t>
            </a:r>
            <a:r>
              <a:rPr dirty="0" spc="-10"/>
              <a:t>democratization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588"/>
            <a:ext cx="10342245" cy="408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Technology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has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democratized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access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to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information.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Investment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research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Seeking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Alpha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research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articles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facilitates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informed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trading</a:t>
            </a:r>
            <a:r>
              <a:rPr dirty="0" sz="1900" spc="-4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(Farrel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et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al.</a:t>
            </a:r>
            <a:r>
              <a:rPr dirty="0" sz="1700" spc="-35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2022)</a:t>
            </a:r>
            <a:r>
              <a:rPr dirty="0" sz="1900" spc="-10">
                <a:latin typeface="Century Gothic"/>
                <a:cs typeface="Century Gothic"/>
              </a:rPr>
              <a:t>.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280"/>
              </a:spcBef>
              <a:buFont typeface="Arial"/>
              <a:buChar char="•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Earnings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information</a:t>
            </a:r>
            <a:endParaRPr sz="2200">
              <a:latin typeface="Century Gothic"/>
              <a:cs typeface="Century Gothic"/>
            </a:endParaRPr>
          </a:p>
          <a:p>
            <a:pPr lvl="1" marL="697230" marR="314960" indent="-227329">
              <a:lnSpc>
                <a:spcPct val="78900"/>
              </a:lnSpc>
              <a:spcBef>
                <a:spcPts val="54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900">
                <a:latin typeface="Century Gothic"/>
                <a:cs typeface="Century Gothic"/>
              </a:rPr>
              <a:t>EDGAR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system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implementation</a:t>
            </a:r>
            <a:r>
              <a:rPr dirty="0" sz="1900" spc="-5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increases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informed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trading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(Gao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and</a:t>
            </a:r>
            <a:r>
              <a:rPr dirty="0" sz="1700" spc="-45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Huang 	2020)</a:t>
            </a:r>
            <a:r>
              <a:rPr dirty="0" sz="1900" spc="-10">
                <a:latin typeface="Century Gothic"/>
                <a:cs typeface="Century Gothic"/>
              </a:rPr>
              <a:t>.</a:t>
            </a:r>
            <a:endParaRPr sz="19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305"/>
              </a:spcBef>
              <a:buFont typeface="Arial"/>
              <a:buChar char="•"/>
            </a:pPr>
            <a:endParaRPr sz="19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Market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data</a:t>
            </a:r>
            <a:endParaRPr sz="2200">
              <a:latin typeface="Century Gothic"/>
              <a:cs typeface="Century Gothic"/>
            </a:endParaRPr>
          </a:p>
          <a:p>
            <a:pPr lvl="1" marL="697230" indent="-227329">
              <a:lnSpc>
                <a:spcPts val="2039"/>
              </a:lnSpc>
              <a:spcBef>
                <a:spcPts val="6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1900">
                <a:latin typeface="Century Gothic"/>
                <a:cs typeface="Century Gothic"/>
              </a:rPr>
              <a:t>Historical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price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data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exacerbates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excessive</a:t>
            </a:r>
            <a:r>
              <a:rPr dirty="0" sz="1900" spc="-5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(uninformed)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trading</a:t>
            </a:r>
            <a:r>
              <a:rPr dirty="0" sz="1900" spc="-60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by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>
                <a:latin typeface="Century Gothic"/>
                <a:cs typeface="Century Gothic"/>
              </a:rPr>
              <a:t>retail</a:t>
            </a:r>
            <a:r>
              <a:rPr dirty="0" sz="1900" spc="-65">
                <a:latin typeface="Century Gothic"/>
                <a:cs typeface="Century Gothic"/>
              </a:rPr>
              <a:t> </a:t>
            </a:r>
            <a:r>
              <a:rPr dirty="0" sz="1900" spc="-10">
                <a:latin typeface="Century Gothic"/>
                <a:cs typeface="Century Gothic"/>
              </a:rPr>
              <a:t>investors</a:t>
            </a:r>
            <a:endParaRPr sz="1900">
              <a:latin typeface="Century Gothic"/>
              <a:cs typeface="Century Gothic"/>
            </a:endParaRPr>
          </a:p>
          <a:p>
            <a:pPr marL="698500">
              <a:lnSpc>
                <a:spcPts val="2039"/>
              </a:lnSpc>
            </a:pPr>
            <a:r>
              <a:rPr dirty="0" sz="1700">
                <a:latin typeface="Century Gothic"/>
                <a:cs typeface="Century Gothic"/>
              </a:rPr>
              <a:t>(Havakhor</a:t>
            </a:r>
            <a:r>
              <a:rPr dirty="0" sz="1700" spc="-2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et</a:t>
            </a:r>
            <a:r>
              <a:rPr dirty="0" sz="1700" spc="-20">
                <a:latin typeface="Century Gothic"/>
                <a:cs typeface="Century Gothic"/>
              </a:rPr>
              <a:t> </a:t>
            </a:r>
            <a:r>
              <a:rPr dirty="0" sz="1700">
                <a:latin typeface="Century Gothic"/>
                <a:cs typeface="Century Gothic"/>
              </a:rPr>
              <a:t>al.</a:t>
            </a:r>
            <a:r>
              <a:rPr dirty="0" sz="1700" spc="-15">
                <a:latin typeface="Century Gothic"/>
                <a:cs typeface="Century Gothic"/>
              </a:rPr>
              <a:t> </a:t>
            </a:r>
            <a:r>
              <a:rPr dirty="0" sz="1700" spc="-10">
                <a:latin typeface="Century Gothic"/>
                <a:cs typeface="Century Gothic"/>
              </a:rPr>
              <a:t>2020)</a:t>
            </a:r>
            <a:r>
              <a:rPr dirty="0" sz="1900" spc="-10">
                <a:latin typeface="Century Gothic"/>
                <a:cs typeface="Century Gothic"/>
              </a:rPr>
              <a:t>.</a:t>
            </a:r>
            <a:endParaRPr sz="1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40773" y="4136206"/>
            <a:ext cx="1933575" cy="1528445"/>
            <a:chOff x="2640773" y="4136206"/>
            <a:chExt cx="1933575" cy="1528445"/>
          </a:xfrm>
        </p:grpSpPr>
        <p:sp>
          <p:nvSpPr>
            <p:cNvPr id="3" name="object 3"/>
            <p:cNvSpPr/>
            <p:nvPr/>
          </p:nvSpPr>
          <p:spPr>
            <a:xfrm>
              <a:off x="2655061" y="4150493"/>
              <a:ext cx="1471295" cy="330200"/>
            </a:xfrm>
            <a:custGeom>
              <a:avLst/>
              <a:gdLst/>
              <a:ahLst/>
              <a:cxnLst/>
              <a:rect l="l" t="t" r="r" b="b"/>
              <a:pathLst>
                <a:path w="1471295" h="330200">
                  <a:moveTo>
                    <a:pt x="3594" y="15747"/>
                  </a:moveTo>
                  <a:lnTo>
                    <a:pt x="55633" y="15192"/>
                  </a:lnTo>
                  <a:lnTo>
                    <a:pt x="109362" y="16847"/>
                  </a:lnTo>
                  <a:lnTo>
                    <a:pt x="164131" y="19930"/>
                  </a:lnTo>
                  <a:lnTo>
                    <a:pt x="219291" y="23658"/>
                  </a:lnTo>
                  <a:lnTo>
                    <a:pt x="274190" y="27248"/>
                  </a:lnTo>
                  <a:lnTo>
                    <a:pt x="328179" y="29919"/>
                  </a:lnTo>
                  <a:lnTo>
                    <a:pt x="380608" y="30886"/>
                  </a:lnTo>
                  <a:lnTo>
                    <a:pt x="430826" y="29369"/>
                  </a:lnTo>
                  <a:lnTo>
                    <a:pt x="478184" y="24583"/>
                  </a:lnTo>
                  <a:lnTo>
                    <a:pt x="522031" y="15747"/>
                  </a:lnTo>
                  <a:lnTo>
                    <a:pt x="565982" y="8064"/>
                  </a:lnTo>
                  <a:lnTo>
                    <a:pt x="613540" y="6225"/>
                  </a:lnTo>
                  <a:lnTo>
                    <a:pt x="663888" y="8679"/>
                  </a:lnTo>
                  <a:lnTo>
                    <a:pt x="716209" y="13875"/>
                  </a:lnTo>
                  <a:lnTo>
                    <a:pt x="769685" y="20260"/>
                  </a:lnTo>
                  <a:lnTo>
                    <a:pt x="823500" y="26285"/>
                  </a:lnTo>
                  <a:lnTo>
                    <a:pt x="876835" y="30397"/>
                  </a:lnTo>
                  <a:lnTo>
                    <a:pt x="928875" y="31046"/>
                  </a:lnTo>
                  <a:lnTo>
                    <a:pt x="978801" y="26680"/>
                  </a:lnTo>
                  <a:lnTo>
                    <a:pt x="1025796" y="15747"/>
                  </a:lnTo>
                  <a:lnTo>
                    <a:pt x="1069551" y="4689"/>
                  </a:lnTo>
                  <a:lnTo>
                    <a:pt x="1110934" y="0"/>
                  </a:lnTo>
                  <a:lnTo>
                    <a:pt x="1150897" y="213"/>
                  </a:lnTo>
                  <a:lnTo>
                    <a:pt x="1190393" y="3862"/>
                  </a:lnTo>
                  <a:lnTo>
                    <a:pt x="1230374" y="9480"/>
                  </a:lnTo>
                  <a:lnTo>
                    <a:pt x="1271791" y="15599"/>
                  </a:lnTo>
                  <a:lnTo>
                    <a:pt x="1315597" y="20752"/>
                  </a:lnTo>
                  <a:lnTo>
                    <a:pt x="1362744" y="23473"/>
                  </a:lnTo>
                  <a:lnTo>
                    <a:pt x="1414184" y="22294"/>
                  </a:lnTo>
                  <a:lnTo>
                    <a:pt x="1470869" y="15747"/>
                  </a:lnTo>
                  <a:lnTo>
                    <a:pt x="1469769" y="66725"/>
                  </a:lnTo>
                  <a:lnTo>
                    <a:pt x="1466034" y="118006"/>
                  </a:lnTo>
                  <a:lnTo>
                    <a:pt x="1461972" y="169073"/>
                  </a:lnTo>
                  <a:lnTo>
                    <a:pt x="1459886" y="219409"/>
                  </a:lnTo>
                  <a:lnTo>
                    <a:pt x="1462083" y="268500"/>
                  </a:lnTo>
                  <a:lnTo>
                    <a:pt x="1470869" y="315829"/>
                  </a:lnTo>
                  <a:lnTo>
                    <a:pt x="1411916" y="325822"/>
                  </a:lnTo>
                  <a:lnTo>
                    <a:pt x="1359964" y="329708"/>
                  </a:lnTo>
                  <a:lnTo>
                    <a:pt x="1313467" y="328942"/>
                  </a:lnTo>
                  <a:lnTo>
                    <a:pt x="1270883" y="324985"/>
                  </a:lnTo>
                  <a:lnTo>
                    <a:pt x="1230669" y="319292"/>
                  </a:lnTo>
                  <a:lnTo>
                    <a:pt x="1191281" y="313323"/>
                  </a:lnTo>
                  <a:lnTo>
                    <a:pt x="1151176" y="308534"/>
                  </a:lnTo>
                  <a:lnTo>
                    <a:pt x="1108810" y="306384"/>
                  </a:lnTo>
                  <a:lnTo>
                    <a:pt x="1062640" y="308330"/>
                  </a:lnTo>
                  <a:lnTo>
                    <a:pt x="1011123" y="315829"/>
                  </a:lnTo>
                  <a:lnTo>
                    <a:pt x="958760" y="324172"/>
                  </a:lnTo>
                  <a:lnTo>
                    <a:pt x="910297" y="328273"/>
                  </a:lnTo>
                  <a:lnTo>
                    <a:pt x="864560" y="329027"/>
                  </a:lnTo>
                  <a:lnTo>
                    <a:pt x="820374" y="327330"/>
                  </a:lnTo>
                  <a:lnTo>
                    <a:pt x="776564" y="324077"/>
                  </a:lnTo>
                  <a:lnTo>
                    <a:pt x="731955" y="320165"/>
                  </a:lnTo>
                  <a:lnTo>
                    <a:pt x="685372" y="316489"/>
                  </a:lnTo>
                  <a:lnTo>
                    <a:pt x="635641" y="313943"/>
                  </a:lnTo>
                  <a:lnTo>
                    <a:pt x="581585" y="313425"/>
                  </a:lnTo>
                  <a:lnTo>
                    <a:pt x="522031" y="315829"/>
                  </a:lnTo>
                  <a:lnTo>
                    <a:pt x="468623" y="317632"/>
                  </a:lnTo>
                  <a:lnTo>
                    <a:pt x="421315" y="316124"/>
                  </a:lnTo>
                  <a:lnTo>
                    <a:pt x="378490" y="312288"/>
                  </a:lnTo>
                  <a:lnTo>
                    <a:pt x="338535" y="307109"/>
                  </a:lnTo>
                  <a:lnTo>
                    <a:pt x="299836" y="301570"/>
                  </a:lnTo>
                  <a:lnTo>
                    <a:pt x="260778" y="296653"/>
                  </a:lnTo>
                  <a:lnTo>
                    <a:pt x="219746" y="293342"/>
                  </a:lnTo>
                  <a:lnTo>
                    <a:pt x="175127" y="292621"/>
                  </a:lnTo>
                  <a:lnTo>
                    <a:pt x="125304" y="295473"/>
                  </a:lnTo>
                  <a:lnTo>
                    <a:pt x="68665" y="302882"/>
                  </a:lnTo>
                  <a:lnTo>
                    <a:pt x="3594" y="315829"/>
                  </a:lnTo>
                  <a:lnTo>
                    <a:pt x="0" y="264882"/>
                  </a:lnTo>
                  <a:lnTo>
                    <a:pt x="1208" y="212327"/>
                  </a:lnTo>
                  <a:lnTo>
                    <a:pt x="4696" y="159651"/>
                  </a:lnTo>
                  <a:lnTo>
                    <a:pt x="7938" y="108339"/>
                  </a:lnTo>
                  <a:lnTo>
                    <a:pt x="8413" y="59876"/>
                  </a:lnTo>
                  <a:lnTo>
                    <a:pt x="3594" y="1574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100535" y="4324778"/>
              <a:ext cx="473709" cy="478155"/>
            </a:xfrm>
            <a:custGeom>
              <a:avLst/>
              <a:gdLst/>
              <a:ahLst/>
              <a:cxnLst/>
              <a:rect l="l" t="t" r="r" b="b"/>
              <a:pathLst>
                <a:path w="473710" h="478154">
                  <a:moveTo>
                    <a:pt x="403017" y="426841"/>
                  </a:moveTo>
                  <a:lnTo>
                    <a:pt x="382719" y="446953"/>
                  </a:lnTo>
                  <a:lnTo>
                    <a:pt x="473504" y="477678"/>
                  </a:lnTo>
                  <a:lnTo>
                    <a:pt x="460148" y="436990"/>
                  </a:lnTo>
                  <a:lnTo>
                    <a:pt x="413073" y="436990"/>
                  </a:lnTo>
                  <a:lnTo>
                    <a:pt x="403017" y="426841"/>
                  </a:lnTo>
                  <a:close/>
                </a:path>
                <a:path w="473710" h="478154">
                  <a:moveTo>
                    <a:pt x="423315" y="406728"/>
                  </a:moveTo>
                  <a:lnTo>
                    <a:pt x="403017" y="426841"/>
                  </a:lnTo>
                  <a:lnTo>
                    <a:pt x="413073" y="436990"/>
                  </a:lnTo>
                  <a:lnTo>
                    <a:pt x="433370" y="416877"/>
                  </a:lnTo>
                  <a:lnTo>
                    <a:pt x="423315" y="406728"/>
                  </a:lnTo>
                  <a:close/>
                </a:path>
                <a:path w="473710" h="478154">
                  <a:moveTo>
                    <a:pt x="443613" y="386615"/>
                  </a:moveTo>
                  <a:lnTo>
                    <a:pt x="423315" y="406728"/>
                  </a:lnTo>
                  <a:lnTo>
                    <a:pt x="433370" y="416877"/>
                  </a:lnTo>
                  <a:lnTo>
                    <a:pt x="413073" y="436990"/>
                  </a:lnTo>
                  <a:lnTo>
                    <a:pt x="460148" y="436990"/>
                  </a:lnTo>
                  <a:lnTo>
                    <a:pt x="443613" y="386615"/>
                  </a:lnTo>
                  <a:close/>
                </a:path>
                <a:path w="473710" h="478154">
                  <a:moveTo>
                    <a:pt x="20298" y="0"/>
                  </a:moveTo>
                  <a:lnTo>
                    <a:pt x="0" y="20112"/>
                  </a:lnTo>
                  <a:lnTo>
                    <a:pt x="403017" y="426841"/>
                  </a:lnTo>
                  <a:lnTo>
                    <a:pt x="423315" y="406728"/>
                  </a:lnTo>
                  <a:lnTo>
                    <a:pt x="20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54261" y="4156554"/>
              <a:ext cx="1477010" cy="325755"/>
            </a:xfrm>
            <a:custGeom>
              <a:avLst/>
              <a:gdLst/>
              <a:ahLst/>
              <a:cxnLst/>
              <a:rect l="l" t="t" r="r" b="b"/>
              <a:pathLst>
                <a:path w="1477010" h="325754">
                  <a:moveTo>
                    <a:pt x="1015524" y="0"/>
                  </a:moveTo>
                  <a:lnTo>
                    <a:pt x="971633" y="2385"/>
                  </a:lnTo>
                  <a:lnTo>
                    <a:pt x="873424" y="19536"/>
                  </a:lnTo>
                  <a:lnTo>
                    <a:pt x="820738" y="22684"/>
                  </a:lnTo>
                  <a:lnTo>
                    <a:pt x="770121" y="21005"/>
                  </a:lnTo>
                  <a:lnTo>
                    <a:pt x="721103" y="16287"/>
                  </a:lnTo>
                  <a:lnTo>
                    <a:pt x="673215" y="10322"/>
                  </a:lnTo>
                  <a:lnTo>
                    <a:pt x="625988" y="4898"/>
                  </a:lnTo>
                  <a:lnTo>
                    <a:pt x="578953" y="1805"/>
                  </a:lnTo>
                  <a:lnTo>
                    <a:pt x="531639" y="2833"/>
                  </a:lnTo>
                  <a:lnTo>
                    <a:pt x="483577" y="9772"/>
                  </a:lnTo>
                  <a:lnTo>
                    <a:pt x="440476" y="17184"/>
                  </a:lnTo>
                  <a:lnTo>
                    <a:pt x="398195" y="21022"/>
                  </a:lnTo>
                  <a:lnTo>
                    <a:pt x="356065" y="22007"/>
                  </a:lnTo>
                  <a:lnTo>
                    <a:pt x="313416" y="20863"/>
                  </a:lnTo>
                  <a:lnTo>
                    <a:pt x="269579" y="18312"/>
                  </a:lnTo>
                  <a:lnTo>
                    <a:pt x="175665" y="11884"/>
                  </a:lnTo>
                  <a:lnTo>
                    <a:pt x="124250" y="9453"/>
                  </a:lnTo>
                  <a:lnTo>
                    <a:pt x="68970" y="8508"/>
                  </a:lnTo>
                  <a:lnTo>
                    <a:pt x="9157" y="9772"/>
                  </a:lnTo>
                  <a:lnTo>
                    <a:pt x="11917" y="47868"/>
                  </a:lnTo>
                  <a:lnTo>
                    <a:pt x="9048" y="95332"/>
                  </a:lnTo>
                  <a:lnTo>
                    <a:pt x="3945" y="148715"/>
                  </a:lnTo>
                  <a:lnTo>
                    <a:pt x="0" y="204563"/>
                  </a:lnTo>
                  <a:lnTo>
                    <a:pt x="606" y="259426"/>
                  </a:lnTo>
                  <a:lnTo>
                    <a:pt x="9157" y="309854"/>
                  </a:lnTo>
                  <a:lnTo>
                    <a:pt x="73409" y="308747"/>
                  </a:lnTo>
                  <a:lnTo>
                    <a:pt x="126802" y="310145"/>
                  </a:lnTo>
                  <a:lnTo>
                    <a:pt x="172129" y="313199"/>
                  </a:lnTo>
                  <a:lnTo>
                    <a:pt x="249760" y="320893"/>
                  </a:lnTo>
                  <a:lnTo>
                    <a:pt x="287652" y="323839"/>
                  </a:lnTo>
                  <a:lnTo>
                    <a:pt x="328653" y="325054"/>
                  </a:lnTo>
                  <a:lnTo>
                    <a:pt x="375557" y="323693"/>
                  </a:lnTo>
                  <a:lnTo>
                    <a:pt x="431158" y="318908"/>
                  </a:lnTo>
                  <a:lnTo>
                    <a:pt x="498249" y="309854"/>
                  </a:lnTo>
                  <a:lnTo>
                    <a:pt x="562849" y="301949"/>
                  </a:lnTo>
                  <a:lnTo>
                    <a:pt x="622785" y="298463"/>
                  </a:lnTo>
                  <a:lnTo>
                    <a:pt x="678448" y="298450"/>
                  </a:lnTo>
                  <a:lnTo>
                    <a:pt x="730227" y="300963"/>
                  </a:lnTo>
                  <a:lnTo>
                    <a:pt x="778512" y="305058"/>
                  </a:lnTo>
                  <a:lnTo>
                    <a:pt x="866160" y="314206"/>
                  </a:lnTo>
                  <a:lnTo>
                    <a:pt x="906303" y="317368"/>
                  </a:lnTo>
                  <a:lnTo>
                    <a:pt x="944512" y="318327"/>
                  </a:lnTo>
                  <a:lnTo>
                    <a:pt x="981176" y="316137"/>
                  </a:lnTo>
                  <a:lnTo>
                    <a:pt x="1016686" y="309854"/>
                  </a:lnTo>
                  <a:lnTo>
                    <a:pt x="1055122" y="303454"/>
                  </a:lnTo>
                  <a:lnTo>
                    <a:pt x="1093683" y="302318"/>
                  </a:lnTo>
                  <a:lnTo>
                    <a:pt x="1132949" y="305004"/>
                  </a:lnTo>
                  <a:lnTo>
                    <a:pt x="1173502" y="310073"/>
                  </a:lnTo>
                  <a:lnTo>
                    <a:pt x="1215924" y="316083"/>
                  </a:lnTo>
                  <a:lnTo>
                    <a:pt x="1260797" y="321596"/>
                  </a:lnTo>
                  <a:lnTo>
                    <a:pt x="1308702" y="325169"/>
                  </a:lnTo>
                  <a:lnTo>
                    <a:pt x="1360222" y="325363"/>
                  </a:lnTo>
                  <a:lnTo>
                    <a:pt x="1415938" y="320738"/>
                  </a:lnTo>
                  <a:lnTo>
                    <a:pt x="1476432" y="309854"/>
                  </a:lnTo>
                  <a:lnTo>
                    <a:pt x="1466222" y="243789"/>
                  </a:lnTo>
                  <a:lnTo>
                    <a:pt x="1464044" y="189914"/>
                  </a:lnTo>
                  <a:lnTo>
                    <a:pt x="1466938" y="143902"/>
                  </a:lnTo>
                  <a:lnTo>
                    <a:pt x="1471941" y="101425"/>
                  </a:lnTo>
                  <a:lnTo>
                    <a:pt x="1476093" y="58158"/>
                  </a:lnTo>
                  <a:lnTo>
                    <a:pt x="1476432" y="9772"/>
                  </a:lnTo>
                  <a:lnTo>
                    <a:pt x="1430443" y="22501"/>
                  </a:lnTo>
                  <a:lnTo>
                    <a:pt x="1384094" y="29258"/>
                  </a:lnTo>
                  <a:lnTo>
                    <a:pt x="1337510" y="31141"/>
                  </a:lnTo>
                  <a:lnTo>
                    <a:pt x="1290820" y="29247"/>
                  </a:lnTo>
                  <a:lnTo>
                    <a:pt x="1244148" y="24672"/>
                  </a:lnTo>
                  <a:lnTo>
                    <a:pt x="1197624" y="18515"/>
                  </a:lnTo>
                  <a:lnTo>
                    <a:pt x="1151372" y="11871"/>
                  </a:lnTo>
                  <a:lnTo>
                    <a:pt x="1105520" y="5840"/>
                  </a:lnTo>
                  <a:lnTo>
                    <a:pt x="1060195" y="1517"/>
                  </a:lnTo>
                  <a:lnTo>
                    <a:pt x="101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59823" y="4150578"/>
              <a:ext cx="1471295" cy="330200"/>
            </a:xfrm>
            <a:custGeom>
              <a:avLst/>
              <a:gdLst/>
              <a:ahLst/>
              <a:cxnLst/>
              <a:rect l="l" t="t" r="r" b="b"/>
              <a:pathLst>
                <a:path w="1471295" h="330200">
                  <a:moveTo>
                    <a:pt x="3594" y="15747"/>
                  </a:moveTo>
                  <a:lnTo>
                    <a:pt x="55633" y="15192"/>
                  </a:lnTo>
                  <a:lnTo>
                    <a:pt x="109362" y="16847"/>
                  </a:lnTo>
                  <a:lnTo>
                    <a:pt x="164131" y="19930"/>
                  </a:lnTo>
                  <a:lnTo>
                    <a:pt x="219291" y="23658"/>
                  </a:lnTo>
                  <a:lnTo>
                    <a:pt x="274190" y="27248"/>
                  </a:lnTo>
                  <a:lnTo>
                    <a:pt x="328179" y="29919"/>
                  </a:lnTo>
                  <a:lnTo>
                    <a:pt x="380608" y="30886"/>
                  </a:lnTo>
                  <a:lnTo>
                    <a:pt x="430826" y="29369"/>
                  </a:lnTo>
                  <a:lnTo>
                    <a:pt x="478184" y="24583"/>
                  </a:lnTo>
                  <a:lnTo>
                    <a:pt x="522031" y="15747"/>
                  </a:lnTo>
                  <a:lnTo>
                    <a:pt x="565982" y="8064"/>
                  </a:lnTo>
                  <a:lnTo>
                    <a:pt x="613540" y="6225"/>
                  </a:lnTo>
                  <a:lnTo>
                    <a:pt x="663888" y="8679"/>
                  </a:lnTo>
                  <a:lnTo>
                    <a:pt x="716209" y="13875"/>
                  </a:lnTo>
                  <a:lnTo>
                    <a:pt x="769685" y="20260"/>
                  </a:lnTo>
                  <a:lnTo>
                    <a:pt x="823500" y="26285"/>
                  </a:lnTo>
                  <a:lnTo>
                    <a:pt x="876835" y="30397"/>
                  </a:lnTo>
                  <a:lnTo>
                    <a:pt x="928875" y="31046"/>
                  </a:lnTo>
                  <a:lnTo>
                    <a:pt x="978801" y="26680"/>
                  </a:lnTo>
                  <a:lnTo>
                    <a:pt x="1025796" y="15747"/>
                  </a:lnTo>
                  <a:lnTo>
                    <a:pt x="1069551" y="4689"/>
                  </a:lnTo>
                  <a:lnTo>
                    <a:pt x="1110934" y="0"/>
                  </a:lnTo>
                  <a:lnTo>
                    <a:pt x="1150897" y="213"/>
                  </a:lnTo>
                  <a:lnTo>
                    <a:pt x="1190393" y="3862"/>
                  </a:lnTo>
                  <a:lnTo>
                    <a:pt x="1230374" y="9480"/>
                  </a:lnTo>
                  <a:lnTo>
                    <a:pt x="1271791" y="15599"/>
                  </a:lnTo>
                  <a:lnTo>
                    <a:pt x="1315597" y="20752"/>
                  </a:lnTo>
                  <a:lnTo>
                    <a:pt x="1362744" y="23473"/>
                  </a:lnTo>
                  <a:lnTo>
                    <a:pt x="1414184" y="22294"/>
                  </a:lnTo>
                  <a:lnTo>
                    <a:pt x="1470869" y="15747"/>
                  </a:lnTo>
                  <a:lnTo>
                    <a:pt x="1469769" y="66725"/>
                  </a:lnTo>
                  <a:lnTo>
                    <a:pt x="1466034" y="118006"/>
                  </a:lnTo>
                  <a:lnTo>
                    <a:pt x="1461972" y="169073"/>
                  </a:lnTo>
                  <a:lnTo>
                    <a:pt x="1459886" y="219409"/>
                  </a:lnTo>
                  <a:lnTo>
                    <a:pt x="1462083" y="268500"/>
                  </a:lnTo>
                  <a:lnTo>
                    <a:pt x="1470869" y="315829"/>
                  </a:lnTo>
                  <a:lnTo>
                    <a:pt x="1411916" y="325822"/>
                  </a:lnTo>
                  <a:lnTo>
                    <a:pt x="1359964" y="329708"/>
                  </a:lnTo>
                  <a:lnTo>
                    <a:pt x="1313467" y="328942"/>
                  </a:lnTo>
                  <a:lnTo>
                    <a:pt x="1270883" y="324985"/>
                  </a:lnTo>
                  <a:lnTo>
                    <a:pt x="1230669" y="319292"/>
                  </a:lnTo>
                  <a:lnTo>
                    <a:pt x="1191281" y="313323"/>
                  </a:lnTo>
                  <a:lnTo>
                    <a:pt x="1151176" y="308534"/>
                  </a:lnTo>
                  <a:lnTo>
                    <a:pt x="1108810" y="306384"/>
                  </a:lnTo>
                  <a:lnTo>
                    <a:pt x="1062640" y="308330"/>
                  </a:lnTo>
                  <a:lnTo>
                    <a:pt x="1011123" y="315829"/>
                  </a:lnTo>
                  <a:lnTo>
                    <a:pt x="958760" y="324172"/>
                  </a:lnTo>
                  <a:lnTo>
                    <a:pt x="910297" y="328273"/>
                  </a:lnTo>
                  <a:lnTo>
                    <a:pt x="864560" y="329027"/>
                  </a:lnTo>
                  <a:lnTo>
                    <a:pt x="820374" y="327330"/>
                  </a:lnTo>
                  <a:lnTo>
                    <a:pt x="776564" y="324077"/>
                  </a:lnTo>
                  <a:lnTo>
                    <a:pt x="731955" y="320165"/>
                  </a:lnTo>
                  <a:lnTo>
                    <a:pt x="685372" y="316489"/>
                  </a:lnTo>
                  <a:lnTo>
                    <a:pt x="635641" y="313943"/>
                  </a:lnTo>
                  <a:lnTo>
                    <a:pt x="581585" y="313425"/>
                  </a:lnTo>
                  <a:lnTo>
                    <a:pt x="522031" y="315829"/>
                  </a:lnTo>
                  <a:lnTo>
                    <a:pt x="468623" y="317632"/>
                  </a:lnTo>
                  <a:lnTo>
                    <a:pt x="421315" y="316124"/>
                  </a:lnTo>
                  <a:lnTo>
                    <a:pt x="378490" y="312288"/>
                  </a:lnTo>
                  <a:lnTo>
                    <a:pt x="338535" y="307109"/>
                  </a:lnTo>
                  <a:lnTo>
                    <a:pt x="299836" y="301570"/>
                  </a:lnTo>
                  <a:lnTo>
                    <a:pt x="260778" y="296653"/>
                  </a:lnTo>
                  <a:lnTo>
                    <a:pt x="219746" y="293342"/>
                  </a:lnTo>
                  <a:lnTo>
                    <a:pt x="175127" y="292621"/>
                  </a:lnTo>
                  <a:lnTo>
                    <a:pt x="125304" y="295473"/>
                  </a:lnTo>
                  <a:lnTo>
                    <a:pt x="68665" y="302882"/>
                  </a:lnTo>
                  <a:lnTo>
                    <a:pt x="3594" y="315829"/>
                  </a:lnTo>
                  <a:lnTo>
                    <a:pt x="0" y="264882"/>
                  </a:lnTo>
                  <a:lnTo>
                    <a:pt x="1208" y="212327"/>
                  </a:lnTo>
                  <a:lnTo>
                    <a:pt x="4696" y="159651"/>
                  </a:lnTo>
                  <a:lnTo>
                    <a:pt x="7938" y="108339"/>
                  </a:lnTo>
                  <a:lnTo>
                    <a:pt x="8413" y="59876"/>
                  </a:lnTo>
                  <a:lnTo>
                    <a:pt x="3594" y="1574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313" y="4333809"/>
              <a:ext cx="459740" cy="469265"/>
            </a:xfrm>
            <a:custGeom>
              <a:avLst/>
              <a:gdLst/>
              <a:ahLst/>
              <a:cxnLst/>
              <a:rect l="l" t="t" r="r" b="b"/>
              <a:pathLst>
                <a:path w="459739" h="469264">
                  <a:moveTo>
                    <a:pt x="2266" y="0"/>
                  </a:moveTo>
                  <a:lnTo>
                    <a:pt x="0" y="2223"/>
                  </a:lnTo>
                  <a:lnTo>
                    <a:pt x="17786" y="20356"/>
                  </a:lnTo>
                  <a:lnTo>
                    <a:pt x="20053" y="18133"/>
                  </a:lnTo>
                  <a:lnTo>
                    <a:pt x="2266" y="0"/>
                  </a:lnTo>
                  <a:close/>
                </a:path>
                <a:path w="459739" h="469264">
                  <a:moveTo>
                    <a:pt x="26723" y="24932"/>
                  </a:moveTo>
                  <a:lnTo>
                    <a:pt x="24456" y="27156"/>
                  </a:lnTo>
                  <a:lnTo>
                    <a:pt x="42242" y="45289"/>
                  </a:lnTo>
                  <a:lnTo>
                    <a:pt x="44508" y="43066"/>
                  </a:lnTo>
                  <a:lnTo>
                    <a:pt x="26723" y="24932"/>
                  </a:lnTo>
                  <a:close/>
                </a:path>
                <a:path w="459739" h="469264">
                  <a:moveTo>
                    <a:pt x="51178" y="49866"/>
                  </a:moveTo>
                  <a:lnTo>
                    <a:pt x="48911" y="52089"/>
                  </a:lnTo>
                  <a:lnTo>
                    <a:pt x="66697" y="70222"/>
                  </a:lnTo>
                  <a:lnTo>
                    <a:pt x="68964" y="67999"/>
                  </a:lnTo>
                  <a:lnTo>
                    <a:pt x="51178" y="49866"/>
                  </a:lnTo>
                  <a:close/>
                </a:path>
                <a:path w="459739" h="469264">
                  <a:moveTo>
                    <a:pt x="75634" y="74799"/>
                  </a:moveTo>
                  <a:lnTo>
                    <a:pt x="73367" y="77022"/>
                  </a:lnTo>
                  <a:lnTo>
                    <a:pt x="91154" y="95156"/>
                  </a:lnTo>
                  <a:lnTo>
                    <a:pt x="93421" y="92932"/>
                  </a:lnTo>
                  <a:lnTo>
                    <a:pt x="75634" y="74799"/>
                  </a:lnTo>
                  <a:close/>
                </a:path>
                <a:path w="459739" h="469264">
                  <a:moveTo>
                    <a:pt x="100091" y="99731"/>
                  </a:moveTo>
                  <a:lnTo>
                    <a:pt x="97824" y="101955"/>
                  </a:lnTo>
                  <a:lnTo>
                    <a:pt x="115610" y="120088"/>
                  </a:lnTo>
                  <a:lnTo>
                    <a:pt x="117877" y="117866"/>
                  </a:lnTo>
                  <a:lnTo>
                    <a:pt x="100091" y="99731"/>
                  </a:lnTo>
                  <a:close/>
                </a:path>
                <a:path w="459739" h="469264">
                  <a:moveTo>
                    <a:pt x="124546" y="124665"/>
                  </a:moveTo>
                  <a:lnTo>
                    <a:pt x="122280" y="126888"/>
                  </a:lnTo>
                  <a:lnTo>
                    <a:pt x="140067" y="145022"/>
                  </a:lnTo>
                  <a:lnTo>
                    <a:pt x="142332" y="142798"/>
                  </a:lnTo>
                  <a:lnTo>
                    <a:pt x="124546" y="124665"/>
                  </a:lnTo>
                  <a:close/>
                </a:path>
                <a:path w="459739" h="469264">
                  <a:moveTo>
                    <a:pt x="149002" y="149598"/>
                  </a:moveTo>
                  <a:lnTo>
                    <a:pt x="146735" y="151822"/>
                  </a:lnTo>
                  <a:lnTo>
                    <a:pt x="164522" y="169955"/>
                  </a:lnTo>
                  <a:lnTo>
                    <a:pt x="166789" y="167731"/>
                  </a:lnTo>
                  <a:lnTo>
                    <a:pt x="149002" y="149598"/>
                  </a:lnTo>
                  <a:close/>
                </a:path>
                <a:path w="459739" h="469264">
                  <a:moveTo>
                    <a:pt x="173459" y="174531"/>
                  </a:moveTo>
                  <a:lnTo>
                    <a:pt x="171192" y="176754"/>
                  </a:lnTo>
                  <a:lnTo>
                    <a:pt x="188978" y="194887"/>
                  </a:lnTo>
                  <a:lnTo>
                    <a:pt x="191245" y="192665"/>
                  </a:lnTo>
                  <a:lnTo>
                    <a:pt x="173459" y="174531"/>
                  </a:lnTo>
                  <a:close/>
                </a:path>
                <a:path w="459739" h="469264">
                  <a:moveTo>
                    <a:pt x="197915" y="199464"/>
                  </a:moveTo>
                  <a:lnTo>
                    <a:pt x="195648" y="201687"/>
                  </a:lnTo>
                  <a:lnTo>
                    <a:pt x="213434" y="219820"/>
                  </a:lnTo>
                  <a:lnTo>
                    <a:pt x="215700" y="217597"/>
                  </a:lnTo>
                  <a:lnTo>
                    <a:pt x="197915" y="199464"/>
                  </a:lnTo>
                  <a:close/>
                </a:path>
                <a:path w="459739" h="469264">
                  <a:moveTo>
                    <a:pt x="222370" y="224397"/>
                  </a:moveTo>
                  <a:lnTo>
                    <a:pt x="220104" y="226621"/>
                  </a:lnTo>
                  <a:lnTo>
                    <a:pt x="237890" y="244754"/>
                  </a:lnTo>
                  <a:lnTo>
                    <a:pt x="240156" y="242530"/>
                  </a:lnTo>
                  <a:lnTo>
                    <a:pt x="222370" y="224397"/>
                  </a:lnTo>
                  <a:close/>
                </a:path>
                <a:path w="459739" h="469264">
                  <a:moveTo>
                    <a:pt x="246827" y="249330"/>
                  </a:moveTo>
                  <a:lnTo>
                    <a:pt x="244560" y="251553"/>
                  </a:lnTo>
                  <a:lnTo>
                    <a:pt x="262346" y="269687"/>
                  </a:lnTo>
                  <a:lnTo>
                    <a:pt x="264613" y="267464"/>
                  </a:lnTo>
                  <a:lnTo>
                    <a:pt x="246827" y="249330"/>
                  </a:lnTo>
                  <a:close/>
                </a:path>
                <a:path w="459739" h="469264">
                  <a:moveTo>
                    <a:pt x="271283" y="274264"/>
                  </a:moveTo>
                  <a:lnTo>
                    <a:pt x="269016" y="276486"/>
                  </a:lnTo>
                  <a:lnTo>
                    <a:pt x="286802" y="294619"/>
                  </a:lnTo>
                  <a:lnTo>
                    <a:pt x="289069" y="292397"/>
                  </a:lnTo>
                  <a:lnTo>
                    <a:pt x="271283" y="274264"/>
                  </a:lnTo>
                  <a:close/>
                </a:path>
                <a:path w="459739" h="469264">
                  <a:moveTo>
                    <a:pt x="295738" y="299196"/>
                  </a:moveTo>
                  <a:lnTo>
                    <a:pt x="293472" y="301420"/>
                  </a:lnTo>
                  <a:lnTo>
                    <a:pt x="311259" y="319553"/>
                  </a:lnTo>
                  <a:lnTo>
                    <a:pt x="313524" y="317329"/>
                  </a:lnTo>
                  <a:lnTo>
                    <a:pt x="295738" y="299196"/>
                  </a:lnTo>
                  <a:close/>
                </a:path>
                <a:path w="459739" h="469264">
                  <a:moveTo>
                    <a:pt x="320194" y="324130"/>
                  </a:moveTo>
                  <a:lnTo>
                    <a:pt x="317927" y="326353"/>
                  </a:lnTo>
                  <a:lnTo>
                    <a:pt x="335714" y="344486"/>
                  </a:lnTo>
                  <a:lnTo>
                    <a:pt x="337981" y="342263"/>
                  </a:lnTo>
                  <a:lnTo>
                    <a:pt x="320194" y="324130"/>
                  </a:lnTo>
                  <a:close/>
                </a:path>
                <a:path w="459739" h="469264">
                  <a:moveTo>
                    <a:pt x="344651" y="349063"/>
                  </a:moveTo>
                  <a:lnTo>
                    <a:pt x="342384" y="351285"/>
                  </a:lnTo>
                  <a:lnTo>
                    <a:pt x="360170" y="369418"/>
                  </a:lnTo>
                  <a:lnTo>
                    <a:pt x="362437" y="367196"/>
                  </a:lnTo>
                  <a:lnTo>
                    <a:pt x="344651" y="349063"/>
                  </a:lnTo>
                  <a:close/>
                </a:path>
                <a:path w="459739" h="469264">
                  <a:moveTo>
                    <a:pt x="405233" y="415360"/>
                  </a:moveTo>
                  <a:lnTo>
                    <a:pt x="379167" y="440928"/>
                  </a:lnTo>
                  <a:lnTo>
                    <a:pt x="459724" y="468649"/>
                  </a:lnTo>
                  <a:lnTo>
                    <a:pt x="443798" y="419285"/>
                  </a:lnTo>
                  <a:lnTo>
                    <a:pt x="409083" y="419285"/>
                  </a:lnTo>
                  <a:lnTo>
                    <a:pt x="405233" y="415360"/>
                  </a:lnTo>
                  <a:close/>
                </a:path>
                <a:path w="459739" h="469264">
                  <a:moveTo>
                    <a:pt x="407499" y="413138"/>
                  </a:moveTo>
                  <a:lnTo>
                    <a:pt x="405233" y="415360"/>
                  </a:lnTo>
                  <a:lnTo>
                    <a:pt x="409083" y="419285"/>
                  </a:lnTo>
                  <a:lnTo>
                    <a:pt x="411349" y="417062"/>
                  </a:lnTo>
                  <a:lnTo>
                    <a:pt x="407499" y="413138"/>
                  </a:lnTo>
                  <a:close/>
                </a:path>
                <a:path w="459739" h="469264">
                  <a:moveTo>
                    <a:pt x="433566" y="387569"/>
                  </a:moveTo>
                  <a:lnTo>
                    <a:pt x="407499" y="413138"/>
                  </a:lnTo>
                  <a:lnTo>
                    <a:pt x="411349" y="417062"/>
                  </a:lnTo>
                  <a:lnTo>
                    <a:pt x="409083" y="419285"/>
                  </a:lnTo>
                  <a:lnTo>
                    <a:pt x="443798" y="419285"/>
                  </a:lnTo>
                  <a:lnTo>
                    <a:pt x="433566" y="387569"/>
                  </a:lnTo>
                  <a:close/>
                </a:path>
                <a:path w="459739" h="469264">
                  <a:moveTo>
                    <a:pt x="393562" y="398929"/>
                  </a:moveTo>
                  <a:lnTo>
                    <a:pt x="391297" y="401152"/>
                  </a:lnTo>
                  <a:lnTo>
                    <a:pt x="405233" y="415360"/>
                  </a:lnTo>
                  <a:lnTo>
                    <a:pt x="407499" y="413138"/>
                  </a:lnTo>
                  <a:lnTo>
                    <a:pt x="393562" y="398929"/>
                  </a:lnTo>
                  <a:close/>
                </a:path>
                <a:path w="459739" h="469264">
                  <a:moveTo>
                    <a:pt x="369107" y="373995"/>
                  </a:moveTo>
                  <a:lnTo>
                    <a:pt x="366840" y="376219"/>
                  </a:lnTo>
                  <a:lnTo>
                    <a:pt x="384627" y="394352"/>
                  </a:lnTo>
                  <a:lnTo>
                    <a:pt x="386894" y="392129"/>
                  </a:lnTo>
                  <a:lnTo>
                    <a:pt x="369107" y="3739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52333" y="5120548"/>
              <a:ext cx="1478915" cy="537845"/>
            </a:xfrm>
            <a:custGeom>
              <a:avLst/>
              <a:gdLst/>
              <a:ahLst/>
              <a:cxnLst/>
              <a:rect l="l" t="t" r="r" b="b"/>
              <a:pathLst>
                <a:path w="1478914" h="537845">
                  <a:moveTo>
                    <a:pt x="1560" y="15747"/>
                  </a:moveTo>
                  <a:lnTo>
                    <a:pt x="53598" y="15192"/>
                  </a:lnTo>
                  <a:lnTo>
                    <a:pt x="107327" y="16847"/>
                  </a:lnTo>
                  <a:lnTo>
                    <a:pt x="162097" y="19930"/>
                  </a:lnTo>
                  <a:lnTo>
                    <a:pt x="217256" y="23658"/>
                  </a:lnTo>
                  <a:lnTo>
                    <a:pt x="272156" y="27248"/>
                  </a:lnTo>
                  <a:lnTo>
                    <a:pt x="326145" y="29919"/>
                  </a:lnTo>
                  <a:lnTo>
                    <a:pt x="378573" y="30886"/>
                  </a:lnTo>
                  <a:lnTo>
                    <a:pt x="428792" y="29369"/>
                  </a:lnTo>
                  <a:lnTo>
                    <a:pt x="476150" y="24583"/>
                  </a:lnTo>
                  <a:lnTo>
                    <a:pt x="519997" y="15747"/>
                  </a:lnTo>
                  <a:lnTo>
                    <a:pt x="563947" y="8064"/>
                  </a:lnTo>
                  <a:lnTo>
                    <a:pt x="611506" y="6225"/>
                  </a:lnTo>
                  <a:lnTo>
                    <a:pt x="661854" y="8679"/>
                  </a:lnTo>
                  <a:lnTo>
                    <a:pt x="714174" y="13875"/>
                  </a:lnTo>
                  <a:lnTo>
                    <a:pt x="767651" y="20260"/>
                  </a:lnTo>
                  <a:lnTo>
                    <a:pt x="821465" y="26285"/>
                  </a:lnTo>
                  <a:lnTo>
                    <a:pt x="874801" y="30397"/>
                  </a:lnTo>
                  <a:lnTo>
                    <a:pt x="926840" y="31046"/>
                  </a:lnTo>
                  <a:lnTo>
                    <a:pt x="976766" y="26680"/>
                  </a:lnTo>
                  <a:lnTo>
                    <a:pt x="1023762" y="15747"/>
                  </a:lnTo>
                  <a:lnTo>
                    <a:pt x="1067516" y="4689"/>
                  </a:lnTo>
                  <a:lnTo>
                    <a:pt x="1108899" y="0"/>
                  </a:lnTo>
                  <a:lnTo>
                    <a:pt x="1148863" y="213"/>
                  </a:lnTo>
                  <a:lnTo>
                    <a:pt x="1188358" y="3862"/>
                  </a:lnTo>
                  <a:lnTo>
                    <a:pt x="1228339" y="9480"/>
                  </a:lnTo>
                  <a:lnTo>
                    <a:pt x="1269756" y="15599"/>
                  </a:lnTo>
                  <a:lnTo>
                    <a:pt x="1313562" y="20752"/>
                  </a:lnTo>
                  <a:lnTo>
                    <a:pt x="1360709" y="23473"/>
                  </a:lnTo>
                  <a:lnTo>
                    <a:pt x="1412149" y="22294"/>
                  </a:lnTo>
                  <a:lnTo>
                    <a:pt x="1468835" y="15747"/>
                  </a:lnTo>
                  <a:lnTo>
                    <a:pt x="1474509" y="75121"/>
                  </a:lnTo>
                  <a:lnTo>
                    <a:pt x="1477608" y="131200"/>
                  </a:lnTo>
                  <a:lnTo>
                    <a:pt x="1478625" y="184504"/>
                  </a:lnTo>
                  <a:lnTo>
                    <a:pt x="1478052" y="235553"/>
                  </a:lnTo>
                  <a:lnTo>
                    <a:pt x="1476383" y="284865"/>
                  </a:lnTo>
                  <a:lnTo>
                    <a:pt x="1474110" y="332962"/>
                  </a:lnTo>
                  <a:lnTo>
                    <a:pt x="1471725" y="380362"/>
                  </a:lnTo>
                  <a:lnTo>
                    <a:pt x="1469723" y="427585"/>
                  </a:lnTo>
                  <a:lnTo>
                    <a:pt x="1468595" y="475150"/>
                  </a:lnTo>
                  <a:lnTo>
                    <a:pt x="1468835" y="523578"/>
                  </a:lnTo>
                  <a:lnTo>
                    <a:pt x="1409882" y="533571"/>
                  </a:lnTo>
                  <a:lnTo>
                    <a:pt x="1357929" y="537457"/>
                  </a:lnTo>
                  <a:lnTo>
                    <a:pt x="1311432" y="536691"/>
                  </a:lnTo>
                  <a:lnTo>
                    <a:pt x="1268849" y="532734"/>
                  </a:lnTo>
                  <a:lnTo>
                    <a:pt x="1228634" y="527041"/>
                  </a:lnTo>
                  <a:lnTo>
                    <a:pt x="1189246" y="521072"/>
                  </a:lnTo>
                  <a:lnTo>
                    <a:pt x="1149141" y="516283"/>
                  </a:lnTo>
                  <a:lnTo>
                    <a:pt x="1106775" y="514133"/>
                  </a:lnTo>
                  <a:lnTo>
                    <a:pt x="1060606" y="516079"/>
                  </a:lnTo>
                  <a:lnTo>
                    <a:pt x="1009089" y="523578"/>
                  </a:lnTo>
                  <a:lnTo>
                    <a:pt x="956725" y="531921"/>
                  </a:lnTo>
                  <a:lnTo>
                    <a:pt x="908263" y="536022"/>
                  </a:lnTo>
                  <a:lnTo>
                    <a:pt x="862526" y="536776"/>
                  </a:lnTo>
                  <a:lnTo>
                    <a:pt x="818340" y="535079"/>
                  </a:lnTo>
                  <a:lnTo>
                    <a:pt x="774530" y="531826"/>
                  </a:lnTo>
                  <a:lnTo>
                    <a:pt x="729920" y="527914"/>
                  </a:lnTo>
                  <a:lnTo>
                    <a:pt x="683338" y="524238"/>
                  </a:lnTo>
                  <a:lnTo>
                    <a:pt x="633606" y="521692"/>
                  </a:lnTo>
                  <a:lnTo>
                    <a:pt x="579551" y="521174"/>
                  </a:lnTo>
                  <a:lnTo>
                    <a:pt x="519997" y="523578"/>
                  </a:lnTo>
                  <a:lnTo>
                    <a:pt x="466589" y="525381"/>
                  </a:lnTo>
                  <a:lnTo>
                    <a:pt x="419280" y="523873"/>
                  </a:lnTo>
                  <a:lnTo>
                    <a:pt x="376455" y="520037"/>
                  </a:lnTo>
                  <a:lnTo>
                    <a:pt x="336501" y="514858"/>
                  </a:lnTo>
                  <a:lnTo>
                    <a:pt x="297802" y="509319"/>
                  </a:lnTo>
                  <a:lnTo>
                    <a:pt x="258744" y="504402"/>
                  </a:lnTo>
                  <a:lnTo>
                    <a:pt x="217712" y="501091"/>
                  </a:lnTo>
                  <a:lnTo>
                    <a:pt x="173092" y="500370"/>
                  </a:lnTo>
                  <a:lnTo>
                    <a:pt x="123270" y="503222"/>
                  </a:lnTo>
                  <a:lnTo>
                    <a:pt x="66630" y="510631"/>
                  </a:lnTo>
                  <a:lnTo>
                    <a:pt x="1560" y="523578"/>
                  </a:lnTo>
                  <a:lnTo>
                    <a:pt x="0" y="482276"/>
                  </a:lnTo>
                  <a:lnTo>
                    <a:pt x="1164" y="435158"/>
                  </a:lnTo>
                  <a:lnTo>
                    <a:pt x="4162" y="383616"/>
                  </a:lnTo>
                  <a:lnTo>
                    <a:pt x="8100" y="329039"/>
                  </a:lnTo>
                  <a:lnTo>
                    <a:pt x="12088" y="272820"/>
                  </a:lnTo>
                  <a:lnTo>
                    <a:pt x="15234" y="216347"/>
                  </a:lnTo>
                  <a:lnTo>
                    <a:pt x="16646" y="161013"/>
                  </a:lnTo>
                  <a:lnTo>
                    <a:pt x="15432" y="108208"/>
                  </a:lnTo>
                  <a:lnTo>
                    <a:pt x="10700" y="59323"/>
                  </a:lnTo>
                  <a:lnTo>
                    <a:pt x="1560" y="1574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003356" y="5155691"/>
            <a:ext cx="768985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4130" marR="5080" indent="-12065">
              <a:lnSpc>
                <a:spcPts val="1610"/>
              </a:lnSpc>
              <a:spcBef>
                <a:spcPts val="210"/>
              </a:spcBef>
            </a:pPr>
            <a:r>
              <a:rPr dirty="0" sz="1400" spc="-30">
                <a:latin typeface="Century Gothic"/>
                <a:cs typeface="Century Gothic"/>
              </a:rPr>
              <a:t>Financial Acumen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69627" y="4308571"/>
            <a:ext cx="2704465" cy="998855"/>
            <a:chOff x="1869627" y="4308571"/>
            <a:chExt cx="2704465" cy="998855"/>
          </a:xfrm>
        </p:grpSpPr>
        <p:sp>
          <p:nvSpPr>
            <p:cNvPr id="11" name="object 11"/>
            <p:cNvSpPr/>
            <p:nvPr/>
          </p:nvSpPr>
          <p:spPr>
            <a:xfrm>
              <a:off x="4103599" y="4802456"/>
              <a:ext cx="470534" cy="504825"/>
            </a:xfrm>
            <a:custGeom>
              <a:avLst/>
              <a:gdLst/>
              <a:ahLst/>
              <a:cxnLst/>
              <a:rect l="l" t="t" r="r" b="b"/>
              <a:pathLst>
                <a:path w="470535" h="504825">
                  <a:moveTo>
                    <a:pt x="34629" y="463100"/>
                  </a:moveTo>
                  <a:lnTo>
                    <a:pt x="0" y="500268"/>
                  </a:lnTo>
                  <a:lnTo>
                    <a:pt x="4645" y="504596"/>
                  </a:lnTo>
                  <a:lnTo>
                    <a:pt x="39276" y="467428"/>
                  </a:lnTo>
                  <a:lnTo>
                    <a:pt x="34629" y="463100"/>
                  </a:lnTo>
                  <a:close/>
                </a:path>
                <a:path w="470535" h="504825">
                  <a:moveTo>
                    <a:pt x="82245" y="411994"/>
                  </a:moveTo>
                  <a:lnTo>
                    <a:pt x="47616" y="449162"/>
                  </a:lnTo>
                  <a:lnTo>
                    <a:pt x="52261" y="453490"/>
                  </a:lnTo>
                  <a:lnTo>
                    <a:pt x="86890" y="416322"/>
                  </a:lnTo>
                  <a:lnTo>
                    <a:pt x="82245" y="411994"/>
                  </a:lnTo>
                  <a:close/>
                </a:path>
                <a:path w="470535" h="504825">
                  <a:moveTo>
                    <a:pt x="129860" y="360888"/>
                  </a:moveTo>
                  <a:lnTo>
                    <a:pt x="95230" y="398056"/>
                  </a:lnTo>
                  <a:lnTo>
                    <a:pt x="99876" y="402384"/>
                  </a:lnTo>
                  <a:lnTo>
                    <a:pt x="134505" y="365216"/>
                  </a:lnTo>
                  <a:lnTo>
                    <a:pt x="129860" y="360888"/>
                  </a:lnTo>
                  <a:close/>
                </a:path>
                <a:path w="470535" h="504825">
                  <a:moveTo>
                    <a:pt x="177476" y="309782"/>
                  </a:moveTo>
                  <a:lnTo>
                    <a:pt x="142845" y="346950"/>
                  </a:lnTo>
                  <a:lnTo>
                    <a:pt x="147492" y="351279"/>
                  </a:lnTo>
                  <a:lnTo>
                    <a:pt x="182121" y="314111"/>
                  </a:lnTo>
                  <a:lnTo>
                    <a:pt x="177476" y="309782"/>
                  </a:lnTo>
                  <a:close/>
                </a:path>
                <a:path w="470535" h="504825">
                  <a:moveTo>
                    <a:pt x="225090" y="258676"/>
                  </a:moveTo>
                  <a:lnTo>
                    <a:pt x="190461" y="295843"/>
                  </a:lnTo>
                  <a:lnTo>
                    <a:pt x="195107" y="300173"/>
                  </a:lnTo>
                  <a:lnTo>
                    <a:pt x="229736" y="263005"/>
                  </a:lnTo>
                  <a:lnTo>
                    <a:pt x="225090" y="258676"/>
                  </a:lnTo>
                  <a:close/>
                </a:path>
                <a:path w="470535" h="504825">
                  <a:moveTo>
                    <a:pt x="272705" y="207571"/>
                  </a:moveTo>
                  <a:lnTo>
                    <a:pt x="238076" y="244739"/>
                  </a:lnTo>
                  <a:lnTo>
                    <a:pt x="242722" y="249067"/>
                  </a:lnTo>
                  <a:lnTo>
                    <a:pt x="277352" y="211899"/>
                  </a:lnTo>
                  <a:lnTo>
                    <a:pt x="272705" y="207571"/>
                  </a:lnTo>
                  <a:close/>
                </a:path>
                <a:path w="470535" h="504825">
                  <a:moveTo>
                    <a:pt x="320321" y="156465"/>
                  </a:moveTo>
                  <a:lnTo>
                    <a:pt x="285692" y="193633"/>
                  </a:lnTo>
                  <a:lnTo>
                    <a:pt x="290338" y="197961"/>
                  </a:lnTo>
                  <a:lnTo>
                    <a:pt x="324967" y="160793"/>
                  </a:lnTo>
                  <a:lnTo>
                    <a:pt x="320321" y="156465"/>
                  </a:lnTo>
                  <a:close/>
                </a:path>
                <a:path w="470535" h="504825">
                  <a:moveTo>
                    <a:pt x="367936" y="105359"/>
                  </a:moveTo>
                  <a:lnTo>
                    <a:pt x="333307" y="142527"/>
                  </a:lnTo>
                  <a:lnTo>
                    <a:pt x="337953" y="146856"/>
                  </a:lnTo>
                  <a:lnTo>
                    <a:pt x="372582" y="109688"/>
                  </a:lnTo>
                  <a:lnTo>
                    <a:pt x="367936" y="105359"/>
                  </a:lnTo>
                  <a:close/>
                </a:path>
                <a:path w="470535" h="504825">
                  <a:moveTo>
                    <a:pt x="415552" y="54253"/>
                  </a:moveTo>
                  <a:lnTo>
                    <a:pt x="380922" y="91420"/>
                  </a:lnTo>
                  <a:lnTo>
                    <a:pt x="385569" y="95750"/>
                  </a:lnTo>
                  <a:lnTo>
                    <a:pt x="420198" y="58582"/>
                  </a:lnTo>
                  <a:lnTo>
                    <a:pt x="415552" y="54253"/>
                  </a:lnTo>
                  <a:close/>
                </a:path>
                <a:path w="470535" h="504825">
                  <a:moveTo>
                    <a:pt x="470439" y="0"/>
                  </a:moveTo>
                  <a:lnTo>
                    <a:pt x="390620" y="29780"/>
                  </a:lnTo>
                  <a:lnTo>
                    <a:pt x="446371" y="81723"/>
                  </a:lnTo>
                  <a:lnTo>
                    <a:pt x="4704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22121" y="4308571"/>
              <a:ext cx="241300" cy="983615"/>
            </a:xfrm>
            <a:custGeom>
              <a:avLst/>
              <a:gdLst/>
              <a:ahLst/>
              <a:cxnLst/>
              <a:rect l="l" t="t" r="r" b="b"/>
              <a:pathLst>
                <a:path w="241300" h="983614">
                  <a:moveTo>
                    <a:pt x="222976" y="28059"/>
                  </a:moveTo>
                  <a:lnTo>
                    <a:pt x="180681" y="28059"/>
                  </a:lnTo>
                  <a:lnTo>
                    <a:pt x="183646" y="33780"/>
                  </a:lnTo>
                  <a:lnTo>
                    <a:pt x="183442" y="33780"/>
                  </a:lnTo>
                  <a:lnTo>
                    <a:pt x="171963" y="39730"/>
                  </a:lnTo>
                  <a:lnTo>
                    <a:pt x="184159" y="70987"/>
                  </a:lnTo>
                  <a:lnTo>
                    <a:pt x="222976" y="28059"/>
                  </a:lnTo>
                  <a:close/>
                </a:path>
                <a:path w="241300" h="983614">
                  <a:moveTo>
                    <a:pt x="169641" y="33780"/>
                  </a:moveTo>
                  <a:lnTo>
                    <a:pt x="162594" y="37433"/>
                  </a:lnTo>
                  <a:lnTo>
                    <a:pt x="151641" y="47200"/>
                  </a:lnTo>
                  <a:lnTo>
                    <a:pt x="140136" y="59495"/>
                  </a:lnTo>
                  <a:lnTo>
                    <a:pt x="144773" y="63834"/>
                  </a:lnTo>
                  <a:lnTo>
                    <a:pt x="156180" y="51644"/>
                  </a:lnTo>
                  <a:lnTo>
                    <a:pt x="166019" y="42887"/>
                  </a:lnTo>
                  <a:lnTo>
                    <a:pt x="165870" y="42887"/>
                  </a:lnTo>
                  <a:lnTo>
                    <a:pt x="166523" y="42438"/>
                  </a:lnTo>
                  <a:lnTo>
                    <a:pt x="166738" y="42438"/>
                  </a:lnTo>
                  <a:lnTo>
                    <a:pt x="171963" y="39730"/>
                  </a:lnTo>
                  <a:lnTo>
                    <a:pt x="169641" y="33780"/>
                  </a:lnTo>
                  <a:close/>
                </a:path>
                <a:path w="241300" h="983614">
                  <a:moveTo>
                    <a:pt x="166225" y="42704"/>
                  </a:moveTo>
                  <a:lnTo>
                    <a:pt x="165870" y="42887"/>
                  </a:lnTo>
                  <a:lnTo>
                    <a:pt x="166019" y="42887"/>
                  </a:lnTo>
                  <a:lnTo>
                    <a:pt x="166225" y="42704"/>
                  </a:lnTo>
                  <a:close/>
                </a:path>
                <a:path w="241300" h="983614">
                  <a:moveTo>
                    <a:pt x="166738" y="42438"/>
                  </a:moveTo>
                  <a:lnTo>
                    <a:pt x="166523" y="42438"/>
                  </a:lnTo>
                  <a:lnTo>
                    <a:pt x="166225" y="42704"/>
                  </a:lnTo>
                  <a:lnTo>
                    <a:pt x="166738" y="42438"/>
                  </a:lnTo>
                  <a:close/>
                </a:path>
                <a:path w="241300" h="983614">
                  <a:moveTo>
                    <a:pt x="180681" y="28059"/>
                  </a:moveTo>
                  <a:lnTo>
                    <a:pt x="169641" y="33780"/>
                  </a:lnTo>
                  <a:lnTo>
                    <a:pt x="171963" y="39730"/>
                  </a:lnTo>
                  <a:lnTo>
                    <a:pt x="183442" y="33780"/>
                  </a:lnTo>
                  <a:lnTo>
                    <a:pt x="183646" y="33780"/>
                  </a:lnTo>
                  <a:lnTo>
                    <a:pt x="180681" y="28059"/>
                  </a:lnTo>
                  <a:close/>
                </a:path>
                <a:path w="241300" h="983614">
                  <a:moveTo>
                    <a:pt x="156461" y="0"/>
                  </a:moveTo>
                  <a:lnTo>
                    <a:pt x="169641" y="33780"/>
                  </a:lnTo>
                  <a:lnTo>
                    <a:pt x="180681" y="28059"/>
                  </a:lnTo>
                  <a:lnTo>
                    <a:pt x="222976" y="28059"/>
                  </a:lnTo>
                  <a:lnTo>
                    <a:pt x="241298" y="7796"/>
                  </a:lnTo>
                  <a:lnTo>
                    <a:pt x="156461" y="0"/>
                  </a:lnTo>
                  <a:close/>
                </a:path>
                <a:path w="241300" h="983614">
                  <a:moveTo>
                    <a:pt x="127354" y="74025"/>
                  </a:moveTo>
                  <a:lnTo>
                    <a:pt x="123509" y="79080"/>
                  </a:lnTo>
                  <a:lnTo>
                    <a:pt x="128563" y="82924"/>
                  </a:lnTo>
                  <a:lnTo>
                    <a:pt x="132407" y="77870"/>
                  </a:lnTo>
                  <a:lnTo>
                    <a:pt x="127354" y="74025"/>
                  </a:lnTo>
                  <a:close/>
                </a:path>
                <a:path w="241300" h="983614">
                  <a:moveTo>
                    <a:pt x="111975" y="94241"/>
                  </a:moveTo>
                  <a:lnTo>
                    <a:pt x="111021" y="95496"/>
                  </a:lnTo>
                  <a:lnTo>
                    <a:pt x="108321" y="99759"/>
                  </a:lnTo>
                  <a:lnTo>
                    <a:pt x="113687" y="103157"/>
                  </a:lnTo>
                  <a:lnTo>
                    <a:pt x="116313" y="99009"/>
                  </a:lnTo>
                  <a:lnTo>
                    <a:pt x="117030" y="98085"/>
                  </a:lnTo>
                  <a:lnTo>
                    <a:pt x="111975" y="94241"/>
                  </a:lnTo>
                  <a:close/>
                </a:path>
                <a:path w="241300" h="983614">
                  <a:moveTo>
                    <a:pt x="98130" y="115854"/>
                  </a:moveTo>
                  <a:lnTo>
                    <a:pt x="92253" y="125134"/>
                  </a:lnTo>
                  <a:lnTo>
                    <a:pt x="74736" y="157951"/>
                  </a:lnTo>
                  <a:lnTo>
                    <a:pt x="73428" y="160849"/>
                  </a:lnTo>
                  <a:lnTo>
                    <a:pt x="73715" y="160849"/>
                  </a:lnTo>
                  <a:lnTo>
                    <a:pt x="79264" y="163355"/>
                  </a:lnTo>
                  <a:lnTo>
                    <a:pt x="80395" y="160849"/>
                  </a:lnTo>
                  <a:lnTo>
                    <a:pt x="97690" y="128432"/>
                  </a:lnTo>
                  <a:lnTo>
                    <a:pt x="97799" y="128228"/>
                  </a:lnTo>
                  <a:lnTo>
                    <a:pt x="103494" y="119251"/>
                  </a:lnTo>
                  <a:lnTo>
                    <a:pt x="98130" y="115854"/>
                  </a:lnTo>
                  <a:close/>
                </a:path>
                <a:path w="241300" h="983614">
                  <a:moveTo>
                    <a:pt x="65635" y="178103"/>
                  </a:moveTo>
                  <a:lnTo>
                    <a:pt x="63022" y="183890"/>
                  </a:lnTo>
                  <a:lnTo>
                    <a:pt x="68808" y="186504"/>
                  </a:lnTo>
                  <a:lnTo>
                    <a:pt x="71421" y="180717"/>
                  </a:lnTo>
                  <a:lnTo>
                    <a:pt x="65635" y="178103"/>
                  </a:lnTo>
                  <a:close/>
                </a:path>
                <a:path w="241300" h="983614">
                  <a:moveTo>
                    <a:pt x="55581" y="201626"/>
                  </a:moveTo>
                  <a:lnTo>
                    <a:pt x="53321" y="207561"/>
                  </a:lnTo>
                  <a:lnTo>
                    <a:pt x="59256" y="209820"/>
                  </a:lnTo>
                  <a:lnTo>
                    <a:pt x="61515" y="203885"/>
                  </a:lnTo>
                  <a:lnTo>
                    <a:pt x="55581" y="201626"/>
                  </a:lnTo>
                  <a:close/>
                </a:path>
                <a:path w="241300" h="983614">
                  <a:moveTo>
                    <a:pt x="46543" y="225364"/>
                  </a:moveTo>
                  <a:lnTo>
                    <a:pt x="44124" y="231719"/>
                  </a:lnTo>
                  <a:lnTo>
                    <a:pt x="31368" y="271967"/>
                  </a:lnTo>
                  <a:lnTo>
                    <a:pt x="30938" y="273636"/>
                  </a:lnTo>
                  <a:lnTo>
                    <a:pt x="30836" y="274032"/>
                  </a:lnTo>
                  <a:lnTo>
                    <a:pt x="36985" y="275617"/>
                  </a:lnTo>
                  <a:lnTo>
                    <a:pt x="37394" y="274032"/>
                  </a:lnTo>
                  <a:lnTo>
                    <a:pt x="37496" y="273636"/>
                  </a:lnTo>
                  <a:lnTo>
                    <a:pt x="50096" y="233894"/>
                  </a:lnTo>
                  <a:lnTo>
                    <a:pt x="52478" y="227623"/>
                  </a:lnTo>
                  <a:lnTo>
                    <a:pt x="46543" y="225364"/>
                  </a:lnTo>
                  <a:close/>
                </a:path>
                <a:path w="241300" h="983614">
                  <a:moveTo>
                    <a:pt x="26082" y="292480"/>
                  </a:moveTo>
                  <a:lnTo>
                    <a:pt x="24499" y="298630"/>
                  </a:lnTo>
                  <a:lnTo>
                    <a:pt x="30648" y="300214"/>
                  </a:lnTo>
                  <a:lnTo>
                    <a:pt x="32232" y="294064"/>
                  </a:lnTo>
                  <a:lnTo>
                    <a:pt x="26082" y="292480"/>
                  </a:lnTo>
                  <a:close/>
                </a:path>
                <a:path w="241300" h="983614">
                  <a:moveTo>
                    <a:pt x="19880" y="317284"/>
                  </a:moveTo>
                  <a:lnTo>
                    <a:pt x="18629" y="323509"/>
                  </a:lnTo>
                  <a:lnTo>
                    <a:pt x="24854" y="324759"/>
                  </a:lnTo>
                  <a:lnTo>
                    <a:pt x="26105" y="318533"/>
                  </a:lnTo>
                  <a:lnTo>
                    <a:pt x="19880" y="317284"/>
                  </a:lnTo>
                  <a:close/>
                </a:path>
                <a:path w="241300" h="983614">
                  <a:moveTo>
                    <a:pt x="14879" y="342186"/>
                  </a:moveTo>
                  <a:lnTo>
                    <a:pt x="11815" y="357436"/>
                  </a:lnTo>
                  <a:lnTo>
                    <a:pt x="6738" y="392488"/>
                  </a:lnTo>
                  <a:lnTo>
                    <a:pt x="13022" y="393399"/>
                  </a:lnTo>
                  <a:lnTo>
                    <a:pt x="18063" y="358602"/>
                  </a:lnTo>
                  <a:lnTo>
                    <a:pt x="21104" y="343437"/>
                  </a:lnTo>
                  <a:lnTo>
                    <a:pt x="14879" y="342186"/>
                  </a:lnTo>
                  <a:close/>
                </a:path>
                <a:path w="241300" h="983614">
                  <a:moveTo>
                    <a:pt x="4515" y="411579"/>
                  </a:moveTo>
                  <a:lnTo>
                    <a:pt x="3957" y="417904"/>
                  </a:lnTo>
                  <a:lnTo>
                    <a:pt x="10282" y="418463"/>
                  </a:lnTo>
                  <a:lnTo>
                    <a:pt x="10841" y="412137"/>
                  </a:lnTo>
                  <a:lnTo>
                    <a:pt x="4515" y="411579"/>
                  </a:lnTo>
                  <a:close/>
                </a:path>
                <a:path w="241300" h="983614">
                  <a:moveTo>
                    <a:pt x="2279" y="436879"/>
                  </a:moveTo>
                  <a:lnTo>
                    <a:pt x="1720" y="443205"/>
                  </a:lnTo>
                  <a:lnTo>
                    <a:pt x="8046" y="443764"/>
                  </a:lnTo>
                  <a:lnTo>
                    <a:pt x="8605" y="437440"/>
                  </a:lnTo>
                  <a:lnTo>
                    <a:pt x="2279" y="436879"/>
                  </a:lnTo>
                  <a:close/>
                </a:path>
                <a:path w="241300" h="983614">
                  <a:moveTo>
                    <a:pt x="7257" y="462608"/>
                  </a:moveTo>
                  <a:lnTo>
                    <a:pt x="904" y="462608"/>
                  </a:lnTo>
                  <a:lnTo>
                    <a:pt x="0" y="492876"/>
                  </a:lnTo>
                  <a:lnTo>
                    <a:pt x="587" y="513199"/>
                  </a:lnTo>
                  <a:lnTo>
                    <a:pt x="6938" y="513199"/>
                  </a:lnTo>
                  <a:lnTo>
                    <a:pt x="6352" y="492876"/>
                  </a:lnTo>
                  <a:lnTo>
                    <a:pt x="7257" y="462608"/>
                  </a:lnTo>
                  <a:close/>
                </a:path>
                <a:path w="241300" h="983614">
                  <a:moveTo>
                    <a:pt x="7494" y="532424"/>
                  </a:moveTo>
                  <a:lnTo>
                    <a:pt x="1142" y="532424"/>
                  </a:lnTo>
                  <a:lnTo>
                    <a:pt x="1301" y="537921"/>
                  </a:lnTo>
                  <a:lnTo>
                    <a:pt x="1362" y="538947"/>
                  </a:lnTo>
                  <a:lnTo>
                    <a:pt x="7689" y="538410"/>
                  </a:lnTo>
                  <a:lnTo>
                    <a:pt x="7653" y="537921"/>
                  </a:lnTo>
                  <a:lnTo>
                    <a:pt x="7494" y="532424"/>
                  </a:lnTo>
                  <a:close/>
                </a:path>
                <a:path w="241300" h="983614">
                  <a:moveTo>
                    <a:pt x="9301" y="557392"/>
                  </a:moveTo>
                  <a:lnTo>
                    <a:pt x="2974" y="557928"/>
                  </a:lnTo>
                  <a:lnTo>
                    <a:pt x="3464" y="563719"/>
                  </a:lnTo>
                  <a:lnTo>
                    <a:pt x="3509" y="564257"/>
                  </a:lnTo>
                  <a:lnTo>
                    <a:pt x="9838" y="563719"/>
                  </a:lnTo>
                  <a:lnTo>
                    <a:pt x="9346" y="557928"/>
                  </a:lnTo>
                  <a:lnTo>
                    <a:pt x="9301" y="557392"/>
                  </a:lnTo>
                  <a:close/>
                </a:path>
                <a:path w="241300" h="983614">
                  <a:moveTo>
                    <a:pt x="11452" y="582804"/>
                  </a:moveTo>
                  <a:lnTo>
                    <a:pt x="10237" y="582804"/>
                  </a:lnTo>
                  <a:lnTo>
                    <a:pt x="5121" y="583238"/>
                  </a:lnTo>
                  <a:lnTo>
                    <a:pt x="5152" y="583595"/>
                  </a:lnTo>
                  <a:lnTo>
                    <a:pt x="11342" y="628103"/>
                  </a:lnTo>
                  <a:lnTo>
                    <a:pt x="12446" y="633839"/>
                  </a:lnTo>
                  <a:lnTo>
                    <a:pt x="18682" y="632636"/>
                  </a:lnTo>
                  <a:lnTo>
                    <a:pt x="17624" y="627147"/>
                  </a:lnTo>
                  <a:lnTo>
                    <a:pt x="11562" y="583595"/>
                  </a:lnTo>
                  <a:lnTo>
                    <a:pt x="11452" y="582804"/>
                  </a:lnTo>
                  <a:close/>
                </a:path>
                <a:path w="241300" h="983614">
                  <a:moveTo>
                    <a:pt x="22289" y="651342"/>
                  </a:moveTo>
                  <a:lnTo>
                    <a:pt x="16053" y="652545"/>
                  </a:lnTo>
                  <a:lnTo>
                    <a:pt x="17256" y="658779"/>
                  </a:lnTo>
                  <a:lnTo>
                    <a:pt x="23490" y="657578"/>
                  </a:lnTo>
                  <a:lnTo>
                    <a:pt x="22289" y="651342"/>
                  </a:lnTo>
                  <a:close/>
                </a:path>
                <a:path w="241300" h="983614">
                  <a:moveTo>
                    <a:pt x="27373" y="676054"/>
                  </a:moveTo>
                  <a:lnTo>
                    <a:pt x="21209" y="677578"/>
                  </a:lnTo>
                  <a:lnTo>
                    <a:pt x="22733" y="683742"/>
                  </a:lnTo>
                  <a:lnTo>
                    <a:pt x="28898" y="682217"/>
                  </a:lnTo>
                  <a:lnTo>
                    <a:pt x="27373" y="676054"/>
                  </a:lnTo>
                  <a:close/>
                </a:path>
                <a:path w="241300" h="983614">
                  <a:moveTo>
                    <a:pt x="33471" y="700709"/>
                  </a:moveTo>
                  <a:lnTo>
                    <a:pt x="27308" y="702235"/>
                  </a:lnTo>
                  <a:lnTo>
                    <a:pt x="30110" y="713560"/>
                  </a:lnTo>
                  <a:lnTo>
                    <a:pt x="41549" y="751159"/>
                  </a:lnTo>
                  <a:lnTo>
                    <a:pt x="47624" y="749311"/>
                  </a:lnTo>
                  <a:lnTo>
                    <a:pt x="36257" y="711954"/>
                  </a:lnTo>
                  <a:lnTo>
                    <a:pt x="33471" y="700709"/>
                  </a:lnTo>
                  <a:close/>
                </a:path>
                <a:path w="241300" h="983614">
                  <a:moveTo>
                    <a:pt x="53968" y="767085"/>
                  </a:moveTo>
                  <a:lnTo>
                    <a:pt x="48004" y="769264"/>
                  </a:lnTo>
                  <a:lnTo>
                    <a:pt x="50183" y="775229"/>
                  </a:lnTo>
                  <a:lnTo>
                    <a:pt x="56147" y="773048"/>
                  </a:lnTo>
                  <a:lnTo>
                    <a:pt x="53968" y="767085"/>
                  </a:lnTo>
                  <a:close/>
                </a:path>
                <a:path w="241300" h="983614">
                  <a:moveTo>
                    <a:pt x="62693" y="790738"/>
                  </a:moveTo>
                  <a:lnTo>
                    <a:pt x="56866" y="793264"/>
                  </a:lnTo>
                  <a:lnTo>
                    <a:pt x="59392" y="799090"/>
                  </a:lnTo>
                  <a:lnTo>
                    <a:pt x="65219" y="796564"/>
                  </a:lnTo>
                  <a:lnTo>
                    <a:pt x="62693" y="790738"/>
                  </a:lnTo>
                  <a:close/>
                </a:path>
                <a:path w="241300" h="983614">
                  <a:moveTo>
                    <a:pt x="72797" y="814042"/>
                  </a:moveTo>
                  <a:lnTo>
                    <a:pt x="66970" y="816568"/>
                  </a:lnTo>
                  <a:lnTo>
                    <a:pt x="71738" y="827565"/>
                  </a:lnTo>
                  <a:lnTo>
                    <a:pt x="88553" y="860379"/>
                  </a:lnTo>
                  <a:lnTo>
                    <a:pt x="89788" y="862411"/>
                  </a:lnTo>
                  <a:lnTo>
                    <a:pt x="95215" y="859113"/>
                  </a:lnTo>
                  <a:lnTo>
                    <a:pt x="94162" y="857380"/>
                  </a:lnTo>
                  <a:lnTo>
                    <a:pt x="94039" y="857178"/>
                  </a:lnTo>
                  <a:lnTo>
                    <a:pt x="77531" y="824945"/>
                  </a:lnTo>
                  <a:lnTo>
                    <a:pt x="77436" y="824759"/>
                  </a:lnTo>
                  <a:lnTo>
                    <a:pt x="72797" y="814042"/>
                  </a:lnTo>
                  <a:close/>
                </a:path>
                <a:path w="241300" h="983614">
                  <a:moveTo>
                    <a:pt x="105111" y="875390"/>
                  </a:moveTo>
                  <a:lnTo>
                    <a:pt x="99684" y="878690"/>
                  </a:lnTo>
                  <a:lnTo>
                    <a:pt x="102984" y="884115"/>
                  </a:lnTo>
                  <a:lnTo>
                    <a:pt x="108409" y="880817"/>
                  </a:lnTo>
                  <a:lnTo>
                    <a:pt x="105111" y="875390"/>
                  </a:lnTo>
                  <a:close/>
                </a:path>
                <a:path w="241300" h="983614">
                  <a:moveTo>
                    <a:pt x="119019" y="896296"/>
                  </a:moveTo>
                  <a:lnTo>
                    <a:pt x="113890" y="900041"/>
                  </a:lnTo>
                  <a:lnTo>
                    <a:pt x="117636" y="905169"/>
                  </a:lnTo>
                  <a:lnTo>
                    <a:pt x="122764" y="901424"/>
                  </a:lnTo>
                  <a:lnTo>
                    <a:pt x="119019" y="896296"/>
                  </a:lnTo>
                  <a:close/>
                </a:path>
                <a:path w="241300" h="983614">
                  <a:moveTo>
                    <a:pt x="160618" y="950406"/>
                  </a:moveTo>
                  <a:lnTo>
                    <a:pt x="146771" y="983482"/>
                  </a:lnTo>
                  <a:lnTo>
                    <a:pt x="231773" y="977765"/>
                  </a:lnTo>
                  <a:lnTo>
                    <a:pt x="211543" y="954261"/>
                  </a:lnTo>
                  <a:lnTo>
                    <a:pt x="168198" y="954261"/>
                  </a:lnTo>
                  <a:lnTo>
                    <a:pt x="160618" y="950406"/>
                  </a:lnTo>
                  <a:close/>
                </a:path>
                <a:path w="241300" h="983614">
                  <a:moveTo>
                    <a:pt x="163077" y="944533"/>
                  </a:moveTo>
                  <a:lnTo>
                    <a:pt x="160618" y="950406"/>
                  </a:lnTo>
                  <a:lnTo>
                    <a:pt x="168198" y="954261"/>
                  </a:lnTo>
                  <a:lnTo>
                    <a:pt x="171076" y="948601"/>
                  </a:lnTo>
                  <a:lnTo>
                    <a:pt x="163077" y="944533"/>
                  </a:lnTo>
                  <a:close/>
                </a:path>
                <a:path w="241300" h="983614">
                  <a:moveTo>
                    <a:pt x="176198" y="913194"/>
                  </a:moveTo>
                  <a:lnTo>
                    <a:pt x="163077" y="944533"/>
                  </a:lnTo>
                  <a:lnTo>
                    <a:pt x="171076" y="948601"/>
                  </a:lnTo>
                  <a:lnTo>
                    <a:pt x="168198" y="954261"/>
                  </a:lnTo>
                  <a:lnTo>
                    <a:pt x="211543" y="954261"/>
                  </a:lnTo>
                  <a:lnTo>
                    <a:pt x="176198" y="913194"/>
                  </a:lnTo>
                  <a:close/>
                </a:path>
                <a:path w="241300" h="983614">
                  <a:moveTo>
                    <a:pt x="134239" y="916200"/>
                  </a:moveTo>
                  <a:lnTo>
                    <a:pt x="129515" y="920443"/>
                  </a:lnTo>
                  <a:lnTo>
                    <a:pt x="145568" y="938315"/>
                  </a:lnTo>
                  <a:lnTo>
                    <a:pt x="156124" y="948121"/>
                  </a:lnTo>
                  <a:lnTo>
                    <a:pt x="160618" y="950406"/>
                  </a:lnTo>
                  <a:lnTo>
                    <a:pt x="163077" y="944533"/>
                  </a:lnTo>
                  <a:lnTo>
                    <a:pt x="160391" y="943166"/>
                  </a:lnTo>
                  <a:lnTo>
                    <a:pt x="160121" y="943166"/>
                  </a:lnTo>
                  <a:lnTo>
                    <a:pt x="159399" y="942662"/>
                  </a:lnTo>
                  <a:lnTo>
                    <a:pt x="159578" y="942662"/>
                  </a:lnTo>
                  <a:lnTo>
                    <a:pt x="149995" y="933761"/>
                  </a:lnTo>
                  <a:lnTo>
                    <a:pt x="134239" y="916200"/>
                  </a:lnTo>
                  <a:close/>
                </a:path>
                <a:path w="241300" h="983614">
                  <a:moveTo>
                    <a:pt x="159794" y="942863"/>
                  </a:moveTo>
                  <a:lnTo>
                    <a:pt x="160121" y="943166"/>
                  </a:lnTo>
                  <a:lnTo>
                    <a:pt x="160391" y="943166"/>
                  </a:lnTo>
                  <a:lnTo>
                    <a:pt x="159794" y="942863"/>
                  </a:lnTo>
                  <a:close/>
                </a:path>
                <a:path w="241300" h="983614">
                  <a:moveTo>
                    <a:pt x="159578" y="942662"/>
                  </a:moveTo>
                  <a:lnTo>
                    <a:pt x="159399" y="942662"/>
                  </a:lnTo>
                  <a:lnTo>
                    <a:pt x="159794" y="942863"/>
                  </a:lnTo>
                  <a:lnTo>
                    <a:pt x="159578" y="942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91362" y="4548000"/>
              <a:ext cx="1477010" cy="325755"/>
            </a:xfrm>
            <a:custGeom>
              <a:avLst/>
              <a:gdLst/>
              <a:ahLst/>
              <a:cxnLst/>
              <a:rect l="l" t="t" r="r" b="b"/>
              <a:pathLst>
                <a:path w="1477010" h="325754">
                  <a:moveTo>
                    <a:pt x="1015524" y="0"/>
                  </a:moveTo>
                  <a:lnTo>
                    <a:pt x="971633" y="2386"/>
                  </a:lnTo>
                  <a:lnTo>
                    <a:pt x="873424" y="19536"/>
                  </a:lnTo>
                  <a:lnTo>
                    <a:pt x="820737" y="22684"/>
                  </a:lnTo>
                  <a:lnTo>
                    <a:pt x="770120" y="21004"/>
                  </a:lnTo>
                  <a:lnTo>
                    <a:pt x="721102" y="16287"/>
                  </a:lnTo>
                  <a:lnTo>
                    <a:pt x="673215" y="10321"/>
                  </a:lnTo>
                  <a:lnTo>
                    <a:pt x="625988" y="4898"/>
                  </a:lnTo>
                  <a:lnTo>
                    <a:pt x="578952" y="1805"/>
                  </a:lnTo>
                  <a:lnTo>
                    <a:pt x="531638" y="2833"/>
                  </a:lnTo>
                  <a:lnTo>
                    <a:pt x="483576" y="9772"/>
                  </a:lnTo>
                  <a:lnTo>
                    <a:pt x="440476" y="17185"/>
                  </a:lnTo>
                  <a:lnTo>
                    <a:pt x="398195" y="21022"/>
                  </a:lnTo>
                  <a:lnTo>
                    <a:pt x="356065" y="22007"/>
                  </a:lnTo>
                  <a:lnTo>
                    <a:pt x="313416" y="20863"/>
                  </a:lnTo>
                  <a:lnTo>
                    <a:pt x="269579" y="18312"/>
                  </a:lnTo>
                  <a:lnTo>
                    <a:pt x="175666" y="11885"/>
                  </a:lnTo>
                  <a:lnTo>
                    <a:pt x="124250" y="9454"/>
                  </a:lnTo>
                  <a:lnTo>
                    <a:pt x="68971" y="8508"/>
                  </a:lnTo>
                  <a:lnTo>
                    <a:pt x="9158" y="9772"/>
                  </a:lnTo>
                  <a:lnTo>
                    <a:pt x="11917" y="47868"/>
                  </a:lnTo>
                  <a:lnTo>
                    <a:pt x="9048" y="95332"/>
                  </a:lnTo>
                  <a:lnTo>
                    <a:pt x="3945" y="148715"/>
                  </a:lnTo>
                  <a:lnTo>
                    <a:pt x="0" y="204563"/>
                  </a:lnTo>
                  <a:lnTo>
                    <a:pt x="606" y="259427"/>
                  </a:lnTo>
                  <a:lnTo>
                    <a:pt x="9158" y="309854"/>
                  </a:lnTo>
                  <a:lnTo>
                    <a:pt x="73410" y="308747"/>
                  </a:lnTo>
                  <a:lnTo>
                    <a:pt x="126803" y="310144"/>
                  </a:lnTo>
                  <a:lnTo>
                    <a:pt x="172130" y="313199"/>
                  </a:lnTo>
                  <a:lnTo>
                    <a:pt x="249761" y="320893"/>
                  </a:lnTo>
                  <a:lnTo>
                    <a:pt x="287652" y="323838"/>
                  </a:lnTo>
                  <a:lnTo>
                    <a:pt x="328653" y="325054"/>
                  </a:lnTo>
                  <a:lnTo>
                    <a:pt x="375557" y="323693"/>
                  </a:lnTo>
                  <a:lnTo>
                    <a:pt x="431158" y="318909"/>
                  </a:lnTo>
                  <a:lnTo>
                    <a:pt x="498249" y="309854"/>
                  </a:lnTo>
                  <a:lnTo>
                    <a:pt x="562848" y="301949"/>
                  </a:lnTo>
                  <a:lnTo>
                    <a:pt x="622785" y="298463"/>
                  </a:lnTo>
                  <a:lnTo>
                    <a:pt x="678447" y="298450"/>
                  </a:lnTo>
                  <a:lnTo>
                    <a:pt x="730226" y="300963"/>
                  </a:lnTo>
                  <a:lnTo>
                    <a:pt x="778512" y="305058"/>
                  </a:lnTo>
                  <a:lnTo>
                    <a:pt x="866160" y="314206"/>
                  </a:lnTo>
                  <a:lnTo>
                    <a:pt x="906303" y="317368"/>
                  </a:lnTo>
                  <a:lnTo>
                    <a:pt x="944512" y="318327"/>
                  </a:lnTo>
                  <a:lnTo>
                    <a:pt x="981176" y="316138"/>
                  </a:lnTo>
                  <a:lnTo>
                    <a:pt x="1016685" y="309854"/>
                  </a:lnTo>
                  <a:lnTo>
                    <a:pt x="1055122" y="303455"/>
                  </a:lnTo>
                  <a:lnTo>
                    <a:pt x="1093682" y="302318"/>
                  </a:lnTo>
                  <a:lnTo>
                    <a:pt x="1132948" y="305005"/>
                  </a:lnTo>
                  <a:lnTo>
                    <a:pt x="1173501" y="310073"/>
                  </a:lnTo>
                  <a:lnTo>
                    <a:pt x="1215923" y="316084"/>
                  </a:lnTo>
                  <a:lnTo>
                    <a:pt x="1260796" y="321596"/>
                  </a:lnTo>
                  <a:lnTo>
                    <a:pt x="1308702" y="325169"/>
                  </a:lnTo>
                  <a:lnTo>
                    <a:pt x="1360222" y="325364"/>
                  </a:lnTo>
                  <a:lnTo>
                    <a:pt x="1415938" y="320739"/>
                  </a:lnTo>
                  <a:lnTo>
                    <a:pt x="1476432" y="309854"/>
                  </a:lnTo>
                  <a:lnTo>
                    <a:pt x="1466221" y="243789"/>
                  </a:lnTo>
                  <a:lnTo>
                    <a:pt x="1464044" y="189914"/>
                  </a:lnTo>
                  <a:lnTo>
                    <a:pt x="1466937" y="143902"/>
                  </a:lnTo>
                  <a:lnTo>
                    <a:pt x="1471941" y="101425"/>
                  </a:lnTo>
                  <a:lnTo>
                    <a:pt x="1476093" y="58158"/>
                  </a:lnTo>
                  <a:lnTo>
                    <a:pt x="1476432" y="9772"/>
                  </a:lnTo>
                  <a:lnTo>
                    <a:pt x="1430443" y="22501"/>
                  </a:lnTo>
                  <a:lnTo>
                    <a:pt x="1384094" y="29259"/>
                  </a:lnTo>
                  <a:lnTo>
                    <a:pt x="1337510" y="31141"/>
                  </a:lnTo>
                  <a:lnTo>
                    <a:pt x="1290819" y="29247"/>
                  </a:lnTo>
                  <a:lnTo>
                    <a:pt x="1244148" y="24672"/>
                  </a:lnTo>
                  <a:lnTo>
                    <a:pt x="1197623" y="18515"/>
                  </a:lnTo>
                  <a:lnTo>
                    <a:pt x="1151371" y="11871"/>
                  </a:lnTo>
                  <a:lnTo>
                    <a:pt x="1105520" y="5840"/>
                  </a:lnTo>
                  <a:lnTo>
                    <a:pt x="1060195" y="1517"/>
                  </a:lnTo>
                  <a:lnTo>
                    <a:pt x="101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69627" y="4606592"/>
              <a:ext cx="1477010" cy="325755"/>
            </a:xfrm>
            <a:custGeom>
              <a:avLst/>
              <a:gdLst/>
              <a:ahLst/>
              <a:cxnLst/>
              <a:rect l="l" t="t" r="r" b="b"/>
              <a:pathLst>
                <a:path w="1477010" h="325754">
                  <a:moveTo>
                    <a:pt x="1015524" y="0"/>
                  </a:moveTo>
                  <a:lnTo>
                    <a:pt x="971633" y="2386"/>
                  </a:lnTo>
                  <a:lnTo>
                    <a:pt x="873424" y="19537"/>
                  </a:lnTo>
                  <a:lnTo>
                    <a:pt x="820738" y="22684"/>
                  </a:lnTo>
                  <a:lnTo>
                    <a:pt x="770121" y="21005"/>
                  </a:lnTo>
                  <a:lnTo>
                    <a:pt x="721103" y="16287"/>
                  </a:lnTo>
                  <a:lnTo>
                    <a:pt x="673215" y="10322"/>
                  </a:lnTo>
                  <a:lnTo>
                    <a:pt x="625988" y="4898"/>
                  </a:lnTo>
                  <a:lnTo>
                    <a:pt x="578953" y="1805"/>
                  </a:lnTo>
                  <a:lnTo>
                    <a:pt x="531639" y="2834"/>
                  </a:lnTo>
                  <a:lnTo>
                    <a:pt x="483577" y="9772"/>
                  </a:lnTo>
                  <a:lnTo>
                    <a:pt x="440476" y="17185"/>
                  </a:lnTo>
                  <a:lnTo>
                    <a:pt x="398195" y="21022"/>
                  </a:lnTo>
                  <a:lnTo>
                    <a:pt x="356065" y="22007"/>
                  </a:lnTo>
                  <a:lnTo>
                    <a:pt x="313416" y="20863"/>
                  </a:lnTo>
                  <a:lnTo>
                    <a:pt x="269579" y="18312"/>
                  </a:lnTo>
                  <a:lnTo>
                    <a:pt x="175665" y="11885"/>
                  </a:lnTo>
                  <a:lnTo>
                    <a:pt x="124250" y="9454"/>
                  </a:lnTo>
                  <a:lnTo>
                    <a:pt x="68970" y="8508"/>
                  </a:lnTo>
                  <a:lnTo>
                    <a:pt x="9157" y="9772"/>
                  </a:lnTo>
                  <a:lnTo>
                    <a:pt x="11917" y="47868"/>
                  </a:lnTo>
                  <a:lnTo>
                    <a:pt x="9048" y="95333"/>
                  </a:lnTo>
                  <a:lnTo>
                    <a:pt x="3945" y="148715"/>
                  </a:lnTo>
                  <a:lnTo>
                    <a:pt x="0" y="204563"/>
                  </a:lnTo>
                  <a:lnTo>
                    <a:pt x="606" y="259427"/>
                  </a:lnTo>
                  <a:lnTo>
                    <a:pt x="9157" y="309854"/>
                  </a:lnTo>
                  <a:lnTo>
                    <a:pt x="73409" y="308747"/>
                  </a:lnTo>
                  <a:lnTo>
                    <a:pt x="126802" y="310144"/>
                  </a:lnTo>
                  <a:lnTo>
                    <a:pt x="172129" y="313199"/>
                  </a:lnTo>
                  <a:lnTo>
                    <a:pt x="249760" y="320893"/>
                  </a:lnTo>
                  <a:lnTo>
                    <a:pt x="287652" y="323838"/>
                  </a:lnTo>
                  <a:lnTo>
                    <a:pt x="328653" y="325054"/>
                  </a:lnTo>
                  <a:lnTo>
                    <a:pt x="375557" y="323693"/>
                  </a:lnTo>
                  <a:lnTo>
                    <a:pt x="431158" y="318909"/>
                  </a:lnTo>
                  <a:lnTo>
                    <a:pt x="498249" y="309854"/>
                  </a:lnTo>
                  <a:lnTo>
                    <a:pt x="562849" y="301950"/>
                  </a:lnTo>
                  <a:lnTo>
                    <a:pt x="622785" y="298464"/>
                  </a:lnTo>
                  <a:lnTo>
                    <a:pt x="678448" y="298450"/>
                  </a:lnTo>
                  <a:lnTo>
                    <a:pt x="730227" y="300964"/>
                  </a:lnTo>
                  <a:lnTo>
                    <a:pt x="778512" y="305058"/>
                  </a:lnTo>
                  <a:lnTo>
                    <a:pt x="866160" y="314206"/>
                  </a:lnTo>
                  <a:lnTo>
                    <a:pt x="906303" y="317368"/>
                  </a:lnTo>
                  <a:lnTo>
                    <a:pt x="944512" y="318327"/>
                  </a:lnTo>
                  <a:lnTo>
                    <a:pt x="981176" y="316138"/>
                  </a:lnTo>
                  <a:lnTo>
                    <a:pt x="1016686" y="309854"/>
                  </a:lnTo>
                  <a:lnTo>
                    <a:pt x="1055122" y="303455"/>
                  </a:lnTo>
                  <a:lnTo>
                    <a:pt x="1093683" y="302318"/>
                  </a:lnTo>
                  <a:lnTo>
                    <a:pt x="1132949" y="305005"/>
                  </a:lnTo>
                  <a:lnTo>
                    <a:pt x="1173502" y="310073"/>
                  </a:lnTo>
                  <a:lnTo>
                    <a:pt x="1215924" y="316084"/>
                  </a:lnTo>
                  <a:lnTo>
                    <a:pt x="1260797" y="321596"/>
                  </a:lnTo>
                  <a:lnTo>
                    <a:pt x="1308702" y="325169"/>
                  </a:lnTo>
                  <a:lnTo>
                    <a:pt x="1360222" y="325364"/>
                  </a:lnTo>
                  <a:lnTo>
                    <a:pt x="1415938" y="320739"/>
                  </a:lnTo>
                  <a:lnTo>
                    <a:pt x="1476432" y="309854"/>
                  </a:lnTo>
                  <a:lnTo>
                    <a:pt x="1466222" y="243789"/>
                  </a:lnTo>
                  <a:lnTo>
                    <a:pt x="1464044" y="189914"/>
                  </a:lnTo>
                  <a:lnTo>
                    <a:pt x="1466938" y="143902"/>
                  </a:lnTo>
                  <a:lnTo>
                    <a:pt x="1471941" y="101425"/>
                  </a:lnTo>
                  <a:lnTo>
                    <a:pt x="1476093" y="58158"/>
                  </a:lnTo>
                  <a:lnTo>
                    <a:pt x="1476432" y="9772"/>
                  </a:lnTo>
                  <a:lnTo>
                    <a:pt x="1430443" y="22501"/>
                  </a:lnTo>
                  <a:lnTo>
                    <a:pt x="1384094" y="29259"/>
                  </a:lnTo>
                  <a:lnTo>
                    <a:pt x="1337510" y="31141"/>
                  </a:lnTo>
                  <a:lnTo>
                    <a:pt x="1290820" y="29247"/>
                  </a:lnTo>
                  <a:lnTo>
                    <a:pt x="1244148" y="24672"/>
                  </a:lnTo>
                  <a:lnTo>
                    <a:pt x="1197624" y="18515"/>
                  </a:lnTo>
                  <a:lnTo>
                    <a:pt x="1151372" y="11871"/>
                  </a:lnTo>
                  <a:lnTo>
                    <a:pt x="1105520" y="5840"/>
                  </a:lnTo>
                  <a:lnTo>
                    <a:pt x="1060195" y="1517"/>
                  </a:lnTo>
                  <a:lnTo>
                    <a:pt x="10155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089340" y="4186428"/>
            <a:ext cx="156019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Century Gothic"/>
                <a:cs typeface="Century Gothic"/>
              </a:rPr>
              <a:t>Data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00">
              <a:latin typeface="Century Gothic"/>
              <a:cs typeface="Century Gothic"/>
            </a:endParaRPr>
          </a:p>
          <a:p>
            <a:pPr marL="38100">
              <a:lnSpc>
                <a:spcPct val="100000"/>
              </a:lnSpc>
            </a:pPr>
            <a:r>
              <a:rPr dirty="0" sz="1400" spc="-580">
                <a:latin typeface="Century Gothic"/>
                <a:cs typeface="Century Gothic"/>
              </a:rPr>
              <a:t>S</a:t>
            </a:r>
            <a:r>
              <a:rPr dirty="0" baseline="19841" sz="2100" spc="-922">
                <a:latin typeface="Century Gothic"/>
                <a:cs typeface="Century Gothic"/>
              </a:rPr>
              <a:t>C</a:t>
            </a:r>
            <a:r>
              <a:rPr dirty="0" sz="1400" spc="-300">
                <a:latin typeface="Century Gothic"/>
                <a:cs typeface="Century Gothic"/>
              </a:rPr>
              <a:t>u</a:t>
            </a:r>
            <a:r>
              <a:rPr dirty="0" baseline="19841" sz="2100" spc="-1005">
                <a:latin typeface="Century Gothic"/>
                <a:cs typeface="Century Gothic"/>
              </a:rPr>
              <a:t>o</a:t>
            </a:r>
            <a:r>
              <a:rPr dirty="0" sz="1400" spc="-340">
                <a:latin typeface="Century Gothic"/>
                <a:cs typeface="Century Gothic"/>
              </a:rPr>
              <a:t>b</a:t>
            </a:r>
            <a:r>
              <a:rPr dirty="0" baseline="19841" sz="2100" spc="-1537">
                <a:latin typeface="Century Gothic"/>
                <a:cs typeface="Century Gothic"/>
              </a:rPr>
              <a:t>m</a:t>
            </a:r>
            <a:r>
              <a:rPr dirty="0" sz="1400" spc="-30">
                <a:latin typeface="Century Gothic"/>
                <a:cs typeface="Century Gothic"/>
              </a:rPr>
              <a:t>s</a:t>
            </a:r>
            <a:r>
              <a:rPr dirty="0" sz="1400" spc="-55">
                <a:latin typeface="Century Gothic"/>
                <a:cs typeface="Century Gothic"/>
              </a:rPr>
              <a:t>t</a:t>
            </a:r>
            <a:r>
              <a:rPr dirty="0" baseline="19841" sz="2100" spc="-1417">
                <a:latin typeface="Century Gothic"/>
                <a:cs typeface="Century Gothic"/>
              </a:rPr>
              <a:t>p</a:t>
            </a:r>
            <a:r>
              <a:rPr dirty="0" sz="1400" spc="-20">
                <a:latin typeface="Century Gothic"/>
                <a:cs typeface="Century Gothic"/>
              </a:rPr>
              <a:t>i</a:t>
            </a:r>
            <a:r>
              <a:rPr dirty="0" sz="1400" spc="-30">
                <a:latin typeface="Century Gothic"/>
                <a:cs typeface="Century Gothic"/>
              </a:rPr>
              <a:t>t</a:t>
            </a:r>
            <a:r>
              <a:rPr dirty="0" sz="1400" spc="-700">
                <a:latin typeface="Century Gothic"/>
                <a:cs typeface="Century Gothic"/>
              </a:rPr>
              <a:t>u</a:t>
            </a:r>
            <a:r>
              <a:rPr dirty="0" baseline="19841" sz="2100" spc="-22">
                <a:latin typeface="Century Gothic"/>
                <a:cs typeface="Century Gothic"/>
              </a:rPr>
              <a:t>l</a:t>
            </a:r>
            <a:r>
              <a:rPr dirty="0" baseline="19841" sz="2100" spc="-825">
                <a:latin typeface="Century Gothic"/>
                <a:cs typeface="Century Gothic"/>
              </a:rPr>
              <a:t>e</a:t>
            </a:r>
            <a:r>
              <a:rPr dirty="0" sz="1400" spc="-30">
                <a:latin typeface="Century Gothic"/>
                <a:cs typeface="Century Gothic"/>
              </a:rPr>
              <a:t>t</a:t>
            </a:r>
            <a:r>
              <a:rPr dirty="0" sz="1400" spc="-905">
                <a:latin typeface="Century Gothic"/>
                <a:cs typeface="Century Gothic"/>
              </a:rPr>
              <a:t>e</a:t>
            </a:r>
            <a:r>
              <a:rPr dirty="0" baseline="19841" sz="2100" spc="-719">
                <a:latin typeface="Century Gothic"/>
                <a:cs typeface="Century Gothic"/>
              </a:rPr>
              <a:t>m</a:t>
            </a:r>
            <a:r>
              <a:rPr dirty="0" sz="1400" spc="-140">
                <a:latin typeface="Century Gothic"/>
                <a:cs typeface="Century Gothic"/>
              </a:rPr>
              <a:t>s</a:t>
            </a:r>
            <a:r>
              <a:rPr dirty="0" baseline="19841" sz="2100" spc="-1237">
                <a:latin typeface="Century Gothic"/>
                <a:cs typeface="Century Gothic"/>
              </a:rPr>
              <a:t>e</a:t>
            </a:r>
            <a:r>
              <a:rPr dirty="0" sz="1400" spc="-75">
                <a:latin typeface="Century Gothic"/>
                <a:cs typeface="Century Gothic"/>
              </a:rPr>
              <a:t>?</a:t>
            </a:r>
            <a:r>
              <a:rPr dirty="0" baseline="19841" sz="2100" spc="-60">
                <a:latin typeface="Century Gothic"/>
                <a:cs typeface="Century Gothic"/>
              </a:rPr>
              <a:t>n</a:t>
            </a:r>
            <a:r>
              <a:rPr dirty="0" baseline="19841" sz="2100" spc="-44">
                <a:latin typeface="Century Gothic"/>
                <a:cs typeface="Century Gothic"/>
              </a:rPr>
              <a:t>t</a:t>
            </a:r>
            <a:r>
              <a:rPr dirty="0" baseline="19841" sz="2100" spc="-15">
                <a:latin typeface="Century Gothic"/>
                <a:cs typeface="Century Gothic"/>
              </a:rPr>
              <a:t>s</a:t>
            </a:r>
            <a:endParaRPr baseline="19841" sz="210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94540" y="1431498"/>
            <a:ext cx="3383279" cy="1390015"/>
            <a:chOff x="2594540" y="1431498"/>
            <a:chExt cx="3383279" cy="139001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6370" y="1431498"/>
              <a:ext cx="1371043" cy="138965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08828" y="1486706"/>
              <a:ext cx="1471295" cy="330200"/>
            </a:xfrm>
            <a:custGeom>
              <a:avLst/>
              <a:gdLst/>
              <a:ahLst/>
              <a:cxnLst/>
              <a:rect l="l" t="t" r="r" b="b"/>
              <a:pathLst>
                <a:path w="1471295" h="330200">
                  <a:moveTo>
                    <a:pt x="3594" y="15747"/>
                  </a:moveTo>
                  <a:lnTo>
                    <a:pt x="55633" y="15192"/>
                  </a:lnTo>
                  <a:lnTo>
                    <a:pt x="109362" y="16847"/>
                  </a:lnTo>
                  <a:lnTo>
                    <a:pt x="164131" y="19930"/>
                  </a:lnTo>
                  <a:lnTo>
                    <a:pt x="219291" y="23658"/>
                  </a:lnTo>
                  <a:lnTo>
                    <a:pt x="274190" y="27248"/>
                  </a:lnTo>
                  <a:lnTo>
                    <a:pt x="328179" y="29919"/>
                  </a:lnTo>
                  <a:lnTo>
                    <a:pt x="380608" y="30886"/>
                  </a:lnTo>
                  <a:lnTo>
                    <a:pt x="430826" y="29369"/>
                  </a:lnTo>
                  <a:lnTo>
                    <a:pt x="478184" y="24583"/>
                  </a:lnTo>
                  <a:lnTo>
                    <a:pt x="522031" y="15747"/>
                  </a:lnTo>
                  <a:lnTo>
                    <a:pt x="565982" y="8064"/>
                  </a:lnTo>
                  <a:lnTo>
                    <a:pt x="613540" y="6225"/>
                  </a:lnTo>
                  <a:lnTo>
                    <a:pt x="663888" y="8679"/>
                  </a:lnTo>
                  <a:lnTo>
                    <a:pt x="716209" y="13875"/>
                  </a:lnTo>
                  <a:lnTo>
                    <a:pt x="769685" y="20260"/>
                  </a:lnTo>
                  <a:lnTo>
                    <a:pt x="823500" y="26285"/>
                  </a:lnTo>
                  <a:lnTo>
                    <a:pt x="876835" y="30397"/>
                  </a:lnTo>
                  <a:lnTo>
                    <a:pt x="928875" y="31046"/>
                  </a:lnTo>
                  <a:lnTo>
                    <a:pt x="978801" y="26680"/>
                  </a:lnTo>
                  <a:lnTo>
                    <a:pt x="1025796" y="15747"/>
                  </a:lnTo>
                  <a:lnTo>
                    <a:pt x="1069551" y="4689"/>
                  </a:lnTo>
                  <a:lnTo>
                    <a:pt x="1110934" y="0"/>
                  </a:lnTo>
                  <a:lnTo>
                    <a:pt x="1150897" y="213"/>
                  </a:lnTo>
                  <a:lnTo>
                    <a:pt x="1190393" y="3862"/>
                  </a:lnTo>
                  <a:lnTo>
                    <a:pt x="1230374" y="9480"/>
                  </a:lnTo>
                  <a:lnTo>
                    <a:pt x="1271791" y="15599"/>
                  </a:lnTo>
                  <a:lnTo>
                    <a:pt x="1315597" y="20752"/>
                  </a:lnTo>
                  <a:lnTo>
                    <a:pt x="1362744" y="23473"/>
                  </a:lnTo>
                  <a:lnTo>
                    <a:pt x="1414184" y="22294"/>
                  </a:lnTo>
                  <a:lnTo>
                    <a:pt x="1470869" y="15747"/>
                  </a:lnTo>
                  <a:lnTo>
                    <a:pt x="1469769" y="66725"/>
                  </a:lnTo>
                  <a:lnTo>
                    <a:pt x="1466034" y="118006"/>
                  </a:lnTo>
                  <a:lnTo>
                    <a:pt x="1461972" y="169073"/>
                  </a:lnTo>
                  <a:lnTo>
                    <a:pt x="1459886" y="219409"/>
                  </a:lnTo>
                  <a:lnTo>
                    <a:pt x="1462083" y="268500"/>
                  </a:lnTo>
                  <a:lnTo>
                    <a:pt x="1470869" y="315829"/>
                  </a:lnTo>
                  <a:lnTo>
                    <a:pt x="1411916" y="325822"/>
                  </a:lnTo>
                  <a:lnTo>
                    <a:pt x="1359964" y="329708"/>
                  </a:lnTo>
                  <a:lnTo>
                    <a:pt x="1313467" y="328942"/>
                  </a:lnTo>
                  <a:lnTo>
                    <a:pt x="1270883" y="324985"/>
                  </a:lnTo>
                  <a:lnTo>
                    <a:pt x="1230669" y="319292"/>
                  </a:lnTo>
                  <a:lnTo>
                    <a:pt x="1191281" y="313323"/>
                  </a:lnTo>
                  <a:lnTo>
                    <a:pt x="1151176" y="308534"/>
                  </a:lnTo>
                  <a:lnTo>
                    <a:pt x="1108810" y="306384"/>
                  </a:lnTo>
                  <a:lnTo>
                    <a:pt x="1062640" y="308330"/>
                  </a:lnTo>
                  <a:lnTo>
                    <a:pt x="1011123" y="315829"/>
                  </a:lnTo>
                  <a:lnTo>
                    <a:pt x="958760" y="324172"/>
                  </a:lnTo>
                  <a:lnTo>
                    <a:pt x="910297" y="328273"/>
                  </a:lnTo>
                  <a:lnTo>
                    <a:pt x="864560" y="329027"/>
                  </a:lnTo>
                  <a:lnTo>
                    <a:pt x="820374" y="327330"/>
                  </a:lnTo>
                  <a:lnTo>
                    <a:pt x="776564" y="324077"/>
                  </a:lnTo>
                  <a:lnTo>
                    <a:pt x="731955" y="320165"/>
                  </a:lnTo>
                  <a:lnTo>
                    <a:pt x="685372" y="316489"/>
                  </a:lnTo>
                  <a:lnTo>
                    <a:pt x="635641" y="313943"/>
                  </a:lnTo>
                  <a:lnTo>
                    <a:pt x="581585" y="313425"/>
                  </a:lnTo>
                  <a:lnTo>
                    <a:pt x="522031" y="315829"/>
                  </a:lnTo>
                  <a:lnTo>
                    <a:pt x="468623" y="317632"/>
                  </a:lnTo>
                  <a:lnTo>
                    <a:pt x="421315" y="316124"/>
                  </a:lnTo>
                  <a:lnTo>
                    <a:pt x="378490" y="312288"/>
                  </a:lnTo>
                  <a:lnTo>
                    <a:pt x="338535" y="307109"/>
                  </a:lnTo>
                  <a:lnTo>
                    <a:pt x="299836" y="301570"/>
                  </a:lnTo>
                  <a:lnTo>
                    <a:pt x="260778" y="296653"/>
                  </a:lnTo>
                  <a:lnTo>
                    <a:pt x="219746" y="293342"/>
                  </a:lnTo>
                  <a:lnTo>
                    <a:pt x="175127" y="292621"/>
                  </a:lnTo>
                  <a:lnTo>
                    <a:pt x="125304" y="295473"/>
                  </a:lnTo>
                  <a:lnTo>
                    <a:pt x="68665" y="302882"/>
                  </a:lnTo>
                  <a:lnTo>
                    <a:pt x="3594" y="315829"/>
                  </a:lnTo>
                  <a:lnTo>
                    <a:pt x="0" y="264882"/>
                  </a:lnTo>
                  <a:lnTo>
                    <a:pt x="1208" y="212327"/>
                  </a:lnTo>
                  <a:lnTo>
                    <a:pt x="4696" y="159651"/>
                  </a:lnTo>
                  <a:lnTo>
                    <a:pt x="7938" y="108339"/>
                  </a:lnTo>
                  <a:lnTo>
                    <a:pt x="8413" y="59876"/>
                  </a:lnTo>
                  <a:lnTo>
                    <a:pt x="3594" y="1574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123016" y="1522476"/>
            <a:ext cx="4502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entury Gothic"/>
                <a:cs typeface="Century Gothic"/>
              </a:rPr>
              <a:t>Data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10862" y="2486469"/>
            <a:ext cx="1478915" cy="537845"/>
          </a:xfrm>
          <a:custGeom>
            <a:avLst/>
            <a:gdLst/>
            <a:ahLst/>
            <a:cxnLst/>
            <a:rect l="l" t="t" r="r" b="b"/>
            <a:pathLst>
              <a:path w="1478914" h="537844">
                <a:moveTo>
                  <a:pt x="1560" y="15747"/>
                </a:moveTo>
                <a:lnTo>
                  <a:pt x="53598" y="15192"/>
                </a:lnTo>
                <a:lnTo>
                  <a:pt x="107327" y="16847"/>
                </a:lnTo>
                <a:lnTo>
                  <a:pt x="162097" y="19930"/>
                </a:lnTo>
                <a:lnTo>
                  <a:pt x="217256" y="23658"/>
                </a:lnTo>
                <a:lnTo>
                  <a:pt x="272156" y="27248"/>
                </a:lnTo>
                <a:lnTo>
                  <a:pt x="326145" y="29919"/>
                </a:lnTo>
                <a:lnTo>
                  <a:pt x="378573" y="30886"/>
                </a:lnTo>
                <a:lnTo>
                  <a:pt x="428792" y="29369"/>
                </a:lnTo>
                <a:lnTo>
                  <a:pt x="476150" y="24583"/>
                </a:lnTo>
                <a:lnTo>
                  <a:pt x="519997" y="15747"/>
                </a:lnTo>
                <a:lnTo>
                  <a:pt x="563947" y="8064"/>
                </a:lnTo>
                <a:lnTo>
                  <a:pt x="611506" y="6225"/>
                </a:lnTo>
                <a:lnTo>
                  <a:pt x="661854" y="8679"/>
                </a:lnTo>
                <a:lnTo>
                  <a:pt x="714174" y="13875"/>
                </a:lnTo>
                <a:lnTo>
                  <a:pt x="767651" y="20260"/>
                </a:lnTo>
                <a:lnTo>
                  <a:pt x="821465" y="26285"/>
                </a:lnTo>
                <a:lnTo>
                  <a:pt x="874801" y="30397"/>
                </a:lnTo>
                <a:lnTo>
                  <a:pt x="926840" y="31046"/>
                </a:lnTo>
                <a:lnTo>
                  <a:pt x="976766" y="26680"/>
                </a:lnTo>
                <a:lnTo>
                  <a:pt x="1023762" y="15747"/>
                </a:lnTo>
                <a:lnTo>
                  <a:pt x="1067516" y="4689"/>
                </a:lnTo>
                <a:lnTo>
                  <a:pt x="1108899" y="0"/>
                </a:lnTo>
                <a:lnTo>
                  <a:pt x="1148863" y="213"/>
                </a:lnTo>
                <a:lnTo>
                  <a:pt x="1188358" y="3862"/>
                </a:lnTo>
                <a:lnTo>
                  <a:pt x="1228339" y="9480"/>
                </a:lnTo>
                <a:lnTo>
                  <a:pt x="1269756" y="15599"/>
                </a:lnTo>
                <a:lnTo>
                  <a:pt x="1313562" y="20752"/>
                </a:lnTo>
                <a:lnTo>
                  <a:pt x="1360709" y="23473"/>
                </a:lnTo>
                <a:lnTo>
                  <a:pt x="1412149" y="22294"/>
                </a:lnTo>
                <a:lnTo>
                  <a:pt x="1468835" y="15747"/>
                </a:lnTo>
                <a:lnTo>
                  <a:pt x="1474509" y="75121"/>
                </a:lnTo>
                <a:lnTo>
                  <a:pt x="1477608" y="131200"/>
                </a:lnTo>
                <a:lnTo>
                  <a:pt x="1478625" y="184504"/>
                </a:lnTo>
                <a:lnTo>
                  <a:pt x="1478052" y="235553"/>
                </a:lnTo>
                <a:lnTo>
                  <a:pt x="1476383" y="284865"/>
                </a:lnTo>
                <a:lnTo>
                  <a:pt x="1474110" y="332962"/>
                </a:lnTo>
                <a:lnTo>
                  <a:pt x="1471725" y="380362"/>
                </a:lnTo>
                <a:lnTo>
                  <a:pt x="1469723" y="427585"/>
                </a:lnTo>
                <a:lnTo>
                  <a:pt x="1468595" y="475150"/>
                </a:lnTo>
                <a:lnTo>
                  <a:pt x="1468835" y="523578"/>
                </a:lnTo>
                <a:lnTo>
                  <a:pt x="1409882" y="533571"/>
                </a:lnTo>
                <a:lnTo>
                  <a:pt x="1357929" y="537457"/>
                </a:lnTo>
                <a:lnTo>
                  <a:pt x="1311432" y="536691"/>
                </a:lnTo>
                <a:lnTo>
                  <a:pt x="1268849" y="532734"/>
                </a:lnTo>
                <a:lnTo>
                  <a:pt x="1228634" y="527041"/>
                </a:lnTo>
                <a:lnTo>
                  <a:pt x="1189246" y="521072"/>
                </a:lnTo>
                <a:lnTo>
                  <a:pt x="1149141" y="516283"/>
                </a:lnTo>
                <a:lnTo>
                  <a:pt x="1106775" y="514133"/>
                </a:lnTo>
                <a:lnTo>
                  <a:pt x="1060606" y="516079"/>
                </a:lnTo>
                <a:lnTo>
                  <a:pt x="1009089" y="523578"/>
                </a:lnTo>
                <a:lnTo>
                  <a:pt x="956725" y="531921"/>
                </a:lnTo>
                <a:lnTo>
                  <a:pt x="908263" y="536022"/>
                </a:lnTo>
                <a:lnTo>
                  <a:pt x="862526" y="536776"/>
                </a:lnTo>
                <a:lnTo>
                  <a:pt x="818340" y="535079"/>
                </a:lnTo>
                <a:lnTo>
                  <a:pt x="774530" y="531826"/>
                </a:lnTo>
                <a:lnTo>
                  <a:pt x="729920" y="527914"/>
                </a:lnTo>
                <a:lnTo>
                  <a:pt x="683338" y="524238"/>
                </a:lnTo>
                <a:lnTo>
                  <a:pt x="633606" y="521692"/>
                </a:lnTo>
                <a:lnTo>
                  <a:pt x="579551" y="521174"/>
                </a:lnTo>
                <a:lnTo>
                  <a:pt x="519997" y="523578"/>
                </a:lnTo>
                <a:lnTo>
                  <a:pt x="466589" y="525381"/>
                </a:lnTo>
                <a:lnTo>
                  <a:pt x="419280" y="523873"/>
                </a:lnTo>
                <a:lnTo>
                  <a:pt x="376455" y="520037"/>
                </a:lnTo>
                <a:lnTo>
                  <a:pt x="336501" y="514858"/>
                </a:lnTo>
                <a:lnTo>
                  <a:pt x="297802" y="509319"/>
                </a:lnTo>
                <a:lnTo>
                  <a:pt x="258744" y="504402"/>
                </a:lnTo>
                <a:lnTo>
                  <a:pt x="217712" y="501091"/>
                </a:lnTo>
                <a:lnTo>
                  <a:pt x="173092" y="500370"/>
                </a:lnTo>
                <a:lnTo>
                  <a:pt x="123270" y="503222"/>
                </a:lnTo>
                <a:lnTo>
                  <a:pt x="66630" y="510631"/>
                </a:lnTo>
                <a:lnTo>
                  <a:pt x="1560" y="523578"/>
                </a:lnTo>
                <a:lnTo>
                  <a:pt x="0" y="482276"/>
                </a:lnTo>
                <a:lnTo>
                  <a:pt x="1164" y="435158"/>
                </a:lnTo>
                <a:lnTo>
                  <a:pt x="4162" y="383616"/>
                </a:lnTo>
                <a:lnTo>
                  <a:pt x="8100" y="329039"/>
                </a:lnTo>
                <a:lnTo>
                  <a:pt x="12088" y="272820"/>
                </a:lnTo>
                <a:lnTo>
                  <a:pt x="15234" y="216347"/>
                </a:lnTo>
                <a:lnTo>
                  <a:pt x="16646" y="161013"/>
                </a:lnTo>
                <a:lnTo>
                  <a:pt x="15432" y="108208"/>
                </a:lnTo>
                <a:lnTo>
                  <a:pt x="10700" y="59323"/>
                </a:lnTo>
                <a:lnTo>
                  <a:pt x="1560" y="15747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961885" y="2522220"/>
            <a:ext cx="768985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4130" marR="5080" indent="-12065">
              <a:lnSpc>
                <a:spcPts val="1610"/>
              </a:lnSpc>
              <a:spcBef>
                <a:spcPts val="210"/>
              </a:spcBef>
            </a:pPr>
            <a:r>
              <a:rPr dirty="0" sz="1400" spc="-30">
                <a:latin typeface="Century Gothic"/>
                <a:cs typeface="Century Gothic"/>
              </a:rPr>
              <a:t>Financial Acumen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01510" y="4517449"/>
            <a:ext cx="3461385" cy="786765"/>
            <a:chOff x="6101510" y="4517449"/>
            <a:chExt cx="3461385" cy="786765"/>
          </a:xfrm>
        </p:grpSpPr>
        <p:sp>
          <p:nvSpPr>
            <p:cNvPr id="23" name="object 23"/>
            <p:cNvSpPr/>
            <p:nvPr/>
          </p:nvSpPr>
          <p:spPr>
            <a:xfrm>
              <a:off x="6101510" y="4745805"/>
              <a:ext cx="1720214" cy="76200"/>
            </a:xfrm>
            <a:custGeom>
              <a:avLst/>
              <a:gdLst/>
              <a:ahLst/>
              <a:cxnLst/>
              <a:rect l="l" t="t" r="r" b="b"/>
              <a:pathLst>
                <a:path w="1720215" h="76200">
                  <a:moveTo>
                    <a:pt x="1643792" y="0"/>
                  </a:moveTo>
                  <a:lnTo>
                    <a:pt x="1643792" y="76200"/>
                  </a:lnTo>
                  <a:lnTo>
                    <a:pt x="1713642" y="41275"/>
                  </a:lnTo>
                  <a:lnTo>
                    <a:pt x="1656491" y="41275"/>
                  </a:lnTo>
                  <a:lnTo>
                    <a:pt x="1656491" y="34925"/>
                  </a:lnTo>
                  <a:lnTo>
                    <a:pt x="1713642" y="34925"/>
                  </a:lnTo>
                  <a:lnTo>
                    <a:pt x="1643792" y="0"/>
                  </a:lnTo>
                  <a:close/>
                </a:path>
                <a:path w="1720215" h="76200">
                  <a:moveTo>
                    <a:pt x="1643792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643792" y="41275"/>
                  </a:lnTo>
                  <a:lnTo>
                    <a:pt x="1643792" y="34925"/>
                  </a:lnTo>
                  <a:close/>
                </a:path>
                <a:path w="1720215" h="76200">
                  <a:moveTo>
                    <a:pt x="1713642" y="34925"/>
                  </a:moveTo>
                  <a:lnTo>
                    <a:pt x="1656491" y="34925"/>
                  </a:lnTo>
                  <a:lnTo>
                    <a:pt x="1656491" y="41275"/>
                  </a:lnTo>
                  <a:lnTo>
                    <a:pt x="1713642" y="41275"/>
                  </a:lnTo>
                  <a:lnTo>
                    <a:pt x="1719992" y="38100"/>
                  </a:lnTo>
                  <a:lnTo>
                    <a:pt x="1713642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815728" y="4532582"/>
              <a:ext cx="1740535" cy="765175"/>
            </a:xfrm>
            <a:custGeom>
              <a:avLst/>
              <a:gdLst/>
              <a:ahLst/>
              <a:cxnLst/>
              <a:rect l="l" t="t" r="r" b="b"/>
              <a:pathLst>
                <a:path w="1740534" h="765175">
                  <a:moveTo>
                    <a:pt x="5775" y="20357"/>
                  </a:moveTo>
                  <a:lnTo>
                    <a:pt x="48792" y="8537"/>
                  </a:lnTo>
                  <a:lnTo>
                    <a:pt x="91630" y="2072"/>
                  </a:lnTo>
                  <a:lnTo>
                    <a:pt x="134524" y="0"/>
                  </a:lnTo>
                  <a:lnTo>
                    <a:pt x="177710" y="1358"/>
                  </a:lnTo>
                  <a:lnTo>
                    <a:pt x="221422" y="5186"/>
                  </a:lnTo>
                  <a:lnTo>
                    <a:pt x="265896" y="10523"/>
                  </a:lnTo>
                  <a:lnTo>
                    <a:pt x="311367" y="16405"/>
                  </a:lnTo>
                  <a:lnTo>
                    <a:pt x="358070" y="21872"/>
                  </a:lnTo>
                  <a:lnTo>
                    <a:pt x="406240" y="25963"/>
                  </a:lnTo>
                  <a:lnTo>
                    <a:pt x="456113" y="27715"/>
                  </a:lnTo>
                  <a:lnTo>
                    <a:pt x="507923" y="26167"/>
                  </a:lnTo>
                  <a:lnTo>
                    <a:pt x="561906" y="20357"/>
                  </a:lnTo>
                  <a:lnTo>
                    <a:pt x="617332" y="13928"/>
                  </a:lnTo>
                  <a:lnTo>
                    <a:pt x="672989" y="10749"/>
                  </a:lnTo>
                  <a:lnTo>
                    <a:pt x="728392" y="10195"/>
                  </a:lnTo>
                  <a:lnTo>
                    <a:pt x="783054" y="11642"/>
                  </a:lnTo>
                  <a:lnTo>
                    <a:pt x="836487" y="14466"/>
                  </a:lnTo>
                  <a:lnTo>
                    <a:pt x="888204" y="18042"/>
                  </a:lnTo>
                  <a:lnTo>
                    <a:pt x="937720" y="21747"/>
                  </a:lnTo>
                  <a:lnTo>
                    <a:pt x="984548" y="24957"/>
                  </a:lnTo>
                  <a:lnTo>
                    <a:pt x="1028200" y="27047"/>
                  </a:lnTo>
                  <a:lnTo>
                    <a:pt x="1068189" y="27393"/>
                  </a:lnTo>
                  <a:lnTo>
                    <a:pt x="1104030" y="25371"/>
                  </a:lnTo>
                  <a:lnTo>
                    <a:pt x="1135236" y="20357"/>
                  </a:lnTo>
                  <a:lnTo>
                    <a:pt x="1167561" y="15698"/>
                  </a:lnTo>
                  <a:lnTo>
                    <a:pt x="1206400" y="14613"/>
                  </a:lnTo>
                  <a:lnTo>
                    <a:pt x="1250717" y="16284"/>
                  </a:lnTo>
                  <a:lnTo>
                    <a:pt x="1299482" y="19892"/>
                  </a:lnTo>
                  <a:lnTo>
                    <a:pt x="1351661" y="24620"/>
                  </a:lnTo>
                  <a:lnTo>
                    <a:pt x="1406222" y="29650"/>
                  </a:lnTo>
                  <a:lnTo>
                    <a:pt x="1462131" y="34164"/>
                  </a:lnTo>
                  <a:lnTo>
                    <a:pt x="1518357" y="37343"/>
                  </a:lnTo>
                  <a:lnTo>
                    <a:pt x="1573866" y="38370"/>
                  </a:lnTo>
                  <a:lnTo>
                    <a:pt x="1627626" y="36427"/>
                  </a:lnTo>
                  <a:lnTo>
                    <a:pt x="1678604" y="30695"/>
                  </a:lnTo>
                  <a:lnTo>
                    <a:pt x="1725767" y="20357"/>
                  </a:lnTo>
                  <a:lnTo>
                    <a:pt x="1731016" y="76593"/>
                  </a:lnTo>
                  <a:lnTo>
                    <a:pt x="1730121" y="122255"/>
                  </a:lnTo>
                  <a:lnTo>
                    <a:pt x="1725405" y="160985"/>
                  </a:lnTo>
                  <a:lnTo>
                    <a:pt x="1719188" y="196426"/>
                  </a:lnTo>
                  <a:lnTo>
                    <a:pt x="1713794" y="232220"/>
                  </a:lnTo>
                  <a:lnTo>
                    <a:pt x="1711545" y="272010"/>
                  </a:lnTo>
                  <a:lnTo>
                    <a:pt x="1714761" y="319438"/>
                  </a:lnTo>
                  <a:lnTo>
                    <a:pt x="1725767" y="378148"/>
                  </a:lnTo>
                  <a:lnTo>
                    <a:pt x="1736903" y="438614"/>
                  </a:lnTo>
                  <a:lnTo>
                    <a:pt x="1740437" y="490311"/>
                  </a:lnTo>
                  <a:lnTo>
                    <a:pt x="1738580" y="535373"/>
                  </a:lnTo>
                  <a:lnTo>
                    <a:pt x="1733542" y="575937"/>
                  </a:lnTo>
                  <a:lnTo>
                    <a:pt x="1727531" y="614140"/>
                  </a:lnTo>
                  <a:lnTo>
                    <a:pt x="1722758" y="652117"/>
                  </a:lnTo>
                  <a:lnTo>
                    <a:pt x="1721434" y="692004"/>
                  </a:lnTo>
                  <a:lnTo>
                    <a:pt x="1725767" y="735938"/>
                  </a:lnTo>
                  <a:lnTo>
                    <a:pt x="1668885" y="749958"/>
                  </a:lnTo>
                  <a:lnTo>
                    <a:pt x="1612605" y="758926"/>
                  </a:lnTo>
                  <a:lnTo>
                    <a:pt x="1557242" y="763592"/>
                  </a:lnTo>
                  <a:lnTo>
                    <a:pt x="1503113" y="764708"/>
                  </a:lnTo>
                  <a:lnTo>
                    <a:pt x="1450533" y="763024"/>
                  </a:lnTo>
                  <a:lnTo>
                    <a:pt x="1399820" y="759292"/>
                  </a:lnTo>
                  <a:lnTo>
                    <a:pt x="1351289" y="754263"/>
                  </a:lnTo>
                  <a:lnTo>
                    <a:pt x="1305256" y="748687"/>
                  </a:lnTo>
                  <a:lnTo>
                    <a:pt x="1262039" y="743315"/>
                  </a:lnTo>
                  <a:lnTo>
                    <a:pt x="1221952" y="738899"/>
                  </a:lnTo>
                  <a:lnTo>
                    <a:pt x="1185312" y="736190"/>
                  </a:lnTo>
                  <a:lnTo>
                    <a:pt x="1152436" y="735938"/>
                  </a:lnTo>
                  <a:lnTo>
                    <a:pt x="1115325" y="736361"/>
                  </a:lnTo>
                  <a:lnTo>
                    <a:pt x="1072197" y="735271"/>
                  </a:lnTo>
                  <a:lnTo>
                    <a:pt x="1024265" y="733144"/>
                  </a:lnTo>
                  <a:lnTo>
                    <a:pt x="972744" y="730457"/>
                  </a:lnTo>
                  <a:lnTo>
                    <a:pt x="918845" y="727685"/>
                  </a:lnTo>
                  <a:lnTo>
                    <a:pt x="863784" y="725304"/>
                  </a:lnTo>
                  <a:lnTo>
                    <a:pt x="808773" y="723791"/>
                  </a:lnTo>
                  <a:lnTo>
                    <a:pt x="755026" y="723622"/>
                  </a:lnTo>
                  <a:lnTo>
                    <a:pt x="703757" y="725272"/>
                  </a:lnTo>
                  <a:lnTo>
                    <a:pt x="656179" y="729219"/>
                  </a:lnTo>
                  <a:lnTo>
                    <a:pt x="613506" y="735938"/>
                  </a:lnTo>
                  <a:lnTo>
                    <a:pt x="575977" y="741394"/>
                  </a:lnTo>
                  <a:lnTo>
                    <a:pt x="536332" y="743153"/>
                  </a:lnTo>
                  <a:lnTo>
                    <a:pt x="494490" y="742026"/>
                  </a:lnTo>
                  <a:lnTo>
                    <a:pt x="450372" y="738825"/>
                  </a:lnTo>
                  <a:lnTo>
                    <a:pt x="403896" y="734362"/>
                  </a:lnTo>
                  <a:lnTo>
                    <a:pt x="354981" y="729448"/>
                  </a:lnTo>
                  <a:lnTo>
                    <a:pt x="303548" y="724894"/>
                  </a:lnTo>
                  <a:lnTo>
                    <a:pt x="249515" y="721513"/>
                  </a:lnTo>
                  <a:lnTo>
                    <a:pt x="192802" y="720115"/>
                  </a:lnTo>
                  <a:lnTo>
                    <a:pt x="133328" y="721512"/>
                  </a:lnTo>
                  <a:lnTo>
                    <a:pt x="71012" y="726516"/>
                  </a:lnTo>
                  <a:lnTo>
                    <a:pt x="5775" y="735938"/>
                  </a:lnTo>
                  <a:lnTo>
                    <a:pt x="5249" y="677936"/>
                  </a:lnTo>
                  <a:lnTo>
                    <a:pt x="7556" y="628838"/>
                  </a:lnTo>
                  <a:lnTo>
                    <a:pt x="11102" y="584883"/>
                  </a:lnTo>
                  <a:lnTo>
                    <a:pt x="14292" y="542311"/>
                  </a:lnTo>
                  <a:lnTo>
                    <a:pt x="15530" y="497364"/>
                  </a:lnTo>
                  <a:lnTo>
                    <a:pt x="13223" y="446281"/>
                  </a:lnTo>
                  <a:lnTo>
                    <a:pt x="5775" y="385303"/>
                  </a:lnTo>
                  <a:lnTo>
                    <a:pt x="52" y="330133"/>
                  </a:lnTo>
                  <a:lnTo>
                    <a:pt x="0" y="281065"/>
                  </a:lnTo>
                  <a:lnTo>
                    <a:pt x="3600" y="236413"/>
                  </a:lnTo>
                  <a:lnTo>
                    <a:pt x="8836" y="194489"/>
                  </a:lnTo>
                  <a:lnTo>
                    <a:pt x="13689" y="153607"/>
                  </a:lnTo>
                  <a:lnTo>
                    <a:pt x="16142" y="112082"/>
                  </a:lnTo>
                  <a:lnTo>
                    <a:pt x="14176" y="68227"/>
                  </a:lnTo>
                  <a:lnTo>
                    <a:pt x="5775" y="203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814848" y="4523850"/>
              <a:ext cx="1740535" cy="742950"/>
            </a:xfrm>
            <a:custGeom>
              <a:avLst/>
              <a:gdLst/>
              <a:ahLst/>
              <a:cxnLst/>
              <a:rect l="l" t="t" r="r" b="b"/>
              <a:pathLst>
                <a:path w="1740534" h="742950">
                  <a:moveTo>
                    <a:pt x="710934" y="0"/>
                  </a:moveTo>
                  <a:lnTo>
                    <a:pt x="669754" y="200"/>
                  </a:lnTo>
                  <a:lnTo>
                    <a:pt x="631388" y="3202"/>
                  </a:lnTo>
                  <a:lnTo>
                    <a:pt x="595758" y="9679"/>
                  </a:lnTo>
                  <a:lnTo>
                    <a:pt x="562785" y="20306"/>
                  </a:lnTo>
                  <a:lnTo>
                    <a:pt x="531805" y="29096"/>
                  </a:lnTo>
                  <a:lnTo>
                    <a:pt x="497111" y="32521"/>
                  </a:lnTo>
                  <a:lnTo>
                    <a:pt x="458978" y="31710"/>
                  </a:lnTo>
                  <a:lnTo>
                    <a:pt x="417683" y="27794"/>
                  </a:lnTo>
                  <a:lnTo>
                    <a:pt x="373503" y="21903"/>
                  </a:lnTo>
                  <a:lnTo>
                    <a:pt x="326714" y="15167"/>
                  </a:lnTo>
                  <a:lnTo>
                    <a:pt x="277592" y="8717"/>
                  </a:lnTo>
                  <a:lnTo>
                    <a:pt x="226412" y="3682"/>
                  </a:lnTo>
                  <a:lnTo>
                    <a:pt x="173453" y="1193"/>
                  </a:lnTo>
                  <a:lnTo>
                    <a:pt x="118989" y="2381"/>
                  </a:lnTo>
                  <a:lnTo>
                    <a:pt x="63298" y="8375"/>
                  </a:lnTo>
                  <a:lnTo>
                    <a:pt x="6654" y="20306"/>
                  </a:lnTo>
                  <a:lnTo>
                    <a:pt x="13585" y="63841"/>
                  </a:lnTo>
                  <a:lnTo>
                    <a:pt x="14829" y="107021"/>
                  </a:lnTo>
                  <a:lnTo>
                    <a:pt x="12238" y="150577"/>
                  </a:lnTo>
                  <a:lnTo>
                    <a:pt x="2970" y="241740"/>
                  </a:lnTo>
                  <a:lnTo>
                    <a:pt x="0" y="290806"/>
                  </a:lnTo>
                  <a:lnTo>
                    <a:pt x="610" y="343171"/>
                  </a:lnTo>
                  <a:lnTo>
                    <a:pt x="6654" y="399565"/>
                  </a:lnTo>
                  <a:lnTo>
                    <a:pt x="14452" y="458951"/>
                  </a:lnTo>
                  <a:lnTo>
                    <a:pt x="17332" y="506338"/>
                  </a:lnTo>
                  <a:lnTo>
                    <a:pt x="16686" y="546658"/>
                  </a:lnTo>
                  <a:lnTo>
                    <a:pt x="13904" y="584842"/>
                  </a:lnTo>
                  <a:lnTo>
                    <a:pt x="10378" y="625820"/>
                  </a:lnTo>
                  <a:lnTo>
                    <a:pt x="7498" y="674525"/>
                  </a:lnTo>
                  <a:lnTo>
                    <a:pt x="6654" y="735887"/>
                  </a:lnTo>
                  <a:lnTo>
                    <a:pt x="44754" y="724788"/>
                  </a:lnTo>
                  <a:lnTo>
                    <a:pt x="87644" y="718226"/>
                  </a:lnTo>
                  <a:lnTo>
                    <a:pt x="134532" y="715468"/>
                  </a:lnTo>
                  <a:lnTo>
                    <a:pt x="184624" y="715782"/>
                  </a:lnTo>
                  <a:lnTo>
                    <a:pt x="237128" y="718433"/>
                  </a:lnTo>
                  <a:lnTo>
                    <a:pt x="291250" y="722691"/>
                  </a:lnTo>
                  <a:lnTo>
                    <a:pt x="401175" y="733091"/>
                  </a:lnTo>
                  <a:lnTo>
                    <a:pt x="455393" y="737768"/>
                  </a:lnTo>
                  <a:lnTo>
                    <a:pt x="508055" y="741119"/>
                  </a:lnTo>
                  <a:lnTo>
                    <a:pt x="558370" y="742411"/>
                  </a:lnTo>
                  <a:lnTo>
                    <a:pt x="605544" y="740911"/>
                  </a:lnTo>
                  <a:lnTo>
                    <a:pt x="648784" y="735887"/>
                  </a:lnTo>
                  <a:lnTo>
                    <a:pt x="696237" y="729168"/>
                  </a:lnTo>
                  <a:lnTo>
                    <a:pt x="742090" y="725294"/>
                  </a:lnTo>
                  <a:lnTo>
                    <a:pt x="786979" y="723764"/>
                  </a:lnTo>
                  <a:lnTo>
                    <a:pt x="831541" y="724079"/>
                  </a:lnTo>
                  <a:lnTo>
                    <a:pt x="876411" y="725738"/>
                  </a:lnTo>
                  <a:lnTo>
                    <a:pt x="969620" y="731085"/>
                  </a:lnTo>
                  <a:lnTo>
                    <a:pt x="1019230" y="733773"/>
                  </a:lnTo>
                  <a:lnTo>
                    <a:pt x="1071692" y="735803"/>
                  </a:lnTo>
                  <a:lnTo>
                    <a:pt x="1127642" y="736675"/>
                  </a:lnTo>
                  <a:lnTo>
                    <a:pt x="1187715" y="735887"/>
                  </a:lnTo>
                  <a:lnTo>
                    <a:pt x="1245781" y="734424"/>
                  </a:lnTo>
                  <a:lnTo>
                    <a:pt x="1296512" y="733538"/>
                  </a:lnTo>
                  <a:lnTo>
                    <a:pt x="1341748" y="733136"/>
                  </a:lnTo>
                  <a:lnTo>
                    <a:pt x="1383330" y="733120"/>
                  </a:lnTo>
                  <a:lnTo>
                    <a:pt x="1423096" y="733398"/>
                  </a:lnTo>
                  <a:lnTo>
                    <a:pt x="1549912" y="735036"/>
                  </a:lnTo>
                  <a:lnTo>
                    <a:pt x="1659121" y="735849"/>
                  </a:lnTo>
                  <a:lnTo>
                    <a:pt x="1726646" y="735887"/>
                  </a:lnTo>
                  <a:lnTo>
                    <a:pt x="1725741" y="670868"/>
                  </a:lnTo>
                  <a:lnTo>
                    <a:pt x="1727413" y="613228"/>
                  </a:lnTo>
                  <a:lnTo>
                    <a:pt x="1733029" y="512686"/>
                  </a:lnTo>
                  <a:lnTo>
                    <a:pt x="1734241" y="466080"/>
                  </a:lnTo>
                  <a:lnTo>
                    <a:pt x="1732569" y="419449"/>
                  </a:lnTo>
                  <a:lnTo>
                    <a:pt x="1726646" y="370941"/>
                  </a:lnTo>
                  <a:lnTo>
                    <a:pt x="1722478" y="319961"/>
                  </a:lnTo>
                  <a:lnTo>
                    <a:pt x="1724899" y="267754"/>
                  </a:lnTo>
                  <a:lnTo>
                    <a:pt x="1730790" y="215235"/>
                  </a:lnTo>
                  <a:lnTo>
                    <a:pt x="1737031" y="163318"/>
                  </a:lnTo>
                  <a:lnTo>
                    <a:pt x="1740501" y="112914"/>
                  </a:lnTo>
                  <a:lnTo>
                    <a:pt x="1738079" y="64939"/>
                  </a:lnTo>
                  <a:lnTo>
                    <a:pt x="1726646" y="20306"/>
                  </a:lnTo>
                  <a:lnTo>
                    <a:pt x="1694069" y="29073"/>
                  </a:lnTo>
                  <a:lnTo>
                    <a:pt x="1656882" y="34958"/>
                  </a:lnTo>
                  <a:lnTo>
                    <a:pt x="1615578" y="38348"/>
                  </a:lnTo>
                  <a:lnTo>
                    <a:pt x="1570648" y="39631"/>
                  </a:lnTo>
                  <a:lnTo>
                    <a:pt x="1522588" y="39195"/>
                  </a:lnTo>
                  <a:lnTo>
                    <a:pt x="1471888" y="37426"/>
                  </a:lnTo>
                  <a:lnTo>
                    <a:pt x="1419043" y="34713"/>
                  </a:lnTo>
                  <a:lnTo>
                    <a:pt x="1308887" y="28004"/>
                  </a:lnTo>
                  <a:lnTo>
                    <a:pt x="1252563" y="24783"/>
                  </a:lnTo>
                  <a:lnTo>
                    <a:pt x="1196064" y="22168"/>
                  </a:lnTo>
                  <a:lnTo>
                    <a:pt x="1139884" y="20546"/>
                  </a:lnTo>
                  <a:lnTo>
                    <a:pt x="1021460" y="19803"/>
                  </a:lnTo>
                  <a:lnTo>
                    <a:pt x="961764" y="17376"/>
                  </a:lnTo>
                  <a:lnTo>
                    <a:pt x="905347" y="13700"/>
                  </a:lnTo>
                  <a:lnTo>
                    <a:pt x="802046" y="5299"/>
                  </a:lnTo>
                  <a:lnTo>
                    <a:pt x="755006" y="1924"/>
                  </a:lnTo>
                  <a:lnTo>
                    <a:pt x="71093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815728" y="4523799"/>
              <a:ext cx="1740535" cy="765175"/>
            </a:xfrm>
            <a:custGeom>
              <a:avLst/>
              <a:gdLst/>
              <a:ahLst/>
              <a:cxnLst/>
              <a:rect l="l" t="t" r="r" b="b"/>
              <a:pathLst>
                <a:path w="1740534" h="765175">
                  <a:moveTo>
                    <a:pt x="5775" y="20357"/>
                  </a:moveTo>
                  <a:lnTo>
                    <a:pt x="48792" y="8537"/>
                  </a:lnTo>
                  <a:lnTo>
                    <a:pt x="91630" y="2072"/>
                  </a:lnTo>
                  <a:lnTo>
                    <a:pt x="134524" y="0"/>
                  </a:lnTo>
                  <a:lnTo>
                    <a:pt x="177710" y="1358"/>
                  </a:lnTo>
                  <a:lnTo>
                    <a:pt x="221422" y="5186"/>
                  </a:lnTo>
                  <a:lnTo>
                    <a:pt x="265896" y="10523"/>
                  </a:lnTo>
                  <a:lnTo>
                    <a:pt x="311367" y="16405"/>
                  </a:lnTo>
                  <a:lnTo>
                    <a:pt x="358070" y="21872"/>
                  </a:lnTo>
                  <a:lnTo>
                    <a:pt x="406240" y="25963"/>
                  </a:lnTo>
                  <a:lnTo>
                    <a:pt x="456113" y="27715"/>
                  </a:lnTo>
                  <a:lnTo>
                    <a:pt x="507923" y="26167"/>
                  </a:lnTo>
                  <a:lnTo>
                    <a:pt x="561906" y="20357"/>
                  </a:lnTo>
                  <a:lnTo>
                    <a:pt x="617332" y="13928"/>
                  </a:lnTo>
                  <a:lnTo>
                    <a:pt x="672989" y="10749"/>
                  </a:lnTo>
                  <a:lnTo>
                    <a:pt x="728392" y="10195"/>
                  </a:lnTo>
                  <a:lnTo>
                    <a:pt x="783054" y="11642"/>
                  </a:lnTo>
                  <a:lnTo>
                    <a:pt x="836487" y="14466"/>
                  </a:lnTo>
                  <a:lnTo>
                    <a:pt x="888204" y="18042"/>
                  </a:lnTo>
                  <a:lnTo>
                    <a:pt x="937720" y="21747"/>
                  </a:lnTo>
                  <a:lnTo>
                    <a:pt x="984548" y="24957"/>
                  </a:lnTo>
                  <a:lnTo>
                    <a:pt x="1028200" y="27047"/>
                  </a:lnTo>
                  <a:lnTo>
                    <a:pt x="1068189" y="27393"/>
                  </a:lnTo>
                  <a:lnTo>
                    <a:pt x="1104030" y="25371"/>
                  </a:lnTo>
                  <a:lnTo>
                    <a:pt x="1135236" y="20357"/>
                  </a:lnTo>
                  <a:lnTo>
                    <a:pt x="1167561" y="15698"/>
                  </a:lnTo>
                  <a:lnTo>
                    <a:pt x="1206400" y="14613"/>
                  </a:lnTo>
                  <a:lnTo>
                    <a:pt x="1250717" y="16284"/>
                  </a:lnTo>
                  <a:lnTo>
                    <a:pt x="1299482" y="19892"/>
                  </a:lnTo>
                  <a:lnTo>
                    <a:pt x="1351661" y="24620"/>
                  </a:lnTo>
                  <a:lnTo>
                    <a:pt x="1406222" y="29650"/>
                  </a:lnTo>
                  <a:lnTo>
                    <a:pt x="1462131" y="34164"/>
                  </a:lnTo>
                  <a:lnTo>
                    <a:pt x="1518357" y="37343"/>
                  </a:lnTo>
                  <a:lnTo>
                    <a:pt x="1573866" y="38370"/>
                  </a:lnTo>
                  <a:lnTo>
                    <a:pt x="1627626" y="36427"/>
                  </a:lnTo>
                  <a:lnTo>
                    <a:pt x="1678604" y="30695"/>
                  </a:lnTo>
                  <a:lnTo>
                    <a:pt x="1725767" y="20357"/>
                  </a:lnTo>
                  <a:lnTo>
                    <a:pt x="1731016" y="76593"/>
                  </a:lnTo>
                  <a:lnTo>
                    <a:pt x="1730121" y="122255"/>
                  </a:lnTo>
                  <a:lnTo>
                    <a:pt x="1725405" y="160985"/>
                  </a:lnTo>
                  <a:lnTo>
                    <a:pt x="1719188" y="196426"/>
                  </a:lnTo>
                  <a:lnTo>
                    <a:pt x="1713794" y="232220"/>
                  </a:lnTo>
                  <a:lnTo>
                    <a:pt x="1711545" y="272010"/>
                  </a:lnTo>
                  <a:lnTo>
                    <a:pt x="1714761" y="319438"/>
                  </a:lnTo>
                  <a:lnTo>
                    <a:pt x="1725767" y="378148"/>
                  </a:lnTo>
                  <a:lnTo>
                    <a:pt x="1736903" y="438614"/>
                  </a:lnTo>
                  <a:lnTo>
                    <a:pt x="1740437" y="490311"/>
                  </a:lnTo>
                  <a:lnTo>
                    <a:pt x="1738580" y="535373"/>
                  </a:lnTo>
                  <a:lnTo>
                    <a:pt x="1733542" y="575937"/>
                  </a:lnTo>
                  <a:lnTo>
                    <a:pt x="1727531" y="614140"/>
                  </a:lnTo>
                  <a:lnTo>
                    <a:pt x="1722758" y="652117"/>
                  </a:lnTo>
                  <a:lnTo>
                    <a:pt x="1721434" y="692004"/>
                  </a:lnTo>
                  <a:lnTo>
                    <a:pt x="1725767" y="735938"/>
                  </a:lnTo>
                  <a:lnTo>
                    <a:pt x="1668885" y="749958"/>
                  </a:lnTo>
                  <a:lnTo>
                    <a:pt x="1612605" y="758926"/>
                  </a:lnTo>
                  <a:lnTo>
                    <a:pt x="1557242" y="763592"/>
                  </a:lnTo>
                  <a:lnTo>
                    <a:pt x="1503113" y="764708"/>
                  </a:lnTo>
                  <a:lnTo>
                    <a:pt x="1450533" y="763024"/>
                  </a:lnTo>
                  <a:lnTo>
                    <a:pt x="1399820" y="759292"/>
                  </a:lnTo>
                  <a:lnTo>
                    <a:pt x="1351289" y="754263"/>
                  </a:lnTo>
                  <a:lnTo>
                    <a:pt x="1305256" y="748687"/>
                  </a:lnTo>
                  <a:lnTo>
                    <a:pt x="1262039" y="743315"/>
                  </a:lnTo>
                  <a:lnTo>
                    <a:pt x="1221952" y="738899"/>
                  </a:lnTo>
                  <a:lnTo>
                    <a:pt x="1185312" y="736190"/>
                  </a:lnTo>
                  <a:lnTo>
                    <a:pt x="1152436" y="735938"/>
                  </a:lnTo>
                  <a:lnTo>
                    <a:pt x="1115325" y="736361"/>
                  </a:lnTo>
                  <a:lnTo>
                    <a:pt x="1072197" y="735271"/>
                  </a:lnTo>
                  <a:lnTo>
                    <a:pt x="1024265" y="733144"/>
                  </a:lnTo>
                  <a:lnTo>
                    <a:pt x="972744" y="730457"/>
                  </a:lnTo>
                  <a:lnTo>
                    <a:pt x="918845" y="727685"/>
                  </a:lnTo>
                  <a:lnTo>
                    <a:pt x="863784" y="725304"/>
                  </a:lnTo>
                  <a:lnTo>
                    <a:pt x="808773" y="723791"/>
                  </a:lnTo>
                  <a:lnTo>
                    <a:pt x="755026" y="723622"/>
                  </a:lnTo>
                  <a:lnTo>
                    <a:pt x="703757" y="725272"/>
                  </a:lnTo>
                  <a:lnTo>
                    <a:pt x="656179" y="729219"/>
                  </a:lnTo>
                  <a:lnTo>
                    <a:pt x="613506" y="735938"/>
                  </a:lnTo>
                  <a:lnTo>
                    <a:pt x="575977" y="741394"/>
                  </a:lnTo>
                  <a:lnTo>
                    <a:pt x="536332" y="743153"/>
                  </a:lnTo>
                  <a:lnTo>
                    <a:pt x="494490" y="742026"/>
                  </a:lnTo>
                  <a:lnTo>
                    <a:pt x="450372" y="738825"/>
                  </a:lnTo>
                  <a:lnTo>
                    <a:pt x="403896" y="734362"/>
                  </a:lnTo>
                  <a:lnTo>
                    <a:pt x="354981" y="729448"/>
                  </a:lnTo>
                  <a:lnTo>
                    <a:pt x="303548" y="724894"/>
                  </a:lnTo>
                  <a:lnTo>
                    <a:pt x="249515" y="721513"/>
                  </a:lnTo>
                  <a:lnTo>
                    <a:pt x="192802" y="720115"/>
                  </a:lnTo>
                  <a:lnTo>
                    <a:pt x="133328" y="721512"/>
                  </a:lnTo>
                  <a:lnTo>
                    <a:pt x="71012" y="726516"/>
                  </a:lnTo>
                  <a:lnTo>
                    <a:pt x="5775" y="735938"/>
                  </a:lnTo>
                  <a:lnTo>
                    <a:pt x="5249" y="677936"/>
                  </a:lnTo>
                  <a:lnTo>
                    <a:pt x="7556" y="628838"/>
                  </a:lnTo>
                  <a:lnTo>
                    <a:pt x="11102" y="584883"/>
                  </a:lnTo>
                  <a:lnTo>
                    <a:pt x="14292" y="542311"/>
                  </a:lnTo>
                  <a:lnTo>
                    <a:pt x="15530" y="497364"/>
                  </a:lnTo>
                  <a:lnTo>
                    <a:pt x="13223" y="446281"/>
                  </a:lnTo>
                  <a:lnTo>
                    <a:pt x="5775" y="385303"/>
                  </a:lnTo>
                  <a:lnTo>
                    <a:pt x="52" y="330133"/>
                  </a:lnTo>
                  <a:lnTo>
                    <a:pt x="0" y="281065"/>
                  </a:lnTo>
                  <a:lnTo>
                    <a:pt x="3600" y="236413"/>
                  </a:lnTo>
                  <a:lnTo>
                    <a:pt x="8836" y="194489"/>
                  </a:lnTo>
                  <a:lnTo>
                    <a:pt x="13689" y="153607"/>
                  </a:lnTo>
                  <a:lnTo>
                    <a:pt x="16142" y="112082"/>
                  </a:lnTo>
                  <a:lnTo>
                    <a:pt x="14176" y="68227"/>
                  </a:lnTo>
                  <a:lnTo>
                    <a:pt x="5775" y="203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213980" y="4573523"/>
            <a:ext cx="936625" cy="6502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5080">
              <a:lnSpc>
                <a:spcPct val="96400"/>
              </a:lnSpc>
              <a:spcBef>
                <a:spcPts val="160"/>
              </a:spcBef>
            </a:pPr>
            <a:r>
              <a:rPr dirty="0" sz="1400" spc="-35">
                <a:latin typeface="Century Gothic"/>
                <a:cs typeface="Century Gothic"/>
              </a:rPr>
              <a:t>Investment </a:t>
            </a:r>
            <a:r>
              <a:rPr dirty="0" baseline="1984" sz="2100" spc="-44">
                <a:latin typeface="Century Gothic"/>
                <a:cs typeface="Century Gothic"/>
              </a:rPr>
              <a:t>I</a:t>
            </a:r>
            <a:r>
              <a:rPr dirty="0" baseline="1984" sz="2100" spc="-532">
                <a:latin typeface="Century Gothic"/>
                <a:cs typeface="Century Gothic"/>
              </a:rPr>
              <a:t>n</a:t>
            </a:r>
            <a:r>
              <a:rPr dirty="0" sz="1400" spc="-740">
                <a:latin typeface="Century Gothic"/>
                <a:cs typeface="Century Gothic"/>
              </a:rPr>
              <a:t>D</a:t>
            </a:r>
            <a:r>
              <a:rPr dirty="0" baseline="1984" sz="2100" spc="-60">
                <a:latin typeface="Century Gothic"/>
                <a:cs typeface="Century Gothic"/>
              </a:rPr>
              <a:t>v</a:t>
            </a:r>
            <a:r>
              <a:rPr dirty="0" baseline="1984" sz="2100" spc="-172">
                <a:latin typeface="Century Gothic"/>
                <a:cs typeface="Century Gothic"/>
              </a:rPr>
              <a:t>e</a:t>
            </a:r>
            <a:r>
              <a:rPr dirty="0" sz="1400" spc="-855">
                <a:latin typeface="Century Gothic"/>
                <a:cs typeface="Century Gothic"/>
              </a:rPr>
              <a:t>c</a:t>
            </a:r>
            <a:r>
              <a:rPr dirty="0" baseline="1984" sz="2100" spc="-44">
                <a:latin typeface="Century Gothic"/>
                <a:cs typeface="Century Gothic"/>
              </a:rPr>
              <a:t>s</a:t>
            </a:r>
            <a:r>
              <a:rPr dirty="0" baseline="1984" sz="2100" spc="-307">
                <a:latin typeface="Century Gothic"/>
                <a:cs typeface="Century Gothic"/>
              </a:rPr>
              <a:t>t</a:t>
            </a:r>
            <a:r>
              <a:rPr dirty="0" sz="1400" spc="-120">
                <a:latin typeface="Century Gothic"/>
                <a:cs typeface="Century Gothic"/>
              </a:rPr>
              <a:t>i</a:t>
            </a:r>
            <a:r>
              <a:rPr dirty="0" baseline="1984" sz="2100" spc="-1837">
                <a:latin typeface="Century Gothic"/>
                <a:cs typeface="Century Gothic"/>
              </a:rPr>
              <a:t>m</a:t>
            </a:r>
            <a:r>
              <a:rPr dirty="0" sz="1400" spc="-30">
                <a:latin typeface="Century Gothic"/>
                <a:cs typeface="Century Gothic"/>
              </a:rPr>
              <a:t>s</a:t>
            </a:r>
            <a:r>
              <a:rPr dirty="0" sz="1400" spc="-20">
                <a:latin typeface="Century Gothic"/>
                <a:cs typeface="Century Gothic"/>
              </a:rPr>
              <a:t>i</a:t>
            </a:r>
            <a:r>
              <a:rPr dirty="0" sz="1400" spc="-570">
                <a:latin typeface="Century Gothic"/>
                <a:cs typeface="Century Gothic"/>
              </a:rPr>
              <a:t>o</a:t>
            </a:r>
            <a:r>
              <a:rPr dirty="0" baseline="1984" sz="2100" spc="-600">
                <a:latin typeface="Century Gothic"/>
                <a:cs typeface="Century Gothic"/>
              </a:rPr>
              <a:t>e</a:t>
            </a:r>
            <a:r>
              <a:rPr dirty="0" sz="1400" spc="-520">
                <a:latin typeface="Century Gothic"/>
                <a:cs typeface="Century Gothic"/>
              </a:rPr>
              <a:t>n</a:t>
            </a:r>
            <a:r>
              <a:rPr dirty="0" baseline="1984" sz="2100" spc="-60">
                <a:latin typeface="Century Gothic"/>
                <a:cs typeface="Century Gothic"/>
              </a:rPr>
              <a:t>n</a:t>
            </a:r>
            <a:r>
              <a:rPr dirty="0" baseline="1984" sz="2100" spc="-15">
                <a:latin typeface="Century Gothic"/>
                <a:cs typeface="Century Gothic"/>
              </a:rPr>
              <a:t>t </a:t>
            </a:r>
            <a:r>
              <a:rPr dirty="0" sz="1400" spc="-10">
                <a:latin typeface="Century Gothic"/>
                <a:cs typeface="Century Gothic"/>
              </a:rPr>
              <a:t>Decision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06256" y="1871756"/>
            <a:ext cx="3461385" cy="777875"/>
            <a:chOff x="6106256" y="1871756"/>
            <a:chExt cx="3461385" cy="777875"/>
          </a:xfrm>
        </p:grpSpPr>
        <p:sp>
          <p:nvSpPr>
            <p:cNvPr id="29" name="object 29"/>
            <p:cNvSpPr/>
            <p:nvPr/>
          </p:nvSpPr>
          <p:spPr>
            <a:xfrm>
              <a:off x="6106256" y="2091731"/>
              <a:ext cx="1720214" cy="76200"/>
            </a:xfrm>
            <a:custGeom>
              <a:avLst/>
              <a:gdLst/>
              <a:ahLst/>
              <a:cxnLst/>
              <a:rect l="l" t="t" r="r" b="b"/>
              <a:pathLst>
                <a:path w="1720215" h="76200">
                  <a:moveTo>
                    <a:pt x="1643607" y="0"/>
                  </a:moveTo>
                  <a:lnTo>
                    <a:pt x="1644011" y="76198"/>
                  </a:lnTo>
                  <a:lnTo>
                    <a:pt x="1712946" y="41273"/>
                  </a:lnTo>
                  <a:lnTo>
                    <a:pt x="1656524" y="41273"/>
                  </a:lnTo>
                  <a:lnTo>
                    <a:pt x="1656490" y="34923"/>
                  </a:lnTo>
                  <a:lnTo>
                    <a:pt x="1714388" y="34923"/>
                  </a:lnTo>
                  <a:lnTo>
                    <a:pt x="1643607" y="0"/>
                  </a:lnTo>
                  <a:close/>
                </a:path>
                <a:path w="1720215" h="76200">
                  <a:moveTo>
                    <a:pt x="1643792" y="34923"/>
                  </a:moveTo>
                  <a:lnTo>
                    <a:pt x="0" y="43613"/>
                  </a:lnTo>
                  <a:lnTo>
                    <a:pt x="33" y="49963"/>
                  </a:lnTo>
                  <a:lnTo>
                    <a:pt x="1643826" y="41273"/>
                  </a:lnTo>
                  <a:lnTo>
                    <a:pt x="1643792" y="34923"/>
                  </a:lnTo>
                  <a:close/>
                </a:path>
                <a:path w="1720215" h="76200">
                  <a:moveTo>
                    <a:pt x="1714388" y="34923"/>
                  </a:moveTo>
                  <a:lnTo>
                    <a:pt x="1656490" y="34923"/>
                  </a:lnTo>
                  <a:lnTo>
                    <a:pt x="1656524" y="41273"/>
                  </a:lnTo>
                  <a:lnTo>
                    <a:pt x="1712946" y="41273"/>
                  </a:lnTo>
                  <a:lnTo>
                    <a:pt x="1720007" y="37696"/>
                  </a:lnTo>
                  <a:lnTo>
                    <a:pt x="1714388" y="34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820490" y="1878106"/>
              <a:ext cx="1740535" cy="765175"/>
            </a:xfrm>
            <a:custGeom>
              <a:avLst/>
              <a:gdLst/>
              <a:ahLst/>
              <a:cxnLst/>
              <a:rect l="l" t="t" r="r" b="b"/>
              <a:pathLst>
                <a:path w="1740534" h="765175">
                  <a:moveTo>
                    <a:pt x="5775" y="20357"/>
                  </a:moveTo>
                  <a:lnTo>
                    <a:pt x="48792" y="8537"/>
                  </a:lnTo>
                  <a:lnTo>
                    <a:pt x="91630" y="2072"/>
                  </a:lnTo>
                  <a:lnTo>
                    <a:pt x="134524" y="0"/>
                  </a:lnTo>
                  <a:lnTo>
                    <a:pt x="177710" y="1358"/>
                  </a:lnTo>
                  <a:lnTo>
                    <a:pt x="221422" y="5186"/>
                  </a:lnTo>
                  <a:lnTo>
                    <a:pt x="265896" y="10523"/>
                  </a:lnTo>
                  <a:lnTo>
                    <a:pt x="311367" y="16405"/>
                  </a:lnTo>
                  <a:lnTo>
                    <a:pt x="358070" y="21872"/>
                  </a:lnTo>
                  <a:lnTo>
                    <a:pt x="406240" y="25963"/>
                  </a:lnTo>
                  <a:lnTo>
                    <a:pt x="456113" y="27715"/>
                  </a:lnTo>
                  <a:lnTo>
                    <a:pt x="507923" y="26167"/>
                  </a:lnTo>
                  <a:lnTo>
                    <a:pt x="561906" y="20357"/>
                  </a:lnTo>
                  <a:lnTo>
                    <a:pt x="617332" y="13928"/>
                  </a:lnTo>
                  <a:lnTo>
                    <a:pt x="672989" y="10749"/>
                  </a:lnTo>
                  <a:lnTo>
                    <a:pt x="728392" y="10195"/>
                  </a:lnTo>
                  <a:lnTo>
                    <a:pt x="783054" y="11642"/>
                  </a:lnTo>
                  <a:lnTo>
                    <a:pt x="836487" y="14466"/>
                  </a:lnTo>
                  <a:lnTo>
                    <a:pt x="888204" y="18042"/>
                  </a:lnTo>
                  <a:lnTo>
                    <a:pt x="937720" y="21747"/>
                  </a:lnTo>
                  <a:lnTo>
                    <a:pt x="984548" y="24957"/>
                  </a:lnTo>
                  <a:lnTo>
                    <a:pt x="1028200" y="27047"/>
                  </a:lnTo>
                  <a:lnTo>
                    <a:pt x="1068189" y="27393"/>
                  </a:lnTo>
                  <a:lnTo>
                    <a:pt x="1104030" y="25371"/>
                  </a:lnTo>
                  <a:lnTo>
                    <a:pt x="1135236" y="20357"/>
                  </a:lnTo>
                  <a:lnTo>
                    <a:pt x="1167561" y="15698"/>
                  </a:lnTo>
                  <a:lnTo>
                    <a:pt x="1206400" y="14613"/>
                  </a:lnTo>
                  <a:lnTo>
                    <a:pt x="1250717" y="16284"/>
                  </a:lnTo>
                  <a:lnTo>
                    <a:pt x="1299482" y="19892"/>
                  </a:lnTo>
                  <a:lnTo>
                    <a:pt x="1351661" y="24620"/>
                  </a:lnTo>
                  <a:lnTo>
                    <a:pt x="1406222" y="29650"/>
                  </a:lnTo>
                  <a:lnTo>
                    <a:pt x="1462131" y="34164"/>
                  </a:lnTo>
                  <a:lnTo>
                    <a:pt x="1518357" y="37343"/>
                  </a:lnTo>
                  <a:lnTo>
                    <a:pt x="1573866" y="38370"/>
                  </a:lnTo>
                  <a:lnTo>
                    <a:pt x="1627626" y="36427"/>
                  </a:lnTo>
                  <a:lnTo>
                    <a:pt x="1678604" y="30695"/>
                  </a:lnTo>
                  <a:lnTo>
                    <a:pt x="1725767" y="20357"/>
                  </a:lnTo>
                  <a:lnTo>
                    <a:pt x="1731016" y="76593"/>
                  </a:lnTo>
                  <a:lnTo>
                    <a:pt x="1730121" y="122255"/>
                  </a:lnTo>
                  <a:lnTo>
                    <a:pt x="1725405" y="160985"/>
                  </a:lnTo>
                  <a:lnTo>
                    <a:pt x="1719188" y="196426"/>
                  </a:lnTo>
                  <a:lnTo>
                    <a:pt x="1713794" y="232220"/>
                  </a:lnTo>
                  <a:lnTo>
                    <a:pt x="1711545" y="272010"/>
                  </a:lnTo>
                  <a:lnTo>
                    <a:pt x="1714761" y="319438"/>
                  </a:lnTo>
                  <a:lnTo>
                    <a:pt x="1725767" y="378148"/>
                  </a:lnTo>
                  <a:lnTo>
                    <a:pt x="1736903" y="438614"/>
                  </a:lnTo>
                  <a:lnTo>
                    <a:pt x="1740437" y="490311"/>
                  </a:lnTo>
                  <a:lnTo>
                    <a:pt x="1738580" y="535373"/>
                  </a:lnTo>
                  <a:lnTo>
                    <a:pt x="1733542" y="575937"/>
                  </a:lnTo>
                  <a:lnTo>
                    <a:pt x="1727531" y="614140"/>
                  </a:lnTo>
                  <a:lnTo>
                    <a:pt x="1722758" y="652117"/>
                  </a:lnTo>
                  <a:lnTo>
                    <a:pt x="1721434" y="692004"/>
                  </a:lnTo>
                  <a:lnTo>
                    <a:pt x="1725767" y="735938"/>
                  </a:lnTo>
                  <a:lnTo>
                    <a:pt x="1668885" y="749958"/>
                  </a:lnTo>
                  <a:lnTo>
                    <a:pt x="1612605" y="758926"/>
                  </a:lnTo>
                  <a:lnTo>
                    <a:pt x="1557242" y="763592"/>
                  </a:lnTo>
                  <a:lnTo>
                    <a:pt x="1503113" y="764708"/>
                  </a:lnTo>
                  <a:lnTo>
                    <a:pt x="1450533" y="763024"/>
                  </a:lnTo>
                  <a:lnTo>
                    <a:pt x="1399820" y="759292"/>
                  </a:lnTo>
                  <a:lnTo>
                    <a:pt x="1351289" y="754263"/>
                  </a:lnTo>
                  <a:lnTo>
                    <a:pt x="1305256" y="748687"/>
                  </a:lnTo>
                  <a:lnTo>
                    <a:pt x="1262039" y="743315"/>
                  </a:lnTo>
                  <a:lnTo>
                    <a:pt x="1221952" y="738899"/>
                  </a:lnTo>
                  <a:lnTo>
                    <a:pt x="1185312" y="736190"/>
                  </a:lnTo>
                  <a:lnTo>
                    <a:pt x="1152436" y="735938"/>
                  </a:lnTo>
                  <a:lnTo>
                    <a:pt x="1115325" y="736361"/>
                  </a:lnTo>
                  <a:lnTo>
                    <a:pt x="1072197" y="735271"/>
                  </a:lnTo>
                  <a:lnTo>
                    <a:pt x="1024265" y="733144"/>
                  </a:lnTo>
                  <a:lnTo>
                    <a:pt x="972744" y="730457"/>
                  </a:lnTo>
                  <a:lnTo>
                    <a:pt x="918845" y="727685"/>
                  </a:lnTo>
                  <a:lnTo>
                    <a:pt x="863784" y="725304"/>
                  </a:lnTo>
                  <a:lnTo>
                    <a:pt x="808773" y="723791"/>
                  </a:lnTo>
                  <a:lnTo>
                    <a:pt x="755026" y="723622"/>
                  </a:lnTo>
                  <a:lnTo>
                    <a:pt x="703757" y="725272"/>
                  </a:lnTo>
                  <a:lnTo>
                    <a:pt x="656179" y="729219"/>
                  </a:lnTo>
                  <a:lnTo>
                    <a:pt x="613506" y="735938"/>
                  </a:lnTo>
                  <a:lnTo>
                    <a:pt x="575977" y="741394"/>
                  </a:lnTo>
                  <a:lnTo>
                    <a:pt x="536332" y="743153"/>
                  </a:lnTo>
                  <a:lnTo>
                    <a:pt x="494490" y="742026"/>
                  </a:lnTo>
                  <a:lnTo>
                    <a:pt x="450372" y="738825"/>
                  </a:lnTo>
                  <a:lnTo>
                    <a:pt x="403896" y="734362"/>
                  </a:lnTo>
                  <a:lnTo>
                    <a:pt x="354981" y="729448"/>
                  </a:lnTo>
                  <a:lnTo>
                    <a:pt x="303548" y="724894"/>
                  </a:lnTo>
                  <a:lnTo>
                    <a:pt x="249515" y="721513"/>
                  </a:lnTo>
                  <a:lnTo>
                    <a:pt x="192802" y="720115"/>
                  </a:lnTo>
                  <a:lnTo>
                    <a:pt x="133328" y="721512"/>
                  </a:lnTo>
                  <a:lnTo>
                    <a:pt x="71012" y="726516"/>
                  </a:lnTo>
                  <a:lnTo>
                    <a:pt x="5775" y="735938"/>
                  </a:lnTo>
                  <a:lnTo>
                    <a:pt x="5249" y="677936"/>
                  </a:lnTo>
                  <a:lnTo>
                    <a:pt x="7556" y="628838"/>
                  </a:lnTo>
                  <a:lnTo>
                    <a:pt x="11102" y="584883"/>
                  </a:lnTo>
                  <a:lnTo>
                    <a:pt x="14292" y="542311"/>
                  </a:lnTo>
                  <a:lnTo>
                    <a:pt x="15530" y="497364"/>
                  </a:lnTo>
                  <a:lnTo>
                    <a:pt x="13223" y="446281"/>
                  </a:lnTo>
                  <a:lnTo>
                    <a:pt x="5775" y="385303"/>
                  </a:lnTo>
                  <a:lnTo>
                    <a:pt x="52" y="330133"/>
                  </a:lnTo>
                  <a:lnTo>
                    <a:pt x="0" y="281065"/>
                  </a:lnTo>
                  <a:lnTo>
                    <a:pt x="3600" y="236413"/>
                  </a:lnTo>
                  <a:lnTo>
                    <a:pt x="8836" y="194489"/>
                  </a:lnTo>
                  <a:lnTo>
                    <a:pt x="13689" y="153607"/>
                  </a:lnTo>
                  <a:lnTo>
                    <a:pt x="16142" y="112082"/>
                  </a:lnTo>
                  <a:lnTo>
                    <a:pt x="14176" y="68227"/>
                  </a:lnTo>
                  <a:lnTo>
                    <a:pt x="5775" y="203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1986806" y="1642622"/>
            <a:ext cx="2560320" cy="1019810"/>
            <a:chOff x="1986806" y="1642622"/>
            <a:chExt cx="2560320" cy="1019810"/>
          </a:xfrm>
        </p:grpSpPr>
        <p:sp>
          <p:nvSpPr>
            <p:cNvPr id="32" name="object 32"/>
            <p:cNvSpPr/>
            <p:nvPr/>
          </p:nvSpPr>
          <p:spPr>
            <a:xfrm>
              <a:off x="4069143" y="1642630"/>
              <a:ext cx="477520" cy="1019810"/>
            </a:xfrm>
            <a:custGeom>
              <a:avLst/>
              <a:gdLst/>
              <a:ahLst/>
              <a:cxnLst/>
              <a:rect l="l" t="t" r="r" b="b"/>
              <a:pathLst>
                <a:path w="477520" h="1019810">
                  <a:moveTo>
                    <a:pt x="477380" y="498208"/>
                  </a:moveTo>
                  <a:lnTo>
                    <a:pt x="464502" y="456450"/>
                  </a:lnTo>
                  <a:lnTo>
                    <a:pt x="449135" y="406628"/>
                  </a:lnTo>
                  <a:lnTo>
                    <a:pt x="428472" y="426377"/>
                  </a:lnTo>
                  <a:lnTo>
                    <a:pt x="20878" y="0"/>
                  </a:lnTo>
                  <a:lnTo>
                    <a:pt x="215" y="19748"/>
                  </a:lnTo>
                  <a:lnTo>
                    <a:pt x="407822" y="446112"/>
                  </a:lnTo>
                  <a:lnTo>
                    <a:pt x="387159" y="465861"/>
                  </a:lnTo>
                  <a:lnTo>
                    <a:pt x="477380" y="498208"/>
                  </a:lnTo>
                  <a:close/>
                </a:path>
                <a:path w="477520" h="1019810">
                  <a:moveTo>
                    <a:pt x="477380" y="498208"/>
                  </a:moveTo>
                  <a:lnTo>
                    <a:pt x="387934" y="532625"/>
                  </a:lnTo>
                  <a:lnTo>
                    <a:pt x="409041" y="551891"/>
                  </a:lnTo>
                  <a:lnTo>
                    <a:pt x="0" y="999998"/>
                  </a:lnTo>
                  <a:lnTo>
                    <a:pt x="21107" y="1019263"/>
                  </a:lnTo>
                  <a:lnTo>
                    <a:pt x="430136" y="571157"/>
                  </a:lnTo>
                  <a:lnTo>
                    <a:pt x="451243" y="590423"/>
                  </a:lnTo>
                  <a:lnTo>
                    <a:pt x="465162" y="541337"/>
                  </a:lnTo>
                  <a:lnTo>
                    <a:pt x="477380" y="498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93347" y="1647587"/>
              <a:ext cx="231775" cy="1007110"/>
            </a:xfrm>
            <a:custGeom>
              <a:avLst/>
              <a:gdLst/>
              <a:ahLst/>
              <a:cxnLst/>
              <a:rect l="l" t="t" r="r" b="b"/>
              <a:pathLst>
                <a:path w="231775" h="1007110">
                  <a:moveTo>
                    <a:pt x="212970" y="27180"/>
                  </a:moveTo>
                  <a:lnTo>
                    <a:pt x="171951" y="27180"/>
                  </a:lnTo>
                  <a:lnTo>
                    <a:pt x="174921" y="32793"/>
                  </a:lnTo>
                  <a:lnTo>
                    <a:pt x="163431" y="38871"/>
                  </a:lnTo>
                  <a:lnTo>
                    <a:pt x="176815" y="70006"/>
                  </a:lnTo>
                  <a:lnTo>
                    <a:pt x="212970" y="27180"/>
                  </a:lnTo>
                  <a:close/>
                </a:path>
                <a:path w="231775" h="1007110">
                  <a:moveTo>
                    <a:pt x="160915" y="33017"/>
                  </a:moveTo>
                  <a:lnTo>
                    <a:pt x="156085" y="35572"/>
                  </a:lnTo>
                  <a:lnTo>
                    <a:pt x="145535" y="45673"/>
                  </a:lnTo>
                  <a:lnTo>
                    <a:pt x="132777" y="60312"/>
                  </a:lnTo>
                  <a:lnTo>
                    <a:pt x="137565" y="64484"/>
                  </a:lnTo>
                  <a:lnTo>
                    <a:pt x="150228" y="49952"/>
                  </a:lnTo>
                  <a:lnTo>
                    <a:pt x="159621" y="40979"/>
                  </a:lnTo>
                  <a:lnTo>
                    <a:pt x="159446" y="40979"/>
                  </a:lnTo>
                  <a:lnTo>
                    <a:pt x="160157" y="40466"/>
                  </a:lnTo>
                  <a:lnTo>
                    <a:pt x="160416" y="40466"/>
                  </a:lnTo>
                  <a:lnTo>
                    <a:pt x="163431" y="38871"/>
                  </a:lnTo>
                  <a:lnTo>
                    <a:pt x="160915" y="33017"/>
                  </a:lnTo>
                  <a:close/>
                </a:path>
                <a:path w="231775" h="1007110">
                  <a:moveTo>
                    <a:pt x="159837" y="40771"/>
                  </a:moveTo>
                  <a:lnTo>
                    <a:pt x="159446" y="40979"/>
                  </a:lnTo>
                  <a:lnTo>
                    <a:pt x="159621" y="40979"/>
                  </a:lnTo>
                  <a:lnTo>
                    <a:pt x="159837" y="40771"/>
                  </a:lnTo>
                  <a:close/>
                </a:path>
                <a:path w="231775" h="1007110">
                  <a:moveTo>
                    <a:pt x="160416" y="40466"/>
                  </a:moveTo>
                  <a:lnTo>
                    <a:pt x="160157" y="40466"/>
                  </a:lnTo>
                  <a:lnTo>
                    <a:pt x="159837" y="40771"/>
                  </a:lnTo>
                  <a:lnTo>
                    <a:pt x="160416" y="40466"/>
                  </a:lnTo>
                  <a:close/>
                </a:path>
                <a:path w="231775" h="1007110">
                  <a:moveTo>
                    <a:pt x="171951" y="27180"/>
                  </a:moveTo>
                  <a:lnTo>
                    <a:pt x="160915" y="33017"/>
                  </a:lnTo>
                  <a:lnTo>
                    <a:pt x="163431" y="38871"/>
                  </a:lnTo>
                  <a:lnTo>
                    <a:pt x="174921" y="32793"/>
                  </a:lnTo>
                  <a:lnTo>
                    <a:pt x="171951" y="27180"/>
                  </a:lnTo>
                  <a:close/>
                </a:path>
                <a:path w="231775" h="1007110">
                  <a:moveTo>
                    <a:pt x="146721" y="0"/>
                  </a:moveTo>
                  <a:lnTo>
                    <a:pt x="160819" y="32793"/>
                  </a:lnTo>
                  <a:lnTo>
                    <a:pt x="160915" y="33017"/>
                  </a:lnTo>
                  <a:lnTo>
                    <a:pt x="171951" y="27180"/>
                  </a:lnTo>
                  <a:lnTo>
                    <a:pt x="212970" y="27180"/>
                  </a:lnTo>
                  <a:lnTo>
                    <a:pt x="231773" y="4908"/>
                  </a:lnTo>
                  <a:lnTo>
                    <a:pt x="146721" y="0"/>
                  </a:lnTo>
                  <a:close/>
                </a:path>
                <a:path w="231775" h="1007110">
                  <a:moveTo>
                    <a:pt x="120719" y="75439"/>
                  </a:moveTo>
                  <a:lnTo>
                    <a:pt x="117048" y="80620"/>
                  </a:lnTo>
                  <a:lnTo>
                    <a:pt x="122229" y="84291"/>
                  </a:lnTo>
                  <a:lnTo>
                    <a:pt x="125901" y="79110"/>
                  </a:lnTo>
                  <a:lnTo>
                    <a:pt x="120719" y="75439"/>
                  </a:lnTo>
                  <a:close/>
                </a:path>
                <a:path w="231775" h="1007110">
                  <a:moveTo>
                    <a:pt x="105963" y="96433"/>
                  </a:moveTo>
                  <a:lnTo>
                    <a:pt x="102736" y="101903"/>
                  </a:lnTo>
                  <a:lnTo>
                    <a:pt x="108206" y="105129"/>
                  </a:lnTo>
                  <a:lnTo>
                    <a:pt x="111432" y="99659"/>
                  </a:lnTo>
                  <a:lnTo>
                    <a:pt x="105963" y="96433"/>
                  </a:lnTo>
                  <a:close/>
                </a:path>
                <a:path w="231775" h="1007110">
                  <a:moveTo>
                    <a:pt x="93059" y="118311"/>
                  </a:moveTo>
                  <a:lnTo>
                    <a:pt x="88534" y="125984"/>
                  </a:lnTo>
                  <a:lnTo>
                    <a:pt x="71723" y="159797"/>
                  </a:lnTo>
                  <a:lnTo>
                    <a:pt x="69956" y="164000"/>
                  </a:lnTo>
                  <a:lnTo>
                    <a:pt x="75808" y="166461"/>
                  </a:lnTo>
                  <a:lnTo>
                    <a:pt x="77461" y="162534"/>
                  </a:lnTo>
                  <a:lnTo>
                    <a:pt x="94070" y="129112"/>
                  </a:lnTo>
                  <a:lnTo>
                    <a:pt x="94169" y="128912"/>
                  </a:lnTo>
                  <a:lnTo>
                    <a:pt x="98529" y="121537"/>
                  </a:lnTo>
                  <a:lnTo>
                    <a:pt x="93059" y="118311"/>
                  </a:lnTo>
                  <a:close/>
                </a:path>
                <a:path w="231775" h="1007110">
                  <a:moveTo>
                    <a:pt x="62569" y="181559"/>
                  </a:moveTo>
                  <a:lnTo>
                    <a:pt x="60106" y="187412"/>
                  </a:lnTo>
                  <a:lnTo>
                    <a:pt x="65960" y="189875"/>
                  </a:lnTo>
                  <a:lnTo>
                    <a:pt x="68422" y="184021"/>
                  </a:lnTo>
                  <a:lnTo>
                    <a:pt x="62569" y="181559"/>
                  </a:lnTo>
                  <a:close/>
                </a:path>
                <a:path w="231775" h="1007110">
                  <a:moveTo>
                    <a:pt x="53150" y="205333"/>
                  </a:moveTo>
                  <a:lnTo>
                    <a:pt x="51028" y="211319"/>
                  </a:lnTo>
                  <a:lnTo>
                    <a:pt x="57012" y="213441"/>
                  </a:lnTo>
                  <a:lnTo>
                    <a:pt x="59135" y="207455"/>
                  </a:lnTo>
                  <a:lnTo>
                    <a:pt x="53150" y="205333"/>
                  </a:lnTo>
                  <a:close/>
                </a:path>
                <a:path w="231775" h="1007110">
                  <a:moveTo>
                    <a:pt x="44662" y="229274"/>
                  </a:moveTo>
                  <a:lnTo>
                    <a:pt x="42345" y="235805"/>
                  </a:lnTo>
                  <a:lnTo>
                    <a:pt x="30104" y="277277"/>
                  </a:lnTo>
                  <a:lnTo>
                    <a:pt x="29879" y="278213"/>
                  </a:lnTo>
                  <a:lnTo>
                    <a:pt x="36054" y="279695"/>
                  </a:lnTo>
                  <a:lnTo>
                    <a:pt x="36222" y="278996"/>
                  </a:lnTo>
                  <a:lnTo>
                    <a:pt x="48364" y="237848"/>
                  </a:lnTo>
                  <a:lnTo>
                    <a:pt x="50646" y="231395"/>
                  </a:lnTo>
                  <a:lnTo>
                    <a:pt x="44662" y="229274"/>
                  </a:lnTo>
                  <a:close/>
                </a:path>
                <a:path w="231775" h="1007110">
                  <a:moveTo>
                    <a:pt x="25434" y="296738"/>
                  </a:moveTo>
                  <a:lnTo>
                    <a:pt x="23952" y="302912"/>
                  </a:lnTo>
                  <a:lnTo>
                    <a:pt x="30127" y="304394"/>
                  </a:lnTo>
                  <a:lnTo>
                    <a:pt x="31609" y="298220"/>
                  </a:lnTo>
                  <a:lnTo>
                    <a:pt x="25434" y="296738"/>
                  </a:lnTo>
                  <a:close/>
                </a:path>
                <a:path w="231775" h="1007110">
                  <a:moveTo>
                    <a:pt x="19521" y="321603"/>
                  </a:moveTo>
                  <a:lnTo>
                    <a:pt x="18354" y="327845"/>
                  </a:lnTo>
                  <a:lnTo>
                    <a:pt x="24594" y="329013"/>
                  </a:lnTo>
                  <a:lnTo>
                    <a:pt x="25763" y="322771"/>
                  </a:lnTo>
                  <a:lnTo>
                    <a:pt x="19521" y="321603"/>
                  </a:lnTo>
                  <a:close/>
                </a:path>
                <a:path w="231775" h="1007110">
                  <a:moveTo>
                    <a:pt x="14851" y="346570"/>
                  </a:moveTo>
                  <a:lnTo>
                    <a:pt x="11339" y="365340"/>
                  </a:lnTo>
                  <a:lnTo>
                    <a:pt x="7079" y="396920"/>
                  </a:lnTo>
                  <a:lnTo>
                    <a:pt x="13371" y="397769"/>
                  </a:lnTo>
                  <a:lnTo>
                    <a:pt x="17601" y="366429"/>
                  </a:lnTo>
                  <a:lnTo>
                    <a:pt x="21092" y="347738"/>
                  </a:lnTo>
                  <a:lnTo>
                    <a:pt x="14851" y="346570"/>
                  </a:lnTo>
                  <a:close/>
                </a:path>
                <a:path w="231775" h="1007110">
                  <a:moveTo>
                    <a:pt x="4757" y="415989"/>
                  </a:moveTo>
                  <a:lnTo>
                    <a:pt x="4236" y="422318"/>
                  </a:lnTo>
                  <a:lnTo>
                    <a:pt x="10565" y="422838"/>
                  </a:lnTo>
                  <a:lnTo>
                    <a:pt x="11085" y="416510"/>
                  </a:lnTo>
                  <a:lnTo>
                    <a:pt x="4757" y="415989"/>
                  </a:lnTo>
                  <a:close/>
                </a:path>
                <a:path w="231775" h="1007110">
                  <a:moveTo>
                    <a:pt x="2673" y="441304"/>
                  </a:moveTo>
                  <a:lnTo>
                    <a:pt x="2152" y="447633"/>
                  </a:lnTo>
                  <a:lnTo>
                    <a:pt x="8481" y="448153"/>
                  </a:lnTo>
                  <a:lnTo>
                    <a:pt x="9001" y="441825"/>
                  </a:lnTo>
                  <a:lnTo>
                    <a:pt x="2673" y="441304"/>
                  </a:lnTo>
                  <a:close/>
                </a:path>
                <a:path w="231775" h="1007110">
                  <a:moveTo>
                    <a:pt x="7409" y="466994"/>
                  </a:moveTo>
                  <a:lnTo>
                    <a:pt x="1056" y="466994"/>
                  </a:lnTo>
                  <a:lnTo>
                    <a:pt x="0" y="504878"/>
                  </a:lnTo>
                  <a:lnTo>
                    <a:pt x="337" y="517602"/>
                  </a:lnTo>
                  <a:lnTo>
                    <a:pt x="6689" y="517602"/>
                  </a:lnTo>
                  <a:lnTo>
                    <a:pt x="6352" y="504878"/>
                  </a:lnTo>
                  <a:lnTo>
                    <a:pt x="7409" y="466994"/>
                  </a:lnTo>
                  <a:close/>
                </a:path>
                <a:path w="231775" h="1007110">
                  <a:moveTo>
                    <a:pt x="7197" y="536813"/>
                  </a:moveTo>
                  <a:lnTo>
                    <a:pt x="845" y="536813"/>
                  </a:lnTo>
                  <a:lnTo>
                    <a:pt x="1009" y="542993"/>
                  </a:lnTo>
                  <a:lnTo>
                    <a:pt x="7361" y="542993"/>
                  </a:lnTo>
                  <a:lnTo>
                    <a:pt x="7197" y="536813"/>
                  </a:lnTo>
                  <a:close/>
                </a:path>
                <a:path w="231775" h="1007110">
                  <a:moveTo>
                    <a:pt x="8394" y="561846"/>
                  </a:moveTo>
                  <a:lnTo>
                    <a:pt x="2063" y="562339"/>
                  </a:lnTo>
                  <a:lnTo>
                    <a:pt x="2517" y="568177"/>
                  </a:lnTo>
                  <a:lnTo>
                    <a:pt x="2555" y="568669"/>
                  </a:lnTo>
                  <a:lnTo>
                    <a:pt x="8886" y="568177"/>
                  </a:lnTo>
                  <a:lnTo>
                    <a:pt x="8433" y="562339"/>
                  </a:lnTo>
                  <a:lnTo>
                    <a:pt x="8394" y="561846"/>
                  </a:lnTo>
                  <a:close/>
                </a:path>
                <a:path w="231775" h="1007110">
                  <a:moveTo>
                    <a:pt x="10363" y="587170"/>
                  </a:moveTo>
                  <a:lnTo>
                    <a:pt x="4032" y="587662"/>
                  </a:lnTo>
                  <a:lnTo>
                    <a:pt x="4807" y="597627"/>
                  </a:lnTo>
                  <a:lnTo>
                    <a:pt x="4864" y="598352"/>
                  </a:lnTo>
                  <a:lnTo>
                    <a:pt x="9848" y="637461"/>
                  </a:lnTo>
                  <a:lnTo>
                    <a:pt x="9950" y="638263"/>
                  </a:lnTo>
                  <a:lnTo>
                    <a:pt x="16248" y="637461"/>
                  </a:lnTo>
                  <a:lnTo>
                    <a:pt x="11264" y="598352"/>
                  </a:lnTo>
                  <a:lnTo>
                    <a:pt x="11172" y="597627"/>
                  </a:lnTo>
                  <a:lnTo>
                    <a:pt x="10401" y="587662"/>
                  </a:lnTo>
                  <a:lnTo>
                    <a:pt x="10363" y="587170"/>
                  </a:lnTo>
                  <a:close/>
                </a:path>
                <a:path w="231775" h="1007110">
                  <a:moveTo>
                    <a:pt x="19258" y="656112"/>
                  </a:moveTo>
                  <a:lnTo>
                    <a:pt x="13006" y="657217"/>
                  </a:lnTo>
                  <a:lnTo>
                    <a:pt x="14109" y="663469"/>
                  </a:lnTo>
                  <a:lnTo>
                    <a:pt x="20363" y="662365"/>
                  </a:lnTo>
                  <a:lnTo>
                    <a:pt x="19258" y="656112"/>
                  </a:lnTo>
                  <a:close/>
                </a:path>
                <a:path w="231775" h="1007110">
                  <a:moveTo>
                    <a:pt x="23677" y="681125"/>
                  </a:moveTo>
                  <a:lnTo>
                    <a:pt x="17424" y="682230"/>
                  </a:lnTo>
                  <a:lnTo>
                    <a:pt x="18529" y="688482"/>
                  </a:lnTo>
                  <a:lnTo>
                    <a:pt x="24781" y="687377"/>
                  </a:lnTo>
                  <a:lnTo>
                    <a:pt x="23677" y="681125"/>
                  </a:lnTo>
                  <a:close/>
                </a:path>
                <a:path w="231775" h="1007110">
                  <a:moveTo>
                    <a:pt x="28943" y="705811"/>
                  </a:moveTo>
                  <a:lnTo>
                    <a:pt x="22750" y="707214"/>
                  </a:lnTo>
                  <a:lnTo>
                    <a:pt x="28426" y="732259"/>
                  </a:lnTo>
                  <a:lnTo>
                    <a:pt x="35214" y="756606"/>
                  </a:lnTo>
                  <a:lnTo>
                    <a:pt x="41330" y="754901"/>
                  </a:lnTo>
                  <a:lnTo>
                    <a:pt x="34606" y="730779"/>
                  </a:lnTo>
                  <a:lnTo>
                    <a:pt x="28943" y="705811"/>
                  </a:lnTo>
                  <a:close/>
                </a:path>
                <a:path w="231775" h="1007110">
                  <a:moveTo>
                    <a:pt x="46465" y="773075"/>
                  </a:moveTo>
                  <a:lnTo>
                    <a:pt x="40444" y="775092"/>
                  </a:lnTo>
                  <a:lnTo>
                    <a:pt x="42461" y="781113"/>
                  </a:lnTo>
                  <a:lnTo>
                    <a:pt x="48482" y="779096"/>
                  </a:lnTo>
                  <a:lnTo>
                    <a:pt x="46465" y="773075"/>
                  </a:lnTo>
                  <a:close/>
                </a:path>
                <a:path w="231775" h="1007110">
                  <a:moveTo>
                    <a:pt x="54531" y="797161"/>
                  </a:moveTo>
                  <a:lnTo>
                    <a:pt x="48510" y="799177"/>
                  </a:lnTo>
                  <a:lnTo>
                    <a:pt x="50527" y="805199"/>
                  </a:lnTo>
                  <a:lnTo>
                    <a:pt x="56548" y="803182"/>
                  </a:lnTo>
                  <a:lnTo>
                    <a:pt x="54531" y="797161"/>
                  </a:lnTo>
                  <a:close/>
                </a:path>
                <a:path w="231775" h="1007110">
                  <a:moveTo>
                    <a:pt x="63101" y="820875"/>
                  </a:moveTo>
                  <a:lnTo>
                    <a:pt x="57199" y="823220"/>
                  </a:lnTo>
                  <a:lnTo>
                    <a:pt x="67727" y="849720"/>
                  </a:lnTo>
                  <a:lnTo>
                    <a:pt x="77282" y="870068"/>
                  </a:lnTo>
                  <a:lnTo>
                    <a:pt x="83028" y="867369"/>
                  </a:lnTo>
                  <a:lnTo>
                    <a:pt x="73600" y="847285"/>
                  </a:lnTo>
                  <a:lnTo>
                    <a:pt x="63101" y="820875"/>
                  </a:lnTo>
                  <a:close/>
                </a:path>
                <a:path w="231775" h="1007110">
                  <a:moveTo>
                    <a:pt x="91290" y="884281"/>
                  </a:moveTo>
                  <a:lnTo>
                    <a:pt x="85742" y="887371"/>
                  </a:lnTo>
                  <a:lnTo>
                    <a:pt x="88832" y="892919"/>
                  </a:lnTo>
                  <a:lnTo>
                    <a:pt x="94380" y="889829"/>
                  </a:lnTo>
                  <a:lnTo>
                    <a:pt x="91290" y="884281"/>
                  </a:lnTo>
                  <a:close/>
                </a:path>
                <a:path w="231775" h="1007110">
                  <a:moveTo>
                    <a:pt x="103649" y="906471"/>
                  </a:moveTo>
                  <a:lnTo>
                    <a:pt x="98102" y="909561"/>
                  </a:lnTo>
                  <a:lnTo>
                    <a:pt x="100612" y="914064"/>
                  </a:lnTo>
                  <a:lnTo>
                    <a:pt x="101419" y="915272"/>
                  </a:lnTo>
                  <a:lnTo>
                    <a:pt x="106697" y="911741"/>
                  </a:lnTo>
                  <a:lnTo>
                    <a:pt x="105961" y="910642"/>
                  </a:lnTo>
                  <a:lnTo>
                    <a:pt x="103649" y="906471"/>
                  </a:lnTo>
                  <a:close/>
                </a:path>
                <a:path w="231775" h="1007110">
                  <a:moveTo>
                    <a:pt x="166448" y="937674"/>
                  </a:moveTo>
                  <a:lnTo>
                    <a:pt x="133901" y="1006572"/>
                  </a:lnTo>
                  <a:lnTo>
                    <a:pt x="219073" y="1004670"/>
                  </a:lnTo>
                  <a:lnTo>
                    <a:pt x="166448" y="937674"/>
                  </a:lnTo>
                  <a:close/>
                </a:path>
                <a:path w="231775" h="1007110">
                  <a:moveTo>
                    <a:pt x="117290" y="927574"/>
                  </a:moveTo>
                  <a:lnTo>
                    <a:pt x="112014" y="931105"/>
                  </a:lnTo>
                  <a:lnTo>
                    <a:pt x="118614" y="940969"/>
                  </a:lnTo>
                  <a:lnTo>
                    <a:pt x="137436" y="963839"/>
                  </a:lnTo>
                  <a:lnTo>
                    <a:pt x="144397" y="970895"/>
                  </a:lnTo>
                  <a:lnTo>
                    <a:pt x="148919" y="966436"/>
                  </a:lnTo>
                  <a:lnTo>
                    <a:pt x="142058" y="959482"/>
                  </a:lnTo>
                  <a:lnTo>
                    <a:pt x="123823" y="937306"/>
                  </a:lnTo>
                  <a:lnTo>
                    <a:pt x="123705" y="937175"/>
                  </a:lnTo>
                  <a:lnTo>
                    <a:pt x="117290" y="927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86806" y="2033328"/>
              <a:ext cx="1477010" cy="325755"/>
            </a:xfrm>
            <a:custGeom>
              <a:avLst/>
              <a:gdLst/>
              <a:ahLst/>
              <a:cxnLst/>
              <a:rect l="l" t="t" r="r" b="b"/>
              <a:pathLst>
                <a:path w="1477010" h="325755">
                  <a:moveTo>
                    <a:pt x="1015524" y="0"/>
                  </a:moveTo>
                  <a:lnTo>
                    <a:pt x="971633" y="2386"/>
                  </a:lnTo>
                  <a:lnTo>
                    <a:pt x="873425" y="19537"/>
                  </a:lnTo>
                  <a:lnTo>
                    <a:pt x="820738" y="22684"/>
                  </a:lnTo>
                  <a:lnTo>
                    <a:pt x="770121" y="21005"/>
                  </a:lnTo>
                  <a:lnTo>
                    <a:pt x="721103" y="16287"/>
                  </a:lnTo>
                  <a:lnTo>
                    <a:pt x="673215" y="10322"/>
                  </a:lnTo>
                  <a:lnTo>
                    <a:pt x="625988" y="4898"/>
                  </a:lnTo>
                  <a:lnTo>
                    <a:pt x="578952" y="1805"/>
                  </a:lnTo>
                  <a:lnTo>
                    <a:pt x="531638" y="2834"/>
                  </a:lnTo>
                  <a:lnTo>
                    <a:pt x="483576" y="9772"/>
                  </a:lnTo>
                  <a:lnTo>
                    <a:pt x="440475" y="17185"/>
                  </a:lnTo>
                  <a:lnTo>
                    <a:pt x="398195" y="21022"/>
                  </a:lnTo>
                  <a:lnTo>
                    <a:pt x="356065" y="22007"/>
                  </a:lnTo>
                  <a:lnTo>
                    <a:pt x="313416" y="20863"/>
                  </a:lnTo>
                  <a:lnTo>
                    <a:pt x="269579" y="18312"/>
                  </a:lnTo>
                  <a:lnTo>
                    <a:pt x="175665" y="11885"/>
                  </a:lnTo>
                  <a:lnTo>
                    <a:pt x="124250" y="9454"/>
                  </a:lnTo>
                  <a:lnTo>
                    <a:pt x="68970" y="8508"/>
                  </a:lnTo>
                  <a:lnTo>
                    <a:pt x="9157" y="9772"/>
                  </a:lnTo>
                  <a:lnTo>
                    <a:pt x="11916" y="47868"/>
                  </a:lnTo>
                  <a:lnTo>
                    <a:pt x="9048" y="95333"/>
                  </a:lnTo>
                  <a:lnTo>
                    <a:pt x="3944" y="148715"/>
                  </a:lnTo>
                  <a:lnTo>
                    <a:pt x="0" y="204563"/>
                  </a:lnTo>
                  <a:lnTo>
                    <a:pt x="606" y="259427"/>
                  </a:lnTo>
                  <a:lnTo>
                    <a:pt x="9157" y="309854"/>
                  </a:lnTo>
                  <a:lnTo>
                    <a:pt x="73410" y="308747"/>
                  </a:lnTo>
                  <a:lnTo>
                    <a:pt x="126803" y="310144"/>
                  </a:lnTo>
                  <a:lnTo>
                    <a:pt x="172130" y="313199"/>
                  </a:lnTo>
                  <a:lnTo>
                    <a:pt x="249761" y="320893"/>
                  </a:lnTo>
                  <a:lnTo>
                    <a:pt x="287653" y="323838"/>
                  </a:lnTo>
                  <a:lnTo>
                    <a:pt x="328654" y="325054"/>
                  </a:lnTo>
                  <a:lnTo>
                    <a:pt x="375557" y="323693"/>
                  </a:lnTo>
                  <a:lnTo>
                    <a:pt x="431158" y="318909"/>
                  </a:lnTo>
                  <a:lnTo>
                    <a:pt x="498249" y="309854"/>
                  </a:lnTo>
                  <a:lnTo>
                    <a:pt x="562849" y="301950"/>
                  </a:lnTo>
                  <a:lnTo>
                    <a:pt x="622785" y="298464"/>
                  </a:lnTo>
                  <a:lnTo>
                    <a:pt x="678448" y="298450"/>
                  </a:lnTo>
                  <a:lnTo>
                    <a:pt x="730227" y="300964"/>
                  </a:lnTo>
                  <a:lnTo>
                    <a:pt x="778512" y="305058"/>
                  </a:lnTo>
                  <a:lnTo>
                    <a:pt x="866161" y="314206"/>
                  </a:lnTo>
                  <a:lnTo>
                    <a:pt x="906304" y="317368"/>
                  </a:lnTo>
                  <a:lnTo>
                    <a:pt x="944512" y="318327"/>
                  </a:lnTo>
                  <a:lnTo>
                    <a:pt x="981176" y="316138"/>
                  </a:lnTo>
                  <a:lnTo>
                    <a:pt x="1016686" y="309854"/>
                  </a:lnTo>
                  <a:lnTo>
                    <a:pt x="1055123" y="303455"/>
                  </a:lnTo>
                  <a:lnTo>
                    <a:pt x="1093683" y="302318"/>
                  </a:lnTo>
                  <a:lnTo>
                    <a:pt x="1132949" y="305005"/>
                  </a:lnTo>
                  <a:lnTo>
                    <a:pt x="1173502" y="310073"/>
                  </a:lnTo>
                  <a:lnTo>
                    <a:pt x="1215924" y="316084"/>
                  </a:lnTo>
                  <a:lnTo>
                    <a:pt x="1260797" y="321596"/>
                  </a:lnTo>
                  <a:lnTo>
                    <a:pt x="1308703" y="325169"/>
                  </a:lnTo>
                  <a:lnTo>
                    <a:pt x="1360222" y="325364"/>
                  </a:lnTo>
                  <a:lnTo>
                    <a:pt x="1415939" y="320739"/>
                  </a:lnTo>
                  <a:lnTo>
                    <a:pt x="1476432" y="309854"/>
                  </a:lnTo>
                  <a:lnTo>
                    <a:pt x="1466222" y="243789"/>
                  </a:lnTo>
                  <a:lnTo>
                    <a:pt x="1464044" y="189914"/>
                  </a:lnTo>
                  <a:lnTo>
                    <a:pt x="1466938" y="143902"/>
                  </a:lnTo>
                  <a:lnTo>
                    <a:pt x="1471941" y="101425"/>
                  </a:lnTo>
                  <a:lnTo>
                    <a:pt x="1476093" y="58158"/>
                  </a:lnTo>
                  <a:lnTo>
                    <a:pt x="1476432" y="9772"/>
                  </a:lnTo>
                  <a:lnTo>
                    <a:pt x="1430444" y="22501"/>
                  </a:lnTo>
                  <a:lnTo>
                    <a:pt x="1384094" y="29259"/>
                  </a:lnTo>
                  <a:lnTo>
                    <a:pt x="1337511" y="31141"/>
                  </a:lnTo>
                  <a:lnTo>
                    <a:pt x="1290820" y="29247"/>
                  </a:lnTo>
                  <a:lnTo>
                    <a:pt x="1244149" y="24672"/>
                  </a:lnTo>
                  <a:lnTo>
                    <a:pt x="1197624" y="18515"/>
                  </a:lnTo>
                  <a:lnTo>
                    <a:pt x="1151372" y="11871"/>
                  </a:lnTo>
                  <a:lnTo>
                    <a:pt x="1105521" y="5840"/>
                  </a:lnTo>
                  <a:lnTo>
                    <a:pt x="1060196" y="1517"/>
                  </a:lnTo>
                  <a:lnTo>
                    <a:pt x="101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218741" y="1918715"/>
            <a:ext cx="936625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15570" marR="5080" indent="-103505">
              <a:lnSpc>
                <a:spcPts val="1610"/>
              </a:lnSpc>
              <a:spcBef>
                <a:spcPts val="210"/>
              </a:spcBef>
            </a:pPr>
            <a:r>
              <a:rPr dirty="0" sz="1400" spc="-35">
                <a:latin typeface="Century Gothic"/>
                <a:cs typeface="Century Gothic"/>
              </a:rPr>
              <a:t>Investment </a:t>
            </a:r>
            <a:r>
              <a:rPr dirty="0" sz="1400" spc="-10">
                <a:latin typeface="Century Gothic"/>
                <a:cs typeface="Century Gothic"/>
              </a:rPr>
              <a:t>Decision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27938" y="2061971"/>
            <a:ext cx="12058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Century Gothic"/>
                <a:cs typeface="Century Gothic"/>
              </a:rPr>
              <a:t>Complements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7278" y="3902964"/>
            <a:ext cx="182816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entury Gothic"/>
                <a:cs typeface="Century Gothic"/>
              </a:rPr>
              <a:t>Active</a:t>
            </a:r>
            <a:r>
              <a:rPr dirty="0" sz="1400" spc="-60">
                <a:latin typeface="Century Gothic"/>
                <a:cs typeface="Century Gothic"/>
              </a:rPr>
              <a:t> </a:t>
            </a:r>
            <a:r>
              <a:rPr dirty="0" sz="1400" spc="-20">
                <a:latin typeface="Century Gothic"/>
                <a:cs typeface="Century Gothic"/>
              </a:rPr>
              <a:t>Retail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Investors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09650" y="1138205"/>
            <a:ext cx="1748789" cy="542925"/>
          </a:xfrm>
          <a:custGeom>
            <a:avLst/>
            <a:gdLst/>
            <a:ahLst/>
            <a:cxnLst/>
            <a:rect l="l" t="t" r="r" b="b"/>
            <a:pathLst>
              <a:path w="1748789" h="542925">
                <a:moveTo>
                  <a:pt x="721992" y="0"/>
                </a:moveTo>
                <a:lnTo>
                  <a:pt x="680812" y="200"/>
                </a:lnTo>
                <a:lnTo>
                  <a:pt x="642446" y="3202"/>
                </a:lnTo>
                <a:lnTo>
                  <a:pt x="606815" y="9679"/>
                </a:lnTo>
                <a:lnTo>
                  <a:pt x="573843" y="20306"/>
                </a:lnTo>
                <a:lnTo>
                  <a:pt x="542862" y="29096"/>
                </a:lnTo>
                <a:lnTo>
                  <a:pt x="508168" y="32521"/>
                </a:lnTo>
                <a:lnTo>
                  <a:pt x="470035" y="31710"/>
                </a:lnTo>
                <a:lnTo>
                  <a:pt x="428741" y="27794"/>
                </a:lnTo>
                <a:lnTo>
                  <a:pt x="384560" y="21903"/>
                </a:lnTo>
                <a:lnTo>
                  <a:pt x="337771" y="15167"/>
                </a:lnTo>
                <a:lnTo>
                  <a:pt x="288649" y="8717"/>
                </a:lnTo>
                <a:lnTo>
                  <a:pt x="237470" y="3682"/>
                </a:lnTo>
                <a:lnTo>
                  <a:pt x="184510" y="1193"/>
                </a:lnTo>
                <a:lnTo>
                  <a:pt x="130046" y="2381"/>
                </a:lnTo>
                <a:lnTo>
                  <a:pt x="74354" y="8375"/>
                </a:lnTo>
                <a:lnTo>
                  <a:pt x="17711" y="20306"/>
                </a:lnTo>
                <a:lnTo>
                  <a:pt x="18567" y="81158"/>
                </a:lnTo>
                <a:lnTo>
                  <a:pt x="16730" y="140478"/>
                </a:lnTo>
                <a:lnTo>
                  <a:pt x="13139" y="198002"/>
                </a:lnTo>
                <a:lnTo>
                  <a:pt x="4447" y="306600"/>
                </a:lnTo>
                <a:lnTo>
                  <a:pt x="1223" y="357146"/>
                </a:lnTo>
                <a:lnTo>
                  <a:pt x="0" y="404837"/>
                </a:lnTo>
                <a:lnTo>
                  <a:pt x="1714" y="449409"/>
                </a:lnTo>
                <a:lnTo>
                  <a:pt x="7305" y="490597"/>
                </a:lnTo>
                <a:lnTo>
                  <a:pt x="17711" y="528137"/>
                </a:lnTo>
                <a:lnTo>
                  <a:pt x="61905" y="527415"/>
                </a:lnTo>
                <a:lnTo>
                  <a:pt x="107075" y="528579"/>
                </a:lnTo>
                <a:lnTo>
                  <a:pt x="153426" y="531047"/>
                </a:lnTo>
                <a:lnTo>
                  <a:pt x="250478" y="537577"/>
                </a:lnTo>
                <a:lnTo>
                  <a:pt x="301585" y="540479"/>
                </a:lnTo>
                <a:lnTo>
                  <a:pt x="354683" y="542364"/>
                </a:lnTo>
                <a:lnTo>
                  <a:pt x="409975" y="542652"/>
                </a:lnTo>
                <a:lnTo>
                  <a:pt x="467663" y="540764"/>
                </a:lnTo>
                <a:lnTo>
                  <a:pt x="527952" y="536119"/>
                </a:lnTo>
                <a:lnTo>
                  <a:pt x="591042" y="528137"/>
                </a:lnTo>
                <a:lnTo>
                  <a:pt x="643572" y="521788"/>
                </a:lnTo>
                <a:lnTo>
                  <a:pt x="692403" y="518953"/>
                </a:lnTo>
                <a:lnTo>
                  <a:pt x="738282" y="518963"/>
                </a:lnTo>
                <a:lnTo>
                  <a:pt x="781954" y="521148"/>
                </a:lnTo>
                <a:lnTo>
                  <a:pt x="824166" y="524837"/>
                </a:lnTo>
                <a:lnTo>
                  <a:pt x="907191" y="534051"/>
                </a:lnTo>
                <a:lnTo>
                  <a:pt x="949495" y="538235"/>
                </a:lnTo>
                <a:lnTo>
                  <a:pt x="993322" y="541245"/>
                </a:lnTo>
                <a:lnTo>
                  <a:pt x="1039418" y="542410"/>
                </a:lnTo>
                <a:lnTo>
                  <a:pt x="1088528" y="541060"/>
                </a:lnTo>
                <a:lnTo>
                  <a:pt x="1141397" y="536526"/>
                </a:lnTo>
                <a:lnTo>
                  <a:pt x="1265018" y="518488"/>
                </a:lnTo>
                <a:lnTo>
                  <a:pt x="1323244" y="513783"/>
                </a:lnTo>
                <a:lnTo>
                  <a:pt x="1374972" y="513017"/>
                </a:lnTo>
                <a:lnTo>
                  <a:pt x="1421727" y="515185"/>
                </a:lnTo>
                <a:lnTo>
                  <a:pt x="1465031" y="519283"/>
                </a:lnTo>
                <a:lnTo>
                  <a:pt x="1547382" y="529250"/>
                </a:lnTo>
                <a:lnTo>
                  <a:pt x="1589475" y="533109"/>
                </a:lnTo>
                <a:lnTo>
                  <a:pt x="1634211" y="534880"/>
                </a:lnTo>
                <a:lnTo>
                  <a:pt x="1683113" y="533558"/>
                </a:lnTo>
                <a:lnTo>
                  <a:pt x="1737704" y="528137"/>
                </a:lnTo>
                <a:lnTo>
                  <a:pt x="1731906" y="472163"/>
                </a:lnTo>
                <a:lnTo>
                  <a:pt x="1730439" y="419350"/>
                </a:lnTo>
                <a:lnTo>
                  <a:pt x="1732162" y="368945"/>
                </a:lnTo>
                <a:lnTo>
                  <a:pt x="1735935" y="320196"/>
                </a:lnTo>
                <a:lnTo>
                  <a:pt x="1745063" y="224652"/>
                </a:lnTo>
                <a:lnTo>
                  <a:pt x="1748137" y="176352"/>
                </a:lnTo>
                <a:lnTo>
                  <a:pt x="1748695" y="126696"/>
                </a:lnTo>
                <a:lnTo>
                  <a:pt x="1745598" y="74931"/>
                </a:lnTo>
                <a:lnTo>
                  <a:pt x="1737704" y="20306"/>
                </a:lnTo>
                <a:lnTo>
                  <a:pt x="1705127" y="29073"/>
                </a:lnTo>
                <a:lnTo>
                  <a:pt x="1667939" y="34958"/>
                </a:lnTo>
                <a:lnTo>
                  <a:pt x="1626635" y="38348"/>
                </a:lnTo>
                <a:lnTo>
                  <a:pt x="1581706" y="39631"/>
                </a:lnTo>
                <a:lnTo>
                  <a:pt x="1533645" y="39195"/>
                </a:lnTo>
                <a:lnTo>
                  <a:pt x="1482946" y="37426"/>
                </a:lnTo>
                <a:lnTo>
                  <a:pt x="1430101" y="34713"/>
                </a:lnTo>
                <a:lnTo>
                  <a:pt x="1319945" y="28004"/>
                </a:lnTo>
                <a:lnTo>
                  <a:pt x="1263620" y="24783"/>
                </a:lnTo>
                <a:lnTo>
                  <a:pt x="1207122" y="22168"/>
                </a:lnTo>
                <a:lnTo>
                  <a:pt x="1150942" y="20546"/>
                </a:lnTo>
                <a:lnTo>
                  <a:pt x="1032518" y="19803"/>
                </a:lnTo>
                <a:lnTo>
                  <a:pt x="972821" y="17376"/>
                </a:lnTo>
                <a:lnTo>
                  <a:pt x="916405" y="13700"/>
                </a:lnTo>
                <a:lnTo>
                  <a:pt x="813104" y="5299"/>
                </a:lnTo>
                <a:lnTo>
                  <a:pt x="766063" y="1924"/>
                </a:lnTo>
                <a:lnTo>
                  <a:pt x="7219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587270" y="1178052"/>
            <a:ext cx="1404620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73660" marR="5080" indent="-61594">
              <a:lnSpc>
                <a:spcPts val="1610"/>
              </a:lnSpc>
              <a:spcBef>
                <a:spcPts val="210"/>
              </a:spcBef>
            </a:pPr>
            <a:r>
              <a:rPr dirty="0" sz="1400">
                <a:latin typeface="Century Gothic"/>
                <a:cs typeface="Century Gothic"/>
              </a:rPr>
              <a:t>A</a:t>
            </a:r>
            <a:r>
              <a:rPr dirty="0" sz="1400" spc="-65">
                <a:latin typeface="Century Gothic"/>
                <a:cs typeface="Century Gothic"/>
              </a:rPr>
              <a:t> </a:t>
            </a:r>
            <a:r>
              <a:rPr dirty="0" sz="1400" spc="-30">
                <a:latin typeface="Century Gothic"/>
                <a:cs typeface="Century Gothic"/>
              </a:rPr>
              <a:t>representative </a:t>
            </a:r>
            <a:r>
              <a:rPr dirty="0" sz="1400" spc="-25">
                <a:latin typeface="Century Gothic"/>
                <a:cs typeface="Century Gothic"/>
              </a:rPr>
              <a:t>rational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traders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97637" y="4183841"/>
            <a:ext cx="1176655" cy="1435735"/>
            <a:chOff x="4697637" y="4183841"/>
            <a:chExt cx="1176655" cy="143573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7637" y="4183841"/>
              <a:ext cx="1176042" cy="71450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7638" y="4904690"/>
              <a:ext cx="1136937" cy="714504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9704617" y="1968540"/>
            <a:ext cx="224790" cy="321945"/>
            <a:chOff x="9704617" y="1968540"/>
            <a:chExt cx="224790" cy="321945"/>
          </a:xfrm>
        </p:grpSpPr>
        <p:sp>
          <p:nvSpPr>
            <p:cNvPr id="44" name="object 44"/>
            <p:cNvSpPr/>
            <p:nvPr/>
          </p:nvSpPr>
          <p:spPr>
            <a:xfrm>
              <a:off x="9710967" y="1974890"/>
              <a:ext cx="212090" cy="309245"/>
            </a:xfrm>
            <a:custGeom>
              <a:avLst/>
              <a:gdLst/>
              <a:ahLst/>
              <a:cxnLst/>
              <a:rect l="l" t="t" r="r" b="b"/>
              <a:pathLst>
                <a:path w="212090" h="309244">
                  <a:moveTo>
                    <a:pt x="105877" y="0"/>
                  </a:moveTo>
                  <a:lnTo>
                    <a:pt x="0" y="105878"/>
                  </a:lnTo>
                  <a:lnTo>
                    <a:pt x="52938" y="105878"/>
                  </a:lnTo>
                  <a:lnTo>
                    <a:pt x="52938" y="309074"/>
                  </a:lnTo>
                  <a:lnTo>
                    <a:pt x="158816" y="309074"/>
                  </a:lnTo>
                  <a:lnTo>
                    <a:pt x="158816" y="105878"/>
                  </a:lnTo>
                  <a:lnTo>
                    <a:pt x="211755" y="105878"/>
                  </a:lnTo>
                  <a:lnTo>
                    <a:pt x="10587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710967" y="1974890"/>
              <a:ext cx="212090" cy="309245"/>
            </a:xfrm>
            <a:custGeom>
              <a:avLst/>
              <a:gdLst/>
              <a:ahLst/>
              <a:cxnLst/>
              <a:rect l="l" t="t" r="r" b="b"/>
              <a:pathLst>
                <a:path w="212090" h="309244">
                  <a:moveTo>
                    <a:pt x="211756" y="105877"/>
                  </a:moveTo>
                  <a:lnTo>
                    <a:pt x="158817" y="105877"/>
                  </a:lnTo>
                  <a:lnTo>
                    <a:pt x="158817" y="309075"/>
                  </a:lnTo>
                  <a:lnTo>
                    <a:pt x="52938" y="309075"/>
                  </a:lnTo>
                  <a:lnTo>
                    <a:pt x="52938" y="105877"/>
                  </a:lnTo>
                  <a:lnTo>
                    <a:pt x="0" y="105877"/>
                  </a:lnTo>
                  <a:lnTo>
                    <a:pt x="105877" y="0"/>
                  </a:lnTo>
                  <a:lnTo>
                    <a:pt x="211756" y="105877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29278" y="4544156"/>
            <a:ext cx="429999" cy="429999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758" rIns="0" bIns="0" rtlCol="0" vert="horz">
            <a:spAutoFit/>
          </a:bodyPr>
          <a:lstStyle/>
          <a:p>
            <a:pPr marL="436245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Retail</a:t>
            </a:r>
            <a:r>
              <a:rPr dirty="0" sz="4000" spc="-55"/>
              <a:t> </a:t>
            </a:r>
            <a:r>
              <a:rPr dirty="0" sz="4000"/>
              <a:t>trading</a:t>
            </a:r>
            <a:r>
              <a:rPr dirty="0" sz="4000" spc="-55"/>
              <a:t> </a:t>
            </a:r>
            <a:r>
              <a:rPr dirty="0" sz="4000"/>
              <a:t>volumes</a:t>
            </a:r>
            <a:r>
              <a:rPr dirty="0" sz="4000" spc="-55"/>
              <a:t> </a:t>
            </a:r>
            <a:r>
              <a:rPr dirty="0" sz="4000"/>
              <a:t>around</a:t>
            </a:r>
            <a:r>
              <a:rPr dirty="0" sz="4000" spc="-50"/>
              <a:t> </a:t>
            </a:r>
            <a:r>
              <a:rPr dirty="0" sz="4000"/>
              <a:t>the</a:t>
            </a:r>
            <a:r>
              <a:rPr dirty="0" sz="4000" spc="-50"/>
              <a:t> </a:t>
            </a:r>
            <a:r>
              <a:rPr dirty="0" sz="4000" spc="-10"/>
              <a:t>Yahoo! </a:t>
            </a:r>
            <a:r>
              <a:rPr dirty="0" sz="4000"/>
              <a:t>Finance</a:t>
            </a:r>
            <a:r>
              <a:rPr dirty="0" sz="4000" spc="-50"/>
              <a:t> </a:t>
            </a:r>
            <a:r>
              <a:rPr dirty="0" sz="4000"/>
              <a:t>API</a:t>
            </a:r>
            <a:r>
              <a:rPr dirty="0" sz="4000" spc="-50"/>
              <a:t> </a:t>
            </a:r>
            <a:r>
              <a:rPr dirty="0" sz="4000" spc="-10"/>
              <a:t>shutdown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3195016" y="1885694"/>
            <a:ext cx="5533390" cy="3484245"/>
            <a:chOff x="3195016" y="1885694"/>
            <a:chExt cx="5533390" cy="3484245"/>
          </a:xfrm>
        </p:grpSpPr>
        <p:sp>
          <p:nvSpPr>
            <p:cNvPr id="4" name="object 4"/>
            <p:cNvSpPr/>
            <p:nvPr/>
          </p:nvSpPr>
          <p:spPr>
            <a:xfrm>
              <a:off x="3254152" y="2326396"/>
              <a:ext cx="5311775" cy="2883535"/>
            </a:xfrm>
            <a:custGeom>
              <a:avLst/>
              <a:gdLst/>
              <a:ahLst/>
              <a:cxnLst/>
              <a:rect l="l" t="t" r="r" b="b"/>
              <a:pathLst>
                <a:path w="5311775" h="2883535">
                  <a:moveTo>
                    <a:pt x="0" y="2883144"/>
                  </a:moveTo>
                  <a:lnTo>
                    <a:pt x="5311572" y="2883144"/>
                  </a:lnTo>
                </a:path>
                <a:path w="5311775" h="2883535">
                  <a:moveTo>
                    <a:pt x="0" y="2162273"/>
                  </a:moveTo>
                  <a:lnTo>
                    <a:pt x="5311572" y="2162273"/>
                  </a:lnTo>
                </a:path>
                <a:path w="5311775" h="2883535">
                  <a:moveTo>
                    <a:pt x="0" y="1441463"/>
                  </a:moveTo>
                  <a:lnTo>
                    <a:pt x="5311572" y="1441463"/>
                  </a:lnTo>
                </a:path>
                <a:path w="5311775" h="2883535">
                  <a:moveTo>
                    <a:pt x="0" y="720809"/>
                  </a:moveTo>
                  <a:lnTo>
                    <a:pt x="5311572" y="720809"/>
                  </a:lnTo>
                </a:path>
                <a:path w="5311775" h="2883535">
                  <a:moveTo>
                    <a:pt x="0" y="0"/>
                  </a:moveTo>
                  <a:lnTo>
                    <a:pt x="5311572" y="0"/>
                  </a:lnTo>
                </a:path>
              </a:pathLst>
            </a:custGeom>
            <a:ln w="13085">
              <a:solidFill>
                <a:srgbClr val="EAF2F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09938" y="2139606"/>
              <a:ext cx="0" cy="3168015"/>
            </a:xfrm>
            <a:custGeom>
              <a:avLst/>
              <a:gdLst/>
              <a:ahLst/>
              <a:cxnLst/>
              <a:rect l="l" t="t" r="r" b="b"/>
              <a:pathLst>
                <a:path w="0" h="3168015">
                  <a:moveTo>
                    <a:pt x="0" y="0"/>
                  </a:moveTo>
                  <a:lnTo>
                    <a:pt x="0" y="3167918"/>
                  </a:lnTo>
                </a:path>
              </a:pathLst>
            </a:custGeom>
            <a:ln w="12781">
              <a:solidFill>
                <a:srgbClr val="80808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33202" y="2216647"/>
              <a:ext cx="4953635" cy="1150620"/>
            </a:xfrm>
            <a:custGeom>
              <a:avLst/>
              <a:gdLst/>
              <a:ahLst/>
              <a:cxnLst/>
              <a:rect l="l" t="t" r="r" b="b"/>
              <a:pathLst>
                <a:path w="4953634" h="1150620">
                  <a:moveTo>
                    <a:pt x="0" y="763592"/>
                  </a:moveTo>
                  <a:lnTo>
                    <a:pt x="85314" y="924651"/>
                  </a:lnTo>
                  <a:lnTo>
                    <a:pt x="170822" y="844819"/>
                  </a:lnTo>
                  <a:lnTo>
                    <a:pt x="256137" y="673995"/>
                  </a:lnTo>
                  <a:lnTo>
                    <a:pt x="341629" y="829008"/>
                  </a:lnTo>
                  <a:lnTo>
                    <a:pt x="597766" y="577112"/>
                  </a:lnTo>
                  <a:lnTo>
                    <a:pt x="683258" y="194386"/>
                  </a:lnTo>
                  <a:lnTo>
                    <a:pt x="768573" y="420394"/>
                  </a:lnTo>
                  <a:lnTo>
                    <a:pt x="854066" y="487050"/>
                  </a:lnTo>
                  <a:lnTo>
                    <a:pt x="939440" y="736465"/>
                  </a:lnTo>
                  <a:lnTo>
                    <a:pt x="1195754" y="656014"/>
                  </a:lnTo>
                  <a:lnTo>
                    <a:pt x="1280995" y="418844"/>
                  </a:lnTo>
                  <a:lnTo>
                    <a:pt x="1366532" y="584863"/>
                  </a:lnTo>
                  <a:lnTo>
                    <a:pt x="1451773" y="261041"/>
                  </a:lnTo>
                  <a:lnTo>
                    <a:pt x="1537162" y="344903"/>
                  </a:lnTo>
                  <a:lnTo>
                    <a:pt x="1793476" y="529213"/>
                  </a:lnTo>
                  <a:lnTo>
                    <a:pt x="1878717" y="55184"/>
                  </a:lnTo>
                  <a:lnTo>
                    <a:pt x="1964254" y="0"/>
                  </a:lnTo>
                  <a:lnTo>
                    <a:pt x="2049643" y="255926"/>
                  </a:lnTo>
                  <a:lnTo>
                    <a:pt x="2135032" y="194075"/>
                  </a:lnTo>
                  <a:lnTo>
                    <a:pt x="2391199" y="292664"/>
                  </a:lnTo>
                  <a:lnTo>
                    <a:pt x="2476735" y="177954"/>
                  </a:lnTo>
                  <a:lnTo>
                    <a:pt x="2561976" y="417604"/>
                  </a:lnTo>
                  <a:lnTo>
                    <a:pt x="2647513" y="816452"/>
                  </a:lnTo>
                  <a:lnTo>
                    <a:pt x="2732902" y="801726"/>
                  </a:lnTo>
                  <a:lnTo>
                    <a:pt x="2989069" y="704533"/>
                  </a:lnTo>
                  <a:lnTo>
                    <a:pt x="3074457" y="968674"/>
                  </a:lnTo>
                  <a:lnTo>
                    <a:pt x="3159994" y="881557"/>
                  </a:lnTo>
                  <a:lnTo>
                    <a:pt x="3245235" y="779249"/>
                  </a:lnTo>
                  <a:lnTo>
                    <a:pt x="3330624" y="1150349"/>
                  </a:lnTo>
                  <a:lnTo>
                    <a:pt x="3672180" y="809166"/>
                  </a:lnTo>
                  <a:lnTo>
                    <a:pt x="3757716" y="851795"/>
                  </a:lnTo>
                  <a:lnTo>
                    <a:pt x="3842957" y="715693"/>
                  </a:lnTo>
                  <a:lnTo>
                    <a:pt x="3928494" y="876907"/>
                  </a:lnTo>
                  <a:lnTo>
                    <a:pt x="4184661" y="976735"/>
                  </a:lnTo>
                  <a:lnTo>
                    <a:pt x="4270198" y="857840"/>
                  </a:lnTo>
                  <a:lnTo>
                    <a:pt x="4355438" y="901244"/>
                  </a:lnTo>
                  <a:lnTo>
                    <a:pt x="4440975" y="858305"/>
                  </a:lnTo>
                  <a:lnTo>
                    <a:pt x="4526216" y="520067"/>
                  </a:lnTo>
                  <a:lnTo>
                    <a:pt x="4782531" y="1033780"/>
                  </a:lnTo>
                  <a:lnTo>
                    <a:pt x="4867920" y="1112681"/>
                  </a:lnTo>
                  <a:lnTo>
                    <a:pt x="4953456" y="1072998"/>
                  </a:lnTo>
                </a:path>
              </a:pathLst>
            </a:custGeom>
            <a:ln w="13357">
              <a:solidFill>
                <a:srgbClr val="1A476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33202" y="4145316"/>
              <a:ext cx="1748155" cy="909319"/>
            </a:xfrm>
            <a:custGeom>
              <a:avLst/>
              <a:gdLst/>
              <a:ahLst/>
              <a:cxnLst/>
              <a:rect l="l" t="t" r="r" b="b"/>
              <a:pathLst>
                <a:path w="1748154" h="909320">
                  <a:moveTo>
                    <a:pt x="0" y="908901"/>
                  </a:moveTo>
                  <a:lnTo>
                    <a:pt x="82577" y="887246"/>
                  </a:lnTo>
                </a:path>
                <a:path w="1748154" h="909320">
                  <a:moveTo>
                    <a:pt x="101253" y="848307"/>
                  </a:moveTo>
                  <a:lnTo>
                    <a:pt x="135305" y="766429"/>
                  </a:lnTo>
                </a:path>
                <a:path w="1748154" h="909320">
                  <a:moveTo>
                    <a:pt x="152323" y="725583"/>
                  </a:moveTo>
                  <a:lnTo>
                    <a:pt x="170822" y="680909"/>
                  </a:lnTo>
                </a:path>
                <a:path w="1748154" h="909320">
                  <a:moveTo>
                    <a:pt x="170822" y="680909"/>
                  </a:moveTo>
                  <a:lnTo>
                    <a:pt x="200656" y="655021"/>
                  </a:lnTo>
                </a:path>
                <a:path w="1748154" h="909320">
                  <a:moveTo>
                    <a:pt x="233243" y="626453"/>
                  </a:moveTo>
                  <a:lnTo>
                    <a:pt x="256137" y="606502"/>
                  </a:lnTo>
                </a:path>
                <a:path w="1748154" h="909320">
                  <a:moveTo>
                    <a:pt x="256137" y="606502"/>
                  </a:moveTo>
                  <a:lnTo>
                    <a:pt x="282316" y="657905"/>
                  </a:lnTo>
                </a:path>
                <a:path w="1748154" h="909320">
                  <a:moveTo>
                    <a:pt x="302264" y="697216"/>
                  </a:moveTo>
                  <a:lnTo>
                    <a:pt x="341629" y="774490"/>
                  </a:lnTo>
                </a:path>
                <a:path w="1748154" h="909320">
                  <a:moveTo>
                    <a:pt x="341629" y="774490"/>
                  </a:moveTo>
                  <a:lnTo>
                    <a:pt x="342916" y="773529"/>
                  </a:lnTo>
                </a:path>
                <a:path w="1748154" h="909320">
                  <a:moveTo>
                    <a:pt x="377516" y="747456"/>
                  </a:moveTo>
                  <a:lnTo>
                    <a:pt x="446537" y="695294"/>
                  </a:lnTo>
                </a:path>
                <a:path w="1748154" h="909320">
                  <a:moveTo>
                    <a:pt x="481137" y="669221"/>
                  </a:moveTo>
                  <a:lnTo>
                    <a:pt x="550336" y="616857"/>
                  </a:lnTo>
                </a:path>
                <a:path w="1748154" h="909320">
                  <a:moveTo>
                    <a:pt x="584950" y="590784"/>
                  </a:moveTo>
                  <a:lnTo>
                    <a:pt x="597766" y="581204"/>
                  </a:lnTo>
                </a:path>
                <a:path w="1748154" h="909320">
                  <a:moveTo>
                    <a:pt x="597766" y="581204"/>
                  </a:moveTo>
                  <a:lnTo>
                    <a:pt x="621192" y="512735"/>
                  </a:lnTo>
                </a:path>
                <a:path w="1748154" h="909320">
                  <a:moveTo>
                    <a:pt x="635651" y="470742"/>
                  </a:moveTo>
                  <a:lnTo>
                    <a:pt x="664405" y="386756"/>
                  </a:lnTo>
                </a:path>
                <a:path w="1748154" h="909320">
                  <a:moveTo>
                    <a:pt x="678863" y="344748"/>
                  </a:moveTo>
                  <a:lnTo>
                    <a:pt x="683258" y="331727"/>
                  </a:lnTo>
                </a:path>
                <a:path w="1748154" h="909320">
                  <a:moveTo>
                    <a:pt x="683258" y="331727"/>
                  </a:moveTo>
                  <a:lnTo>
                    <a:pt x="738369" y="380246"/>
                  </a:lnTo>
                </a:path>
                <a:path w="1748154" h="909320">
                  <a:moveTo>
                    <a:pt x="771503" y="405668"/>
                  </a:moveTo>
                  <a:lnTo>
                    <a:pt x="850958" y="373115"/>
                  </a:lnTo>
                </a:path>
                <a:path w="1748154" h="909320">
                  <a:moveTo>
                    <a:pt x="873112" y="407683"/>
                  </a:moveTo>
                  <a:lnTo>
                    <a:pt x="914430" y="485701"/>
                  </a:lnTo>
                </a:path>
                <a:path w="1748154" h="909320">
                  <a:moveTo>
                    <a:pt x="935148" y="524625"/>
                  </a:moveTo>
                  <a:lnTo>
                    <a:pt x="939440" y="532499"/>
                  </a:lnTo>
                </a:path>
                <a:path w="1748154" h="909320">
                  <a:moveTo>
                    <a:pt x="939440" y="532499"/>
                  </a:moveTo>
                  <a:lnTo>
                    <a:pt x="1015949" y="536328"/>
                  </a:lnTo>
                </a:path>
                <a:path w="1748154" h="909320">
                  <a:moveTo>
                    <a:pt x="1058570" y="538436"/>
                  </a:moveTo>
                  <a:lnTo>
                    <a:pt x="1143663" y="542653"/>
                  </a:lnTo>
                </a:path>
                <a:path w="1748154" h="909320">
                  <a:moveTo>
                    <a:pt x="1186135" y="544761"/>
                  </a:moveTo>
                  <a:lnTo>
                    <a:pt x="1195754" y="545334"/>
                  </a:lnTo>
                </a:path>
                <a:path w="1748154" h="909320">
                  <a:moveTo>
                    <a:pt x="1195754" y="545334"/>
                  </a:moveTo>
                  <a:lnTo>
                    <a:pt x="1217065" y="469409"/>
                  </a:lnTo>
                </a:path>
                <a:path w="1748154" h="909320">
                  <a:moveTo>
                    <a:pt x="1229200" y="426595"/>
                  </a:moveTo>
                  <a:lnTo>
                    <a:pt x="1253618" y="341183"/>
                  </a:lnTo>
                </a:path>
                <a:path w="1748154" h="909320">
                  <a:moveTo>
                    <a:pt x="1265605" y="298244"/>
                  </a:moveTo>
                  <a:lnTo>
                    <a:pt x="1280995" y="244145"/>
                  </a:lnTo>
                </a:path>
                <a:path w="1748154" h="909320">
                  <a:moveTo>
                    <a:pt x="1280995" y="244145"/>
                  </a:moveTo>
                  <a:lnTo>
                    <a:pt x="1309705" y="256701"/>
                  </a:lnTo>
                </a:path>
                <a:path w="1748154" h="909320">
                  <a:moveTo>
                    <a:pt x="1348922" y="274217"/>
                  </a:moveTo>
                  <a:lnTo>
                    <a:pt x="1366532" y="282123"/>
                  </a:lnTo>
                </a:path>
                <a:path w="1748154" h="909320">
                  <a:moveTo>
                    <a:pt x="1366532" y="282123"/>
                  </a:moveTo>
                  <a:lnTo>
                    <a:pt x="1386510" y="216242"/>
                  </a:lnTo>
                </a:path>
                <a:path w="1748154" h="909320">
                  <a:moveTo>
                    <a:pt x="1399237" y="173769"/>
                  </a:moveTo>
                  <a:lnTo>
                    <a:pt x="1425135" y="88512"/>
                  </a:lnTo>
                </a:path>
                <a:path w="1748154" h="909320">
                  <a:moveTo>
                    <a:pt x="1437862" y="46038"/>
                  </a:moveTo>
                  <a:lnTo>
                    <a:pt x="1451773" y="0"/>
                  </a:lnTo>
                </a:path>
                <a:path w="1748154" h="909320">
                  <a:moveTo>
                    <a:pt x="1451773" y="0"/>
                  </a:moveTo>
                  <a:lnTo>
                    <a:pt x="1467904" y="37358"/>
                  </a:lnTo>
                </a:path>
                <a:path w="1748154" h="909320">
                  <a:moveTo>
                    <a:pt x="1485366" y="77971"/>
                  </a:moveTo>
                  <a:lnTo>
                    <a:pt x="1520143" y="159508"/>
                  </a:lnTo>
                </a:path>
                <a:path w="1748154" h="909320">
                  <a:moveTo>
                    <a:pt x="1538198" y="199346"/>
                  </a:moveTo>
                  <a:lnTo>
                    <a:pt x="1621959" y="215777"/>
                  </a:lnTo>
                </a:path>
                <a:path w="1748154" h="909320">
                  <a:moveTo>
                    <a:pt x="1663839" y="223993"/>
                  </a:moveTo>
                  <a:lnTo>
                    <a:pt x="1747748" y="240269"/>
                  </a:lnTo>
                </a:path>
              </a:pathLst>
            </a:custGeom>
            <a:ln w="13085">
              <a:solidFill>
                <a:srgbClr val="9035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6148" y="4187974"/>
              <a:ext cx="326544" cy="3257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50180" y="4233673"/>
              <a:ext cx="2802255" cy="575310"/>
            </a:xfrm>
            <a:custGeom>
              <a:avLst/>
              <a:gdLst/>
              <a:ahLst/>
              <a:cxnLst/>
              <a:rect l="l" t="t" r="r" b="b"/>
              <a:pathLst>
                <a:path w="2802254" h="575310">
                  <a:moveTo>
                    <a:pt x="0" y="315916"/>
                  </a:moveTo>
                  <a:lnTo>
                    <a:pt x="18054" y="370697"/>
                  </a:lnTo>
                </a:path>
                <a:path w="2802254" h="575310">
                  <a:moveTo>
                    <a:pt x="18054" y="370697"/>
                  </a:moveTo>
                  <a:lnTo>
                    <a:pt x="42472" y="352654"/>
                  </a:lnTo>
                </a:path>
                <a:path w="2802254" h="575310">
                  <a:moveTo>
                    <a:pt x="77397" y="326921"/>
                  </a:moveTo>
                  <a:lnTo>
                    <a:pt x="147099" y="275767"/>
                  </a:lnTo>
                </a:path>
                <a:path w="2802254" h="575310">
                  <a:moveTo>
                    <a:pt x="182024" y="250035"/>
                  </a:moveTo>
                  <a:lnTo>
                    <a:pt x="251726" y="198881"/>
                  </a:lnTo>
                </a:path>
                <a:path w="2802254" h="575310">
                  <a:moveTo>
                    <a:pt x="287391" y="190045"/>
                  </a:moveTo>
                  <a:lnTo>
                    <a:pt x="359757" y="233604"/>
                  </a:lnTo>
                </a:path>
                <a:path w="2802254" h="575310">
                  <a:moveTo>
                    <a:pt x="359757" y="233604"/>
                  </a:moveTo>
                  <a:lnTo>
                    <a:pt x="360497" y="232054"/>
                  </a:lnTo>
                </a:path>
                <a:path w="2802254" h="575310">
                  <a:moveTo>
                    <a:pt x="377516" y="190975"/>
                  </a:moveTo>
                  <a:lnTo>
                    <a:pt x="411553" y="109283"/>
                  </a:lnTo>
                </a:path>
                <a:path w="2802254" h="575310">
                  <a:moveTo>
                    <a:pt x="428572" y="68360"/>
                  </a:moveTo>
                  <a:lnTo>
                    <a:pt x="444998" y="28832"/>
                  </a:lnTo>
                </a:path>
                <a:path w="2802254" h="575310">
                  <a:moveTo>
                    <a:pt x="444998" y="28832"/>
                  </a:moveTo>
                  <a:lnTo>
                    <a:pt x="465717" y="69445"/>
                  </a:lnTo>
                </a:path>
                <a:path w="2802254" h="575310">
                  <a:moveTo>
                    <a:pt x="485843" y="108818"/>
                  </a:moveTo>
                  <a:lnTo>
                    <a:pt x="526096" y="187410"/>
                  </a:lnTo>
                </a:path>
                <a:path w="2802254" h="575310">
                  <a:moveTo>
                    <a:pt x="556137" y="218412"/>
                  </a:moveTo>
                  <a:lnTo>
                    <a:pt x="615924" y="270652"/>
                  </a:lnTo>
                </a:path>
                <a:path w="2802254" h="575310">
                  <a:moveTo>
                    <a:pt x="615924" y="270652"/>
                  </a:moveTo>
                  <a:lnTo>
                    <a:pt x="623175" y="270032"/>
                  </a:lnTo>
                </a:path>
                <a:path w="2802254" h="575310">
                  <a:moveTo>
                    <a:pt x="665796" y="267552"/>
                  </a:moveTo>
                  <a:lnTo>
                    <a:pt x="750741" y="262591"/>
                  </a:lnTo>
                </a:path>
                <a:path w="2802254" h="575310">
                  <a:moveTo>
                    <a:pt x="793213" y="260111"/>
                  </a:moveTo>
                  <a:lnTo>
                    <a:pt x="872091" y="255461"/>
                  </a:lnTo>
                </a:path>
                <a:path w="2802254" h="575310">
                  <a:moveTo>
                    <a:pt x="872091" y="255461"/>
                  </a:moveTo>
                  <a:lnTo>
                    <a:pt x="875346" y="261196"/>
                  </a:lnTo>
                </a:path>
                <a:path w="2802254" h="575310">
                  <a:moveTo>
                    <a:pt x="896509" y="299949"/>
                  </a:moveTo>
                  <a:lnTo>
                    <a:pt x="938685" y="377409"/>
                  </a:lnTo>
                </a:path>
                <a:path w="2802254" h="575310">
                  <a:moveTo>
                    <a:pt x="960883" y="408086"/>
                  </a:moveTo>
                  <a:lnTo>
                    <a:pt x="1021410" y="345213"/>
                  </a:lnTo>
                </a:path>
                <a:path w="2802254" h="575310">
                  <a:moveTo>
                    <a:pt x="1046272" y="310490"/>
                  </a:moveTo>
                  <a:lnTo>
                    <a:pt x="1069950" y="224768"/>
                  </a:lnTo>
                </a:path>
                <a:path w="2802254" h="575310">
                  <a:moveTo>
                    <a:pt x="1081789" y="181984"/>
                  </a:moveTo>
                  <a:lnTo>
                    <a:pt x="1105467" y="96262"/>
                  </a:lnTo>
                </a:path>
                <a:path w="2802254" h="575310">
                  <a:moveTo>
                    <a:pt x="1117306" y="53324"/>
                  </a:moveTo>
                  <a:lnTo>
                    <a:pt x="1128257" y="13486"/>
                  </a:lnTo>
                </a:path>
                <a:path w="2802254" h="575310">
                  <a:moveTo>
                    <a:pt x="1128257" y="13486"/>
                  </a:moveTo>
                  <a:lnTo>
                    <a:pt x="1137432" y="60299"/>
                  </a:lnTo>
                </a:path>
                <a:path w="2802254" h="575310">
                  <a:moveTo>
                    <a:pt x="1145868" y="104013"/>
                  </a:moveTo>
                  <a:lnTo>
                    <a:pt x="1162738" y="191440"/>
                  </a:lnTo>
                </a:path>
                <a:path w="2802254" h="575310">
                  <a:moveTo>
                    <a:pt x="1171322" y="235154"/>
                  </a:moveTo>
                  <a:lnTo>
                    <a:pt x="1188340" y="322581"/>
                  </a:lnTo>
                </a:path>
                <a:path w="2802254" h="575310">
                  <a:moveTo>
                    <a:pt x="1196776" y="366295"/>
                  </a:moveTo>
                  <a:lnTo>
                    <a:pt x="1213646" y="452761"/>
                  </a:lnTo>
                </a:path>
                <a:path w="2802254" h="575310">
                  <a:moveTo>
                    <a:pt x="1213646" y="452761"/>
                  </a:moveTo>
                  <a:lnTo>
                    <a:pt x="1214534" y="452761"/>
                  </a:lnTo>
                </a:path>
                <a:path w="2802254" h="575310">
                  <a:moveTo>
                    <a:pt x="1257154" y="451428"/>
                  </a:moveTo>
                  <a:lnTo>
                    <a:pt x="1342247" y="448730"/>
                  </a:lnTo>
                </a:path>
                <a:path w="2802254" h="575310">
                  <a:moveTo>
                    <a:pt x="1385016" y="447583"/>
                  </a:moveTo>
                  <a:lnTo>
                    <a:pt x="1470109" y="444902"/>
                  </a:lnTo>
                </a:path>
                <a:path w="2802254" h="575310">
                  <a:moveTo>
                    <a:pt x="1512729" y="443553"/>
                  </a:moveTo>
                  <a:lnTo>
                    <a:pt x="1555202" y="442220"/>
                  </a:lnTo>
                </a:path>
                <a:path w="2802254" h="575310">
                  <a:moveTo>
                    <a:pt x="1555202" y="442220"/>
                  </a:moveTo>
                  <a:lnTo>
                    <a:pt x="1576808" y="403668"/>
                  </a:lnTo>
                </a:path>
                <a:path w="2802254" h="575310">
                  <a:moveTo>
                    <a:pt x="1598266" y="364900"/>
                  </a:moveTo>
                  <a:lnTo>
                    <a:pt x="1640738" y="288788"/>
                  </a:lnTo>
                </a:path>
                <a:path w="2802254" h="575310">
                  <a:moveTo>
                    <a:pt x="1640738" y="288788"/>
                  </a:moveTo>
                  <a:lnTo>
                    <a:pt x="1641626" y="288168"/>
                  </a:lnTo>
                </a:path>
                <a:path w="2802254" h="575310">
                  <a:moveTo>
                    <a:pt x="1678623" y="266156"/>
                  </a:moveTo>
                  <a:lnTo>
                    <a:pt x="1725979" y="237634"/>
                  </a:lnTo>
                </a:path>
                <a:path w="2802254" h="575310">
                  <a:moveTo>
                    <a:pt x="1725979" y="237634"/>
                  </a:moveTo>
                  <a:lnTo>
                    <a:pt x="1743294" y="263831"/>
                  </a:lnTo>
                </a:path>
                <a:path w="2802254" h="575310">
                  <a:moveTo>
                    <a:pt x="1767564" y="300569"/>
                  </a:moveTo>
                  <a:lnTo>
                    <a:pt x="1811516" y="367380"/>
                  </a:lnTo>
                </a:path>
                <a:path w="2802254" h="575310">
                  <a:moveTo>
                    <a:pt x="1811516" y="367380"/>
                  </a:moveTo>
                  <a:lnTo>
                    <a:pt x="1818916" y="369736"/>
                  </a:lnTo>
                </a:path>
                <a:path w="2802254" h="575310">
                  <a:moveTo>
                    <a:pt x="1859760" y="382385"/>
                  </a:moveTo>
                  <a:lnTo>
                    <a:pt x="1941301" y="407900"/>
                  </a:lnTo>
                </a:path>
                <a:path w="2802254" h="575310">
                  <a:moveTo>
                    <a:pt x="1982146" y="420735"/>
                  </a:moveTo>
                  <a:lnTo>
                    <a:pt x="2063835" y="446250"/>
                  </a:lnTo>
                </a:path>
                <a:path w="2802254" h="575310">
                  <a:moveTo>
                    <a:pt x="2080854" y="409435"/>
                  </a:moveTo>
                  <a:lnTo>
                    <a:pt x="2109711" y="325371"/>
                  </a:lnTo>
                </a:path>
                <a:path w="2802254" h="575310">
                  <a:moveTo>
                    <a:pt x="2124214" y="283518"/>
                  </a:moveTo>
                  <a:lnTo>
                    <a:pt x="2153220" y="199501"/>
                  </a:lnTo>
                </a:path>
                <a:path w="2802254" h="575310">
                  <a:moveTo>
                    <a:pt x="2179117" y="234999"/>
                  </a:moveTo>
                  <a:lnTo>
                    <a:pt x="2231209" y="305685"/>
                  </a:lnTo>
                </a:path>
                <a:path w="2802254" h="575310">
                  <a:moveTo>
                    <a:pt x="2257403" y="340718"/>
                  </a:moveTo>
                  <a:lnTo>
                    <a:pt x="2310086" y="410969"/>
                  </a:lnTo>
                </a:path>
                <a:path w="2802254" h="575310">
                  <a:moveTo>
                    <a:pt x="2327993" y="408660"/>
                  </a:moveTo>
                  <a:lnTo>
                    <a:pt x="2345456" y="321341"/>
                  </a:lnTo>
                </a:path>
                <a:path w="2802254" h="575310">
                  <a:moveTo>
                    <a:pt x="2354187" y="277627"/>
                  </a:moveTo>
                  <a:lnTo>
                    <a:pt x="2371649" y="190200"/>
                  </a:lnTo>
                </a:path>
                <a:path w="2802254" h="575310">
                  <a:moveTo>
                    <a:pt x="2380233" y="146797"/>
                  </a:moveTo>
                  <a:lnTo>
                    <a:pt x="2397399" y="59214"/>
                  </a:lnTo>
                </a:path>
                <a:path w="2802254" h="575310">
                  <a:moveTo>
                    <a:pt x="2406130" y="15501"/>
                  </a:moveTo>
                  <a:lnTo>
                    <a:pt x="2409238" y="0"/>
                  </a:lnTo>
                </a:path>
                <a:path w="2802254" h="575310">
                  <a:moveTo>
                    <a:pt x="2409238" y="0"/>
                  </a:moveTo>
                  <a:lnTo>
                    <a:pt x="2449047" y="60454"/>
                  </a:lnTo>
                </a:path>
                <a:path w="2802254" h="575310">
                  <a:moveTo>
                    <a:pt x="2473317" y="97193"/>
                  </a:moveTo>
                  <a:lnTo>
                    <a:pt x="2521709" y="170669"/>
                  </a:lnTo>
                </a:path>
                <a:path w="2802254" h="575310">
                  <a:moveTo>
                    <a:pt x="2545831" y="207252"/>
                  </a:moveTo>
                  <a:lnTo>
                    <a:pt x="2594371" y="280728"/>
                  </a:lnTo>
                </a:path>
                <a:path w="2802254" h="575310">
                  <a:moveTo>
                    <a:pt x="2618493" y="317621"/>
                  </a:moveTo>
                  <a:lnTo>
                    <a:pt x="2665553" y="389097"/>
                  </a:lnTo>
                </a:path>
                <a:path w="2802254" h="575310">
                  <a:moveTo>
                    <a:pt x="2665553" y="389097"/>
                  </a:moveTo>
                  <a:lnTo>
                    <a:pt x="2666737" y="391205"/>
                  </a:lnTo>
                </a:path>
                <a:path w="2802254" h="575310">
                  <a:moveTo>
                    <a:pt x="2684939" y="431478"/>
                  </a:moveTo>
                  <a:lnTo>
                    <a:pt x="2721936" y="511821"/>
                  </a:lnTo>
                </a:path>
                <a:path w="2802254" h="575310">
                  <a:moveTo>
                    <a:pt x="2740435" y="552093"/>
                  </a:moveTo>
                  <a:lnTo>
                    <a:pt x="2750942" y="574725"/>
                  </a:lnTo>
                </a:path>
                <a:path w="2802254" h="575310">
                  <a:moveTo>
                    <a:pt x="2750942" y="574725"/>
                  </a:moveTo>
                  <a:lnTo>
                    <a:pt x="2801701" y="539056"/>
                  </a:lnTo>
                </a:path>
              </a:pathLst>
            </a:custGeom>
            <a:ln w="13085">
              <a:solidFill>
                <a:srgbClr val="9035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95016" y="2118214"/>
              <a:ext cx="5370830" cy="3251835"/>
            </a:xfrm>
            <a:custGeom>
              <a:avLst/>
              <a:gdLst/>
              <a:ahLst/>
              <a:cxnLst/>
              <a:rect l="l" t="t" r="r" b="b"/>
              <a:pathLst>
                <a:path w="5370830" h="3251835">
                  <a:moveTo>
                    <a:pt x="59135" y="3189310"/>
                  </a:moveTo>
                  <a:lnTo>
                    <a:pt x="59135" y="0"/>
                  </a:lnTo>
                </a:path>
                <a:path w="5370830" h="3251835">
                  <a:moveTo>
                    <a:pt x="59135" y="3091326"/>
                  </a:moveTo>
                  <a:lnTo>
                    <a:pt x="0" y="3091326"/>
                  </a:lnTo>
                </a:path>
                <a:path w="5370830" h="3251835">
                  <a:moveTo>
                    <a:pt x="59135" y="2370455"/>
                  </a:moveTo>
                  <a:lnTo>
                    <a:pt x="0" y="2370455"/>
                  </a:lnTo>
                </a:path>
                <a:path w="5370830" h="3251835">
                  <a:moveTo>
                    <a:pt x="59135" y="1649645"/>
                  </a:moveTo>
                  <a:lnTo>
                    <a:pt x="0" y="1649645"/>
                  </a:lnTo>
                </a:path>
                <a:path w="5370830" h="3251835">
                  <a:moveTo>
                    <a:pt x="59135" y="928991"/>
                  </a:moveTo>
                  <a:lnTo>
                    <a:pt x="0" y="928991"/>
                  </a:lnTo>
                </a:path>
                <a:path w="5370830" h="3251835">
                  <a:moveTo>
                    <a:pt x="59135" y="208182"/>
                  </a:moveTo>
                  <a:lnTo>
                    <a:pt x="0" y="208182"/>
                  </a:lnTo>
                </a:path>
                <a:path w="5370830" h="3251835">
                  <a:moveTo>
                    <a:pt x="59135" y="3189310"/>
                  </a:moveTo>
                  <a:lnTo>
                    <a:pt x="5370708" y="3189310"/>
                  </a:lnTo>
                </a:path>
                <a:path w="5370830" h="3251835">
                  <a:moveTo>
                    <a:pt x="152871" y="3189310"/>
                  </a:moveTo>
                  <a:lnTo>
                    <a:pt x="152871" y="3251439"/>
                  </a:lnTo>
                </a:path>
                <a:path w="5370830" h="3251835">
                  <a:moveTo>
                    <a:pt x="1348552" y="3189310"/>
                  </a:moveTo>
                  <a:lnTo>
                    <a:pt x="1348552" y="3251439"/>
                  </a:lnTo>
                </a:path>
                <a:path w="5370830" h="3251835">
                  <a:moveTo>
                    <a:pt x="2544144" y="3189310"/>
                  </a:moveTo>
                  <a:lnTo>
                    <a:pt x="2544144" y="3251439"/>
                  </a:lnTo>
                </a:path>
                <a:path w="5370830" h="3251835">
                  <a:moveTo>
                    <a:pt x="3739736" y="3189310"/>
                  </a:moveTo>
                  <a:lnTo>
                    <a:pt x="3739736" y="3251439"/>
                  </a:lnTo>
                </a:path>
                <a:path w="5370830" h="3251835">
                  <a:moveTo>
                    <a:pt x="4935476" y="3189310"/>
                  </a:moveTo>
                  <a:lnTo>
                    <a:pt x="4935476" y="3251439"/>
                  </a:lnTo>
                </a:path>
              </a:pathLst>
            </a:custGeom>
            <a:ln w="8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40149" y="1888330"/>
              <a:ext cx="944880" cy="193675"/>
            </a:xfrm>
            <a:custGeom>
              <a:avLst/>
              <a:gdLst/>
              <a:ahLst/>
              <a:cxnLst/>
              <a:rect l="l" t="t" r="r" b="b"/>
              <a:pathLst>
                <a:path w="944879" h="193675">
                  <a:moveTo>
                    <a:pt x="90805" y="0"/>
                  </a:moveTo>
                  <a:lnTo>
                    <a:pt x="30233" y="0"/>
                  </a:lnTo>
                  <a:lnTo>
                    <a:pt x="0" y="151291"/>
                  </a:lnTo>
                  <a:lnTo>
                    <a:pt x="19297" y="151291"/>
                  </a:lnTo>
                  <a:lnTo>
                    <a:pt x="32689" y="84016"/>
                  </a:lnTo>
                  <a:lnTo>
                    <a:pt x="90054" y="84016"/>
                  </a:lnTo>
                  <a:lnTo>
                    <a:pt x="89043" y="83240"/>
                  </a:lnTo>
                  <a:lnTo>
                    <a:pt x="101008" y="80879"/>
                  </a:lnTo>
                  <a:lnTo>
                    <a:pt x="111199" y="77485"/>
                  </a:lnTo>
                  <a:lnTo>
                    <a:pt x="119617" y="73017"/>
                  </a:lnTo>
                  <a:lnTo>
                    <a:pt x="125893" y="67740"/>
                  </a:lnTo>
                  <a:lnTo>
                    <a:pt x="35946" y="67740"/>
                  </a:lnTo>
                  <a:lnTo>
                    <a:pt x="46062" y="17205"/>
                  </a:lnTo>
                  <a:lnTo>
                    <a:pt x="46186" y="16586"/>
                  </a:lnTo>
                  <a:lnTo>
                    <a:pt x="133538" y="16586"/>
                  </a:lnTo>
                  <a:lnTo>
                    <a:pt x="132523" y="14880"/>
                  </a:lnTo>
                  <a:lnTo>
                    <a:pt x="99229" y="200"/>
                  </a:lnTo>
                  <a:lnTo>
                    <a:pt x="90805" y="0"/>
                  </a:lnTo>
                  <a:close/>
                </a:path>
                <a:path w="944879" h="193675">
                  <a:moveTo>
                    <a:pt x="90054" y="84016"/>
                  </a:moveTo>
                  <a:lnTo>
                    <a:pt x="62835" y="84016"/>
                  </a:lnTo>
                  <a:lnTo>
                    <a:pt x="68384" y="84946"/>
                  </a:lnTo>
                  <a:lnTo>
                    <a:pt x="75222" y="88046"/>
                  </a:lnTo>
                  <a:lnTo>
                    <a:pt x="94531" y="122769"/>
                  </a:lnTo>
                  <a:lnTo>
                    <a:pt x="104997" y="151291"/>
                  </a:lnTo>
                  <a:lnTo>
                    <a:pt x="126559" y="151291"/>
                  </a:lnTo>
                  <a:lnTo>
                    <a:pt x="112556" y="115711"/>
                  </a:lnTo>
                  <a:lnTo>
                    <a:pt x="94297" y="87271"/>
                  </a:lnTo>
                  <a:lnTo>
                    <a:pt x="90054" y="84016"/>
                  </a:lnTo>
                  <a:close/>
                </a:path>
                <a:path w="944879" h="193675">
                  <a:moveTo>
                    <a:pt x="133538" y="16586"/>
                  </a:moveTo>
                  <a:lnTo>
                    <a:pt x="100690" y="16586"/>
                  </a:lnTo>
                  <a:lnTo>
                    <a:pt x="105944" y="17205"/>
                  </a:lnTo>
                  <a:lnTo>
                    <a:pt x="109037" y="18290"/>
                  </a:lnTo>
                  <a:lnTo>
                    <a:pt x="112115" y="19531"/>
                  </a:lnTo>
                  <a:lnTo>
                    <a:pt x="114616" y="21701"/>
                  </a:lnTo>
                  <a:lnTo>
                    <a:pt x="118329" y="28056"/>
                  </a:lnTo>
                  <a:lnTo>
                    <a:pt x="118419" y="28211"/>
                  </a:lnTo>
                  <a:lnTo>
                    <a:pt x="119381" y="32086"/>
                  </a:lnTo>
                  <a:lnTo>
                    <a:pt x="119381" y="41697"/>
                  </a:lnTo>
                  <a:lnTo>
                    <a:pt x="86765" y="67119"/>
                  </a:lnTo>
                  <a:lnTo>
                    <a:pt x="74984" y="67740"/>
                  </a:lnTo>
                  <a:lnTo>
                    <a:pt x="125893" y="67740"/>
                  </a:lnTo>
                  <a:lnTo>
                    <a:pt x="137791" y="36892"/>
                  </a:lnTo>
                  <a:lnTo>
                    <a:pt x="137791" y="28056"/>
                  </a:lnTo>
                  <a:lnTo>
                    <a:pt x="136029" y="20770"/>
                  </a:lnTo>
                  <a:lnTo>
                    <a:pt x="133538" y="16586"/>
                  </a:lnTo>
                  <a:close/>
                </a:path>
                <a:path w="944879" h="193675">
                  <a:moveTo>
                    <a:pt x="206738" y="39217"/>
                  </a:moveTo>
                  <a:lnTo>
                    <a:pt x="168023" y="57760"/>
                  </a:lnTo>
                  <a:lnTo>
                    <a:pt x="151488" y="98374"/>
                  </a:lnTo>
                  <a:lnTo>
                    <a:pt x="151216" y="103238"/>
                  </a:lnTo>
                  <a:lnTo>
                    <a:pt x="151112" y="105097"/>
                  </a:lnTo>
                  <a:lnTo>
                    <a:pt x="164369" y="144316"/>
                  </a:lnTo>
                  <a:lnTo>
                    <a:pt x="170836" y="148036"/>
                  </a:lnTo>
                  <a:lnTo>
                    <a:pt x="177303" y="151912"/>
                  </a:lnTo>
                  <a:lnTo>
                    <a:pt x="184421" y="153771"/>
                  </a:lnTo>
                  <a:lnTo>
                    <a:pt x="192161" y="153771"/>
                  </a:lnTo>
                  <a:lnTo>
                    <a:pt x="227307" y="138426"/>
                  </a:lnTo>
                  <a:lnTo>
                    <a:pt x="185769" y="138426"/>
                  </a:lnTo>
                  <a:lnTo>
                    <a:pt x="180263" y="135790"/>
                  </a:lnTo>
                  <a:lnTo>
                    <a:pt x="171265" y="124940"/>
                  </a:lnTo>
                  <a:lnTo>
                    <a:pt x="169016" y="117189"/>
                  </a:lnTo>
                  <a:lnTo>
                    <a:pt x="169016" y="105097"/>
                  </a:lnTo>
                  <a:lnTo>
                    <a:pt x="169150" y="103238"/>
                  </a:lnTo>
                  <a:lnTo>
                    <a:pt x="169415" y="101067"/>
                  </a:lnTo>
                  <a:lnTo>
                    <a:pt x="246443" y="101067"/>
                  </a:lnTo>
                  <a:lnTo>
                    <a:pt x="247361" y="95487"/>
                  </a:lnTo>
                  <a:lnTo>
                    <a:pt x="247820" y="89907"/>
                  </a:lnTo>
                  <a:lnTo>
                    <a:pt x="247820" y="86807"/>
                  </a:lnTo>
                  <a:lnTo>
                    <a:pt x="172271" y="86807"/>
                  </a:lnTo>
                  <a:lnTo>
                    <a:pt x="174880" y="79051"/>
                  </a:lnTo>
                  <a:lnTo>
                    <a:pt x="199517" y="53788"/>
                  </a:lnTo>
                  <a:lnTo>
                    <a:pt x="238446" y="53788"/>
                  </a:lnTo>
                  <a:lnTo>
                    <a:pt x="236631" y="51307"/>
                  </a:lnTo>
                  <a:lnTo>
                    <a:pt x="230574" y="46018"/>
                  </a:lnTo>
                  <a:lnTo>
                    <a:pt x="223571" y="42240"/>
                  </a:lnTo>
                  <a:lnTo>
                    <a:pt x="215625" y="39973"/>
                  </a:lnTo>
                  <a:lnTo>
                    <a:pt x="206738" y="39217"/>
                  </a:lnTo>
                  <a:close/>
                </a:path>
                <a:path w="944879" h="193675">
                  <a:moveTo>
                    <a:pt x="224082" y="113934"/>
                  </a:moveTo>
                  <a:lnTo>
                    <a:pt x="198377" y="138426"/>
                  </a:lnTo>
                  <a:lnTo>
                    <a:pt x="227307" y="138426"/>
                  </a:lnTo>
                  <a:lnTo>
                    <a:pt x="230340" y="135369"/>
                  </a:lnTo>
                  <a:lnTo>
                    <a:pt x="235240" y="129008"/>
                  </a:lnTo>
                  <a:lnTo>
                    <a:pt x="238931" y="122474"/>
                  </a:lnTo>
                  <a:lnTo>
                    <a:pt x="241411" y="115793"/>
                  </a:lnTo>
                  <a:lnTo>
                    <a:pt x="224082" y="113934"/>
                  </a:lnTo>
                  <a:close/>
                </a:path>
                <a:path w="944879" h="193675">
                  <a:moveTo>
                    <a:pt x="238446" y="53788"/>
                  </a:moveTo>
                  <a:lnTo>
                    <a:pt x="214167" y="53788"/>
                  </a:lnTo>
                  <a:lnTo>
                    <a:pt x="219909" y="56268"/>
                  </a:lnTo>
                  <a:lnTo>
                    <a:pt x="228833" y="66189"/>
                  </a:lnTo>
                  <a:lnTo>
                    <a:pt x="231067" y="73320"/>
                  </a:lnTo>
                  <a:lnTo>
                    <a:pt x="230978" y="86807"/>
                  </a:lnTo>
                  <a:lnTo>
                    <a:pt x="247820" y="86807"/>
                  </a:lnTo>
                  <a:lnTo>
                    <a:pt x="247820" y="84636"/>
                  </a:lnTo>
                  <a:lnTo>
                    <a:pt x="247120" y="74633"/>
                  </a:lnTo>
                  <a:lnTo>
                    <a:pt x="245225" y="66620"/>
                  </a:lnTo>
                  <a:lnTo>
                    <a:pt x="245123" y="66189"/>
                  </a:lnTo>
                  <a:lnTo>
                    <a:pt x="245022" y="65763"/>
                  </a:lnTo>
                  <a:lnTo>
                    <a:pt x="241526" y="57998"/>
                  </a:lnTo>
                  <a:lnTo>
                    <a:pt x="238446" y="53788"/>
                  </a:lnTo>
                  <a:close/>
                </a:path>
                <a:path w="944879" h="193675">
                  <a:moveTo>
                    <a:pt x="300518" y="56113"/>
                  </a:moveTo>
                  <a:lnTo>
                    <a:pt x="282685" y="56113"/>
                  </a:lnTo>
                  <a:lnTo>
                    <a:pt x="269974" y="119824"/>
                  </a:lnTo>
                  <a:lnTo>
                    <a:pt x="268272" y="128504"/>
                  </a:lnTo>
                  <a:lnTo>
                    <a:pt x="267413" y="133930"/>
                  </a:lnTo>
                  <a:lnTo>
                    <a:pt x="267413" y="141061"/>
                  </a:lnTo>
                  <a:lnTo>
                    <a:pt x="268997" y="144936"/>
                  </a:lnTo>
                  <a:lnTo>
                    <a:pt x="272149" y="147571"/>
                  </a:lnTo>
                  <a:lnTo>
                    <a:pt x="276351" y="151291"/>
                  </a:lnTo>
                  <a:lnTo>
                    <a:pt x="281990" y="153151"/>
                  </a:lnTo>
                  <a:lnTo>
                    <a:pt x="293089" y="153151"/>
                  </a:lnTo>
                  <a:lnTo>
                    <a:pt x="297233" y="152532"/>
                  </a:lnTo>
                  <a:lnTo>
                    <a:pt x="301495" y="151291"/>
                  </a:lnTo>
                  <a:lnTo>
                    <a:pt x="304213" y="137340"/>
                  </a:lnTo>
                  <a:lnTo>
                    <a:pt x="291150" y="137340"/>
                  </a:lnTo>
                  <a:lnTo>
                    <a:pt x="289167" y="136720"/>
                  </a:lnTo>
                  <a:lnTo>
                    <a:pt x="287954" y="135481"/>
                  </a:lnTo>
                  <a:lnTo>
                    <a:pt x="286740" y="134395"/>
                  </a:lnTo>
                  <a:lnTo>
                    <a:pt x="286133" y="132690"/>
                  </a:lnTo>
                  <a:lnTo>
                    <a:pt x="286209" y="128504"/>
                  </a:lnTo>
                  <a:lnTo>
                    <a:pt x="286889" y="124319"/>
                  </a:lnTo>
                  <a:lnTo>
                    <a:pt x="300518" y="56113"/>
                  </a:lnTo>
                  <a:close/>
                </a:path>
                <a:path w="944879" h="193675">
                  <a:moveTo>
                    <a:pt x="304454" y="136100"/>
                  </a:moveTo>
                  <a:lnTo>
                    <a:pt x="301362" y="136875"/>
                  </a:lnTo>
                  <a:lnTo>
                    <a:pt x="297854" y="137340"/>
                  </a:lnTo>
                  <a:lnTo>
                    <a:pt x="304213" y="137340"/>
                  </a:lnTo>
                  <a:lnTo>
                    <a:pt x="304333" y="136720"/>
                  </a:lnTo>
                  <a:lnTo>
                    <a:pt x="304454" y="136100"/>
                  </a:lnTo>
                  <a:close/>
                </a:path>
                <a:path w="944879" h="193675">
                  <a:moveTo>
                    <a:pt x="320895" y="41697"/>
                  </a:moveTo>
                  <a:lnTo>
                    <a:pt x="271453" y="41697"/>
                  </a:lnTo>
                  <a:lnTo>
                    <a:pt x="268597" y="56113"/>
                  </a:lnTo>
                  <a:lnTo>
                    <a:pt x="317950" y="56113"/>
                  </a:lnTo>
                  <a:lnTo>
                    <a:pt x="320895" y="41697"/>
                  </a:lnTo>
                  <a:close/>
                </a:path>
                <a:path w="944879" h="193675">
                  <a:moveTo>
                    <a:pt x="311350" y="1859"/>
                  </a:moveTo>
                  <a:lnTo>
                    <a:pt x="290958" y="14725"/>
                  </a:lnTo>
                  <a:lnTo>
                    <a:pt x="285541" y="41697"/>
                  </a:lnTo>
                  <a:lnTo>
                    <a:pt x="303375" y="41697"/>
                  </a:lnTo>
                  <a:lnTo>
                    <a:pt x="311350" y="1859"/>
                  </a:lnTo>
                  <a:close/>
                </a:path>
                <a:path w="944879" h="193675">
                  <a:moveTo>
                    <a:pt x="417464" y="54409"/>
                  </a:moveTo>
                  <a:lnTo>
                    <a:pt x="387653" y="54409"/>
                  </a:lnTo>
                  <a:lnTo>
                    <a:pt x="393691" y="56113"/>
                  </a:lnTo>
                  <a:lnTo>
                    <a:pt x="397864" y="59679"/>
                  </a:lnTo>
                  <a:lnTo>
                    <a:pt x="400824" y="62160"/>
                  </a:lnTo>
                  <a:lnTo>
                    <a:pt x="402136" y="65184"/>
                  </a:lnTo>
                  <a:lnTo>
                    <a:pt x="402135" y="74405"/>
                  </a:lnTo>
                  <a:lnTo>
                    <a:pt x="365010" y="86652"/>
                  </a:lnTo>
                  <a:lnTo>
                    <a:pt x="357404" y="87426"/>
                  </a:lnTo>
                  <a:lnTo>
                    <a:pt x="347031" y="89442"/>
                  </a:lnTo>
                  <a:lnTo>
                    <a:pt x="341643" y="91456"/>
                  </a:lnTo>
                  <a:lnTo>
                    <a:pt x="337248" y="94401"/>
                  </a:lnTo>
                  <a:lnTo>
                    <a:pt x="332853" y="97191"/>
                  </a:lnTo>
                  <a:lnTo>
                    <a:pt x="329316" y="100912"/>
                  </a:lnTo>
                  <a:lnTo>
                    <a:pt x="326668" y="105718"/>
                  </a:lnTo>
                  <a:lnTo>
                    <a:pt x="324003" y="110368"/>
                  </a:lnTo>
                  <a:lnTo>
                    <a:pt x="322823" y="115173"/>
                  </a:lnTo>
                  <a:lnTo>
                    <a:pt x="322671" y="115873"/>
                  </a:lnTo>
                  <a:lnTo>
                    <a:pt x="322671" y="131295"/>
                  </a:lnTo>
                  <a:lnTo>
                    <a:pt x="325631" y="138891"/>
                  </a:lnTo>
                  <a:lnTo>
                    <a:pt x="337441" y="150671"/>
                  </a:lnTo>
                  <a:lnTo>
                    <a:pt x="345225" y="153771"/>
                  </a:lnTo>
                  <a:lnTo>
                    <a:pt x="361386" y="153771"/>
                  </a:lnTo>
                  <a:lnTo>
                    <a:pt x="389313" y="139200"/>
                  </a:lnTo>
                  <a:lnTo>
                    <a:pt x="353927" y="139200"/>
                  </a:lnTo>
                  <a:lnTo>
                    <a:pt x="349029" y="137650"/>
                  </a:lnTo>
                  <a:lnTo>
                    <a:pt x="342132" y="130830"/>
                  </a:lnTo>
                  <a:lnTo>
                    <a:pt x="340400" y="126489"/>
                  </a:lnTo>
                  <a:lnTo>
                    <a:pt x="340400" y="117344"/>
                  </a:lnTo>
                  <a:lnTo>
                    <a:pt x="353305" y="103548"/>
                  </a:lnTo>
                  <a:lnTo>
                    <a:pt x="357567" y="101997"/>
                  </a:lnTo>
                  <a:lnTo>
                    <a:pt x="364892" y="100757"/>
                  </a:lnTo>
                  <a:lnTo>
                    <a:pt x="381970" y="99207"/>
                  </a:lnTo>
                  <a:lnTo>
                    <a:pt x="386750" y="98587"/>
                  </a:lnTo>
                  <a:lnTo>
                    <a:pt x="389606" y="98122"/>
                  </a:lnTo>
                  <a:lnTo>
                    <a:pt x="392463" y="97502"/>
                  </a:lnTo>
                  <a:lnTo>
                    <a:pt x="395141" y="96727"/>
                  </a:lnTo>
                  <a:lnTo>
                    <a:pt x="397568" y="95797"/>
                  </a:lnTo>
                  <a:lnTo>
                    <a:pt x="415897" y="95797"/>
                  </a:lnTo>
                  <a:lnTo>
                    <a:pt x="419174" y="80295"/>
                  </a:lnTo>
                  <a:lnTo>
                    <a:pt x="419941" y="74405"/>
                  </a:lnTo>
                  <a:lnTo>
                    <a:pt x="420062" y="59989"/>
                  </a:lnTo>
                  <a:lnTo>
                    <a:pt x="417464" y="54409"/>
                  </a:lnTo>
                  <a:close/>
                </a:path>
                <a:path w="944879" h="193675">
                  <a:moveTo>
                    <a:pt x="408964" y="137650"/>
                  </a:moveTo>
                  <a:lnTo>
                    <a:pt x="391027" y="137650"/>
                  </a:lnTo>
                  <a:lnTo>
                    <a:pt x="391426" y="143075"/>
                  </a:lnTo>
                  <a:lnTo>
                    <a:pt x="392039" y="147261"/>
                  </a:lnTo>
                  <a:lnTo>
                    <a:pt x="392107" y="147726"/>
                  </a:lnTo>
                  <a:lnTo>
                    <a:pt x="393099" y="151291"/>
                  </a:lnTo>
                  <a:lnTo>
                    <a:pt x="411182" y="151291"/>
                  </a:lnTo>
                  <a:lnTo>
                    <a:pt x="409703" y="144781"/>
                  </a:lnTo>
                  <a:lnTo>
                    <a:pt x="408964" y="139820"/>
                  </a:lnTo>
                  <a:lnTo>
                    <a:pt x="408964" y="137650"/>
                  </a:lnTo>
                  <a:close/>
                </a:path>
                <a:path w="944879" h="193675">
                  <a:moveTo>
                    <a:pt x="415897" y="95797"/>
                  </a:moveTo>
                  <a:lnTo>
                    <a:pt x="397568" y="95797"/>
                  </a:lnTo>
                  <a:lnTo>
                    <a:pt x="396118" y="103380"/>
                  </a:lnTo>
                  <a:lnTo>
                    <a:pt x="394421" y="110077"/>
                  </a:lnTo>
                  <a:lnTo>
                    <a:pt x="366209" y="139200"/>
                  </a:lnTo>
                  <a:lnTo>
                    <a:pt x="389313" y="139200"/>
                  </a:lnTo>
                  <a:lnTo>
                    <a:pt x="391027" y="137650"/>
                  </a:lnTo>
                  <a:lnTo>
                    <a:pt x="408964" y="137650"/>
                  </a:lnTo>
                  <a:lnTo>
                    <a:pt x="408983" y="130830"/>
                  </a:lnTo>
                  <a:lnTo>
                    <a:pt x="409851" y="123854"/>
                  </a:lnTo>
                  <a:lnTo>
                    <a:pt x="411775" y="115173"/>
                  </a:lnTo>
                  <a:lnTo>
                    <a:pt x="415897" y="95797"/>
                  </a:lnTo>
                  <a:close/>
                </a:path>
                <a:path w="944879" h="193675">
                  <a:moveTo>
                    <a:pt x="380594" y="39217"/>
                  </a:moveTo>
                  <a:lnTo>
                    <a:pt x="370553" y="39825"/>
                  </a:lnTo>
                  <a:lnTo>
                    <a:pt x="371477" y="39825"/>
                  </a:lnTo>
                  <a:lnTo>
                    <a:pt x="363934" y="41348"/>
                  </a:lnTo>
                  <a:lnTo>
                    <a:pt x="332912" y="72854"/>
                  </a:lnTo>
                  <a:lnTo>
                    <a:pt x="350937" y="74405"/>
                  </a:lnTo>
                  <a:lnTo>
                    <a:pt x="353113" y="68050"/>
                  </a:lnTo>
                  <a:lnTo>
                    <a:pt x="356575" y="63089"/>
                  </a:lnTo>
                  <a:lnTo>
                    <a:pt x="366091" y="56268"/>
                  </a:lnTo>
                  <a:lnTo>
                    <a:pt x="372217" y="54409"/>
                  </a:lnTo>
                  <a:lnTo>
                    <a:pt x="417464" y="54409"/>
                  </a:lnTo>
                  <a:lnTo>
                    <a:pt x="417103" y="53633"/>
                  </a:lnTo>
                  <a:lnTo>
                    <a:pt x="411331" y="48828"/>
                  </a:lnTo>
                  <a:lnTo>
                    <a:pt x="405163" y="44645"/>
                  </a:lnTo>
                  <a:lnTo>
                    <a:pt x="397982" y="41639"/>
                  </a:lnTo>
                  <a:lnTo>
                    <a:pt x="389792" y="39825"/>
                  </a:lnTo>
                  <a:lnTo>
                    <a:pt x="380594" y="39217"/>
                  </a:lnTo>
                  <a:close/>
                </a:path>
                <a:path w="944879" h="193675">
                  <a:moveTo>
                    <a:pt x="475114" y="41697"/>
                  </a:moveTo>
                  <a:lnTo>
                    <a:pt x="457207" y="41697"/>
                  </a:lnTo>
                  <a:lnTo>
                    <a:pt x="435305" y="151291"/>
                  </a:lnTo>
                  <a:lnTo>
                    <a:pt x="453212" y="151291"/>
                  </a:lnTo>
                  <a:lnTo>
                    <a:pt x="475114" y="41697"/>
                  </a:lnTo>
                  <a:close/>
                </a:path>
                <a:path w="944879" h="193675">
                  <a:moveTo>
                    <a:pt x="528833" y="0"/>
                  </a:moveTo>
                  <a:lnTo>
                    <a:pt x="510927" y="0"/>
                  </a:lnTo>
                  <a:lnTo>
                    <a:pt x="480885" y="151291"/>
                  </a:lnTo>
                  <a:lnTo>
                    <a:pt x="498643" y="151291"/>
                  </a:lnTo>
                  <a:lnTo>
                    <a:pt x="528833" y="0"/>
                  </a:lnTo>
                  <a:close/>
                </a:path>
                <a:path w="944879" h="193675">
                  <a:moveTo>
                    <a:pt x="483254" y="0"/>
                  </a:moveTo>
                  <a:lnTo>
                    <a:pt x="465642" y="0"/>
                  </a:lnTo>
                  <a:lnTo>
                    <a:pt x="461351" y="21080"/>
                  </a:lnTo>
                  <a:lnTo>
                    <a:pt x="479110" y="21080"/>
                  </a:lnTo>
                  <a:lnTo>
                    <a:pt x="483254" y="0"/>
                  </a:lnTo>
                  <a:close/>
                </a:path>
                <a:path w="944879" h="193675">
                  <a:moveTo>
                    <a:pt x="626504" y="179814"/>
                  </a:moveTo>
                  <a:lnTo>
                    <a:pt x="509003" y="179814"/>
                  </a:lnTo>
                  <a:lnTo>
                    <a:pt x="509003" y="193300"/>
                  </a:lnTo>
                  <a:lnTo>
                    <a:pt x="626504" y="193300"/>
                  </a:lnTo>
                  <a:lnTo>
                    <a:pt x="626504" y="179814"/>
                  </a:lnTo>
                  <a:close/>
                </a:path>
                <a:path w="944879" h="193675">
                  <a:moveTo>
                    <a:pt x="842714" y="39217"/>
                  </a:moveTo>
                  <a:lnTo>
                    <a:pt x="803794" y="56578"/>
                  </a:lnTo>
                  <a:lnTo>
                    <a:pt x="786852" y="94281"/>
                  </a:lnTo>
                  <a:lnTo>
                    <a:pt x="785740" y="118428"/>
                  </a:lnTo>
                  <a:lnTo>
                    <a:pt x="787479" y="125869"/>
                  </a:lnTo>
                  <a:lnTo>
                    <a:pt x="806310" y="148191"/>
                  </a:lnTo>
                  <a:lnTo>
                    <a:pt x="812970" y="151912"/>
                  </a:lnTo>
                  <a:lnTo>
                    <a:pt x="820369" y="153771"/>
                  </a:lnTo>
                  <a:lnTo>
                    <a:pt x="828508" y="153771"/>
                  </a:lnTo>
                  <a:lnTo>
                    <a:pt x="864127" y="139200"/>
                  </a:lnTo>
                  <a:lnTo>
                    <a:pt x="821405" y="139200"/>
                  </a:lnTo>
                  <a:lnTo>
                    <a:pt x="815337" y="136565"/>
                  </a:lnTo>
                  <a:lnTo>
                    <a:pt x="810601" y="131295"/>
                  </a:lnTo>
                  <a:lnTo>
                    <a:pt x="805867" y="125869"/>
                  </a:lnTo>
                  <a:lnTo>
                    <a:pt x="803593" y="118428"/>
                  </a:lnTo>
                  <a:lnTo>
                    <a:pt x="803542" y="101842"/>
                  </a:lnTo>
                  <a:lnTo>
                    <a:pt x="804386" y="95952"/>
                  </a:lnTo>
                  <a:lnTo>
                    <a:pt x="807938" y="81691"/>
                  </a:lnTo>
                  <a:lnTo>
                    <a:pt x="810601" y="75335"/>
                  </a:lnTo>
                  <a:lnTo>
                    <a:pt x="814302" y="70064"/>
                  </a:lnTo>
                  <a:lnTo>
                    <a:pt x="818001" y="64639"/>
                  </a:lnTo>
                  <a:lnTo>
                    <a:pt x="822144" y="60609"/>
                  </a:lnTo>
                  <a:lnTo>
                    <a:pt x="831320" y="55029"/>
                  </a:lnTo>
                  <a:lnTo>
                    <a:pt x="836499" y="53633"/>
                  </a:lnTo>
                  <a:lnTo>
                    <a:pt x="874716" y="53633"/>
                  </a:lnTo>
                  <a:lnTo>
                    <a:pt x="873201" y="51619"/>
                  </a:lnTo>
                  <a:lnTo>
                    <a:pt x="866959" y="46150"/>
                  </a:lnTo>
                  <a:lnTo>
                    <a:pt x="859789" y="42279"/>
                  </a:lnTo>
                  <a:lnTo>
                    <a:pt x="851702" y="39978"/>
                  </a:lnTo>
                  <a:lnTo>
                    <a:pt x="842714" y="39217"/>
                  </a:lnTo>
                  <a:close/>
                </a:path>
                <a:path w="944879" h="193675">
                  <a:moveTo>
                    <a:pt x="680965" y="0"/>
                  </a:moveTo>
                  <a:lnTo>
                    <a:pt x="662318" y="0"/>
                  </a:lnTo>
                  <a:lnTo>
                    <a:pt x="690139" y="151291"/>
                  </a:lnTo>
                  <a:lnTo>
                    <a:pt x="710711" y="151291"/>
                  </a:lnTo>
                  <a:lnTo>
                    <a:pt x="721986" y="129745"/>
                  </a:lnTo>
                  <a:lnTo>
                    <a:pt x="703606" y="129745"/>
                  </a:lnTo>
                  <a:lnTo>
                    <a:pt x="702834" y="122459"/>
                  </a:lnTo>
                  <a:lnTo>
                    <a:pt x="702744" y="121607"/>
                  </a:lnTo>
                  <a:lnTo>
                    <a:pt x="701495" y="112422"/>
                  </a:lnTo>
                  <a:lnTo>
                    <a:pt x="699848" y="102152"/>
                  </a:lnTo>
                  <a:lnTo>
                    <a:pt x="697687" y="90216"/>
                  </a:lnTo>
                  <a:lnTo>
                    <a:pt x="680965" y="0"/>
                  </a:lnTo>
                  <a:close/>
                </a:path>
                <a:path w="944879" h="193675">
                  <a:moveTo>
                    <a:pt x="874716" y="53633"/>
                  </a:moveTo>
                  <a:lnTo>
                    <a:pt x="849227" y="53633"/>
                  </a:lnTo>
                  <a:lnTo>
                    <a:pt x="855294" y="56423"/>
                  </a:lnTo>
                  <a:lnTo>
                    <a:pt x="864765" y="67274"/>
                  </a:lnTo>
                  <a:lnTo>
                    <a:pt x="867133" y="75025"/>
                  </a:lnTo>
                  <a:lnTo>
                    <a:pt x="867133" y="91146"/>
                  </a:lnTo>
                  <a:lnTo>
                    <a:pt x="850411" y="129434"/>
                  </a:lnTo>
                  <a:lnTo>
                    <a:pt x="847154" y="132845"/>
                  </a:lnTo>
                  <a:lnTo>
                    <a:pt x="843751" y="135171"/>
                  </a:lnTo>
                  <a:lnTo>
                    <a:pt x="840051" y="136875"/>
                  </a:lnTo>
                  <a:lnTo>
                    <a:pt x="836203" y="138426"/>
                  </a:lnTo>
                  <a:lnTo>
                    <a:pt x="832504" y="139200"/>
                  </a:lnTo>
                  <a:lnTo>
                    <a:pt x="864127" y="139200"/>
                  </a:lnTo>
                  <a:lnTo>
                    <a:pt x="882949" y="103238"/>
                  </a:lnTo>
                  <a:lnTo>
                    <a:pt x="884744" y="84946"/>
                  </a:lnTo>
                  <a:lnTo>
                    <a:pt x="884046" y="75335"/>
                  </a:lnTo>
                  <a:lnTo>
                    <a:pt x="884023" y="75025"/>
                  </a:lnTo>
                  <a:lnTo>
                    <a:pt x="881858" y="66132"/>
                  </a:lnTo>
                  <a:lnTo>
                    <a:pt x="878251" y="58330"/>
                  </a:lnTo>
                  <a:lnTo>
                    <a:pt x="874716" y="53633"/>
                  </a:lnTo>
                  <a:close/>
                </a:path>
                <a:path w="944879" h="193675">
                  <a:moveTo>
                    <a:pt x="789884" y="0"/>
                  </a:moveTo>
                  <a:lnTo>
                    <a:pt x="770053" y="0"/>
                  </a:lnTo>
                  <a:lnTo>
                    <a:pt x="718553" y="99052"/>
                  </a:lnTo>
                  <a:lnTo>
                    <a:pt x="715448" y="105243"/>
                  </a:lnTo>
                  <a:lnTo>
                    <a:pt x="711912" y="112422"/>
                  </a:lnTo>
                  <a:lnTo>
                    <a:pt x="707961" y="120590"/>
                  </a:lnTo>
                  <a:lnTo>
                    <a:pt x="703606" y="129745"/>
                  </a:lnTo>
                  <a:lnTo>
                    <a:pt x="721986" y="129745"/>
                  </a:lnTo>
                  <a:lnTo>
                    <a:pt x="789884" y="0"/>
                  </a:lnTo>
                  <a:close/>
                </a:path>
                <a:path w="944879" h="193675">
                  <a:moveTo>
                    <a:pt x="944679" y="0"/>
                  </a:moveTo>
                  <a:lnTo>
                    <a:pt x="926920" y="0"/>
                  </a:lnTo>
                  <a:lnTo>
                    <a:pt x="896730" y="151291"/>
                  </a:lnTo>
                  <a:lnTo>
                    <a:pt x="914488" y="151291"/>
                  </a:lnTo>
                  <a:lnTo>
                    <a:pt x="944679" y="0"/>
                  </a:lnTo>
                  <a:close/>
                </a:path>
              </a:pathLst>
            </a:custGeom>
            <a:solidFill>
              <a:srgbClr val="1E2D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6032" y="1885694"/>
              <a:ext cx="3792330" cy="1564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54182" y="2574450"/>
              <a:ext cx="349250" cy="405765"/>
            </a:xfrm>
            <a:custGeom>
              <a:avLst/>
              <a:gdLst/>
              <a:ahLst/>
              <a:cxnLst/>
              <a:rect l="l" t="t" r="r" b="b"/>
              <a:pathLst>
                <a:path w="349250" h="405764">
                  <a:moveTo>
                    <a:pt x="34288" y="267628"/>
                  </a:moveTo>
                  <a:lnTo>
                    <a:pt x="0" y="405415"/>
                  </a:lnTo>
                  <a:lnTo>
                    <a:pt x="130803" y="350173"/>
                  </a:lnTo>
                  <a:lnTo>
                    <a:pt x="101069" y="324742"/>
                  </a:lnTo>
                  <a:lnTo>
                    <a:pt x="81530" y="324742"/>
                  </a:lnTo>
                  <a:lnTo>
                    <a:pt x="67053" y="312361"/>
                  </a:lnTo>
                  <a:lnTo>
                    <a:pt x="75307" y="302710"/>
                  </a:lnTo>
                  <a:lnTo>
                    <a:pt x="34288" y="267628"/>
                  </a:lnTo>
                  <a:close/>
                </a:path>
                <a:path w="349250" h="405764">
                  <a:moveTo>
                    <a:pt x="75307" y="302710"/>
                  </a:moveTo>
                  <a:lnTo>
                    <a:pt x="67053" y="312361"/>
                  </a:lnTo>
                  <a:lnTo>
                    <a:pt x="81530" y="324742"/>
                  </a:lnTo>
                  <a:lnTo>
                    <a:pt x="89784" y="315091"/>
                  </a:lnTo>
                  <a:lnTo>
                    <a:pt x="75307" y="302710"/>
                  </a:lnTo>
                  <a:close/>
                </a:path>
                <a:path w="349250" h="405764">
                  <a:moveTo>
                    <a:pt x="89784" y="315091"/>
                  </a:moveTo>
                  <a:lnTo>
                    <a:pt x="81530" y="324742"/>
                  </a:lnTo>
                  <a:lnTo>
                    <a:pt x="101069" y="324742"/>
                  </a:lnTo>
                  <a:lnTo>
                    <a:pt x="89784" y="315091"/>
                  </a:lnTo>
                  <a:close/>
                </a:path>
                <a:path w="349250" h="405764">
                  <a:moveTo>
                    <a:pt x="334204" y="0"/>
                  </a:moveTo>
                  <a:lnTo>
                    <a:pt x="75307" y="302710"/>
                  </a:lnTo>
                  <a:lnTo>
                    <a:pt x="89784" y="315091"/>
                  </a:lnTo>
                  <a:lnTo>
                    <a:pt x="348682" y="12381"/>
                  </a:lnTo>
                  <a:lnTo>
                    <a:pt x="3342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7391" y="5112595"/>
            <a:ext cx="104597" cy="19125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7391" y="4391475"/>
            <a:ext cx="104597" cy="19159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27391" y="3670356"/>
            <a:ext cx="104597" cy="1919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27391" y="3013567"/>
            <a:ext cx="102850" cy="851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27391" y="2229977"/>
            <a:ext cx="102850" cy="190665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103737" y="5427101"/>
            <a:ext cx="481330" cy="111125"/>
          </a:xfrm>
          <a:custGeom>
            <a:avLst/>
            <a:gdLst/>
            <a:ahLst/>
            <a:cxnLst/>
            <a:rect l="l" t="t" r="r" b="b"/>
            <a:pathLst>
              <a:path w="481329" h="111125">
                <a:moveTo>
                  <a:pt x="57005" y="83444"/>
                </a:moveTo>
                <a:lnTo>
                  <a:pt x="44441" y="83444"/>
                </a:lnTo>
                <a:lnTo>
                  <a:pt x="44441" y="109129"/>
                </a:lnTo>
                <a:lnTo>
                  <a:pt x="57005" y="109129"/>
                </a:lnTo>
                <a:lnTo>
                  <a:pt x="57005" y="83444"/>
                </a:lnTo>
                <a:close/>
              </a:path>
              <a:path w="481329" h="111125">
                <a:moveTo>
                  <a:pt x="57005" y="1828"/>
                </a:moveTo>
                <a:lnTo>
                  <a:pt x="46734" y="1828"/>
                </a:lnTo>
                <a:lnTo>
                  <a:pt x="0" y="71367"/>
                </a:lnTo>
                <a:lnTo>
                  <a:pt x="0" y="83444"/>
                </a:lnTo>
                <a:lnTo>
                  <a:pt x="70841" y="83444"/>
                </a:lnTo>
                <a:lnTo>
                  <a:pt x="70841" y="71367"/>
                </a:lnTo>
                <a:lnTo>
                  <a:pt x="12357" y="71367"/>
                </a:lnTo>
                <a:lnTo>
                  <a:pt x="44441" y="22988"/>
                </a:lnTo>
                <a:lnTo>
                  <a:pt x="57005" y="22988"/>
                </a:lnTo>
                <a:lnTo>
                  <a:pt x="57005" y="1828"/>
                </a:lnTo>
                <a:close/>
              </a:path>
              <a:path w="481329" h="111125">
                <a:moveTo>
                  <a:pt x="57005" y="22988"/>
                </a:moveTo>
                <a:lnTo>
                  <a:pt x="44441" y="22988"/>
                </a:lnTo>
                <a:lnTo>
                  <a:pt x="44441" y="71367"/>
                </a:lnTo>
                <a:lnTo>
                  <a:pt x="57005" y="71367"/>
                </a:lnTo>
                <a:lnTo>
                  <a:pt x="57005" y="22988"/>
                </a:lnTo>
                <a:close/>
              </a:path>
              <a:path w="481329" h="111125">
                <a:moveTo>
                  <a:pt x="119899" y="0"/>
                </a:moveTo>
                <a:lnTo>
                  <a:pt x="109837" y="0"/>
                </a:lnTo>
                <a:lnTo>
                  <a:pt x="80135" y="110958"/>
                </a:lnTo>
                <a:lnTo>
                  <a:pt x="90272" y="110958"/>
                </a:lnTo>
                <a:lnTo>
                  <a:pt x="119899" y="0"/>
                </a:lnTo>
                <a:close/>
              </a:path>
              <a:path w="481329" h="111125">
                <a:moveTo>
                  <a:pt x="174404" y="25173"/>
                </a:moveTo>
                <a:lnTo>
                  <a:pt x="161824" y="25173"/>
                </a:lnTo>
                <a:lnTo>
                  <a:pt x="161824" y="109129"/>
                </a:lnTo>
                <a:lnTo>
                  <a:pt x="174404" y="109129"/>
                </a:lnTo>
                <a:lnTo>
                  <a:pt x="174404" y="25173"/>
                </a:lnTo>
                <a:close/>
              </a:path>
              <a:path w="481329" h="111125">
                <a:moveTo>
                  <a:pt x="174404" y="1395"/>
                </a:moveTo>
                <a:lnTo>
                  <a:pt x="166293" y="1395"/>
                </a:lnTo>
                <a:lnTo>
                  <a:pt x="164104" y="6029"/>
                </a:lnTo>
                <a:lnTo>
                  <a:pt x="160374" y="10805"/>
                </a:lnTo>
                <a:lnTo>
                  <a:pt x="149852" y="20662"/>
                </a:lnTo>
                <a:lnTo>
                  <a:pt x="143696" y="24864"/>
                </a:lnTo>
                <a:lnTo>
                  <a:pt x="136667" y="28320"/>
                </a:lnTo>
                <a:lnTo>
                  <a:pt x="136667" y="41062"/>
                </a:lnTo>
                <a:lnTo>
                  <a:pt x="161824" y="25173"/>
                </a:lnTo>
                <a:lnTo>
                  <a:pt x="174404" y="25173"/>
                </a:lnTo>
                <a:lnTo>
                  <a:pt x="174404" y="1395"/>
                </a:lnTo>
                <a:close/>
              </a:path>
              <a:path w="481329" h="111125">
                <a:moveTo>
                  <a:pt x="253236" y="1395"/>
                </a:moveTo>
                <a:lnTo>
                  <a:pt x="245186" y="1395"/>
                </a:lnTo>
                <a:lnTo>
                  <a:pt x="237497" y="2163"/>
                </a:lnTo>
                <a:lnTo>
                  <a:pt x="211169" y="32055"/>
                </a:lnTo>
                <a:lnTo>
                  <a:pt x="208426" y="58920"/>
                </a:lnTo>
                <a:lnTo>
                  <a:pt x="209047" y="71845"/>
                </a:lnTo>
                <a:lnTo>
                  <a:pt x="229725" y="107927"/>
                </a:lnTo>
                <a:lnTo>
                  <a:pt x="244002" y="110958"/>
                </a:lnTo>
                <a:lnTo>
                  <a:pt x="250144" y="110958"/>
                </a:lnTo>
                <a:lnTo>
                  <a:pt x="255648" y="109423"/>
                </a:lnTo>
                <a:lnTo>
                  <a:pt x="265327" y="103270"/>
                </a:lnTo>
                <a:lnTo>
                  <a:pt x="268046" y="100122"/>
                </a:lnTo>
                <a:lnTo>
                  <a:pt x="240154" y="100122"/>
                </a:lnTo>
                <a:lnTo>
                  <a:pt x="236677" y="99038"/>
                </a:lnTo>
                <a:lnTo>
                  <a:pt x="230061" y="94697"/>
                </a:lnTo>
                <a:lnTo>
                  <a:pt x="227486" y="91535"/>
                </a:lnTo>
                <a:lnTo>
                  <a:pt x="223817" y="83242"/>
                </a:lnTo>
                <a:lnTo>
                  <a:pt x="222898" y="78901"/>
                </a:lnTo>
                <a:lnTo>
                  <a:pt x="222898" y="67430"/>
                </a:lnTo>
                <a:lnTo>
                  <a:pt x="224867" y="61835"/>
                </a:lnTo>
                <a:lnTo>
                  <a:pt x="232339" y="53789"/>
                </a:lnTo>
                <a:lnTo>
                  <a:pt x="220930" y="53789"/>
                </a:lnTo>
                <a:lnTo>
                  <a:pt x="236899" y="13393"/>
                </a:lnTo>
                <a:lnTo>
                  <a:pt x="240405" y="12214"/>
                </a:lnTo>
                <a:lnTo>
                  <a:pt x="269041" y="12214"/>
                </a:lnTo>
                <a:lnTo>
                  <a:pt x="259852" y="3751"/>
                </a:lnTo>
                <a:lnTo>
                  <a:pt x="253236" y="1395"/>
                </a:lnTo>
                <a:close/>
              </a:path>
              <a:path w="481329" h="111125">
                <a:moveTo>
                  <a:pt x="268675" y="51154"/>
                </a:moveTo>
                <a:lnTo>
                  <a:pt x="249034" y="51154"/>
                </a:lnTo>
                <a:lnTo>
                  <a:pt x="253784" y="53294"/>
                </a:lnTo>
                <a:lnTo>
                  <a:pt x="261331" y="61835"/>
                </a:lnTo>
                <a:lnTo>
                  <a:pt x="263131" y="67430"/>
                </a:lnTo>
                <a:lnTo>
                  <a:pt x="263210" y="82809"/>
                </a:lnTo>
                <a:lnTo>
                  <a:pt x="261302" y="88899"/>
                </a:lnTo>
                <a:lnTo>
                  <a:pt x="253665" y="97875"/>
                </a:lnTo>
                <a:lnTo>
                  <a:pt x="249092" y="100122"/>
                </a:lnTo>
                <a:lnTo>
                  <a:pt x="268046" y="100122"/>
                </a:lnTo>
                <a:lnTo>
                  <a:pt x="269144" y="98851"/>
                </a:lnTo>
                <a:lnTo>
                  <a:pt x="274680" y="87273"/>
                </a:lnTo>
                <a:lnTo>
                  <a:pt x="276071" y="81025"/>
                </a:lnTo>
                <a:lnTo>
                  <a:pt x="276071" y="74359"/>
                </a:lnTo>
                <a:lnTo>
                  <a:pt x="275573" y="67678"/>
                </a:lnTo>
                <a:lnTo>
                  <a:pt x="275519" y="66952"/>
                </a:lnTo>
                <a:lnTo>
                  <a:pt x="273862" y="60331"/>
                </a:lnTo>
                <a:lnTo>
                  <a:pt x="271101" y="54419"/>
                </a:lnTo>
                <a:lnTo>
                  <a:pt x="268675" y="51154"/>
                </a:lnTo>
                <a:close/>
              </a:path>
              <a:path w="481329" h="111125">
                <a:moveTo>
                  <a:pt x="254198" y="39528"/>
                </a:moveTo>
                <a:lnTo>
                  <a:pt x="241012" y="39528"/>
                </a:lnTo>
                <a:lnTo>
                  <a:pt x="236425" y="40690"/>
                </a:lnTo>
                <a:lnTo>
                  <a:pt x="227664" y="45372"/>
                </a:lnTo>
                <a:lnTo>
                  <a:pt x="223964" y="48968"/>
                </a:lnTo>
                <a:lnTo>
                  <a:pt x="220930" y="53789"/>
                </a:lnTo>
                <a:lnTo>
                  <a:pt x="232339" y="53789"/>
                </a:lnTo>
                <a:lnTo>
                  <a:pt x="232799" y="53294"/>
                </a:lnTo>
                <a:lnTo>
                  <a:pt x="237609" y="51154"/>
                </a:lnTo>
                <a:lnTo>
                  <a:pt x="268675" y="51154"/>
                </a:lnTo>
                <a:lnTo>
                  <a:pt x="267235" y="49216"/>
                </a:lnTo>
                <a:lnTo>
                  <a:pt x="261331" y="42753"/>
                </a:lnTo>
                <a:lnTo>
                  <a:pt x="254198" y="39528"/>
                </a:lnTo>
                <a:close/>
              </a:path>
              <a:path w="481329" h="111125">
                <a:moveTo>
                  <a:pt x="269041" y="12214"/>
                </a:moveTo>
                <a:lnTo>
                  <a:pt x="249403" y="12214"/>
                </a:lnTo>
                <a:lnTo>
                  <a:pt x="253592" y="14105"/>
                </a:lnTo>
                <a:lnTo>
                  <a:pt x="256995" y="17857"/>
                </a:lnTo>
                <a:lnTo>
                  <a:pt x="259038" y="20198"/>
                </a:lnTo>
                <a:lnTo>
                  <a:pt x="260621" y="23949"/>
                </a:lnTo>
                <a:lnTo>
                  <a:pt x="261745" y="29127"/>
                </a:lnTo>
                <a:lnTo>
                  <a:pt x="274251" y="28103"/>
                </a:lnTo>
                <a:lnTo>
                  <a:pt x="273283" y="20198"/>
                </a:lnTo>
                <a:lnTo>
                  <a:pt x="273230" y="19765"/>
                </a:lnTo>
                <a:lnTo>
                  <a:pt x="270217" y="13393"/>
                </a:lnTo>
                <a:lnTo>
                  <a:pt x="270136" y="13223"/>
                </a:lnTo>
                <a:lnTo>
                  <a:pt x="269041" y="12214"/>
                </a:lnTo>
                <a:close/>
              </a:path>
              <a:path w="481329" h="111125">
                <a:moveTo>
                  <a:pt x="324773" y="0"/>
                </a:moveTo>
                <a:lnTo>
                  <a:pt x="314711" y="0"/>
                </a:lnTo>
                <a:lnTo>
                  <a:pt x="285009" y="110958"/>
                </a:lnTo>
                <a:lnTo>
                  <a:pt x="295146" y="110958"/>
                </a:lnTo>
                <a:lnTo>
                  <a:pt x="324773" y="0"/>
                </a:lnTo>
                <a:close/>
              </a:path>
              <a:path w="481329" h="111125">
                <a:moveTo>
                  <a:pt x="379277" y="25173"/>
                </a:moveTo>
                <a:lnTo>
                  <a:pt x="366698" y="25173"/>
                </a:lnTo>
                <a:lnTo>
                  <a:pt x="366698" y="109129"/>
                </a:lnTo>
                <a:lnTo>
                  <a:pt x="379277" y="109129"/>
                </a:lnTo>
                <a:lnTo>
                  <a:pt x="379277" y="25173"/>
                </a:lnTo>
                <a:close/>
              </a:path>
              <a:path w="481329" h="111125">
                <a:moveTo>
                  <a:pt x="379277" y="1395"/>
                </a:moveTo>
                <a:lnTo>
                  <a:pt x="371167" y="1395"/>
                </a:lnTo>
                <a:lnTo>
                  <a:pt x="368978" y="6029"/>
                </a:lnTo>
                <a:lnTo>
                  <a:pt x="365248" y="10805"/>
                </a:lnTo>
                <a:lnTo>
                  <a:pt x="354726" y="20662"/>
                </a:lnTo>
                <a:lnTo>
                  <a:pt x="348570" y="24864"/>
                </a:lnTo>
                <a:lnTo>
                  <a:pt x="341541" y="28320"/>
                </a:lnTo>
                <a:lnTo>
                  <a:pt x="341541" y="41062"/>
                </a:lnTo>
                <a:lnTo>
                  <a:pt x="366698" y="25173"/>
                </a:lnTo>
                <a:lnTo>
                  <a:pt x="379277" y="25173"/>
                </a:lnTo>
                <a:lnTo>
                  <a:pt x="379277" y="1395"/>
                </a:lnTo>
                <a:close/>
              </a:path>
              <a:path w="481329" h="111125">
                <a:moveTo>
                  <a:pt x="481004" y="3224"/>
                </a:moveTo>
                <a:lnTo>
                  <a:pt x="414705" y="3224"/>
                </a:lnTo>
                <a:lnTo>
                  <a:pt x="414705" y="15888"/>
                </a:lnTo>
                <a:lnTo>
                  <a:pt x="464873" y="15888"/>
                </a:lnTo>
                <a:lnTo>
                  <a:pt x="460150" y="21923"/>
                </a:lnTo>
                <a:lnTo>
                  <a:pt x="439358" y="60786"/>
                </a:lnTo>
                <a:lnTo>
                  <a:pt x="429396" y="102464"/>
                </a:lnTo>
                <a:lnTo>
                  <a:pt x="429016" y="109129"/>
                </a:lnTo>
                <a:lnTo>
                  <a:pt x="441951" y="109129"/>
                </a:lnTo>
                <a:lnTo>
                  <a:pt x="442539" y="102464"/>
                </a:lnTo>
                <a:lnTo>
                  <a:pt x="442644" y="101276"/>
                </a:lnTo>
                <a:lnTo>
                  <a:pt x="443679" y="93740"/>
                </a:lnTo>
                <a:lnTo>
                  <a:pt x="444934" y="87164"/>
                </a:lnTo>
                <a:lnTo>
                  <a:pt x="445057" y="86523"/>
                </a:lnTo>
                <a:lnTo>
                  <a:pt x="461618" y="42443"/>
                </a:lnTo>
                <a:lnTo>
                  <a:pt x="481004" y="13470"/>
                </a:lnTo>
                <a:lnTo>
                  <a:pt x="481004" y="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99418" y="5427101"/>
            <a:ext cx="481330" cy="111125"/>
          </a:xfrm>
          <a:custGeom>
            <a:avLst/>
            <a:gdLst/>
            <a:ahLst/>
            <a:cxnLst/>
            <a:rect l="l" t="t" r="r" b="b"/>
            <a:pathLst>
              <a:path w="481329" h="111125">
                <a:moveTo>
                  <a:pt x="57094" y="83444"/>
                </a:moveTo>
                <a:lnTo>
                  <a:pt x="44514" y="83444"/>
                </a:lnTo>
                <a:lnTo>
                  <a:pt x="44514" y="109129"/>
                </a:lnTo>
                <a:lnTo>
                  <a:pt x="57094" y="109129"/>
                </a:lnTo>
                <a:lnTo>
                  <a:pt x="57094" y="83444"/>
                </a:lnTo>
                <a:close/>
              </a:path>
              <a:path w="481329" h="111125">
                <a:moveTo>
                  <a:pt x="57094" y="1828"/>
                </a:moveTo>
                <a:lnTo>
                  <a:pt x="46734" y="1828"/>
                </a:lnTo>
                <a:lnTo>
                  <a:pt x="0" y="71367"/>
                </a:lnTo>
                <a:lnTo>
                  <a:pt x="0" y="83444"/>
                </a:lnTo>
                <a:lnTo>
                  <a:pt x="70857" y="83444"/>
                </a:lnTo>
                <a:lnTo>
                  <a:pt x="70857" y="71367"/>
                </a:lnTo>
                <a:lnTo>
                  <a:pt x="12372" y="71367"/>
                </a:lnTo>
                <a:lnTo>
                  <a:pt x="44514" y="22988"/>
                </a:lnTo>
                <a:lnTo>
                  <a:pt x="57094" y="22988"/>
                </a:lnTo>
                <a:lnTo>
                  <a:pt x="57094" y="1828"/>
                </a:lnTo>
                <a:close/>
              </a:path>
              <a:path w="481329" h="111125">
                <a:moveTo>
                  <a:pt x="57094" y="22988"/>
                </a:moveTo>
                <a:lnTo>
                  <a:pt x="44514" y="22988"/>
                </a:lnTo>
                <a:lnTo>
                  <a:pt x="44514" y="71367"/>
                </a:lnTo>
                <a:lnTo>
                  <a:pt x="57094" y="71367"/>
                </a:lnTo>
                <a:lnTo>
                  <a:pt x="57094" y="22988"/>
                </a:lnTo>
                <a:close/>
              </a:path>
              <a:path w="481329" h="111125">
                <a:moveTo>
                  <a:pt x="119841" y="0"/>
                </a:moveTo>
                <a:lnTo>
                  <a:pt x="109777" y="0"/>
                </a:lnTo>
                <a:lnTo>
                  <a:pt x="80180" y="110958"/>
                </a:lnTo>
                <a:lnTo>
                  <a:pt x="90243" y="110958"/>
                </a:lnTo>
                <a:lnTo>
                  <a:pt x="119841" y="0"/>
                </a:lnTo>
                <a:close/>
              </a:path>
              <a:path w="481329" h="111125">
                <a:moveTo>
                  <a:pt x="139670" y="79040"/>
                </a:moveTo>
                <a:lnTo>
                  <a:pt x="127092" y="80808"/>
                </a:lnTo>
                <a:lnTo>
                  <a:pt x="127946" y="89396"/>
                </a:lnTo>
                <a:lnTo>
                  <a:pt x="127980" y="89736"/>
                </a:lnTo>
                <a:lnTo>
                  <a:pt x="131384" y="97007"/>
                </a:lnTo>
                <a:lnTo>
                  <a:pt x="143222" y="108230"/>
                </a:lnTo>
                <a:lnTo>
                  <a:pt x="150622" y="111036"/>
                </a:lnTo>
                <a:lnTo>
                  <a:pt x="159649" y="111036"/>
                </a:lnTo>
                <a:lnTo>
                  <a:pt x="185302" y="100122"/>
                </a:lnTo>
                <a:lnTo>
                  <a:pt x="154766" y="100122"/>
                </a:lnTo>
                <a:lnTo>
                  <a:pt x="150474" y="98479"/>
                </a:lnTo>
                <a:lnTo>
                  <a:pt x="147071" y="95177"/>
                </a:lnTo>
                <a:lnTo>
                  <a:pt x="143518" y="91892"/>
                </a:lnTo>
                <a:lnTo>
                  <a:pt x="141150" y="86512"/>
                </a:lnTo>
                <a:lnTo>
                  <a:pt x="139670" y="79040"/>
                </a:lnTo>
                <a:close/>
              </a:path>
              <a:path w="481329" h="111125">
                <a:moveTo>
                  <a:pt x="186804" y="56874"/>
                </a:moveTo>
                <a:lnTo>
                  <a:pt x="166604" y="56874"/>
                </a:lnTo>
                <a:lnTo>
                  <a:pt x="171340" y="58827"/>
                </a:lnTo>
                <a:lnTo>
                  <a:pt x="175187" y="62764"/>
                </a:lnTo>
                <a:lnTo>
                  <a:pt x="178888" y="66686"/>
                </a:lnTo>
                <a:lnTo>
                  <a:pt x="180811" y="71678"/>
                </a:lnTo>
                <a:lnTo>
                  <a:pt x="180766" y="84192"/>
                </a:lnTo>
                <a:lnTo>
                  <a:pt x="178739" y="89396"/>
                </a:lnTo>
                <a:lnTo>
                  <a:pt x="174744" y="93690"/>
                </a:lnTo>
                <a:lnTo>
                  <a:pt x="170600" y="97984"/>
                </a:lnTo>
                <a:lnTo>
                  <a:pt x="165717" y="100122"/>
                </a:lnTo>
                <a:lnTo>
                  <a:pt x="185302" y="100122"/>
                </a:lnTo>
                <a:lnTo>
                  <a:pt x="188636" y="96104"/>
                </a:lnTo>
                <a:lnTo>
                  <a:pt x="191688" y="90417"/>
                </a:lnTo>
                <a:lnTo>
                  <a:pt x="193520" y="84192"/>
                </a:lnTo>
                <a:lnTo>
                  <a:pt x="194130" y="77429"/>
                </a:lnTo>
                <a:lnTo>
                  <a:pt x="194130" y="70500"/>
                </a:lnTo>
                <a:lnTo>
                  <a:pt x="192502" y="64733"/>
                </a:lnTo>
                <a:lnTo>
                  <a:pt x="189099" y="60129"/>
                </a:lnTo>
                <a:lnTo>
                  <a:pt x="186804" y="56874"/>
                </a:lnTo>
                <a:close/>
              </a:path>
              <a:path w="481329" h="111125">
                <a:moveTo>
                  <a:pt x="183530" y="12214"/>
                </a:moveTo>
                <a:lnTo>
                  <a:pt x="164384" y="12214"/>
                </a:lnTo>
                <a:lnTo>
                  <a:pt x="168395" y="13827"/>
                </a:lnTo>
                <a:lnTo>
                  <a:pt x="174230" y="19780"/>
                </a:lnTo>
                <a:lnTo>
                  <a:pt x="174684" y="20369"/>
                </a:lnTo>
                <a:lnTo>
                  <a:pt x="176223" y="24151"/>
                </a:lnTo>
                <a:lnTo>
                  <a:pt x="176223" y="35079"/>
                </a:lnTo>
                <a:lnTo>
                  <a:pt x="174152" y="39590"/>
                </a:lnTo>
                <a:lnTo>
                  <a:pt x="165568" y="45449"/>
                </a:lnTo>
                <a:lnTo>
                  <a:pt x="160685" y="46922"/>
                </a:lnTo>
                <a:lnTo>
                  <a:pt x="153268" y="46922"/>
                </a:lnTo>
                <a:lnTo>
                  <a:pt x="152122" y="56874"/>
                </a:lnTo>
                <a:lnTo>
                  <a:pt x="152066" y="57354"/>
                </a:lnTo>
                <a:lnTo>
                  <a:pt x="151954" y="58331"/>
                </a:lnTo>
                <a:lnTo>
                  <a:pt x="155505" y="57354"/>
                </a:lnTo>
                <a:lnTo>
                  <a:pt x="158465" y="56874"/>
                </a:lnTo>
                <a:lnTo>
                  <a:pt x="186804" y="56874"/>
                </a:lnTo>
                <a:lnTo>
                  <a:pt x="185842" y="55510"/>
                </a:lnTo>
                <a:lnTo>
                  <a:pt x="181107" y="52472"/>
                </a:lnTo>
                <a:lnTo>
                  <a:pt x="175040" y="51014"/>
                </a:lnTo>
                <a:lnTo>
                  <a:pt x="179627" y="48766"/>
                </a:lnTo>
                <a:lnTo>
                  <a:pt x="183179" y="45744"/>
                </a:lnTo>
                <a:lnTo>
                  <a:pt x="187915" y="38133"/>
                </a:lnTo>
                <a:lnTo>
                  <a:pt x="189099" y="33916"/>
                </a:lnTo>
                <a:lnTo>
                  <a:pt x="189035" y="24151"/>
                </a:lnTo>
                <a:lnTo>
                  <a:pt x="187915" y="19780"/>
                </a:lnTo>
                <a:lnTo>
                  <a:pt x="183530" y="12214"/>
                </a:lnTo>
                <a:close/>
              </a:path>
              <a:path w="481329" h="111125">
                <a:moveTo>
                  <a:pt x="164829" y="1395"/>
                </a:moveTo>
                <a:lnTo>
                  <a:pt x="151066" y="1395"/>
                </a:lnTo>
                <a:lnTo>
                  <a:pt x="144259" y="3813"/>
                </a:lnTo>
                <a:lnTo>
                  <a:pt x="138783" y="8665"/>
                </a:lnTo>
                <a:lnTo>
                  <a:pt x="133455" y="13533"/>
                </a:lnTo>
                <a:lnTo>
                  <a:pt x="129904" y="20369"/>
                </a:lnTo>
                <a:lnTo>
                  <a:pt x="128423" y="29204"/>
                </a:lnTo>
                <a:lnTo>
                  <a:pt x="141003" y="31545"/>
                </a:lnTo>
                <a:lnTo>
                  <a:pt x="141890" y="25096"/>
                </a:lnTo>
                <a:lnTo>
                  <a:pt x="143921" y="20369"/>
                </a:lnTo>
                <a:lnTo>
                  <a:pt x="144462" y="19780"/>
                </a:lnTo>
                <a:lnTo>
                  <a:pt x="150474" y="13827"/>
                </a:lnTo>
                <a:lnTo>
                  <a:pt x="154617" y="12214"/>
                </a:lnTo>
                <a:lnTo>
                  <a:pt x="183530" y="12214"/>
                </a:lnTo>
                <a:lnTo>
                  <a:pt x="182883" y="11099"/>
                </a:lnTo>
                <a:lnTo>
                  <a:pt x="179331" y="7673"/>
                </a:lnTo>
                <a:lnTo>
                  <a:pt x="169859" y="2650"/>
                </a:lnTo>
                <a:lnTo>
                  <a:pt x="164829" y="1395"/>
                </a:lnTo>
                <a:close/>
              </a:path>
              <a:path w="481329" h="111125">
                <a:moveTo>
                  <a:pt x="247850" y="1395"/>
                </a:moveTo>
                <a:lnTo>
                  <a:pt x="234975" y="1395"/>
                </a:lnTo>
                <a:lnTo>
                  <a:pt x="228760" y="3488"/>
                </a:lnTo>
                <a:lnTo>
                  <a:pt x="209909" y="39038"/>
                </a:lnTo>
                <a:lnTo>
                  <a:pt x="208928" y="56207"/>
                </a:lnTo>
                <a:lnTo>
                  <a:pt x="209478" y="68312"/>
                </a:lnTo>
                <a:lnTo>
                  <a:pt x="209567" y="70269"/>
                </a:lnTo>
                <a:lnTo>
                  <a:pt x="229148" y="108178"/>
                </a:lnTo>
                <a:lnTo>
                  <a:pt x="242374" y="110958"/>
                </a:lnTo>
                <a:lnTo>
                  <a:pt x="249922" y="110958"/>
                </a:lnTo>
                <a:lnTo>
                  <a:pt x="256137" y="108850"/>
                </a:lnTo>
                <a:lnTo>
                  <a:pt x="265904" y="100402"/>
                </a:lnTo>
                <a:lnTo>
                  <a:pt x="266078" y="100122"/>
                </a:lnTo>
                <a:lnTo>
                  <a:pt x="236603" y="100122"/>
                </a:lnTo>
                <a:lnTo>
                  <a:pt x="231719" y="97208"/>
                </a:lnTo>
                <a:lnTo>
                  <a:pt x="221952" y="56207"/>
                </a:lnTo>
                <a:lnTo>
                  <a:pt x="222197" y="48641"/>
                </a:lnTo>
                <a:lnTo>
                  <a:pt x="222245" y="47160"/>
                </a:lnTo>
                <a:lnTo>
                  <a:pt x="222344" y="44076"/>
                </a:lnTo>
                <a:lnTo>
                  <a:pt x="236454" y="12292"/>
                </a:lnTo>
                <a:lnTo>
                  <a:pt x="265500" y="12292"/>
                </a:lnTo>
                <a:lnTo>
                  <a:pt x="264424" y="10525"/>
                </a:lnTo>
                <a:lnTo>
                  <a:pt x="261020" y="7176"/>
                </a:lnTo>
                <a:lnTo>
                  <a:pt x="252733" y="2542"/>
                </a:lnTo>
                <a:lnTo>
                  <a:pt x="247850" y="1395"/>
                </a:lnTo>
                <a:close/>
              </a:path>
              <a:path w="481329" h="111125">
                <a:moveTo>
                  <a:pt x="265500" y="12292"/>
                </a:moveTo>
                <a:lnTo>
                  <a:pt x="248146" y="12292"/>
                </a:lnTo>
                <a:lnTo>
                  <a:pt x="253029" y="15191"/>
                </a:lnTo>
                <a:lnTo>
                  <a:pt x="257025" y="21004"/>
                </a:lnTo>
                <a:lnTo>
                  <a:pt x="262944" y="56207"/>
                </a:lnTo>
                <a:lnTo>
                  <a:pt x="262659" y="65194"/>
                </a:lnTo>
                <a:lnTo>
                  <a:pt x="248146" y="100122"/>
                </a:lnTo>
                <a:lnTo>
                  <a:pt x="266078" y="100122"/>
                </a:lnTo>
                <a:lnTo>
                  <a:pt x="275819" y="56207"/>
                </a:lnTo>
                <a:lnTo>
                  <a:pt x="275678" y="48641"/>
                </a:lnTo>
                <a:lnTo>
                  <a:pt x="267088" y="14897"/>
                </a:lnTo>
                <a:lnTo>
                  <a:pt x="265500" y="12292"/>
                </a:lnTo>
                <a:close/>
              </a:path>
              <a:path w="481329" h="111125">
                <a:moveTo>
                  <a:pt x="324803" y="0"/>
                </a:moveTo>
                <a:lnTo>
                  <a:pt x="314740" y="0"/>
                </a:lnTo>
                <a:lnTo>
                  <a:pt x="284994" y="110958"/>
                </a:lnTo>
                <a:lnTo>
                  <a:pt x="295206" y="110958"/>
                </a:lnTo>
                <a:lnTo>
                  <a:pt x="324803" y="0"/>
                </a:lnTo>
                <a:close/>
              </a:path>
              <a:path w="481329" h="111125">
                <a:moveTo>
                  <a:pt x="379262" y="25173"/>
                </a:moveTo>
                <a:lnTo>
                  <a:pt x="366684" y="25173"/>
                </a:lnTo>
                <a:lnTo>
                  <a:pt x="366684" y="109129"/>
                </a:lnTo>
                <a:lnTo>
                  <a:pt x="379262" y="109129"/>
                </a:lnTo>
                <a:lnTo>
                  <a:pt x="379262" y="25173"/>
                </a:lnTo>
                <a:close/>
              </a:path>
              <a:path w="481329" h="111125">
                <a:moveTo>
                  <a:pt x="379262" y="1395"/>
                </a:moveTo>
                <a:lnTo>
                  <a:pt x="371123" y="1395"/>
                </a:lnTo>
                <a:lnTo>
                  <a:pt x="369051" y="6029"/>
                </a:lnTo>
                <a:lnTo>
                  <a:pt x="365203" y="10805"/>
                </a:lnTo>
                <a:lnTo>
                  <a:pt x="360024" y="15734"/>
                </a:lnTo>
                <a:lnTo>
                  <a:pt x="354697" y="20662"/>
                </a:lnTo>
                <a:lnTo>
                  <a:pt x="348630" y="24864"/>
                </a:lnTo>
                <a:lnTo>
                  <a:pt x="341525" y="28320"/>
                </a:lnTo>
                <a:lnTo>
                  <a:pt x="341525" y="41062"/>
                </a:lnTo>
                <a:lnTo>
                  <a:pt x="366684" y="25173"/>
                </a:lnTo>
                <a:lnTo>
                  <a:pt x="379262" y="25173"/>
                </a:lnTo>
                <a:lnTo>
                  <a:pt x="379262" y="1395"/>
                </a:lnTo>
                <a:close/>
              </a:path>
              <a:path w="481329" h="111125">
                <a:moveTo>
                  <a:pt x="481078" y="3224"/>
                </a:moveTo>
                <a:lnTo>
                  <a:pt x="414780" y="3224"/>
                </a:lnTo>
                <a:lnTo>
                  <a:pt x="414780" y="15888"/>
                </a:lnTo>
                <a:lnTo>
                  <a:pt x="464948" y="15888"/>
                </a:lnTo>
                <a:lnTo>
                  <a:pt x="460168" y="21923"/>
                </a:lnTo>
                <a:lnTo>
                  <a:pt x="439344" y="60786"/>
                </a:lnTo>
                <a:lnTo>
                  <a:pt x="429373" y="102464"/>
                </a:lnTo>
                <a:lnTo>
                  <a:pt x="428986" y="109129"/>
                </a:lnTo>
                <a:lnTo>
                  <a:pt x="442009" y="109129"/>
                </a:lnTo>
                <a:lnTo>
                  <a:pt x="442549" y="102464"/>
                </a:lnTo>
                <a:lnTo>
                  <a:pt x="442645" y="101276"/>
                </a:lnTo>
                <a:lnTo>
                  <a:pt x="453060" y="60918"/>
                </a:lnTo>
                <a:lnTo>
                  <a:pt x="471330" y="26166"/>
                </a:lnTo>
                <a:lnTo>
                  <a:pt x="481078" y="13470"/>
                </a:lnTo>
                <a:lnTo>
                  <a:pt x="481078" y="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99125" y="5427101"/>
            <a:ext cx="476884" cy="111125"/>
          </a:xfrm>
          <a:custGeom>
            <a:avLst/>
            <a:gdLst/>
            <a:ahLst/>
            <a:cxnLst/>
            <a:rect l="l" t="t" r="r" b="b"/>
            <a:pathLst>
              <a:path w="476885" h="111125">
                <a:moveTo>
                  <a:pt x="13171" y="79847"/>
                </a:moveTo>
                <a:lnTo>
                  <a:pt x="0" y="81025"/>
                </a:lnTo>
                <a:lnTo>
                  <a:pt x="739" y="90046"/>
                </a:lnTo>
                <a:lnTo>
                  <a:pt x="4144" y="97302"/>
                </a:lnTo>
                <a:lnTo>
                  <a:pt x="15982" y="108230"/>
                </a:lnTo>
                <a:lnTo>
                  <a:pt x="23529" y="110958"/>
                </a:lnTo>
                <a:lnTo>
                  <a:pt x="32853" y="110958"/>
                </a:lnTo>
                <a:lnTo>
                  <a:pt x="40932" y="110144"/>
                </a:lnTo>
                <a:lnTo>
                  <a:pt x="48096" y="107701"/>
                </a:lnTo>
                <a:lnTo>
                  <a:pt x="54371" y="103627"/>
                </a:lnTo>
                <a:lnTo>
                  <a:pt x="57697" y="100122"/>
                </a:lnTo>
                <a:lnTo>
                  <a:pt x="27821" y="100122"/>
                </a:lnTo>
                <a:lnTo>
                  <a:pt x="23529" y="98433"/>
                </a:lnTo>
                <a:lnTo>
                  <a:pt x="16426" y="91644"/>
                </a:lnTo>
                <a:lnTo>
                  <a:pt x="14058" y="86589"/>
                </a:lnTo>
                <a:lnTo>
                  <a:pt x="13171" y="79847"/>
                </a:lnTo>
                <a:close/>
              </a:path>
              <a:path w="476885" h="111125">
                <a:moveTo>
                  <a:pt x="60085" y="49620"/>
                </a:moveTo>
                <a:lnTo>
                  <a:pt x="39216" y="49620"/>
                </a:lnTo>
                <a:lnTo>
                  <a:pt x="44396" y="51790"/>
                </a:lnTo>
                <a:lnTo>
                  <a:pt x="48392" y="56130"/>
                </a:lnTo>
                <a:lnTo>
                  <a:pt x="52534" y="60486"/>
                </a:lnTo>
                <a:lnTo>
                  <a:pt x="54458" y="66408"/>
                </a:lnTo>
                <a:lnTo>
                  <a:pt x="54458" y="81831"/>
                </a:lnTo>
                <a:lnTo>
                  <a:pt x="52387" y="88171"/>
                </a:lnTo>
                <a:lnTo>
                  <a:pt x="48243" y="92946"/>
                </a:lnTo>
                <a:lnTo>
                  <a:pt x="43952" y="97735"/>
                </a:lnTo>
                <a:lnTo>
                  <a:pt x="38920" y="100122"/>
                </a:lnTo>
                <a:lnTo>
                  <a:pt x="57697" y="100122"/>
                </a:lnTo>
                <a:lnTo>
                  <a:pt x="67778" y="72748"/>
                </a:lnTo>
                <a:lnTo>
                  <a:pt x="67292" y="66408"/>
                </a:lnTo>
                <a:lnTo>
                  <a:pt x="67218" y="65446"/>
                </a:lnTo>
                <a:lnTo>
                  <a:pt x="65521" y="58841"/>
                </a:lnTo>
                <a:lnTo>
                  <a:pt x="62658" y="52930"/>
                </a:lnTo>
                <a:lnTo>
                  <a:pt x="60085" y="49620"/>
                </a:lnTo>
                <a:close/>
              </a:path>
              <a:path w="476885" h="111125">
                <a:moveTo>
                  <a:pt x="63042" y="3286"/>
                </a:moveTo>
                <a:lnTo>
                  <a:pt x="12134" y="3286"/>
                </a:lnTo>
                <a:lnTo>
                  <a:pt x="2219" y="58408"/>
                </a:lnTo>
                <a:lnTo>
                  <a:pt x="13910" y="60021"/>
                </a:lnTo>
                <a:lnTo>
                  <a:pt x="15834" y="56936"/>
                </a:lnTo>
                <a:lnTo>
                  <a:pt x="18350" y="54441"/>
                </a:lnTo>
                <a:lnTo>
                  <a:pt x="24861" y="50581"/>
                </a:lnTo>
                <a:lnTo>
                  <a:pt x="28561" y="49620"/>
                </a:lnTo>
                <a:lnTo>
                  <a:pt x="60085" y="49620"/>
                </a:lnTo>
                <a:lnTo>
                  <a:pt x="58602" y="47712"/>
                </a:lnTo>
                <a:lnTo>
                  <a:pt x="55801" y="44721"/>
                </a:lnTo>
                <a:lnTo>
                  <a:pt x="16574" y="44721"/>
                </a:lnTo>
                <a:lnTo>
                  <a:pt x="22198" y="15888"/>
                </a:lnTo>
                <a:lnTo>
                  <a:pt x="63042" y="15888"/>
                </a:lnTo>
                <a:lnTo>
                  <a:pt x="63042" y="3286"/>
                </a:lnTo>
                <a:close/>
              </a:path>
              <a:path w="476885" h="111125">
                <a:moveTo>
                  <a:pt x="44988" y="37978"/>
                </a:moveTo>
                <a:lnTo>
                  <a:pt x="29301" y="37978"/>
                </a:lnTo>
                <a:lnTo>
                  <a:pt x="22790" y="40225"/>
                </a:lnTo>
                <a:lnTo>
                  <a:pt x="16574" y="44721"/>
                </a:lnTo>
                <a:lnTo>
                  <a:pt x="55801" y="44721"/>
                </a:lnTo>
                <a:lnTo>
                  <a:pt x="52534" y="41233"/>
                </a:lnTo>
                <a:lnTo>
                  <a:pt x="44988" y="37978"/>
                </a:lnTo>
                <a:close/>
              </a:path>
              <a:path w="476885" h="111125">
                <a:moveTo>
                  <a:pt x="115726" y="0"/>
                </a:moveTo>
                <a:lnTo>
                  <a:pt x="105662" y="0"/>
                </a:lnTo>
                <a:lnTo>
                  <a:pt x="75918" y="110958"/>
                </a:lnTo>
                <a:lnTo>
                  <a:pt x="86128" y="110958"/>
                </a:lnTo>
                <a:lnTo>
                  <a:pt x="115726" y="0"/>
                </a:lnTo>
                <a:close/>
              </a:path>
              <a:path w="476885" h="111125">
                <a:moveTo>
                  <a:pt x="170185" y="25173"/>
                </a:moveTo>
                <a:lnTo>
                  <a:pt x="157606" y="25173"/>
                </a:lnTo>
                <a:lnTo>
                  <a:pt x="157606" y="109129"/>
                </a:lnTo>
                <a:lnTo>
                  <a:pt x="170185" y="109129"/>
                </a:lnTo>
                <a:lnTo>
                  <a:pt x="170185" y="25173"/>
                </a:lnTo>
                <a:close/>
              </a:path>
              <a:path w="476885" h="111125">
                <a:moveTo>
                  <a:pt x="170185" y="1395"/>
                </a:moveTo>
                <a:lnTo>
                  <a:pt x="162045" y="1395"/>
                </a:lnTo>
                <a:lnTo>
                  <a:pt x="159974" y="6029"/>
                </a:lnTo>
                <a:lnTo>
                  <a:pt x="156126" y="10805"/>
                </a:lnTo>
                <a:lnTo>
                  <a:pt x="150947" y="15734"/>
                </a:lnTo>
                <a:lnTo>
                  <a:pt x="145619" y="20662"/>
                </a:lnTo>
                <a:lnTo>
                  <a:pt x="139552" y="24864"/>
                </a:lnTo>
                <a:lnTo>
                  <a:pt x="132448" y="28320"/>
                </a:lnTo>
                <a:lnTo>
                  <a:pt x="132448" y="41062"/>
                </a:lnTo>
                <a:lnTo>
                  <a:pt x="157606" y="25173"/>
                </a:lnTo>
                <a:lnTo>
                  <a:pt x="170185" y="25173"/>
                </a:lnTo>
                <a:lnTo>
                  <a:pt x="170185" y="1395"/>
                </a:lnTo>
                <a:close/>
              </a:path>
              <a:path w="476885" h="111125">
                <a:moveTo>
                  <a:pt x="257646" y="83444"/>
                </a:moveTo>
                <a:lnTo>
                  <a:pt x="245066" y="83444"/>
                </a:lnTo>
                <a:lnTo>
                  <a:pt x="245066" y="109129"/>
                </a:lnTo>
                <a:lnTo>
                  <a:pt x="257646" y="109129"/>
                </a:lnTo>
                <a:lnTo>
                  <a:pt x="257646" y="83444"/>
                </a:lnTo>
                <a:close/>
              </a:path>
              <a:path w="476885" h="111125">
                <a:moveTo>
                  <a:pt x="257646" y="1828"/>
                </a:moveTo>
                <a:lnTo>
                  <a:pt x="247435" y="1828"/>
                </a:lnTo>
                <a:lnTo>
                  <a:pt x="200671" y="71367"/>
                </a:lnTo>
                <a:lnTo>
                  <a:pt x="200671" y="83444"/>
                </a:lnTo>
                <a:lnTo>
                  <a:pt x="271557" y="83444"/>
                </a:lnTo>
                <a:lnTo>
                  <a:pt x="271557" y="71367"/>
                </a:lnTo>
                <a:lnTo>
                  <a:pt x="213102" y="71367"/>
                </a:lnTo>
                <a:lnTo>
                  <a:pt x="245066" y="22988"/>
                </a:lnTo>
                <a:lnTo>
                  <a:pt x="257646" y="22988"/>
                </a:lnTo>
                <a:lnTo>
                  <a:pt x="257646" y="1828"/>
                </a:lnTo>
                <a:close/>
              </a:path>
              <a:path w="476885" h="111125">
                <a:moveTo>
                  <a:pt x="257646" y="22988"/>
                </a:moveTo>
                <a:lnTo>
                  <a:pt x="245066" y="22988"/>
                </a:lnTo>
                <a:lnTo>
                  <a:pt x="245066" y="71367"/>
                </a:lnTo>
                <a:lnTo>
                  <a:pt x="257646" y="71367"/>
                </a:lnTo>
                <a:lnTo>
                  <a:pt x="257646" y="22988"/>
                </a:lnTo>
                <a:close/>
              </a:path>
              <a:path w="476885" h="111125">
                <a:moveTo>
                  <a:pt x="320541" y="0"/>
                </a:moveTo>
                <a:lnTo>
                  <a:pt x="310478" y="0"/>
                </a:lnTo>
                <a:lnTo>
                  <a:pt x="280880" y="110958"/>
                </a:lnTo>
                <a:lnTo>
                  <a:pt x="290943" y="110958"/>
                </a:lnTo>
                <a:lnTo>
                  <a:pt x="320541" y="0"/>
                </a:lnTo>
                <a:close/>
              </a:path>
              <a:path w="476885" h="111125">
                <a:moveTo>
                  <a:pt x="375149" y="25173"/>
                </a:moveTo>
                <a:lnTo>
                  <a:pt x="362569" y="25173"/>
                </a:lnTo>
                <a:lnTo>
                  <a:pt x="362569" y="109129"/>
                </a:lnTo>
                <a:lnTo>
                  <a:pt x="375149" y="109129"/>
                </a:lnTo>
                <a:lnTo>
                  <a:pt x="375149" y="25173"/>
                </a:lnTo>
                <a:close/>
              </a:path>
              <a:path w="476885" h="111125">
                <a:moveTo>
                  <a:pt x="375149" y="1395"/>
                </a:moveTo>
                <a:lnTo>
                  <a:pt x="367009" y="1395"/>
                </a:lnTo>
                <a:lnTo>
                  <a:pt x="364789" y="6029"/>
                </a:lnTo>
                <a:lnTo>
                  <a:pt x="361090" y="10805"/>
                </a:lnTo>
                <a:lnTo>
                  <a:pt x="355762" y="15734"/>
                </a:lnTo>
                <a:lnTo>
                  <a:pt x="350582" y="20662"/>
                </a:lnTo>
                <a:lnTo>
                  <a:pt x="344366" y="24864"/>
                </a:lnTo>
                <a:lnTo>
                  <a:pt x="337411" y="28320"/>
                </a:lnTo>
                <a:lnTo>
                  <a:pt x="337411" y="41062"/>
                </a:lnTo>
                <a:lnTo>
                  <a:pt x="362569" y="25173"/>
                </a:lnTo>
                <a:lnTo>
                  <a:pt x="375149" y="25173"/>
                </a:lnTo>
                <a:lnTo>
                  <a:pt x="375149" y="1395"/>
                </a:lnTo>
                <a:close/>
              </a:path>
              <a:path w="476885" h="111125">
                <a:moveTo>
                  <a:pt x="476816" y="3224"/>
                </a:moveTo>
                <a:lnTo>
                  <a:pt x="410517" y="3224"/>
                </a:lnTo>
                <a:lnTo>
                  <a:pt x="410517" y="15888"/>
                </a:lnTo>
                <a:lnTo>
                  <a:pt x="460684" y="15888"/>
                </a:lnTo>
                <a:lnTo>
                  <a:pt x="455970" y="21923"/>
                </a:lnTo>
                <a:lnTo>
                  <a:pt x="435174" y="60786"/>
                </a:lnTo>
                <a:lnTo>
                  <a:pt x="425237" y="102464"/>
                </a:lnTo>
                <a:lnTo>
                  <a:pt x="424872" y="109129"/>
                </a:lnTo>
                <a:lnTo>
                  <a:pt x="437747" y="109129"/>
                </a:lnTo>
                <a:lnTo>
                  <a:pt x="438359" y="102464"/>
                </a:lnTo>
                <a:lnTo>
                  <a:pt x="438468" y="101276"/>
                </a:lnTo>
                <a:lnTo>
                  <a:pt x="439523" y="93740"/>
                </a:lnTo>
                <a:lnTo>
                  <a:pt x="452911" y="51551"/>
                </a:lnTo>
                <a:lnTo>
                  <a:pt x="476816" y="13470"/>
                </a:lnTo>
                <a:lnTo>
                  <a:pt x="476816" y="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94717" y="5427101"/>
            <a:ext cx="477520" cy="111125"/>
          </a:xfrm>
          <a:custGeom>
            <a:avLst/>
            <a:gdLst/>
            <a:ahLst/>
            <a:cxnLst/>
            <a:rect l="l" t="t" r="r" b="b"/>
            <a:pathLst>
              <a:path w="477520" h="111125">
                <a:moveTo>
                  <a:pt x="13171" y="79847"/>
                </a:moveTo>
                <a:lnTo>
                  <a:pt x="0" y="81025"/>
                </a:lnTo>
                <a:lnTo>
                  <a:pt x="887" y="90046"/>
                </a:lnTo>
                <a:lnTo>
                  <a:pt x="4291" y="97302"/>
                </a:lnTo>
                <a:lnTo>
                  <a:pt x="10063" y="102758"/>
                </a:lnTo>
                <a:lnTo>
                  <a:pt x="15982" y="108230"/>
                </a:lnTo>
                <a:lnTo>
                  <a:pt x="23677" y="110958"/>
                </a:lnTo>
                <a:lnTo>
                  <a:pt x="33000" y="110958"/>
                </a:lnTo>
                <a:lnTo>
                  <a:pt x="41015" y="110144"/>
                </a:lnTo>
                <a:lnTo>
                  <a:pt x="48169" y="107701"/>
                </a:lnTo>
                <a:lnTo>
                  <a:pt x="54435" y="103627"/>
                </a:lnTo>
                <a:lnTo>
                  <a:pt x="57722" y="100122"/>
                </a:lnTo>
                <a:lnTo>
                  <a:pt x="27969" y="100122"/>
                </a:lnTo>
                <a:lnTo>
                  <a:pt x="23677" y="98433"/>
                </a:lnTo>
                <a:lnTo>
                  <a:pt x="19978" y="95039"/>
                </a:lnTo>
                <a:lnTo>
                  <a:pt x="16426" y="91644"/>
                </a:lnTo>
                <a:lnTo>
                  <a:pt x="14206" y="86589"/>
                </a:lnTo>
                <a:lnTo>
                  <a:pt x="13171" y="79847"/>
                </a:lnTo>
                <a:close/>
              </a:path>
              <a:path w="477520" h="111125">
                <a:moveTo>
                  <a:pt x="60211" y="49620"/>
                </a:moveTo>
                <a:lnTo>
                  <a:pt x="39216" y="49620"/>
                </a:lnTo>
                <a:lnTo>
                  <a:pt x="44543" y="51790"/>
                </a:lnTo>
                <a:lnTo>
                  <a:pt x="52536" y="60486"/>
                </a:lnTo>
                <a:lnTo>
                  <a:pt x="54607" y="66408"/>
                </a:lnTo>
                <a:lnTo>
                  <a:pt x="54607" y="81831"/>
                </a:lnTo>
                <a:lnTo>
                  <a:pt x="52536" y="88171"/>
                </a:lnTo>
                <a:lnTo>
                  <a:pt x="48243" y="92946"/>
                </a:lnTo>
                <a:lnTo>
                  <a:pt x="44100" y="97735"/>
                </a:lnTo>
                <a:lnTo>
                  <a:pt x="38920" y="100122"/>
                </a:lnTo>
                <a:lnTo>
                  <a:pt x="57722" y="100122"/>
                </a:lnTo>
                <a:lnTo>
                  <a:pt x="59786" y="97922"/>
                </a:lnTo>
                <a:lnTo>
                  <a:pt x="63368" y="92373"/>
                </a:lnTo>
                <a:lnTo>
                  <a:pt x="65800" y="86589"/>
                </a:lnTo>
                <a:lnTo>
                  <a:pt x="65909" y="86329"/>
                </a:lnTo>
                <a:lnTo>
                  <a:pt x="67410" y="79847"/>
                </a:lnTo>
                <a:lnTo>
                  <a:pt x="67925" y="72748"/>
                </a:lnTo>
                <a:lnTo>
                  <a:pt x="67422" y="66408"/>
                </a:lnTo>
                <a:lnTo>
                  <a:pt x="67345" y="65446"/>
                </a:lnTo>
                <a:lnTo>
                  <a:pt x="65613" y="58841"/>
                </a:lnTo>
                <a:lnTo>
                  <a:pt x="62744" y="52930"/>
                </a:lnTo>
                <a:lnTo>
                  <a:pt x="60211" y="49620"/>
                </a:lnTo>
                <a:close/>
              </a:path>
              <a:path w="477520" h="111125">
                <a:moveTo>
                  <a:pt x="63190" y="3286"/>
                </a:moveTo>
                <a:lnTo>
                  <a:pt x="12134" y="3286"/>
                </a:lnTo>
                <a:lnTo>
                  <a:pt x="2219" y="58408"/>
                </a:lnTo>
                <a:lnTo>
                  <a:pt x="14058" y="60021"/>
                </a:lnTo>
                <a:lnTo>
                  <a:pt x="15982" y="56936"/>
                </a:lnTo>
                <a:lnTo>
                  <a:pt x="18498" y="54441"/>
                </a:lnTo>
                <a:lnTo>
                  <a:pt x="25010" y="50581"/>
                </a:lnTo>
                <a:lnTo>
                  <a:pt x="28709" y="49620"/>
                </a:lnTo>
                <a:lnTo>
                  <a:pt x="60211" y="49620"/>
                </a:lnTo>
                <a:lnTo>
                  <a:pt x="58751" y="47712"/>
                </a:lnTo>
                <a:lnTo>
                  <a:pt x="55882" y="44721"/>
                </a:lnTo>
                <a:lnTo>
                  <a:pt x="16722" y="44721"/>
                </a:lnTo>
                <a:lnTo>
                  <a:pt x="22198" y="15888"/>
                </a:lnTo>
                <a:lnTo>
                  <a:pt x="63190" y="15888"/>
                </a:lnTo>
                <a:lnTo>
                  <a:pt x="63190" y="3286"/>
                </a:lnTo>
                <a:close/>
              </a:path>
              <a:path w="477520" h="111125">
                <a:moveTo>
                  <a:pt x="44988" y="37978"/>
                </a:moveTo>
                <a:lnTo>
                  <a:pt x="29301" y="37978"/>
                </a:lnTo>
                <a:lnTo>
                  <a:pt x="22937" y="40225"/>
                </a:lnTo>
                <a:lnTo>
                  <a:pt x="16722" y="44721"/>
                </a:lnTo>
                <a:lnTo>
                  <a:pt x="55882" y="44721"/>
                </a:lnTo>
                <a:lnTo>
                  <a:pt x="52536" y="41233"/>
                </a:lnTo>
                <a:lnTo>
                  <a:pt x="44988" y="37978"/>
                </a:lnTo>
                <a:close/>
              </a:path>
              <a:path w="477520" h="111125">
                <a:moveTo>
                  <a:pt x="115874" y="0"/>
                </a:moveTo>
                <a:lnTo>
                  <a:pt x="105811" y="0"/>
                </a:lnTo>
                <a:lnTo>
                  <a:pt x="76065" y="110958"/>
                </a:lnTo>
                <a:lnTo>
                  <a:pt x="86128" y="110958"/>
                </a:lnTo>
                <a:lnTo>
                  <a:pt x="115874" y="0"/>
                </a:lnTo>
                <a:close/>
              </a:path>
              <a:path w="477520" h="111125">
                <a:moveTo>
                  <a:pt x="182616" y="12292"/>
                </a:moveTo>
                <a:lnTo>
                  <a:pt x="162342" y="12292"/>
                </a:lnTo>
                <a:lnTo>
                  <a:pt x="167366" y="14199"/>
                </a:lnTo>
                <a:lnTo>
                  <a:pt x="167186" y="14199"/>
                </a:lnTo>
                <a:lnTo>
                  <a:pt x="174181" y="21267"/>
                </a:lnTo>
                <a:lnTo>
                  <a:pt x="175957" y="25670"/>
                </a:lnTo>
                <a:lnTo>
                  <a:pt x="175957" y="35869"/>
                </a:lnTo>
                <a:lnTo>
                  <a:pt x="147543" y="69461"/>
                </a:lnTo>
                <a:lnTo>
                  <a:pt x="140291" y="75600"/>
                </a:lnTo>
                <a:lnTo>
                  <a:pt x="134816" y="81025"/>
                </a:lnTo>
                <a:lnTo>
                  <a:pt x="131117" y="85707"/>
                </a:lnTo>
                <a:lnTo>
                  <a:pt x="127269" y="90388"/>
                </a:lnTo>
                <a:lnTo>
                  <a:pt x="124457" y="95147"/>
                </a:lnTo>
                <a:lnTo>
                  <a:pt x="122829" y="99983"/>
                </a:lnTo>
                <a:lnTo>
                  <a:pt x="121794" y="102913"/>
                </a:lnTo>
                <a:lnTo>
                  <a:pt x="121202" y="105951"/>
                </a:lnTo>
                <a:lnTo>
                  <a:pt x="121349" y="109129"/>
                </a:lnTo>
                <a:lnTo>
                  <a:pt x="188979" y="109129"/>
                </a:lnTo>
                <a:lnTo>
                  <a:pt x="188979" y="96465"/>
                </a:lnTo>
                <a:lnTo>
                  <a:pt x="138812" y="96465"/>
                </a:lnTo>
                <a:lnTo>
                  <a:pt x="140144" y="94077"/>
                </a:lnTo>
                <a:lnTo>
                  <a:pt x="141919" y="91690"/>
                </a:lnTo>
                <a:lnTo>
                  <a:pt x="144139" y="89334"/>
                </a:lnTo>
                <a:lnTo>
                  <a:pt x="146211" y="86961"/>
                </a:lnTo>
                <a:lnTo>
                  <a:pt x="151095" y="82467"/>
                </a:lnTo>
                <a:lnTo>
                  <a:pt x="158643" y="75832"/>
                </a:lnTo>
                <a:lnTo>
                  <a:pt x="164939" y="70144"/>
                </a:lnTo>
                <a:lnTo>
                  <a:pt x="186316" y="43837"/>
                </a:lnTo>
                <a:lnTo>
                  <a:pt x="188092" y="39698"/>
                </a:lnTo>
                <a:lnTo>
                  <a:pt x="188762" y="35869"/>
                </a:lnTo>
                <a:lnTo>
                  <a:pt x="188832" y="22740"/>
                </a:lnTo>
                <a:lnTo>
                  <a:pt x="186020" y="15656"/>
                </a:lnTo>
                <a:lnTo>
                  <a:pt x="182616" y="12292"/>
                </a:lnTo>
                <a:close/>
              </a:path>
              <a:path w="477520" h="111125">
                <a:moveTo>
                  <a:pt x="166781" y="1395"/>
                </a:moveTo>
                <a:lnTo>
                  <a:pt x="147247" y="1395"/>
                </a:lnTo>
                <a:lnTo>
                  <a:pt x="139404" y="4030"/>
                </a:lnTo>
                <a:lnTo>
                  <a:pt x="127861" y="14617"/>
                </a:lnTo>
                <a:lnTo>
                  <a:pt x="124606" y="22321"/>
                </a:lnTo>
                <a:lnTo>
                  <a:pt x="123718" y="32429"/>
                </a:lnTo>
                <a:lnTo>
                  <a:pt x="136592" y="33808"/>
                </a:lnTo>
                <a:lnTo>
                  <a:pt x="136622" y="32429"/>
                </a:lnTo>
                <a:lnTo>
                  <a:pt x="136740" y="27081"/>
                </a:lnTo>
                <a:lnTo>
                  <a:pt x="138516" y="21810"/>
                </a:lnTo>
                <a:lnTo>
                  <a:pt x="142215" y="17997"/>
                </a:lnTo>
                <a:lnTo>
                  <a:pt x="145768" y="14199"/>
                </a:lnTo>
                <a:lnTo>
                  <a:pt x="150651" y="12292"/>
                </a:lnTo>
                <a:lnTo>
                  <a:pt x="182616" y="12292"/>
                </a:lnTo>
                <a:lnTo>
                  <a:pt x="180248" y="9951"/>
                </a:lnTo>
                <a:lnTo>
                  <a:pt x="174625" y="4248"/>
                </a:lnTo>
                <a:lnTo>
                  <a:pt x="166781" y="1395"/>
                </a:lnTo>
                <a:close/>
              </a:path>
              <a:path w="477520" h="111125">
                <a:moveTo>
                  <a:pt x="247286" y="1395"/>
                </a:moveTo>
                <a:lnTo>
                  <a:pt x="229381" y="1395"/>
                </a:lnTo>
                <a:lnTo>
                  <a:pt x="222215" y="4108"/>
                </a:lnTo>
                <a:lnTo>
                  <a:pt x="211622" y="14679"/>
                </a:lnTo>
                <a:lnTo>
                  <a:pt x="208810" y="21252"/>
                </a:lnTo>
                <a:lnTo>
                  <a:pt x="208862" y="34397"/>
                </a:lnTo>
                <a:lnTo>
                  <a:pt x="224200" y="50937"/>
                </a:lnTo>
                <a:lnTo>
                  <a:pt x="217985" y="52642"/>
                </a:lnTo>
                <a:lnTo>
                  <a:pt x="213250" y="55850"/>
                </a:lnTo>
                <a:lnTo>
                  <a:pt x="206442" y="65276"/>
                </a:lnTo>
                <a:lnTo>
                  <a:pt x="204815" y="71119"/>
                </a:lnTo>
                <a:lnTo>
                  <a:pt x="204882" y="87628"/>
                </a:lnTo>
                <a:lnTo>
                  <a:pt x="238555" y="110958"/>
                </a:lnTo>
                <a:lnTo>
                  <a:pt x="245742" y="110371"/>
                </a:lnTo>
                <a:lnTo>
                  <a:pt x="252207" y="108613"/>
                </a:lnTo>
                <a:lnTo>
                  <a:pt x="257951" y="105687"/>
                </a:lnTo>
                <a:lnTo>
                  <a:pt x="262973" y="101596"/>
                </a:lnTo>
                <a:lnTo>
                  <a:pt x="264439" y="100122"/>
                </a:lnTo>
                <a:lnTo>
                  <a:pt x="234708" y="100122"/>
                </a:lnTo>
                <a:lnTo>
                  <a:pt x="231156" y="99161"/>
                </a:lnTo>
                <a:lnTo>
                  <a:pt x="217689" y="81925"/>
                </a:lnTo>
                <a:lnTo>
                  <a:pt x="217765" y="71817"/>
                </a:lnTo>
                <a:lnTo>
                  <a:pt x="232340" y="56641"/>
                </a:lnTo>
                <a:lnTo>
                  <a:pt x="264137" y="56641"/>
                </a:lnTo>
                <a:lnTo>
                  <a:pt x="259274" y="53092"/>
                </a:lnTo>
                <a:lnTo>
                  <a:pt x="252910" y="50937"/>
                </a:lnTo>
                <a:lnTo>
                  <a:pt x="258090" y="48938"/>
                </a:lnTo>
                <a:lnTo>
                  <a:pt x="261790" y="46100"/>
                </a:lnTo>
                <a:lnTo>
                  <a:pt x="261938" y="45883"/>
                </a:lnTo>
                <a:lnTo>
                  <a:pt x="233525" y="45883"/>
                </a:lnTo>
                <a:lnTo>
                  <a:pt x="229528" y="44287"/>
                </a:lnTo>
                <a:lnTo>
                  <a:pt x="221686" y="24136"/>
                </a:lnTo>
                <a:lnTo>
                  <a:pt x="223234" y="20462"/>
                </a:lnTo>
                <a:lnTo>
                  <a:pt x="223312" y="20275"/>
                </a:lnTo>
                <a:lnTo>
                  <a:pt x="226316" y="17160"/>
                </a:lnTo>
                <a:lnTo>
                  <a:pt x="229630" y="13873"/>
                </a:lnTo>
                <a:lnTo>
                  <a:pt x="233672" y="12214"/>
                </a:lnTo>
                <a:lnTo>
                  <a:pt x="262549" y="12214"/>
                </a:lnTo>
                <a:lnTo>
                  <a:pt x="254391" y="4108"/>
                </a:lnTo>
                <a:lnTo>
                  <a:pt x="247286" y="1395"/>
                </a:lnTo>
                <a:close/>
              </a:path>
              <a:path w="477520" h="111125">
                <a:moveTo>
                  <a:pt x="264073" y="56641"/>
                </a:moveTo>
                <a:lnTo>
                  <a:pt x="244327" y="56641"/>
                </a:lnTo>
                <a:lnTo>
                  <a:pt x="249359" y="58719"/>
                </a:lnTo>
                <a:lnTo>
                  <a:pt x="257350" y="67012"/>
                </a:lnTo>
                <a:lnTo>
                  <a:pt x="259245" y="71817"/>
                </a:lnTo>
                <a:lnTo>
                  <a:pt x="259325" y="72019"/>
                </a:lnTo>
                <a:lnTo>
                  <a:pt x="259422" y="84853"/>
                </a:lnTo>
                <a:lnTo>
                  <a:pt x="257498" y="90001"/>
                </a:lnTo>
                <a:lnTo>
                  <a:pt x="253503" y="94046"/>
                </a:lnTo>
                <a:lnTo>
                  <a:pt x="249655" y="98107"/>
                </a:lnTo>
                <a:lnTo>
                  <a:pt x="244623" y="100122"/>
                </a:lnTo>
                <a:lnTo>
                  <a:pt x="264439" y="100122"/>
                </a:lnTo>
                <a:lnTo>
                  <a:pt x="269189" y="95349"/>
                </a:lnTo>
                <a:lnTo>
                  <a:pt x="272296" y="87628"/>
                </a:lnTo>
                <a:lnTo>
                  <a:pt x="272296" y="71817"/>
                </a:lnTo>
                <a:lnTo>
                  <a:pt x="270670" y="66113"/>
                </a:lnTo>
                <a:lnTo>
                  <a:pt x="267265" y="61338"/>
                </a:lnTo>
                <a:lnTo>
                  <a:pt x="264073" y="56641"/>
                </a:lnTo>
                <a:close/>
              </a:path>
              <a:path w="477520" h="111125">
                <a:moveTo>
                  <a:pt x="262549" y="12214"/>
                </a:moveTo>
                <a:lnTo>
                  <a:pt x="243144" y="12214"/>
                </a:lnTo>
                <a:lnTo>
                  <a:pt x="247139" y="13873"/>
                </a:lnTo>
                <a:lnTo>
                  <a:pt x="250395" y="17160"/>
                </a:lnTo>
                <a:lnTo>
                  <a:pt x="253503" y="20462"/>
                </a:lnTo>
                <a:lnTo>
                  <a:pt x="254975" y="24136"/>
                </a:lnTo>
                <a:lnTo>
                  <a:pt x="254972" y="34397"/>
                </a:lnTo>
                <a:lnTo>
                  <a:pt x="253650" y="37900"/>
                </a:lnTo>
                <a:lnTo>
                  <a:pt x="247435" y="44287"/>
                </a:lnTo>
                <a:lnTo>
                  <a:pt x="243439" y="45883"/>
                </a:lnTo>
                <a:lnTo>
                  <a:pt x="261938" y="45883"/>
                </a:lnTo>
                <a:lnTo>
                  <a:pt x="266821" y="38722"/>
                </a:lnTo>
                <a:lnTo>
                  <a:pt x="268005" y="34397"/>
                </a:lnTo>
                <a:lnTo>
                  <a:pt x="268005" y="21609"/>
                </a:lnTo>
                <a:lnTo>
                  <a:pt x="265342" y="14989"/>
                </a:lnTo>
                <a:lnTo>
                  <a:pt x="262549" y="12214"/>
                </a:lnTo>
                <a:close/>
              </a:path>
              <a:path w="477520" h="111125">
                <a:moveTo>
                  <a:pt x="320688" y="0"/>
                </a:moveTo>
                <a:lnTo>
                  <a:pt x="310625" y="0"/>
                </a:lnTo>
                <a:lnTo>
                  <a:pt x="280880" y="110958"/>
                </a:lnTo>
                <a:lnTo>
                  <a:pt x="291091" y="110958"/>
                </a:lnTo>
                <a:lnTo>
                  <a:pt x="320688" y="0"/>
                </a:lnTo>
                <a:close/>
              </a:path>
              <a:path w="477520" h="111125">
                <a:moveTo>
                  <a:pt x="375149" y="25173"/>
                </a:moveTo>
                <a:lnTo>
                  <a:pt x="362569" y="25173"/>
                </a:lnTo>
                <a:lnTo>
                  <a:pt x="362569" y="109129"/>
                </a:lnTo>
                <a:lnTo>
                  <a:pt x="375149" y="109129"/>
                </a:lnTo>
                <a:lnTo>
                  <a:pt x="375149" y="25173"/>
                </a:lnTo>
                <a:close/>
              </a:path>
              <a:path w="477520" h="111125">
                <a:moveTo>
                  <a:pt x="375149" y="1395"/>
                </a:moveTo>
                <a:lnTo>
                  <a:pt x="367009" y="1395"/>
                </a:lnTo>
                <a:lnTo>
                  <a:pt x="364937" y="6029"/>
                </a:lnTo>
                <a:lnTo>
                  <a:pt x="361090" y="10805"/>
                </a:lnTo>
                <a:lnTo>
                  <a:pt x="355909" y="15734"/>
                </a:lnTo>
                <a:lnTo>
                  <a:pt x="350582" y="20662"/>
                </a:lnTo>
                <a:lnTo>
                  <a:pt x="344515" y="24864"/>
                </a:lnTo>
                <a:lnTo>
                  <a:pt x="337412" y="28320"/>
                </a:lnTo>
                <a:lnTo>
                  <a:pt x="337412" y="41062"/>
                </a:lnTo>
                <a:lnTo>
                  <a:pt x="362569" y="25173"/>
                </a:lnTo>
                <a:lnTo>
                  <a:pt x="375149" y="25173"/>
                </a:lnTo>
                <a:lnTo>
                  <a:pt x="375149" y="1395"/>
                </a:lnTo>
                <a:close/>
              </a:path>
              <a:path w="477520" h="111125">
                <a:moveTo>
                  <a:pt x="476963" y="3224"/>
                </a:moveTo>
                <a:lnTo>
                  <a:pt x="410665" y="3224"/>
                </a:lnTo>
                <a:lnTo>
                  <a:pt x="410665" y="15888"/>
                </a:lnTo>
                <a:lnTo>
                  <a:pt x="460833" y="15888"/>
                </a:lnTo>
                <a:lnTo>
                  <a:pt x="456056" y="21923"/>
                </a:lnTo>
                <a:lnTo>
                  <a:pt x="435266" y="60786"/>
                </a:lnTo>
                <a:lnTo>
                  <a:pt x="425261" y="102464"/>
                </a:lnTo>
                <a:lnTo>
                  <a:pt x="424872" y="109129"/>
                </a:lnTo>
                <a:lnTo>
                  <a:pt x="437896" y="109129"/>
                </a:lnTo>
                <a:lnTo>
                  <a:pt x="438435" y="102464"/>
                </a:lnTo>
                <a:lnTo>
                  <a:pt x="438531" y="101276"/>
                </a:lnTo>
                <a:lnTo>
                  <a:pt x="439541" y="93740"/>
                </a:lnTo>
                <a:lnTo>
                  <a:pt x="440790" y="87164"/>
                </a:lnTo>
                <a:lnTo>
                  <a:pt x="440912" y="86523"/>
                </a:lnTo>
                <a:lnTo>
                  <a:pt x="442630" y="79630"/>
                </a:lnTo>
                <a:lnTo>
                  <a:pt x="457577" y="42443"/>
                </a:lnTo>
                <a:lnTo>
                  <a:pt x="476963" y="13470"/>
                </a:lnTo>
                <a:lnTo>
                  <a:pt x="476963" y="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95258" y="5427101"/>
            <a:ext cx="477520" cy="111125"/>
          </a:xfrm>
          <a:custGeom>
            <a:avLst/>
            <a:gdLst/>
            <a:ahLst/>
            <a:cxnLst/>
            <a:rect l="l" t="t" r="r" b="b"/>
            <a:pathLst>
              <a:path w="477520" h="111125">
                <a:moveTo>
                  <a:pt x="44775" y="1395"/>
                </a:moveTo>
                <a:lnTo>
                  <a:pt x="36636" y="1395"/>
                </a:lnTo>
                <a:lnTo>
                  <a:pt x="28950" y="2163"/>
                </a:lnTo>
                <a:lnTo>
                  <a:pt x="2691" y="32055"/>
                </a:lnTo>
                <a:lnTo>
                  <a:pt x="0" y="57571"/>
                </a:lnTo>
                <a:lnTo>
                  <a:pt x="73" y="61835"/>
                </a:lnTo>
                <a:lnTo>
                  <a:pt x="9850" y="98851"/>
                </a:lnTo>
                <a:lnTo>
                  <a:pt x="35452" y="110958"/>
                </a:lnTo>
                <a:lnTo>
                  <a:pt x="41667" y="110958"/>
                </a:lnTo>
                <a:lnTo>
                  <a:pt x="47142" y="109423"/>
                </a:lnTo>
                <a:lnTo>
                  <a:pt x="56910" y="103270"/>
                </a:lnTo>
                <a:lnTo>
                  <a:pt x="59545" y="100122"/>
                </a:lnTo>
                <a:lnTo>
                  <a:pt x="31604" y="100122"/>
                </a:lnTo>
                <a:lnTo>
                  <a:pt x="28200" y="99038"/>
                </a:lnTo>
                <a:lnTo>
                  <a:pt x="24944" y="96867"/>
                </a:lnTo>
                <a:lnTo>
                  <a:pt x="21540" y="94697"/>
                </a:lnTo>
                <a:lnTo>
                  <a:pt x="19025" y="91535"/>
                </a:lnTo>
                <a:lnTo>
                  <a:pt x="17102" y="87396"/>
                </a:lnTo>
                <a:lnTo>
                  <a:pt x="15325" y="83242"/>
                </a:lnTo>
                <a:lnTo>
                  <a:pt x="14437" y="78901"/>
                </a:lnTo>
                <a:lnTo>
                  <a:pt x="14437" y="67430"/>
                </a:lnTo>
                <a:lnTo>
                  <a:pt x="16361" y="61835"/>
                </a:lnTo>
                <a:lnTo>
                  <a:pt x="23889" y="53789"/>
                </a:lnTo>
                <a:lnTo>
                  <a:pt x="12513" y="53789"/>
                </a:lnTo>
                <a:lnTo>
                  <a:pt x="12558" y="42753"/>
                </a:lnTo>
                <a:lnTo>
                  <a:pt x="13697" y="34785"/>
                </a:lnTo>
                <a:lnTo>
                  <a:pt x="16008" y="29127"/>
                </a:lnTo>
                <a:lnTo>
                  <a:pt x="18285" y="23174"/>
                </a:lnTo>
                <a:lnTo>
                  <a:pt x="21393" y="18756"/>
                </a:lnTo>
                <a:lnTo>
                  <a:pt x="25389" y="15734"/>
                </a:lnTo>
                <a:lnTo>
                  <a:pt x="28348" y="13393"/>
                </a:lnTo>
                <a:lnTo>
                  <a:pt x="31900" y="12214"/>
                </a:lnTo>
                <a:lnTo>
                  <a:pt x="60543" y="12214"/>
                </a:lnTo>
                <a:lnTo>
                  <a:pt x="51286" y="3751"/>
                </a:lnTo>
                <a:lnTo>
                  <a:pt x="44775" y="1395"/>
                </a:lnTo>
                <a:close/>
              </a:path>
              <a:path w="477520" h="111125">
                <a:moveTo>
                  <a:pt x="60132" y="51154"/>
                </a:moveTo>
                <a:lnTo>
                  <a:pt x="40484" y="51154"/>
                </a:lnTo>
                <a:lnTo>
                  <a:pt x="45218" y="53294"/>
                </a:lnTo>
                <a:lnTo>
                  <a:pt x="49066" y="57571"/>
                </a:lnTo>
                <a:lnTo>
                  <a:pt x="52766" y="61835"/>
                </a:lnTo>
                <a:lnTo>
                  <a:pt x="54608" y="67430"/>
                </a:lnTo>
                <a:lnTo>
                  <a:pt x="54689" y="82809"/>
                </a:lnTo>
                <a:lnTo>
                  <a:pt x="52766" y="88899"/>
                </a:lnTo>
                <a:lnTo>
                  <a:pt x="49066" y="93395"/>
                </a:lnTo>
                <a:lnTo>
                  <a:pt x="45218" y="97875"/>
                </a:lnTo>
                <a:lnTo>
                  <a:pt x="40631" y="100122"/>
                </a:lnTo>
                <a:lnTo>
                  <a:pt x="59545" y="100122"/>
                </a:lnTo>
                <a:lnTo>
                  <a:pt x="60609" y="98851"/>
                </a:lnTo>
                <a:lnTo>
                  <a:pt x="66173" y="87396"/>
                </a:lnTo>
                <a:lnTo>
                  <a:pt x="67565" y="81025"/>
                </a:lnTo>
                <a:lnTo>
                  <a:pt x="67565" y="74359"/>
                </a:lnTo>
                <a:lnTo>
                  <a:pt x="67065" y="67678"/>
                </a:lnTo>
                <a:lnTo>
                  <a:pt x="67010" y="66952"/>
                </a:lnTo>
                <a:lnTo>
                  <a:pt x="65345" y="60331"/>
                </a:lnTo>
                <a:lnTo>
                  <a:pt x="62570" y="54419"/>
                </a:lnTo>
                <a:lnTo>
                  <a:pt x="60132" y="51154"/>
                </a:lnTo>
                <a:close/>
              </a:path>
              <a:path w="477520" h="111125">
                <a:moveTo>
                  <a:pt x="45663" y="39528"/>
                </a:moveTo>
                <a:lnTo>
                  <a:pt x="32492" y="39528"/>
                </a:lnTo>
                <a:lnTo>
                  <a:pt x="27904" y="40690"/>
                </a:lnTo>
                <a:lnTo>
                  <a:pt x="23553" y="43063"/>
                </a:lnTo>
                <a:lnTo>
                  <a:pt x="19173" y="45372"/>
                </a:lnTo>
                <a:lnTo>
                  <a:pt x="15474" y="48968"/>
                </a:lnTo>
                <a:lnTo>
                  <a:pt x="12513" y="53789"/>
                </a:lnTo>
                <a:lnTo>
                  <a:pt x="23889" y="53789"/>
                </a:lnTo>
                <a:lnTo>
                  <a:pt x="24352" y="53294"/>
                </a:lnTo>
                <a:lnTo>
                  <a:pt x="29088" y="51154"/>
                </a:lnTo>
                <a:lnTo>
                  <a:pt x="60132" y="51154"/>
                </a:lnTo>
                <a:lnTo>
                  <a:pt x="58685" y="49216"/>
                </a:lnTo>
                <a:lnTo>
                  <a:pt x="52914" y="42753"/>
                </a:lnTo>
                <a:lnTo>
                  <a:pt x="45663" y="39528"/>
                </a:lnTo>
                <a:close/>
              </a:path>
              <a:path w="477520" h="111125">
                <a:moveTo>
                  <a:pt x="60543" y="12214"/>
                </a:moveTo>
                <a:lnTo>
                  <a:pt x="40927" y="12214"/>
                </a:lnTo>
                <a:lnTo>
                  <a:pt x="45071" y="14105"/>
                </a:lnTo>
                <a:lnTo>
                  <a:pt x="48475" y="17857"/>
                </a:lnTo>
                <a:lnTo>
                  <a:pt x="50546" y="20198"/>
                </a:lnTo>
                <a:lnTo>
                  <a:pt x="52174" y="23949"/>
                </a:lnTo>
                <a:lnTo>
                  <a:pt x="53182" y="28987"/>
                </a:lnTo>
                <a:lnTo>
                  <a:pt x="53210" y="29127"/>
                </a:lnTo>
                <a:lnTo>
                  <a:pt x="65788" y="28103"/>
                </a:lnTo>
                <a:lnTo>
                  <a:pt x="64807" y="20198"/>
                </a:lnTo>
                <a:lnTo>
                  <a:pt x="64753" y="19765"/>
                </a:lnTo>
                <a:lnTo>
                  <a:pt x="61727" y="13393"/>
                </a:lnTo>
                <a:lnTo>
                  <a:pt x="61646" y="13223"/>
                </a:lnTo>
                <a:lnTo>
                  <a:pt x="60543" y="12214"/>
                </a:lnTo>
                <a:close/>
              </a:path>
              <a:path w="477520" h="111125">
                <a:moveTo>
                  <a:pt x="116253" y="0"/>
                </a:moveTo>
                <a:lnTo>
                  <a:pt x="106190" y="0"/>
                </a:lnTo>
                <a:lnTo>
                  <a:pt x="76592" y="110958"/>
                </a:lnTo>
                <a:lnTo>
                  <a:pt x="86656" y="110958"/>
                </a:lnTo>
                <a:lnTo>
                  <a:pt x="116253" y="0"/>
                </a:lnTo>
                <a:close/>
              </a:path>
              <a:path w="477520" h="111125">
                <a:moveTo>
                  <a:pt x="170712" y="25173"/>
                </a:moveTo>
                <a:lnTo>
                  <a:pt x="158281" y="25173"/>
                </a:lnTo>
                <a:lnTo>
                  <a:pt x="158281" y="109129"/>
                </a:lnTo>
                <a:lnTo>
                  <a:pt x="170712" y="109129"/>
                </a:lnTo>
                <a:lnTo>
                  <a:pt x="170712" y="25173"/>
                </a:lnTo>
                <a:close/>
              </a:path>
              <a:path w="477520" h="111125">
                <a:moveTo>
                  <a:pt x="170712" y="1395"/>
                </a:moveTo>
                <a:lnTo>
                  <a:pt x="162721" y="1395"/>
                </a:lnTo>
                <a:lnTo>
                  <a:pt x="160501" y="6029"/>
                </a:lnTo>
                <a:lnTo>
                  <a:pt x="156802" y="10805"/>
                </a:lnTo>
                <a:lnTo>
                  <a:pt x="151474" y="15734"/>
                </a:lnTo>
                <a:lnTo>
                  <a:pt x="146294" y="20662"/>
                </a:lnTo>
                <a:lnTo>
                  <a:pt x="140078" y="24864"/>
                </a:lnTo>
                <a:lnTo>
                  <a:pt x="133124" y="28320"/>
                </a:lnTo>
                <a:lnTo>
                  <a:pt x="133124" y="41062"/>
                </a:lnTo>
                <a:lnTo>
                  <a:pt x="158281" y="25173"/>
                </a:lnTo>
                <a:lnTo>
                  <a:pt x="170712" y="25173"/>
                </a:lnTo>
                <a:lnTo>
                  <a:pt x="170712" y="1395"/>
                </a:lnTo>
                <a:close/>
              </a:path>
              <a:path w="477520" h="111125">
                <a:moveTo>
                  <a:pt x="252697" y="25173"/>
                </a:moveTo>
                <a:lnTo>
                  <a:pt x="240119" y="25173"/>
                </a:lnTo>
                <a:lnTo>
                  <a:pt x="240119" y="109129"/>
                </a:lnTo>
                <a:lnTo>
                  <a:pt x="252697" y="109129"/>
                </a:lnTo>
                <a:lnTo>
                  <a:pt x="252697" y="25173"/>
                </a:lnTo>
                <a:close/>
              </a:path>
              <a:path w="477520" h="111125">
                <a:moveTo>
                  <a:pt x="252697" y="1395"/>
                </a:moveTo>
                <a:lnTo>
                  <a:pt x="244706" y="1395"/>
                </a:lnTo>
                <a:lnTo>
                  <a:pt x="242486" y="6029"/>
                </a:lnTo>
                <a:lnTo>
                  <a:pt x="238787" y="10805"/>
                </a:lnTo>
                <a:lnTo>
                  <a:pt x="228131" y="20662"/>
                </a:lnTo>
                <a:lnTo>
                  <a:pt x="222065" y="24864"/>
                </a:lnTo>
                <a:lnTo>
                  <a:pt x="214960" y="28320"/>
                </a:lnTo>
                <a:lnTo>
                  <a:pt x="214960" y="41062"/>
                </a:lnTo>
                <a:lnTo>
                  <a:pt x="240119" y="25173"/>
                </a:lnTo>
                <a:lnTo>
                  <a:pt x="252697" y="25173"/>
                </a:lnTo>
                <a:lnTo>
                  <a:pt x="252697" y="1395"/>
                </a:lnTo>
                <a:close/>
              </a:path>
              <a:path w="477520" h="111125">
                <a:moveTo>
                  <a:pt x="321216" y="0"/>
                </a:moveTo>
                <a:lnTo>
                  <a:pt x="311152" y="0"/>
                </a:lnTo>
                <a:lnTo>
                  <a:pt x="281407" y="110958"/>
                </a:lnTo>
                <a:lnTo>
                  <a:pt x="291470" y="110958"/>
                </a:lnTo>
                <a:lnTo>
                  <a:pt x="321216" y="0"/>
                </a:lnTo>
                <a:close/>
              </a:path>
              <a:path w="477520" h="111125">
                <a:moveTo>
                  <a:pt x="375675" y="25173"/>
                </a:moveTo>
                <a:lnTo>
                  <a:pt x="363097" y="25173"/>
                </a:lnTo>
                <a:lnTo>
                  <a:pt x="363097" y="109129"/>
                </a:lnTo>
                <a:lnTo>
                  <a:pt x="375675" y="109129"/>
                </a:lnTo>
                <a:lnTo>
                  <a:pt x="375675" y="25173"/>
                </a:lnTo>
                <a:close/>
              </a:path>
              <a:path w="477520" h="111125">
                <a:moveTo>
                  <a:pt x="375675" y="1395"/>
                </a:moveTo>
                <a:lnTo>
                  <a:pt x="367535" y="1395"/>
                </a:lnTo>
                <a:lnTo>
                  <a:pt x="365315" y="6029"/>
                </a:lnTo>
                <a:lnTo>
                  <a:pt x="361616" y="10805"/>
                </a:lnTo>
                <a:lnTo>
                  <a:pt x="356437" y="15734"/>
                </a:lnTo>
                <a:lnTo>
                  <a:pt x="351109" y="20662"/>
                </a:lnTo>
                <a:lnTo>
                  <a:pt x="344894" y="24864"/>
                </a:lnTo>
                <a:lnTo>
                  <a:pt x="337938" y="28320"/>
                </a:lnTo>
                <a:lnTo>
                  <a:pt x="337938" y="41062"/>
                </a:lnTo>
                <a:lnTo>
                  <a:pt x="341786" y="39543"/>
                </a:lnTo>
                <a:lnTo>
                  <a:pt x="346226" y="37280"/>
                </a:lnTo>
                <a:lnTo>
                  <a:pt x="351109" y="34258"/>
                </a:lnTo>
                <a:lnTo>
                  <a:pt x="356141" y="31235"/>
                </a:lnTo>
                <a:lnTo>
                  <a:pt x="359831" y="28320"/>
                </a:lnTo>
                <a:lnTo>
                  <a:pt x="363097" y="25173"/>
                </a:lnTo>
                <a:lnTo>
                  <a:pt x="375675" y="25173"/>
                </a:lnTo>
                <a:lnTo>
                  <a:pt x="375675" y="1395"/>
                </a:lnTo>
                <a:close/>
              </a:path>
              <a:path w="477520" h="111125">
                <a:moveTo>
                  <a:pt x="477342" y="3224"/>
                </a:moveTo>
                <a:lnTo>
                  <a:pt x="411044" y="3224"/>
                </a:lnTo>
                <a:lnTo>
                  <a:pt x="411044" y="15888"/>
                </a:lnTo>
                <a:lnTo>
                  <a:pt x="461212" y="15888"/>
                </a:lnTo>
                <a:lnTo>
                  <a:pt x="456497" y="21923"/>
                </a:lnTo>
                <a:lnTo>
                  <a:pt x="435756" y="60786"/>
                </a:lnTo>
                <a:lnTo>
                  <a:pt x="425785" y="102464"/>
                </a:lnTo>
                <a:lnTo>
                  <a:pt x="425399" y="109129"/>
                </a:lnTo>
                <a:lnTo>
                  <a:pt x="438274" y="109129"/>
                </a:lnTo>
                <a:lnTo>
                  <a:pt x="438886" y="102464"/>
                </a:lnTo>
                <a:lnTo>
                  <a:pt x="438995" y="101276"/>
                </a:lnTo>
                <a:lnTo>
                  <a:pt x="440050" y="93740"/>
                </a:lnTo>
                <a:lnTo>
                  <a:pt x="441314" y="87164"/>
                </a:lnTo>
                <a:lnTo>
                  <a:pt x="441437" y="86523"/>
                </a:lnTo>
                <a:lnTo>
                  <a:pt x="443158" y="79630"/>
                </a:lnTo>
                <a:lnTo>
                  <a:pt x="457957" y="42443"/>
                </a:lnTo>
                <a:lnTo>
                  <a:pt x="477342" y="13470"/>
                </a:lnTo>
                <a:lnTo>
                  <a:pt x="477342" y="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81526" y="5799953"/>
            <a:ext cx="554355" cy="0"/>
          </a:xfrm>
          <a:custGeom>
            <a:avLst/>
            <a:gdLst/>
            <a:ahLst/>
            <a:cxnLst/>
            <a:rect l="l" t="t" r="r" b="b"/>
            <a:pathLst>
              <a:path w="554354" h="0">
                <a:moveTo>
                  <a:pt x="0" y="0"/>
                </a:moveTo>
                <a:lnTo>
                  <a:pt x="553754" y="0"/>
                </a:lnTo>
              </a:path>
            </a:pathLst>
          </a:custGeom>
          <a:ln w="13388">
            <a:solidFill>
              <a:srgbClr val="1A47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98258" y="5799953"/>
            <a:ext cx="554355" cy="0"/>
          </a:xfrm>
          <a:custGeom>
            <a:avLst/>
            <a:gdLst/>
            <a:ahLst/>
            <a:cxnLst/>
            <a:rect l="l" t="t" r="r" b="b"/>
            <a:pathLst>
              <a:path w="554354" h="0">
                <a:moveTo>
                  <a:pt x="0" y="0"/>
                </a:moveTo>
                <a:lnTo>
                  <a:pt x="85092" y="0"/>
                </a:lnTo>
              </a:path>
              <a:path w="554354" h="0">
                <a:moveTo>
                  <a:pt x="127713" y="0"/>
                </a:moveTo>
                <a:lnTo>
                  <a:pt x="212806" y="0"/>
                </a:lnTo>
              </a:path>
              <a:path w="554354" h="0">
                <a:moveTo>
                  <a:pt x="255574" y="0"/>
                </a:moveTo>
                <a:lnTo>
                  <a:pt x="340667" y="0"/>
                </a:lnTo>
              </a:path>
              <a:path w="554354" h="0">
                <a:moveTo>
                  <a:pt x="383287" y="0"/>
                </a:moveTo>
                <a:lnTo>
                  <a:pt x="468528" y="0"/>
                </a:lnTo>
              </a:path>
              <a:path w="554354" h="0">
                <a:moveTo>
                  <a:pt x="511149" y="0"/>
                </a:moveTo>
                <a:lnTo>
                  <a:pt x="553917" y="0"/>
                </a:lnTo>
              </a:path>
            </a:pathLst>
          </a:custGeom>
          <a:ln w="13085">
            <a:solidFill>
              <a:srgbClr val="90353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35320" y="5747327"/>
            <a:ext cx="1381908" cy="11095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47934" y="5747264"/>
            <a:ext cx="837303" cy="11102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3055656" y="1888329"/>
            <a:ext cx="751205" cy="154305"/>
          </a:xfrm>
          <a:custGeom>
            <a:avLst/>
            <a:gdLst/>
            <a:ahLst/>
            <a:cxnLst/>
            <a:rect l="l" t="t" r="r" b="b"/>
            <a:pathLst>
              <a:path w="751204" h="154305">
                <a:moveTo>
                  <a:pt x="64063" y="0"/>
                </a:moveTo>
                <a:lnTo>
                  <a:pt x="0" y="0"/>
                </a:lnTo>
                <a:lnTo>
                  <a:pt x="0" y="151291"/>
                </a:lnTo>
                <a:lnTo>
                  <a:pt x="19104" y="151291"/>
                </a:lnTo>
                <a:lnTo>
                  <a:pt x="19104" y="89752"/>
                </a:lnTo>
                <a:lnTo>
                  <a:pt x="56146" y="89752"/>
                </a:lnTo>
                <a:lnTo>
                  <a:pt x="98499" y="76420"/>
                </a:lnTo>
                <a:lnTo>
                  <a:pt x="101749" y="71925"/>
                </a:lnTo>
                <a:lnTo>
                  <a:pt x="19104" y="71925"/>
                </a:lnTo>
                <a:lnTo>
                  <a:pt x="19104" y="17825"/>
                </a:lnTo>
                <a:lnTo>
                  <a:pt x="103348" y="17825"/>
                </a:lnTo>
                <a:lnTo>
                  <a:pt x="102910" y="16896"/>
                </a:lnTo>
                <a:lnTo>
                  <a:pt x="99062" y="11935"/>
                </a:lnTo>
                <a:lnTo>
                  <a:pt x="94268" y="8525"/>
                </a:lnTo>
                <a:lnTo>
                  <a:pt x="89472" y="4959"/>
                </a:lnTo>
                <a:lnTo>
                  <a:pt x="83524" y="2633"/>
                </a:lnTo>
                <a:lnTo>
                  <a:pt x="71374" y="464"/>
                </a:lnTo>
                <a:lnTo>
                  <a:pt x="64063" y="0"/>
                </a:lnTo>
                <a:close/>
              </a:path>
              <a:path w="751204" h="154305">
                <a:moveTo>
                  <a:pt x="103348" y="17825"/>
                </a:moveTo>
                <a:lnTo>
                  <a:pt x="64715" y="17825"/>
                </a:lnTo>
                <a:lnTo>
                  <a:pt x="70664" y="18290"/>
                </a:lnTo>
                <a:lnTo>
                  <a:pt x="73875" y="19221"/>
                </a:lnTo>
                <a:lnTo>
                  <a:pt x="78863" y="20615"/>
                </a:lnTo>
                <a:lnTo>
                  <a:pt x="82887" y="23561"/>
                </a:lnTo>
                <a:lnTo>
                  <a:pt x="89000" y="32552"/>
                </a:lnTo>
                <a:lnTo>
                  <a:pt x="90524" y="37978"/>
                </a:lnTo>
                <a:lnTo>
                  <a:pt x="90524" y="53013"/>
                </a:lnTo>
                <a:lnTo>
                  <a:pt x="56442" y="71925"/>
                </a:lnTo>
                <a:lnTo>
                  <a:pt x="101749" y="71925"/>
                </a:lnTo>
                <a:lnTo>
                  <a:pt x="103627" y="69326"/>
                </a:lnTo>
                <a:lnTo>
                  <a:pt x="107290" y="61519"/>
                </a:lnTo>
                <a:lnTo>
                  <a:pt x="109481" y="53013"/>
                </a:lnTo>
                <a:lnTo>
                  <a:pt x="110220" y="43713"/>
                </a:lnTo>
                <a:lnTo>
                  <a:pt x="110220" y="36272"/>
                </a:lnTo>
                <a:lnTo>
                  <a:pt x="108756" y="29296"/>
                </a:lnTo>
                <a:lnTo>
                  <a:pt x="103348" y="17825"/>
                </a:lnTo>
                <a:close/>
              </a:path>
              <a:path w="751204" h="154305">
                <a:moveTo>
                  <a:pt x="217464" y="54564"/>
                </a:moveTo>
                <a:lnTo>
                  <a:pt x="186923" y="54564"/>
                </a:lnTo>
                <a:lnTo>
                  <a:pt x="193641" y="56733"/>
                </a:lnTo>
                <a:lnTo>
                  <a:pt x="201529" y="64019"/>
                </a:lnTo>
                <a:lnTo>
                  <a:pt x="203201" y="69289"/>
                </a:lnTo>
                <a:lnTo>
                  <a:pt x="203098" y="81691"/>
                </a:lnTo>
                <a:lnTo>
                  <a:pt x="197318" y="83490"/>
                </a:lnTo>
                <a:lnTo>
                  <a:pt x="190123" y="85159"/>
                </a:lnTo>
                <a:lnTo>
                  <a:pt x="181513" y="86682"/>
                </a:lnTo>
                <a:lnTo>
                  <a:pt x="164458" y="88976"/>
                </a:lnTo>
                <a:lnTo>
                  <a:pt x="159204" y="89907"/>
                </a:lnTo>
                <a:lnTo>
                  <a:pt x="155727" y="90836"/>
                </a:lnTo>
                <a:lnTo>
                  <a:pt x="150991" y="92232"/>
                </a:lnTo>
                <a:lnTo>
                  <a:pt x="146744" y="94246"/>
                </a:lnTo>
                <a:lnTo>
                  <a:pt x="142970" y="97036"/>
                </a:lnTo>
                <a:lnTo>
                  <a:pt x="139197" y="99672"/>
                </a:lnTo>
                <a:lnTo>
                  <a:pt x="136149" y="103238"/>
                </a:lnTo>
                <a:lnTo>
                  <a:pt x="133811" y="107577"/>
                </a:lnTo>
                <a:lnTo>
                  <a:pt x="131471" y="112073"/>
                </a:lnTo>
                <a:lnTo>
                  <a:pt x="130318" y="117058"/>
                </a:lnTo>
                <a:lnTo>
                  <a:pt x="130318" y="131450"/>
                </a:lnTo>
                <a:lnTo>
                  <a:pt x="166071" y="153771"/>
                </a:lnTo>
                <a:lnTo>
                  <a:pt x="173027" y="153771"/>
                </a:lnTo>
                <a:lnTo>
                  <a:pt x="179538" y="152532"/>
                </a:lnTo>
                <a:lnTo>
                  <a:pt x="185620" y="150051"/>
                </a:lnTo>
                <a:lnTo>
                  <a:pt x="191688" y="147726"/>
                </a:lnTo>
                <a:lnTo>
                  <a:pt x="198006" y="143541"/>
                </a:lnTo>
                <a:lnTo>
                  <a:pt x="202848" y="139200"/>
                </a:lnTo>
                <a:lnTo>
                  <a:pt x="163408" y="139200"/>
                </a:lnTo>
                <a:lnTo>
                  <a:pt x="158169" y="137495"/>
                </a:lnTo>
                <a:lnTo>
                  <a:pt x="151020" y="130985"/>
                </a:lnTo>
                <a:lnTo>
                  <a:pt x="149231" y="126799"/>
                </a:lnTo>
                <a:lnTo>
                  <a:pt x="149231" y="118583"/>
                </a:lnTo>
                <a:lnTo>
                  <a:pt x="174151" y="103238"/>
                </a:lnTo>
                <a:lnTo>
                  <a:pt x="183194" y="101755"/>
                </a:lnTo>
                <a:lnTo>
                  <a:pt x="191033" y="100098"/>
                </a:lnTo>
                <a:lnTo>
                  <a:pt x="197668" y="98267"/>
                </a:lnTo>
                <a:lnTo>
                  <a:pt x="203098" y="96262"/>
                </a:lnTo>
                <a:lnTo>
                  <a:pt x="221071" y="96262"/>
                </a:lnTo>
                <a:lnTo>
                  <a:pt x="221034" y="72235"/>
                </a:lnTo>
                <a:lnTo>
                  <a:pt x="220878" y="69289"/>
                </a:lnTo>
                <a:lnTo>
                  <a:pt x="220788" y="67585"/>
                </a:lnTo>
                <a:lnTo>
                  <a:pt x="220738" y="66654"/>
                </a:lnTo>
                <a:lnTo>
                  <a:pt x="220259" y="64019"/>
                </a:lnTo>
                <a:lnTo>
                  <a:pt x="219095" y="58284"/>
                </a:lnTo>
                <a:lnTo>
                  <a:pt x="217464" y="54564"/>
                </a:lnTo>
                <a:close/>
              </a:path>
              <a:path w="751204" h="154305">
                <a:moveTo>
                  <a:pt x="222109" y="137650"/>
                </a:moveTo>
                <a:lnTo>
                  <a:pt x="204577" y="137650"/>
                </a:lnTo>
                <a:lnTo>
                  <a:pt x="205079" y="142610"/>
                </a:lnTo>
                <a:lnTo>
                  <a:pt x="205111" y="142920"/>
                </a:lnTo>
                <a:lnTo>
                  <a:pt x="206213" y="147106"/>
                </a:lnTo>
                <a:lnTo>
                  <a:pt x="206294" y="147416"/>
                </a:lnTo>
                <a:lnTo>
                  <a:pt x="208130" y="151291"/>
                </a:lnTo>
                <a:lnTo>
                  <a:pt x="226642" y="151291"/>
                </a:lnTo>
                <a:lnTo>
                  <a:pt x="224408" y="147106"/>
                </a:lnTo>
                <a:lnTo>
                  <a:pt x="223017" y="142920"/>
                </a:lnTo>
                <a:lnTo>
                  <a:pt x="222914" y="142610"/>
                </a:lnTo>
                <a:lnTo>
                  <a:pt x="222158" y="138116"/>
                </a:lnTo>
                <a:lnTo>
                  <a:pt x="222109" y="137650"/>
                </a:lnTo>
                <a:close/>
              </a:path>
              <a:path w="751204" h="154305">
                <a:moveTo>
                  <a:pt x="221071" y="96262"/>
                </a:moveTo>
                <a:lnTo>
                  <a:pt x="203098" y="96262"/>
                </a:lnTo>
                <a:lnTo>
                  <a:pt x="202980" y="112073"/>
                </a:lnTo>
                <a:lnTo>
                  <a:pt x="202218" y="117058"/>
                </a:lnTo>
                <a:lnTo>
                  <a:pt x="202150" y="117499"/>
                </a:lnTo>
                <a:lnTo>
                  <a:pt x="197755" y="127110"/>
                </a:lnTo>
                <a:lnTo>
                  <a:pt x="193848" y="131295"/>
                </a:lnTo>
                <a:lnTo>
                  <a:pt x="188521" y="134395"/>
                </a:lnTo>
                <a:lnTo>
                  <a:pt x="183208" y="137650"/>
                </a:lnTo>
                <a:lnTo>
                  <a:pt x="177126" y="139200"/>
                </a:lnTo>
                <a:lnTo>
                  <a:pt x="202848" y="139200"/>
                </a:lnTo>
                <a:lnTo>
                  <a:pt x="204577" y="137650"/>
                </a:lnTo>
                <a:lnTo>
                  <a:pt x="222109" y="137650"/>
                </a:lnTo>
                <a:lnTo>
                  <a:pt x="221138" y="118583"/>
                </a:lnTo>
                <a:lnTo>
                  <a:pt x="221071" y="96262"/>
                </a:lnTo>
                <a:close/>
              </a:path>
              <a:path w="751204" h="154305">
                <a:moveTo>
                  <a:pt x="189482" y="39217"/>
                </a:moveTo>
                <a:lnTo>
                  <a:pt x="171547" y="39217"/>
                </a:lnTo>
                <a:lnTo>
                  <a:pt x="163644" y="40457"/>
                </a:lnTo>
                <a:lnTo>
                  <a:pt x="156808" y="43092"/>
                </a:lnTo>
                <a:lnTo>
                  <a:pt x="149985" y="45572"/>
                </a:lnTo>
                <a:lnTo>
                  <a:pt x="133366" y="72854"/>
                </a:lnTo>
                <a:lnTo>
                  <a:pt x="150695" y="75335"/>
                </a:lnTo>
                <a:lnTo>
                  <a:pt x="152604" y="67585"/>
                </a:lnTo>
                <a:lnTo>
                  <a:pt x="155549" y="62160"/>
                </a:lnTo>
                <a:lnTo>
                  <a:pt x="159515" y="59213"/>
                </a:lnTo>
                <a:lnTo>
                  <a:pt x="163497" y="56113"/>
                </a:lnTo>
                <a:lnTo>
                  <a:pt x="169652" y="54564"/>
                </a:lnTo>
                <a:lnTo>
                  <a:pt x="217464" y="54564"/>
                </a:lnTo>
                <a:lnTo>
                  <a:pt x="217260" y="54099"/>
                </a:lnTo>
                <a:lnTo>
                  <a:pt x="214626" y="50843"/>
                </a:lnTo>
                <a:lnTo>
                  <a:pt x="212007" y="47433"/>
                </a:lnTo>
                <a:lnTo>
                  <a:pt x="207892" y="44643"/>
                </a:lnTo>
                <a:lnTo>
                  <a:pt x="196734" y="40302"/>
                </a:lnTo>
                <a:lnTo>
                  <a:pt x="189482" y="39217"/>
                </a:lnTo>
                <a:close/>
              </a:path>
              <a:path w="751204" h="154305">
                <a:moveTo>
                  <a:pt x="267813" y="41697"/>
                </a:moveTo>
                <a:lnTo>
                  <a:pt x="251860" y="41697"/>
                </a:lnTo>
                <a:lnTo>
                  <a:pt x="251860" y="151291"/>
                </a:lnTo>
                <a:lnTo>
                  <a:pt x="269589" y="151291"/>
                </a:lnTo>
                <a:lnTo>
                  <a:pt x="269589" y="91456"/>
                </a:lnTo>
                <a:lnTo>
                  <a:pt x="270102" y="81744"/>
                </a:lnTo>
                <a:lnTo>
                  <a:pt x="284923" y="57199"/>
                </a:lnTo>
                <a:lnTo>
                  <a:pt x="267813" y="57199"/>
                </a:lnTo>
                <a:lnTo>
                  <a:pt x="267813" y="41697"/>
                </a:lnTo>
                <a:close/>
              </a:path>
              <a:path w="751204" h="154305">
                <a:moveTo>
                  <a:pt x="332566" y="55338"/>
                </a:moveTo>
                <a:lnTo>
                  <a:pt x="302087" y="55338"/>
                </a:lnTo>
                <a:lnTo>
                  <a:pt x="306216" y="56423"/>
                </a:lnTo>
                <a:lnTo>
                  <a:pt x="309723" y="58593"/>
                </a:lnTo>
                <a:lnTo>
                  <a:pt x="313245" y="60919"/>
                </a:lnTo>
                <a:lnTo>
                  <a:pt x="315687" y="63864"/>
                </a:lnTo>
                <a:lnTo>
                  <a:pt x="318439" y="71305"/>
                </a:lnTo>
                <a:lnTo>
                  <a:pt x="319135" y="77040"/>
                </a:lnTo>
                <a:lnTo>
                  <a:pt x="319135" y="151291"/>
                </a:lnTo>
                <a:lnTo>
                  <a:pt x="336863" y="151291"/>
                </a:lnTo>
                <a:lnTo>
                  <a:pt x="336778" y="73746"/>
                </a:lnTo>
                <a:lnTo>
                  <a:pt x="336646" y="71305"/>
                </a:lnTo>
                <a:lnTo>
                  <a:pt x="336538" y="69289"/>
                </a:lnTo>
                <a:lnTo>
                  <a:pt x="334911" y="60919"/>
                </a:lnTo>
                <a:lnTo>
                  <a:pt x="334821" y="60454"/>
                </a:lnTo>
                <a:lnTo>
                  <a:pt x="332986" y="55958"/>
                </a:lnTo>
                <a:lnTo>
                  <a:pt x="332566" y="55338"/>
                </a:lnTo>
                <a:close/>
              </a:path>
              <a:path w="751204" h="154305">
                <a:moveTo>
                  <a:pt x="307414" y="39217"/>
                </a:moveTo>
                <a:lnTo>
                  <a:pt x="301110" y="39217"/>
                </a:lnTo>
                <a:lnTo>
                  <a:pt x="290863" y="40348"/>
                </a:lnTo>
                <a:lnTo>
                  <a:pt x="281898" y="43732"/>
                </a:lnTo>
                <a:lnTo>
                  <a:pt x="274214" y="49354"/>
                </a:lnTo>
                <a:lnTo>
                  <a:pt x="267813" y="57199"/>
                </a:lnTo>
                <a:lnTo>
                  <a:pt x="284923" y="57199"/>
                </a:lnTo>
                <a:lnTo>
                  <a:pt x="289819" y="55338"/>
                </a:lnTo>
                <a:lnTo>
                  <a:pt x="332566" y="55338"/>
                </a:lnTo>
                <a:lnTo>
                  <a:pt x="327733" y="48207"/>
                </a:lnTo>
                <a:lnTo>
                  <a:pt x="323782" y="45107"/>
                </a:lnTo>
                <a:lnTo>
                  <a:pt x="318499" y="42782"/>
                </a:lnTo>
                <a:lnTo>
                  <a:pt x="313300" y="40348"/>
                </a:lnTo>
                <a:lnTo>
                  <a:pt x="313449" y="40348"/>
                </a:lnTo>
                <a:lnTo>
                  <a:pt x="307414" y="39217"/>
                </a:lnTo>
                <a:close/>
              </a:path>
              <a:path w="751204" h="154305">
                <a:moveTo>
                  <a:pt x="410339" y="39217"/>
                </a:moveTo>
                <a:lnTo>
                  <a:pt x="375074" y="54409"/>
                </a:lnTo>
                <a:lnTo>
                  <a:pt x="361559" y="96262"/>
                </a:lnTo>
                <a:lnTo>
                  <a:pt x="361488" y="97348"/>
                </a:lnTo>
                <a:lnTo>
                  <a:pt x="362310" y="109675"/>
                </a:lnTo>
                <a:lnTo>
                  <a:pt x="362329" y="109964"/>
                </a:lnTo>
                <a:lnTo>
                  <a:pt x="364850" y="121083"/>
                </a:lnTo>
                <a:lnTo>
                  <a:pt x="390753" y="150051"/>
                </a:lnTo>
                <a:lnTo>
                  <a:pt x="411331" y="153771"/>
                </a:lnTo>
                <a:lnTo>
                  <a:pt x="420036" y="153190"/>
                </a:lnTo>
                <a:lnTo>
                  <a:pt x="447353" y="138426"/>
                </a:lnTo>
                <a:lnTo>
                  <a:pt x="402689" y="138426"/>
                </a:lnTo>
                <a:lnTo>
                  <a:pt x="395408" y="135171"/>
                </a:lnTo>
                <a:lnTo>
                  <a:pt x="389562" y="128814"/>
                </a:lnTo>
                <a:lnTo>
                  <a:pt x="385663" y="123500"/>
                </a:lnTo>
                <a:lnTo>
                  <a:pt x="382738" y="117111"/>
                </a:lnTo>
                <a:lnTo>
                  <a:pt x="380862" y="109964"/>
                </a:lnTo>
                <a:lnTo>
                  <a:pt x="380786" y="109675"/>
                </a:lnTo>
                <a:lnTo>
                  <a:pt x="379810" y="101222"/>
                </a:lnTo>
                <a:lnTo>
                  <a:pt x="457814" y="101222"/>
                </a:lnTo>
                <a:lnTo>
                  <a:pt x="457917" y="96262"/>
                </a:lnTo>
                <a:lnTo>
                  <a:pt x="457243" y="85876"/>
                </a:lnTo>
                <a:lnTo>
                  <a:pt x="380786" y="85876"/>
                </a:lnTo>
                <a:lnTo>
                  <a:pt x="381359" y="76730"/>
                </a:lnTo>
                <a:lnTo>
                  <a:pt x="381378" y="76420"/>
                </a:lnTo>
                <a:lnTo>
                  <a:pt x="384456" y="68670"/>
                </a:lnTo>
                <a:lnTo>
                  <a:pt x="390006" y="63089"/>
                </a:lnTo>
                <a:lnTo>
                  <a:pt x="395556" y="57354"/>
                </a:lnTo>
                <a:lnTo>
                  <a:pt x="402393" y="54409"/>
                </a:lnTo>
                <a:lnTo>
                  <a:pt x="444831" y="54409"/>
                </a:lnTo>
                <a:lnTo>
                  <a:pt x="444614" y="54099"/>
                </a:lnTo>
                <a:lnTo>
                  <a:pt x="437485" y="47588"/>
                </a:lnTo>
                <a:lnTo>
                  <a:pt x="429565" y="43034"/>
                </a:lnTo>
                <a:lnTo>
                  <a:pt x="429711" y="43034"/>
                </a:lnTo>
                <a:lnTo>
                  <a:pt x="420434" y="40174"/>
                </a:lnTo>
                <a:lnTo>
                  <a:pt x="420634" y="40174"/>
                </a:lnTo>
                <a:lnTo>
                  <a:pt x="410339" y="39217"/>
                </a:lnTo>
                <a:close/>
              </a:path>
              <a:path w="751204" h="154305">
                <a:moveTo>
                  <a:pt x="439004" y="115948"/>
                </a:moveTo>
                <a:lnTo>
                  <a:pt x="417931" y="138426"/>
                </a:lnTo>
                <a:lnTo>
                  <a:pt x="447353" y="138426"/>
                </a:lnTo>
                <a:lnTo>
                  <a:pt x="451145" y="133290"/>
                </a:lnTo>
                <a:lnTo>
                  <a:pt x="454698" y="126269"/>
                </a:lnTo>
                <a:lnTo>
                  <a:pt x="457325" y="118273"/>
                </a:lnTo>
                <a:lnTo>
                  <a:pt x="439004" y="115948"/>
                </a:lnTo>
                <a:close/>
              </a:path>
              <a:path w="751204" h="154305">
                <a:moveTo>
                  <a:pt x="444831" y="54409"/>
                </a:moveTo>
                <a:lnTo>
                  <a:pt x="419530" y="54409"/>
                </a:lnTo>
                <a:lnTo>
                  <a:pt x="426855" y="57974"/>
                </a:lnTo>
                <a:lnTo>
                  <a:pt x="432508" y="65260"/>
                </a:lnTo>
                <a:lnTo>
                  <a:pt x="436178" y="69754"/>
                </a:lnTo>
                <a:lnTo>
                  <a:pt x="438313" y="76420"/>
                </a:lnTo>
                <a:lnTo>
                  <a:pt x="438412" y="76730"/>
                </a:lnTo>
                <a:lnTo>
                  <a:pt x="439197" y="85876"/>
                </a:lnTo>
                <a:lnTo>
                  <a:pt x="457243" y="85876"/>
                </a:lnTo>
                <a:lnTo>
                  <a:pt x="457141" y="84295"/>
                </a:lnTo>
                <a:lnTo>
                  <a:pt x="457085" y="83439"/>
                </a:lnTo>
                <a:lnTo>
                  <a:pt x="454590" y="72157"/>
                </a:lnTo>
                <a:lnTo>
                  <a:pt x="450432" y="62387"/>
                </a:lnTo>
                <a:lnTo>
                  <a:pt x="444831" y="54409"/>
                </a:lnTo>
                <a:close/>
              </a:path>
              <a:path w="751204" h="154305">
                <a:moveTo>
                  <a:pt x="500272" y="0"/>
                </a:moveTo>
                <a:lnTo>
                  <a:pt x="482542" y="0"/>
                </a:lnTo>
                <a:lnTo>
                  <a:pt x="482542" y="151291"/>
                </a:lnTo>
                <a:lnTo>
                  <a:pt x="500272" y="151291"/>
                </a:lnTo>
                <a:lnTo>
                  <a:pt x="500272" y="0"/>
                </a:lnTo>
                <a:close/>
              </a:path>
              <a:path w="751204" h="154305">
                <a:moveTo>
                  <a:pt x="649296" y="0"/>
                </a:moveTo>
                <a:lnTo>
                  <a:pt x="628710" y="0"/>
                </a:lnTo>
                <a:lnTo>
                  <a:pt x="573260" y="151291"/>
                </a:lnTo>
                <a:lnTo>
                  <a:pt x="593548" y="151291"/>
                </a:lnTo>
                <a:lnTo>
                  <a:pt x="609398" y="105408"/>
                </a:lnTo>
                <a:lnTo>
                  <a:pt x="690476" y="105408"/>
                </a:lnTo>
                <a:lnTo>
                  <a:pt x="684117" y="89131"/>
                </a:lnTo>
                <a:lnTo>
                  <a:pt x="614918" y="89131"/>
                </a:lnTo>
                <a:lnTo>
                  <a:pt x="630782" y="44797"/>
                </a:lnTo>
                <a:lnTo>
                  <a:pt x="633149" y="37587"/>
                </a:lnTo>
                <a:lnTo>
                  <a:pt x="635235" y="30362"/>
                </a:lnTo>
                <a:lnTo>
                  <a:pt x="637040" y="23108"/>
                </a:lnTo>
                <a:lnTo>
                  <a:pt x="638566" y="15810"/>
                </a:lnTo>
                <a:lnTo>
                  <a:pt x="655473" y="15810"/>
                </a:lnTo>
                <a:lnTo>
                  <a:pt x="649296" y="0"/>
                </a:lnTo>
                <a:close/>
              </a:path>
              <a:path w="751204" h="154305">
                <a:moveTo>
                  <a:pt x="690476" y="105408"/>
                </a:moveTo>
                <a:lnTo>
                  <a:pt x="669791" y="105408"/>
                </a:lnTo>
                <a:lnTo>
                  <a:pt x="686633" y="151291"/>
                </a:lnTo>
                <a:lnTo>
                  <a:pt x="708402" y="151291"/>
                </a:lnTo>
                <a:lnTo>
                  <a:pt x="690476" y="105408"/>
                </a:lnTo>
                <a:close/>
              </a:path>
              <a:path w="751204" h="154305">
                <a:moveTo>
                  <a:pt x="655473" y="15810"/>
                </a:moveTo>
                <a:lnTo>
                  <a:pt x="638566" y="15810"/>
                </a:lnTo>
                <a:lnTo>
                  <a:pt x="640455" y="22405"/>
                </a:lnTo>
                <a:lnTo>
                  <a:pt x="642793" y="29858"/>
                </a:lnTo>
                <a:lnTo>
                  <a:pt x="645577" y="38154"/>
                </a:lnTo>
                <a:lnTo>
                  <a:pt x="648807" y="47278"/>
                </a:lnTo>
                <a:lnTo>
                  <a:pt x="663872" y="89131"/>
                </a:lnTo>
                <a:lnTo>
                  <a:pt x="684117" y="89131"/>
                </a:lnTo>
                <a:lnTo>
                  <a:pt x="655473" y="15810"/>
                </a:lnTo>
                <a:close/>
              </a:path>
              <a:path w="751204" h="154305">
                <a:moveTo>
                  <a:pt x="750652" y="130055"/>
                </a:moveTo>
                <a:lnTo>
                  <a:pt x="730451" y="130055"/>
                </a:lnTo>
                <a:lnTo>
                  <a:pt x="730451" y="151291"/>
                </a:lnTo>
                <a:lnTo>
                  <a:pt x="750652" y="151291"/>
                </a:lnTo>
                <a:lnTo>
                  <a:pt x="750652" y="130055"/>
                </a:lnTo>
                <a:close/>
              </a:path>
            </a:pathLst>
          </a:custGeom>
          <a:solidFill>
            <a:srgbClr val="1E2D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16939" y="6075172"/>
            <a:ext cx="105924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trading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volume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among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favored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by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investors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dropped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significantly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after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API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shutdown.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0507" y="5073607"/>
            <a:ext cx="377602" cy="10168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4295" y="5018177"/>
            <a:ext cx="377602" cy="10168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7574" y="4859233"/>
            <a:ext cx="1262468" cy="58098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77260" y="5553915"/>
            <a:ext cx="2634615" cy="228600"/>
          </a:xfrm>
          <a:custGeom>
            <a:avLst/>
            <a:gdLst/>
            <a:ahLst/>
            <a:cxnLst/>
            <a:rect l="l" t="t" r="r" b="b"/>
            <a:pathLst>
              <a:path w="2634615" h="228600">
                <a:moveTo>
                  <a:pt x="2405843" y="0"/>
                </a:moveTo>
                <a:lnTo>
                  <a:pt x="2405804" y="62107"/>
                </a:lnTo>
                <a:lnTo>
                  <a:pt x="2405698" y="228600"/>
                </a:lnTo>
                <a:lnTo>
                  <a:pt x="2558292" y="152424"/>
                </a:lnTo>
                <a:lnTo>
                  <a:pt x="2443843" y="152424"/>
                </a:lnTo>
                <a:lnTo>
                  <a:pt x="2443899" y="76224"/>
                </a:lnTo>
                <a:lnTo>
                  <a:pt x="2558050" y="76224"/>
                </a:lnTo>
                <a:lnTo>
                  <a:pt x="2405843" y="0"/>
                </a:lnTo>
                <a:close/>
              </a:path>
              <a:path w="2634615" h="228600">
                <a:moveTo>
                  <a:pt x="1310820" y="144810"/>
                </a:moveTo>
                <a:lnTo>
                  <a:pt x="1381668" y="147341"/>
                </a:lnTo>
                <a:lnTo>
                  <a:pt x="2414054" y="152424"/>
                </a:lnTo>
                <a:lnTo>
                  <a:pt x="2405747" y="152424"/>
                </a:lnTo>
                <a:lnTo>
                  <a:pt x="2405751" y="144941"/>
                </a:lnTo>
                <a:lnTo>
                  <a:pt x="1313014" y="144941"/>
                </a:lnTo>
                <a:lnTo>
                  <a:pt x="1310820" y="144810"/>
                </a:lnTo>
                <a:close/>
              </a:path>
              <a:path w="2634615" h="228600">
                <a:moveTo>
                  <a:pt x="2558050" y="76224"/>
                </a:moveTo>
                <a:lnTo>
                  <a:pt x="2443899" y="76224"/>
                </a:lnTo>
                <a:lnTo>
                  <a:pt x="2443843" y="152424"/>
                </a:lnTo>
                <a:lnTo>
                  <a:pt x="2558292" y="152424"/>
                </a:lnTo>
                <a:lnTo>
                  <a:pt x="2634371" y="114445"/>
                </a:lnTo>
                <a:lnTo>
                  <a:pt x="2558050" y="76224"/>
                </a:lnTo>
                <a:close/>
              </a:path>
              <a:path w="2634615" h="228600">
                <a:moveTo>
                  <a:pt x="1308653" y="144427"/>
                </a:moveTo>
                <a:lnTo>
                  <a:pt x="1310820" y="144810"/>
                </a:lnTo>
                <a:lnTo>
                  <a:pt x="1313014" y="144941"/>
                </a:lnTo>
                <a:lnTo>
                  <a:pt x="1308653" y="144427"/>
                </a:lnTo>
                <a:close/>
              </a:path>
              <a:path w="2634615" h="228600">
                <a:moveTo>
                  <a:pt x="245734" y="62107"/>
                </a:moveTo>
                <a:lnTo>
                  <a:pt x="25" y="62107"/>
                </a:lnTo>
                <a:lnTo>
                  <a:pt x="0" y="138307"/>
                </a:lnTo>
                <a:lnTo>
                  <a:pt x="1303352" y="144427"/>
                </a:lnTo>
                <a:lnTo>
                  <a:pt x="1308653" y="144427"/>
                </a:lnTo>
                <a:lnTo>
                  <a:pt x="1313014" y="144941"/>
                </a:lnTo>
                <a:lnTo>
                  <a:pt x="2405751" y="144941"/>
                </a:lnTo>
                <a:lnTo>
                  <a:pt x="2405795" y="76224"/>
                </a:lnTo>
                <a:lnTo>
                  <a:pt x="2414105" y="76224"/>
                </a:lnTo>
                <a:lnTo>
                  <a:pt x="1382955" y="71152"/>
                </a:lnTo>
                <a:lnTo>
                  <a:pt x="1335467" y="70180"/>
                </a:lnTo>
                <a:lnTo>
                  <a:pt x="1326713" y="70180"/>
                </a:lnTo>
                <a:lnTo>
                  <a:pt x="1321369" y="69550"/>
                </a:lnTo>
                <a:lnTo>
                  <a:pt x="1322822" y="69550"/>
                </a:lnTo>
                <a:lnTo>
                  <a:pt x="1319745" y="69007"/>
                </a:lnTo>
                <a:lnTo>
                  <a:pt x="1311457" y="68512"/>
                </a:lnTo>
                <a:lnTo>
                  <a:pt x="1301557" y="68154"/>
                </a:lnTo>
                <a:lnTo>
                  <a:pt x="245734" y="62107"/>
                </a:lnTo>
                <a:close/>
              </a:path>
              <a:path w="2634615" h="228600">
                <a:moveTo>
                  <a:pt x="1308653" y="144427"/>
                </a:moveTo>
                <a:lnTo>
                  <a:pt x="1302190" y="144427"/>
                </a:lnTo>
                <a:lnTo>
                  <a:pt x="1308256" y="144646"/>
                </a:lnTo>
                <a:lnTo>
                  <a:pt x="1308080" y="144646"/>
                </a:lnTo>
                <a:lnTo>
                  <a:pt x="1310820" y="144810"/>
                </a:lnTo>
                <a:lnTo>
                  <a:pt x="1308653" y="144427"/>
                </a:lnTo>
                <a:close/>
              </a:path>
              <a:path w="2634615" h="228600">
                <a:moveTo>
                  <a:pt x="1321369" y="69550"/>
                </a:moveTo>
                <a:lnTo>
                  <a:pt x="1326713" y="70180"/>
                </a:lnTo>
                <a:lnTo>
                  <a:pt x="1326385" y="70180"/>
                </a:lnTo>
                <a:lnTo>
                  <a:pt x="1323563" y="69681"/>
                </a:lnTo>
                <a:lnTo>
                  <a:pt x="1321369" y="69550"/>
                </a:lnTo>
                <a:close/>
              </a:path>
              <a:path w="2634615" h="228600">
                <a:moveTo>
                  <a:pt x="1323563" y="69681"/>
                </a:moveTo>
                <a:lnTo>
                  <a:pt x="1326385" y="70180"/>
                </a:lnTo>
                <a:lnTo>
                  <a:pt x="1335392" y="70180"/>
                </a:lnTo>
                <a:lnTo>
                  <a:pt x="1327303" y="69887"/>
                </a:lnTo>
                <a:lnTo>
                  <a:pt x="1327016" y="69887"/>
                </a:lnTo>
                <a:lnTo>
                  <a:pt x="1323563" y="69681"/>
                </a:lnTo>
                <a:close/>
              </a:path>
              <a:path w="2634615" h="228600">
                <a:moveTo>
                  <a:pt x="1322822" y="69550"/>
                </a:moveTo>
                <a:lnTo>
                  <a:pt x="1321369" y="69550"/>
                </a:lnTo>
                <a:lnTo>
                  <a:pt x="1323563" y="69681"/>
                </a:lnTo>
                <a:lnTo>
                  <a:pt x="1322822" y="6955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6820" y="6233253"/>
            <a:ext cx="422325" cy="2867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06820" y="4545370"/>
            <a:ext cx="459530" cy="4263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48742" y="4528831"/>
            <a:ext cx="459530" cy="4263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6695" y="4650794"/>
            <a:ext cx="278135" cy="2580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77178" y="6257667"/>
            <a:ext cx="422326" cy="2867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6695" y="6267241"/>
            <a:ext cx="422325" cy="28671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8694" y="5988367"/>
            <a:ext cx="422325" cy="28671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1550" y="4544490"/>
            <a:ext cx="278135" cy="2580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25294" y="5988367"/>
            <a:ext cx="422325" cy="28671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78150" y="4544490"/>
            <a:ext cx="278135" cy="2580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26881" y="4885855"/>
            <a:ext cx="420739" cy="100836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80280" y="4918016"/>
            <a:ext cx="420738" cy="100836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1278" y="6413286"/>
            <a:ext cx="422325" cy="2867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4136" y="4969409"/>
            <a:ext cx="278135" cy="2580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12865" y="5310775"/>
            <a:ext cx="420738" cy="100836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7656" y="5147529"/>
            <a:ext cx="420737" cy="10083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681" y="5161927"/>
            <a:ext cx="420738" cy="10083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5771" y="5817208"/>
            <a:ext cx="420738" cy="1008363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916939" y="390651"/>
            <a:ext cx="9444355" cy="119316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4390"/>
              </a:lnSpc>
              <a:spcBef>
                <a:spcPts val="585"/>
              </a:spcBef>
            </a:pPr>
            <a:r>
              <a:rPr dirty="0" sz="4000"/>
              <a:t>Informativeness</a:t>
            </a:r>
            <a:r>
              <a:rPr dirty="0" sz="4000" spc="-55"/>
              <a:t> </a:t>
            </a:r>
            <a:r>
              <a:rPr dirty="0" sz="4000"/>
              <a:t>of</a:t>
            </a:r>
            <a:r>
              <a:rPr dirty="0" sz="4000" spc="-60"/>
              <a:t> </a:t>
            </a:r>
            <a:r>
              <a:rPr dirty="0" sz="4000"/>
              <a:t>retail</a:t>
            </a:r>
            <a:r>
              <a:rPr dirty="0" sz="4000" spc="-55"/>
              <a:t> </a:t>
            </a:r>
            <a:r>
              <a:rPr dirty="0" sz="4000"/>
              <a:t>trades</a:t>
            </a:r>
            <a:r>
              <a:rPr dirty="0" sz="4000" spc="-55"/>
              <a:t> </a:t>
            </a:r>
            <a:r>
              <a:rPr dirty="0" sz="4000" spc="-10"/>
              <a:t>around </a:t>
            </a:r>
            <a:r>
              <a:rPr dirty="0" sz="4000"/>
              <a:t>the</a:t>
            </a:r>
            <a:r>
              <a:rPr dirty="0" sz="4000" spc="-50"/>
              <a:t> </a:t>
            </a:r>
            <a:r>
              <a:rPr dirty="0" sz="4000"/>
              <a:t>Yahoo!</a:t>
            </a:r>
            <a:r>
              <a:rPr dirty="0" sz="4000" spc="-55"/>
              <a:t> </a:t>
            </a:r>
            <a:r>
              <a:rPr dirty="0" sz="4000"/>
              <a:t>Finance</a:t>
            </a:r>
            <a:r>
              <a:rPr dirty="0" sz="4000" spc="-50"/>
              <a:t> </a:t>
            </a:r>
            <a:r>
              <a:rPr dirty="0" sz="4000"/>
              <a:t>API</a:t>
            </a:r>
            <a:r>
              <a:rPr dirty="0" sz="4000" spc="-55"/>
              <a:t> </a:t>
            </a:r>
            <a:r>
              <a:rPr dirty="0" sz="4000" spc="-10"/>
              <a:t>shutdown</a:t>
            </a:r>
            <a:endParaRPr sz="4000"/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5" name="object 25"/>
          <p:cNvSpPr txBox="1"/>
          <p:nvPr/>
        </p:nvSpPr>
        <p:spPr>
          <a:xfrm>
            <a:off x="454402" y="1734820"/>
            <a:ext cx="11308715" cy="22453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23749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latin typeface="Century Gothic"/>
                <a:cs typeface="Century Gothic"/>
              </a:rPr>
              <a:t>Informativeness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of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trades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among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stocks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favored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investors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increased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after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API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shutdown. </a:t>
            </a:r>
            <a:r>
              <a:rPr dirty="0" sz="1600">
                <a:latin typeface="Century Gothic"/>
                <a:cs typeface="Century Gothic"/>
              </a:rPr>
              <a:t>Combined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with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the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volume</a:t>
            </a:r>
            <a:r>
              <a:rPr dirty="0" sz="1600" spc="-5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decrease,</a:t>
            </a:r>
            <a:r>
              <a:rPr dirty="0" sz="1600" spc="-5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this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reveals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poorer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quality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for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retail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trades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induced</a:t>
            </a:r>
            <a:r>
              <a:rPr dirty="0" sz="1600" spc="-4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by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API-</a:t>
            </a:r>
            <a:r>
              <a:rPr dirty="0" sz="1600">
                <a:latin typeface="Century Gothic"/>
                <a:cs typeface="Century Gothic"/>
              </a:rPr>
              <a:t>enabled</a:t>
            </a:r>
            <a:r>
              <a:rPr dirty="0" sz="1600" spc="-40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market </a:t>
            </a:r>
            <a:r>
              <a:rPr dirty="0" sz="1600">
                <a:latin typeface="Century Gothic"/>
                <a:cs typeface="Century Gothic"/>
              </a:rPr>
              <a:t>data</a:t>
            </a:r>
            <a:r>
              <a:rPr dirty="0" sz="1600" spc="-3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access.</a:t>
            </a:r>
            <a:endParaRPr sz="1600">
              <a:latin typeface="Century Gothic"/>
              <a:cs typeface="Century Gothic"/>
            </a:endParaRPr>
          </a:p>
          <a:p>
            <a:pPr marL="755015" indent="-285750">
              <a:lnSpc>
                <a:spcPts val="1595"/>
              </a:lnSpc>
              <a:buFont typeface="Arial"/>
              <a:buChar char="•"/>
              <a:tabLst>
                <a:tab pos="755015" algn="l"/>
              </a:tabLst>
            </a:pPr>
            <a:r>
              <a:rPr dirty="0" sz="1400">
                <a:latin typeface="Century Gothic"/>
                <a:cs typeface="Century Gothic"/>
              </a:rPr>
              <a:t>One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reason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that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retail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investors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become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overly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 b="1">
                <a:latin typeface="Century Gothic"/>
                <a:cs typeface="Century Gothic"/>
              </a:rPr>
              <a:t>confident</a:t>
            </a:r>
            <a:r>
              <a:rPr dirty="0" sz="1400" spc="-35" b="1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after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accessing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data,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thus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reducing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their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trade</a:t>
            </a:r>
            <a:endParaRPr sz="1400">
              <a:latin typeface="Century Gothic"/>
              <a:cs typeface="Century Gothic"/>
            </a:endParaRPr>
          </a:p>
          <a:p>
            <a:pPr marL="755015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Century Gothic"/>
                <a:cs typeface="Century Gothic"/>
              </a:rPr>
              <a:t>informativeness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for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each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they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place.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Hence,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removing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data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access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increases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average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quality.</a:t>
            </a:r>
            <a:endParaRPr sz="1400">
              <a:latin typeface="Century Gothic"/>
              <a:cs typeface="Century Gothic"/>
            </a:endParaRPr>
          </a:p>
          <a:p>
            <a:pPr marL="755015" marR="5080" indent="-285750">
              <a:lnSpc>
                <a:spcPct val="101400"/>
              </a:lnSpc>
              <a:buFont typeface="Arial"/>
              <a:buChar char="•"/>
              <a:tabLst>
                <a:tab pos="755015" algn="l"/>
              </a:tabLst>
            </a:pPr>
            <a:r>
              <a:rPr dirty="0" sz="1400">
                <a:latin typeface="Century Gothic"/>
                <a:cs typeface="Century Gothic"/>
              </a:rPr>
              <a:t>Even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if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there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marginal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improvement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of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informativeness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(represented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by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smaller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light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bulbs),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average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quality </a:t>
            </a:r>
            <a:r>
              <a:rPr dirty="0" sz="1400">
                <a:latin typeface="Century Gothic"/>
                <a:cs typeface="Century Gothic"/>
              </a:rPr>
              <a:t>per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trade</a:t>
            </a:r>
            <a:r>
              <a:rPr dirty="0" sz="1400" spc="-1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will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still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decrease.</a:t>
            </a:r>
            <a:endParaRPr sz="1400">
              <a:latin typeface="Century Gothic"/>
              <a:cs typeface="Century Gothic"/>
            </a:endParaRPr>
          </a:p>
          <a:p>
            <a:pPr lvl="1" marL="1212215" indent="-285115">
              <a:lnSpc>
                <a:spcPts val="1585"/>
              </a:lnSpc>
              <a:buFont typeface="Arial"/>
              <a:buChar char="•"/>
              <a:tabLst>
                <a:tab pos="1212215" algn="l"/>
              </a:tabLst>
            </a:pPr>
            <a:r>
              <a:rPr dirty="0" sz="1400">
                <a:latin typeface="Century Gothic"/>
                <a:cs typeface="Century Gothic"/>
              </a:rPr>
              <a:t>If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bigger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lightbulbs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equals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10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and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smaller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light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bulbs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represent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2,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then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average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informativeness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without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 spc="-25">
                <a:latin typeface="Century Gothic"/>
                <a:cs typeface="Century Gothic"/>
              </a:rPr>
              <a:t>API</a:t>
            </a:r>
            <a:endParaRPr sz="1400">
              <a:latin typeface="Century Gothic"/>
              <a:cs typeface="Century Gothic"/>
            </a:endParaRPr>
          </a:p>
          <a:p>
            <a:pPr marL="1212850" marR="114300">
              <a:lnSpc>
                <a:spcPct val="101400"/>
              </a:lnSpc>
            </a:pPr>
            <a:r>
              <a:rPr dirty="0" sz="1400">
                <a:latin typeface="Century Gothic"/>
                <a:cs typeface="Century Gothic"/>
              </a:rPr>
              <a:t>access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10/1=10.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With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API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access,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average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informativeness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per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share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among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existing</a:t>
            </a:r>
            <a:r>
              <a:rPr dirty="0" sz="1400" spc="-4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investors</a:t>
            </a:r>
            <a:r>
              <a:rPr dirty="0" sz="1400" spc="-4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(represented </a:t>
            </a:r>
            <a:r>
              <a:rPr dirty="0" sz="1400">
                <a:latin typeface="Century Gothic"/>
                <a:cs typeface="Century Gothic"/>
              </a:rPr>
              <a:t>in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black)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is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(10+2)/2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=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6,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already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lower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than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10.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Adding</a:t>
            </a:r>
            <a:r>
              <a:rPr dirty="0" sz="1400" spc="-3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the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new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participants,</a:t>
            </a:r>
            <a:r>
              <a:rPr dirty="0" sz="1400" spc="-30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we</a:t>
            </a:r>
            <a:r>
              <a:rPr dirty="0" sz="1400" spc="-25">
                <a:latin typeface="Century Gothic"/>
                <a:cs typeface="Century Gothic"/>
              </a:rPr>
              <a:t> </a:t>
            </a:r>
            <a:r>
              <a:rPr dirty="0" sz="1400">
                <a:latin typeface="Century Gothic"/>
                <a:cs typeface="Century Gothic"/>
              </a:rPr>
              <a:t>have</a:t>
            </a:r>
            <a:r>
              <a:rPr dirty="0" sz="1400" spc="-20">
                <a:latin typeface="Century Gothic"/>
                <a:cs typeface="Century Gothic"/>
              </a:rPr>
              <a:t> </a:t>
            </a:r>
            <a:r>
              <a:rPr dirty="0" sz="1400" spc="-10">
                <a:latin typeface="Century Gothic"/>
                <a:cs typeface="Century Gothic"/>
              </a:rPr>
              <a:t>(10+2</a:t>
            </a:r>
            <a:r>
              <a:rPr dirty="0" sz="1400" spc="-10">
                <a:latin typeface="Cambria Math"/>
                <a:cs typeface="Cambria Math"/>
              </a:rPr>
              <a:t>×</a:t>
            </a:r>
            <a:r>
              <a:rPr dirty="0" sz="1400" spc="-10">
                <a:latin typeface="Century Gothic"/>
                <a:cs typeface="Century Gothic"/>
              </a:rPr>
              <a:t>4)/5=3.6.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55249" y="2863596"/>
            <a:ext cx="30302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Brokerages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45148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Brokers</a:t>
            </a:r>
            <a:r>
              <a:rPr dirty="0" spc="-85"/>
              <a:t> </a:t>
            </a:r>
            <a:r>
              <a:rPr dirty="0"/>
              <a:t>vs</a:t>
            </a:r>
            <a:r>
              <a:rPr dirty="0" spc="-85"/>
              <a:t> </a:t>
            </a:r>
            <a:r>
              <a:rPr dirty="0" spc="-10"/>
              <a:t>dealer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544"/>
            <a:ext cx="8848725" cy="336042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Broker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facilitates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transaction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between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buyer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seller.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Typically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gets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commissions.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retail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brokerage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firms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such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Charles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Schwab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 spc="-10">
                <a:latin typeface="Century Gothic"/>
                <a:cs typeface="Century Gothic"/>
              </a:rPr>
              <a:t>Dealer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An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entity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transacts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securities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using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own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account.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Gets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price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differences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e.g.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off-</a:t>
            </a:r>
            <a:r>
              <a:rPr dirty="0" sz="2000">
                <a:latin typeface="Century Gothic"/>
                <a:cs typeface="Century Gothic"/>
              </a:rPr>
              <a:t>exchanges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(wholesalers)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9922" y="1431377"/>
            <a:ext cx="3754754" cy="4445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85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explosure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way</a:t>
            </a:r>
            <a:r>
              <a:rPr dirty="0" sz="85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make</a:t>
            </a:r>
            <a:r>
              <a:rPr dirty="0" sz="85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money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broker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best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execution,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dealer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maintain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best</a:t>
            </a:r>
            <a:r>
              <a:rPr dirty="0" sz="85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capital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levell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Broker-</a:t>
            </a:r>
            <a:r>
              <a:rPr dirty="0" spc="-10"/>
              <a:t>dealer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3791"/>
            <a:ext cx="6409055" cy="16732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Many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brokerage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firms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also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act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dealers.</a:t>
            </a:r>
            <a:endParaRPr sz="24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Both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principal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85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Used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charge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fees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each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transaction.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010" y="4374337"/>
            <a:ext cx="1673534" cy="16735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0216" y="4374337"/>
            <a:ext cx="2975173" cy="16735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Services</a:t>
            </a:r>
            <a:r>
              <a:rPr dirty="0" spc="-90"/>
              <a:t> </a:t>
            </a:r>
            <a:r>
              <a:rPr dirty="0"/>
              <a:t>by</a:t>
            </a:r>
            <a:r>
              <a:rPr dirty="0" spc="-85"/>
              <a:t> </a:t>
            </a:r>
            <a:r>
              <a:rPr dirty="0" spc="-10"/>
              <a:t>brokerages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596"/>
            <a:ext cx="7760334" cy="424434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Order</a:t>
            </a:r>
            <a:r>
              <a:rPr dirty="0" sz="2600" spc="-45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management</a:t>
            </a:r>
            <a:r>
              <a:rPr dirty="0" sz="2600" spc="-5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and</a:t>
            </a:r>
            <a:r>
              <a:rPr dirty="0" sz="2600" spc="-55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execution</a:t>
            </a:r>
            <a:endParaRPr sz="26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10">
                <a:latin typeface="Century Gothic"/>
                <a:cs typeface="Century Gothic"/>
              </a:rPr>
              <a:t>Research</a:t>
            </a:r>
            <a:endParaRPr sz="26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spc="-10">
                <a:latin typeface="Century Gothic"/>
                <a:cs typeface="Century Gothic"/>
              </a:rPr>
              <a:t>Advice</a:t>
            </a:r>
            <a:endParaRPr sz="2600">
              <a:latin typeface="Century Gothic"/>
              <a:cs typeface="Century Gothic"/>
            </a:endParaRPr>
          </a:p>
          <a:p>
            <a:pPr marL="241300" indent="-228600">
              <a:lnSpc>
                <a:spcPts val="3105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Other</a:t>
            </a:r>
            <a:r>
              <a:rPr dirty="0" sz="2600" spc="-30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services</a:t>
            </a:r>
            <a:endParaRPr sz="26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0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Securities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lending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0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Centralized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clearing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0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Global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custody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1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Provision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trading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order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management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systems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15"/>
              </a:lnSpc>
              <a:spcBef>
                <a:spcPts val="7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Operational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support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consulting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services</a:t>
            </a:r>
            <a:endParaRPr sz="2200">
              <a:latin typeface="Century Gothic"/>
              <a:cs typeface="Century Gothic"/>
            </a:endParaRPr>
          </a:p>
          <a:p>
            <a:pPr lvl="1" marL="698500" indent="-228600">
              <a:lnSpc>
                <a:spcPts val="261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2200">
                <a:latin typeface="Century Gothic"/>
                <a:cs typeface="Century Gothic"/>
              </a:rPr>
              <a:t>Leasing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office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space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latin typeface="Century Gothic"/>
                <a:cs typeface="Century Gothic"/>
              </a:rPr>
              <a:t>Customer</a:t>
            </a:r>
            <a:r>
              <a:rPr dirty="0" sz="2600" spc="-8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relationship</a:t>
            </a:r>
            <a:r>
              <a:rPr dirty="0" sz="2600" spc="-80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management</a:t>
            </a:r>
            <a:endParaRPr sz="2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501" rIns="0" bIns="0" rtlCol="0" vert="horz">
            <a:spAutoFit/>
          </a:bodyPr>
          <a:lstStyle/>
          <a:p>
            <a:pPr marL="436245" marR="5080">
              <a:lnSpc>
                <a:spcPts val="4680"/>
              </a:lnSpc>
              <a:spcBef>
                <a:spcPts val="755"/>
              </a:spcBef>
            </a:pPr>
            <a:r>
              <a:rPr dirty="0"/>
              <a:t>Services</a:t>
            </a:r>
            <a:r>
              <a:rPr dirty="0" spc="-120"/>
              <a:t> </a:t>
            </a:r>
            <a:r>
              <a:rPr dirty="0"/>
              <a:t>by</a:t>
            </a:r>
            <a:r>
              <a:rPr dirty="0" spc="-120"/>
              <a:t> </a:t>
            </a:r>
            <a:r>
              <a:rPr dirty="0"/>
              <a:t>brokerages:</a:t>
            </a:r>
            <a:r>
              <a:rPr dirty="0" spc="-130"/>
              <a:t> </a:t>
            </a:r>
            <a:r>
              <a:rPr dirty="0" spc="-10"/>
              <a:t>order </a:t>
            </a:r>
            <a:r>
              <a:rPr dirty="0"/>
              <a:t>management</a:t>
            </a:r>
            <a:r>
              <a:rPr dirty="0" spc="-114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 spc="-1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9653905" cy="360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Retail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investors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place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orders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with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brokerages.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Brokers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find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dealer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(sometimes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themselves).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2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1300" marR="58293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Wholesaler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internalize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it,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execute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it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off-exchange </a:t>
            </a:r>
            <a:r>
              <a:rPr dirty="0" sz="2800">
                <a:latin typeface="Century Gothic"/>
                <a:cs typeface="Century Gothic"/>
              </a:rPr>
              <a:t>(sometimes</a:t>
            </a:r>
            <a:r>
              <a:rPr dirty="0" sz="2800" spc="-12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on-</a:t>
            </a:r>
            <a:r>
              <a:rPr dirty="0" sz="2800" spc="-10">
                <a:latin typeface="Century Gothic"/>
                <a:cs typeface="Century Gothic"/>
              </a:rPr>
              <a:t>exchange).</a:t>
            </a:r>
            <a:endParaRPr sz="2800">
              <a:latin typeface="Century Gothic"/>
              <a:cs typeface="Century Gothic"/>
            </a:endParaRPr>
          </a:p>
          <a:p>
            <a:pPr lvl="1" marL="697230" marR="5080" indent="-227329">
              <a:lnSpc>
                <a:spcPts val="259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latin typeface="Century Gothic"/>
                <a:cs typeface="Century Gothic"/>
              </a:rPr>
              <a:t>Internalization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off-</a:t>
            </a:r>
            <a:r>
              <a:rPr dirty="0" sz="2400">
                <a:latin typeface="Century Gothic"/>
                <a:cs typeface="Century Gothic"/>
              </a:rPr>
              <a:t>exchange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transactions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still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be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reported.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Payment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/>
              <a:t>order</a:t>
            </a:r>
            <a:r>
              <a:rPr dirty="0" spc="-65"/>
              <a:t> </a:t>
            </a:r>
            <a:r>
              <a:rPr dirty="0" spc="-20"/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5403850" cy="32867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499745" indent="-227329">
              <a:lnSpc>
                <a:spcPct val="887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Payment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flow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(PFOF)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50">
                <a:latin typeface="Century Gothic"/>
                <a:cs typeface="Century Gothic"/>
              </a:rPr>
              <a:t>– </a:t>
            </a:r>
            <a:r>
              <a:rPr dirty="0" sz="2400" spc="-5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Payment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wholesalers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to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brokerages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flows.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Zero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commission.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Hidden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cost?</a:t>
            </a:r>
            <a:endParaRPr sz="2400">
              <a:latin typeface="Century Gothic"/>
              <a:cs typeface="Century Gothic"/>
            </a:endParaRPr>
          </a:p>
          <a:p>
            <a:pPr marL="469900" marR="151765">
              <a:lnSpc>
                <a:spcPts val="1900"/>
              </a:lnSpc>
              <a:spcBef>
                <a:spcPts val="595"/>
              </a:spcBef>
            </a:pPr>
            <a:r>
              <a:rPr dirty="0" u="sng" sz="18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  <a:hlinkClick r:id="rId2"/>
              </a:rPr>
              <a:t>https://www.youtube.com/watch?v=2HSW</a:t>
            </a:r>
            <a:r>
              <a:rPr dirty="0" u="none" sz="1800" spc="-10">
                <a:solidFill>
                  <a:srgbClr val="0563C1"/>
                </a:solidFill>
                <a:latin typeface="Century Gothic"/>
                <a:cs typeface="Century Gothic"/>
              </a:rPr>
              <a:t> </a:t>
            </a:r>
            <a:r>
              <a:rPr dirty="0" u="sng" sz="18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entury Gothic"/>
                <a:cs typeface="Century Gothic"/>
              </a:rPr>
              <a:t>M3fKldY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Consolidation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brokerage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houses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8319" y="1152404"/>
            <a:ext cx="4804064" cy="33790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8318" y="4734013"/>
            <a:ext cx="2340750" cy="17564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9853" y="4907164"/>
            <a:ext cx="1817689" cy="97799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Services</a:t>
            </a:r>
            <a:r>
              <a:rPr dirty="0" spc="-120"/>
              <a:t> </a:t>
            </a:r>
            <a:r>
              <a:rPr dirty="0"/>
              <a:t>by</a:t>
            </a:r>
            <a:r>
              <a:rPr dirty="0" spc="-120"/>
              <a:t> </a:t>
            </a:r>
            <a:r>
              <a:rPr dirty="0"/>
              <a:t>brokerages:</a:t>
            </a:r>
            <a:r>
              <a:rPr dirty="0" spc="-130"/>
              <a:t> </a:t>
            </a:r>
            <a:r>
              <a:rPr dirty="0" spc="-10"/>
              <a:t>research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180" y="2090589"/>
            <a:ext cx="4581525" cy="217551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Internal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research</a:t>
            </a:r>
            <a:r>
              <a:rPr dirty="0" sz="2800" spc="-9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teams.</a:t>
            </a:r>
            <a:endParaRPr sz="28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Security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analysts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Economists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78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Distribute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research</a:t>
            </a:r>
            <a:r>
              <a:rPr dirty="0" sz="2800" spc="-9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report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4129" y="2141537"/>
            <a:ext cx="7087870" cy="28790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Services</a:t>
            </a:r>
            <a:r>
              <a:rPr dirty="0" spc="-120"/>
              <a:t> </a:t>
            </a:r>
            <a:r>
              <a:rPr dirty="0"/>
              <a:t>by</a:t>
            </a:r>
            <a:r>
              <a:rPr dirty="0" spc="-120"/>
              <a:t> </a:t>
            </a:r>
            <a:r>
              <a:rPr dirty="0"/>
              <a:t>brokerages:</a:t>
            </a:r>
            <a:r>
              <a:rPr dirty="0" spc="-130"/>
              <a:t> </a:t>
            </a:r>
            <a:r>
              <a:rPr dirty="0" spc="-1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821179"/>
            <a:ext cx="4227195" cy="3545204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239395" marR="253365" indent="-226695">
              <a:lnSpc>
                <a:spcPts val="218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10">
                <a:latin typeface="Century Gothic"/>
                <a:cs typeface="Century Gothic"/>
              </a:rPr>
              <a:t>High-</a:t>
            </a:r>
            <a:r>
              <a:rPr dirty="0" sz="2000">
                <a:latin typeface="Century Gothic"/>
                <a:cs typeface="Century Gothic"/>
              </a:rPr>
              <a:t>level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recommendations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about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allocation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percentages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marR="5080" indent="-226695">
              <a:lnSpc>
                <a:spcPct val="895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Detailed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advice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considering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customers’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existing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holdings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and </a:t>
            </a:r>
            <a:r>
              <a:rPr dirty="0" sz="2000" spc="-25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specific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needs.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Some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concerns</a:t>
            </a:r>
            <a:endParaRPr sz="2000">
              <a:latin typeface="Century Gothic"/>
              <a:cs typeface="Century Gothic"/>
            </a:endParaRPr>
          </a:p>
          <a:p>
            <a:pPr lvl="1" marL="697865" marR="711835" indent="-228600">
              <a:lnSpc>
                <a:spcPts val="1680"/>
              </a:lnSpc>
              <a:spcBef>
                <a:spcPts val="65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>
                <a:latin typeface="Century Gothic"/>
                <a:cs typeface="Century Gothic"/>
              </a:rPr>
              <a:t>Brokerages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>
                <a:latin typeface="Century Gothic"/>
                <a:cs typeface="Century Gothic"/>
              </a:rPr>
              <a:t>relationships</a:t>
            </a:r>
            <a:r>
              <a:rPr dirty="0" sz="1600" spc="-75">
                <a:latin typeface="Century Gothic"/>
                <a:cs typeface="Century Gothic"/>
              </a:rPr>
              <a:t> </a:t>
            </a:r>
            <a:r>
              <a:rPr dirty="0" sz="1600" spc="-20">
                <a:latin typeface="Century Gothic"/>
                <a:cs typeface="Century Gothic"/>
              </a:rPr>
              <a:t>with </a:t>
            </a:r>
            <a:r>
              <a:rPr dirty="0" sz="1600">
                <a:latin typeface="Century Gothic"/>
                <a:cs typeface="Century Gothic"/>
              </a:rPr>
              <a:t>financial</a:t>
            </a:r>
            <a:r>
              <a:rPr dirty="0" sz="1600" spc="-65">
                <a:latin typeface="Century Gothic"/>
                <a:cs typeface="Century Gothic"/>
              </a:rPr>
              <a:t> </a:t>
            </a:r>
            <a:r>
              <a:rPr dirty="0" sz="1600" spc="-10">
                <a:latin typeface="Century Gothic"/>
                <a:cs typeface="Century Gothic"/>
              </a:rPr>
              <a:t>institutions.</a:t>
            </a:r>
            <a:endParaRPr sz="1600">
              <a:latin typeface="Century Gothic"/>
              <a:cs typeface="Century Gothic"/>
            </a:endParaRPr>
          </a:p>
          <a:p>
            <a:pPr lvl="1" marL="697865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600" spc="-10">
                <a:latin typeface="Century Gothic"/>
                <a:cs typeface="Century Gothic"/>
              </a:rPr>
              <a:t>Fiduciary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2477" y="1332834"/>
            <a:ext cx="6876477" cy="51064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758" rIns="0" bIns="0" rtlCol="0" vert="horz">
            <a:spAutoFit/>
          </a:bodyPr>
          <a:lstStyle/>
          <a:p>
            <a:pPr marL="436245" marR="5080">
              <a:lnSpc>
                <a:spcPts val="4390"/>
              </a:lnSpc>
              <a:spcBef>
                <a:spcPts val="585"/>
              </a:spcBef>
            </a:pPr>
            <a:r>
              <a:rPr dirty="0" sz="4000" spc="-20"/>
              <a:t>Broker-</a:t>
            </a:r>
            <a:r>
              <a:rPr dirty="0" sz="4000"/>
              <a:t>dealer</a:t>
            </a:r>
            <a:r>
              <a:rPr dirty="0" sz="4000" spc="-45"/>
              <a:t> </a:t>
            </a:r>
            <a:r>
              <a:rPr dirty="0" sz="4000"/>
              <a:t>activities:</a:t>
            </a:r>
            <a:r>
              <a:rPr dirty="0" sz="4000" spc="-30"/>
              <a:t> </a:t>
            </a:r>
            <a:r>
              <a:rPr dirty="0" sz="4000" spc="-10"/>
              <a:t>Proprietary </a:t>
            </a:r>
            <a:r>
              <a:rPr dirty="0" sz="4000"/>
              <a:t>(“prop”)</a:t>
            </a:r>
            <a:r>
              <a:rPr dirty="0" sz="4000" spc="-85"/>
              <a:t> </a:t>
            </a:r>
            <a:r>
              <a:rPr dirty="0" sz="4000" spc="-10"/>
              <a:t>trading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2240787"/>
            <a:ext cx="9484360" cy="3601085"/>
          </a:xfrm>
          <a:prstGeom prst="rect">
            <a:avLst/>
          </a:prstGeom>
        </p:spPr>
        <p:txBody>
          <a:bodyPr wrap="square" lIns="0" tIns="110490" rIns="0" bIns="0" rtlCol="0" vert="horz">
            <a:spAutoFit/>
          </a:bodyPr>
          <a:lstStyle/>
          <a:p>
            <a:pPr marL="241300" marR="353060" indent="-228600">
              <a:lnSpc>
                <a:spcPct val="77100"/>
              </a:lnSpc>
              <a:spcBef>
                <a:spcPts val="8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spc="-10">
                <a:latin typeface="Century Gothic"/>
                <a:cs typeface="Century Gothic"/>
              </a:rPr>
              <a:t>Broker-</a:t>
            </a:r>
            <a:r>
              <a:rPr dirty="0" sz="2800">
                <a:latin typeface="Century Gothic"/>
                <a:cs typeface="Century Gothic"/>
              </a:rPr>
              <a:t>dealers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can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trade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market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on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their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 spc="-25">
                <a:latin typeface="Century Gothic"/>
                <a:cs typeface="Century Gothic"/>
              </a:rPr>
              <a:t>own </a:t>
            </a:r>
            <a:r>
              <a:rPr dirty="0" sz="2800" spc="-10">
                <a:latin typeface="Century Gothic"/>
                <a:cs typeface="Century Gothic"/>
              </a:rPr>
              <a:t>accounts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Trade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for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purpose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making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profit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Take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views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on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relative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valuations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direction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of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prices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Use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leverage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magnify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returns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0483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z="4000" spc="-20"/>
              <a:t>Broker-</a:t>
            </a:r>
            <a:r>
              <a:rPr dirty="0" sz="4000"/>
              <a:t>dealer</a:t>
            </a:r>
            <a:r>
              <a:rPr dirty="0" sz="4000" spc="-45"/>
              <a:t> </a:t>
            </a:r>
            <a:r>
              <a:rPr dirty="0" sz="4000"/>
              <a:t>activities:</a:t>
            </a:r>
            <a:r>
              <a:rPr dirty="0" sz="4000" spc="-35"/>
              <a:t> </a:t>
            </a:r>
            <a:r>
              <a:rPr dirty="0" sz="4000"/>
              <a:t>Market</a:t>
            </a:r>
            <a:r>
              <a:rPr dirty="0" sz="4000" spc="-50"/>
              <a:t> </a:t>
            </a:r>
            <a:r>
              <a:rPr dirty="0" sz="4000" spc="-10"/>
              <a:t>making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45725" cy="41128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Place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limit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orders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buy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at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near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bid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price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sell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near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ask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price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243840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Ideally,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will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buy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sell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equal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quantities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no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position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will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held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93980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Profit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gains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small,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depends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spread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between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bid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and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ask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prices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Transaction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processing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costs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must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also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low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0483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z="4000" spc="-20"/>
              <a:t>Broker-</a:t>
            </a:r>
            <a:r>
              <a:rPr dirty="0" sz="4000"/>
              <a:t>dealer</a:t>
            </a:r>
            <a:r>
              <a:rPr dirty="0" sz="4000" spc="-40"/>
              <a:t> </a:t>
            </a:r>
            <a:r>
              <a:rPr dirty="0" sz="4000"/>
              <a:t>activities:</a:t>
            </a:r>
            <a:r>
              <a:rPr dirty="0" sz="4000" spc="-30"/>
              <a:t> </a:t>
            </a:r>
            <a:r>
              <a:rPr dirty="0" sz="4000"/>
              <a:t>Risk</a:t>
            </a:r>
            <a:r>
              <a:rPr dirty="0" sz="4000" spc="-35"/>
              <a:t> </a:t>
            </a:r>
            <a:r>
              <a:rPr dirty="0" sz="4000" spc="-10"/>
              <a:t>management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74139" y="1782571"/>
            <a:ext cx="8671560" cy="396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Management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margin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accounts</a:t>
            </a:r>
            <a:endParaRPr sz="24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Calculating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available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margin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Making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margin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calls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Closing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out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positions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if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calls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not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met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Market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making</a:t>
            </a:r>
            <a:endParaRPr sz="24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Managing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size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net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exposures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and/or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inventory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securities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Prop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trading</a:t>
            </a:r>
            <a:endParaRPr sz="24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Managing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limits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Managing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aggregate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exposure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specific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factors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Avoiding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over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allocation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one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security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industry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sector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20805" y="2561844"/>
            <a:ext cx="8100059" cy="1293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4990"/>
              </a:lnSpc>
              <a:spcBef>
                <a:spcPts val="100"/>
              </a:spcBef>
            </a:pPr>
            <a:r>
              <a:rPr dirty="0"/>
              <a:t>Case</a:t>
            </a:r>
            <a:r>
              <a:rPr dirty="0" spc="-70"/>
              <a:t> </a:t>
            </a:r>
            <a:r>
              <a:rPr dirty="0" spc="-25"/>
              <a:t>5:</a:t>
            </a:r>
          </a:p>
          <a:p>
            <a:pPr algn="ctr">
              <a:lnSpc>
                <a:spcPts val="4990"/>
              </a:lnSpc>
            </a:pPr>
            <a:r>
              <a:rPr dirty="0"/>
              <a:t>Charles</a:t>
            </a:r>
            <a:r>
              <a:rPr dirty="0" spc="-80"/>
              <a:t> </a:t>
            </a:r>
            <a:r>
              <a:rPr dirty="0"/>
              <a:t>Schwab</a:t>
            </a:r>
            <a:r>
              <a:rPr dirty="0" spc="-80"/>
              <a:t> </a:t>
            </a:r>
            <a:r>
              <a:rPr dirty="0"/>
              <a:t>Corp.</a:t>
            </a:r>
            <a:r>
              <a:rPr dirty="0" spc="-85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 spc="-20"/>
              <a:t>2017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334391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9232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What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regulatory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changes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prompted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creation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discount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2151379"/>
            <a:ext cx="6023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entury Gothic"/>
                <a:cs typeface="Century Gothic"/>
              </a:rPr>
              <a:t>brokerages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(including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Schwab)?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053588"/>
            <a:ext cx="651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What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Schwab’s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business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model?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986" y="3825763"/>
            <a:ext cx="6544309" cy="101219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829944" indent="-227329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829944" algn="l"/>
              </a:tabLst>
            </a:pPr>
            <a:r>
              <a:rPr dirty="0" sz="2400">
                <a:latin typeface="Century Gothic"/>
                <a:cs typeface="Century Gothic"/>
              </a:rPr>
              <a:t>What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Schwab’s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AUM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today?</a:t>
            </a:r>
            <a:endParaRPr sz="2400">
              <a:latin typeface="Century Gothic"/>
              <a:cs typeface="Century Gothic"/>
            </a:endParaRPr>
          </a:p>
          <a:p>
            <a:pPr marL="12700" marR="567055">
              <a:lnSpc>
                <a:spcPct val="102600"/>
              </a:lnSpc>
              <a:spcBef>
                <a:spcPts val="565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August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31,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2017,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record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$3.12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trillion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assets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under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(AUM).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882388"/>
            <a:ext cx="7520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Key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challenges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Schwab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Corp.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today?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9541" y="218770"/>
            <a:ext cx="7404734" cy="1036319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change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prompted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creation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discount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brokerages,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Schwab,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deregulation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commissions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Securities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Exchange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Commission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(SEC)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1975.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emergence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discount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low-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trades,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positioning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themselves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impartial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stock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accessible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individual investors.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6347" y="3045205"/>
            <a:ext cx="4764405" cy="18491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108585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mutual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funds,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stocks,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ETFs,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options,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futures,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vehicles,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well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banking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like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savings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checking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accounts,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mortgages,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insurance products.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emphasizes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improve efficiency,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positioning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itself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services industry.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building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relationships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with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assets,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driving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"virtuous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cycle"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growth.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0" y="5156949"/>
            <a:ext cx="12034520" cy="1645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Maintaining</a:t>
            </a:r>
            <a:r>
              <a:rPr dirty="0" sz="13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Era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Cyber-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Threats: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amidst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increasing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cyber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threats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sophisticated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that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some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invasive.Product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Simplicity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Expectations: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elegant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simple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enough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expectations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era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Uber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Amazon.Competition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Tech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Giants: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threat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big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Google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Amazon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moving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Schwab’s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territory.Technology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Development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Security: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Balancing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advancement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transactions,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especially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context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new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voice-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activated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devices.Attracting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Engaging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next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generation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understanding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preferences,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which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significantly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previous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generations.Regulatory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Landscape: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Navigating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landscape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houses,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online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fintech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startups,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staying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ahead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changes.Cultural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Preserving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c</a:t>
            </a:r>
            <a:r>
              <a:rPr dirty="0" sz="1300" spc="-5">
                <a:solidFill>
                  <a:srgbClr val="FF2600"/>
                </a:solidFill>
                <a:latin typeface="Arial"/>
                <a:cs typeface="Arial"/>
              </a:rPr>
              <a:t>o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m</a:t>
            </a:r>
            <a:r>
              <a:rPr dirty="0" sz="1300" spc="-5">
                <a:solidFill>
                  <a:srgbClr val="FF2600"/>
                </a:solidFill>
                <a:latin typeface="Arial"/>
                <a:cs typeface="Arial"/>
              </a:rPr>
              <a:t>pany'</a:t>
            </a:r>
            <a:r>
              <a:rPr dirty="0" sz="1300" spc="-475">
                <a:solidFill>
                  <a:srgbClr val="FF2600"/>
                </a:solidFill>
                <a:latin typeface="Arial"/>
                <a:cs typeface="Arial"/>
              </a:rPr>
              <a:t>s</a:t>
            </a:r>
            <a:r>
              <a:rPr dirty="0" baseline="-16203" sz="1800" spc="-15">
                <a:solidFill>
                  <a:srgbClr val="898989"/>
                </a:solidFill>
                <a:latin typeface="Century Gothic"/>
                <a:cs typeface="Century Gothic"/>
              </a:rPr>
              <a:t>4</a:t>
            </a:r>
            <a:r>
              <a:rPr dirty="0" baseline="-16203" sz="1800" spc="-757">
                <a:solidFill>
                  <a:srgbClr val="898989"/>
                </a:solidFill>
                <a:latin typeface="Century Gothic"/>
                <a:cs typeface="Century Gothic"/>
              </a:rPr>
              <a:t>1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</a:t>
            </a:r>
            <a:r>
              <a:rPr dirty="0" sz="1300" spc="-5">
                <a:solidFill>
                  <a:srgbClr val="FF2600"/>
                </a:solidFill>
                <a:latin typeface="Arial"/>
                <a:cs typeface="Arial"/>
              </a:rPr>
              <a:t>ultu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r</a:t>
            </a:r>
            <a:r>
              <a:rPr dirty="0" sz="1300" spc="-5">
                <a:solidFill>
                  <a:srgbClr val="FF2600"/>
                </a:solidFill>
                <a:latin typeface="Arial"/>
                <a:cs typeface="Arial"/>
              </a:rPr>
              <a:t>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of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grows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leadership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transitions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future.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0488" y="2065261"/>
            <a:ext cx="4803775" cy="10007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model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centered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around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a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wide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range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fees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compared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full-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brokerages.</a:t>
            </a:r>
            <a:endParaRPr sz="1300">
              <a:latin typeface="Arial"/>
              <a:cs typeface="Arial"/>
            </a:endParaRPr>
          </a:p>
          <a:p>
            <a:pPr marL="107950">
              <a:lnSpc>
                <a:spcPts val="1315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wealth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management,</a:t>
            </a:r>
            <a:endParaRPr sz="13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4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banking,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custody,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provides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multitude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of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Disrupter?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807971"/>
            <a:ext cx="11992610" cy="451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8140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081405" algn="l"/>
              </a:tabLst>
            </a:pP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Charles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Schwab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still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disruptor?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Why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or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why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not?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still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disruptor?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Why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not</a:t>
            </a:r>
            <a:endParaRPr sz="1300">
              <a:latin typeface="Arial"/>
              <a:cs typeface="Arial"/>
            </a:endParaRPr>
          </a:p>
          <a:p>
            <a:pPr marL="12700" marR="42672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Discount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Model: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first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launch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discount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model,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revolutionized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individuals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by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low-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cost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associated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brokerage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services.</a:t>
            </a:r>
            <a:endParaRPr sz="1300">
              <a:latin typeface="Arial"/>
              <a:cs typeface="Arial"/>
            </a:endParaRPr>
          </a:p>
          <a:p>
            <a:pPr marL="12700" marR="94615" indent="180340">
              <a:lnSpc>
                <a:spcPct val="102600"/>
              </a:lnSpc>
              <a:buAutoNum type="arabicPeriod"/>
              <a:tabLst>
                <a:tab pos="193040" algn="l"/>
              </a:tabLst>
            </a:pP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7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Adoption: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early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adopter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technology,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first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discount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broker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automation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house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online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order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entry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system,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significantly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increased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reduced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costs.</a:t>
            </a:r>
            <a:endParaRPr sz="1300">
              <a:latin typeface="Arial"/>
              <a:cs typeface="Arial"/>
            </a:endParaRPr>
          </a:p>
          <a:p>
            <a:pPr marL="12700" marR="38735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Client-Centric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Approach: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experience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"Through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Clients'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Eyes"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strategy,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encourages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decision-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consider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impact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actions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been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differentiator.</a:t>
            </a:r>
            <a:endParaRPr sz="1300">
              <a:latin typeface="Arial"/>
              <a:cs typeface="Arial"/>
            </a:endParaRPr>
          </a:p>
          <a:p>
            <a:pPr marL="12700" marR="337185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Innovation: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introduction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robo-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advisor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Intelligent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Portfolios,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example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embraced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compete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fintech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startups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lower-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particularly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millennials.</a:t>
            </a:r>
            <a:endParaRPr sz="1300">
              <a:latin typeface="Arial"/>
              <a:cs typeface="Arial"/>
            </a:endParaRPr>
          </a:p>
          <a:p>
            <a:pPr marL="12700" marR="24384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Objective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Advisory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Positioning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itself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objective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advisory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share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houses.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However,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determine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still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disruptor,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must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consider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following:</a:t>
            </a:r>
            <a:endParaRPr sz="1300">
              <a:latin typeface="Arial"/>
              <a:cs typeface="Arial"/>
            </a:endParaRPr>
          </a:p>
          <a:p>
            <a:pPr lvl="1" marL="12700" marR="631190" indent="100330">
              <a:lnSpc>
                <a:spcPct val="102600"/>
              </a:lnSpc>
              <a:buChar char="-"/>
              <a:tabLst>
                <a:tab pos="11303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Competition: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emergence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fintech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entry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big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players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Google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Amazon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space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pose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challenges.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status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established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players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respond.</a:t>
            </a:r>
            <a:endParaRPr sz="1300">
              <a:latin typeface="Arial"/>
              <a:cs typeface="Arial"/>
            </a:endParaRPr>
          </a:p>
          <a:p>
            <a:pPr lvl="1" marL="12700" marR="389255" indent="100330">
              <a:lnSpc>
                <a:spcPct val="102600"/>
              </a:lnSpc>
              <a:buChar char="-"/>
              <a:tabLst>
                <a:tab pos="11303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Environment: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industry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heavily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regulated,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limit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nature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influenced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navigate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requirements.</a:t>
            </a:r>
            <a:endParaRPr sz="1300">
              <a:latin typeface="Arial"/>
              <a:cs typeface="Arial"/>
            </a:endParaRPr>
          </a:p>
          <a:p>
            <a:pPr lvl="1" marL="12700" marR="5080" indent="100330">
              <a:lnSpc>
                <a:spcPct val="102600"/>
              </a:lnSpc>
              <a:buChar char="-"/>
              <a:tabLst>
                <a:tab pos="11303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Expectations: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expectations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rise,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particularly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influence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companies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setting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standards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experience,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Schwab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must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continuously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expectations.</a:t>
            </a:r>
            <a:endParaRPr sz="1300">
              <a:latin typeface="Arial"/>
              <a:cs typeface="Arial"/>
            </a:endParaRPr>
          </a:p>
          <a:p>
            <a:pPr lvl="1" marL="12700" marR="49530" indent="100330">
              <a:lnSpc>
                <a:spcPct val="102600"/>
              </a:lnSpc>
              <a:buChar char="-"/>
              <a:tabLst>
                <a:tab pos="11303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Cultural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Strategic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Consistency: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case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mentions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importance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company's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culture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Changes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leadership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could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impact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continue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path.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Growth?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69907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Century Gothic"/>
                <a:cs typeface="Century Gothic"/>
              </a:rPr>
              <a:t>Where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should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Schwab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look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for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growth?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496" y="2463711"/>
            <a:ext cx="11790680" cy="3677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study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Corp.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2017,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several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avenues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growth.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some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look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for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growth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opportunities:</a:t>
            </a:r>
            <a:endParaRPr sz="1300">
              <a:latin typeface="Arial"/>
              <a:cs typeface="Arial"/>
            </a:endParaRPr>
          </a:p>
          <a:p>
            <a:pPr marL="12700" marR="33782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Expanding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Base: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broader demographic,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those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investible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assets.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Wealthy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Clients: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continue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target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high-net-worth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individuals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premium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cater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needs.</a:t>
            </a:r>
            <a:endParaRPr sz="1300">
              <a:latin typeface="Arial"/>
              <a:cs typeface="Arial"/>
            </a:endParaRPr>
          </a:p>
          <a:p>
            <a:pPr marL="12700" marR="338455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Diversification: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Insurance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Lines: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mentioned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case,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consider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expanding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insurance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categories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pet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insurance,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auto,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travel,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life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insurance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comprehensive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suite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Bundling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bundled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help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holistic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solution.</a:t>
            </a:r>
            <a:endParaRPr sz="1300">
              <a:latin typeface="Arial"/>
              <a:cs typeface="Arial"/>
            </a:endParaRPr>
          </a:p>
          <a:p>
            <a:pPr marL="12700" marR="22860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Geographic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Expansion: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International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Markets: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Entering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international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particularly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Europe,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growth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opportunities.</a:t>
            </a:r>
            <a:r>
              <a:rPr dirty="0" sz="13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discusses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single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pan-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European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license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facilitate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expansion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multiple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countries.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Underpenetrated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U.S.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States: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also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expanding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operations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U.S.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states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yet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operational.</a:t>
            </a:r>
            <a:endParaRPr sz="1300">
              <a:latin typeface="Arial"/>
              <a:cs typeface="Arial"/>
            </a:endParaRPr>
          </a:p>
          <a:p>
            <a:pPr marL="12700" marR="132715" indent="180340">
              <a:lnSpc>
                <a:spcPct val="102600"/>
              </a:lnSpc>
              <a:buAutoNum type="arabicPeriod"/>
              <a:tabLst>
                <a:tab pos="193040" algn="l"/>
              </a:tabLst>
            </a:pP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Technological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enhance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experience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customers,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interactions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more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efficient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user-friendly.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Voice-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activated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Trading: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Exploring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voice-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activated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devices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Amazon’s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Echo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speakers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delivering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information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trading.</a:t>
            </a:r>
            <a:endParaRPr sz="1300">
              <a:latin typeface="Arial"/>
              <a:cs typeface="Arial"/>
            </a:endParaRPr>
          </a:p>
          <a:p>
            <a:pPr marL="12700" marR="133985" indent="182880">
              <a:lnSpc>
                <a:spcPct val="102600"/>
              </a:lnSpc>
              <a:buAutoNum type="arabicPeriod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Enhancing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Security: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Cybersecurity: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Strengthening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cybersecurity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measures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age.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Privacy: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that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protected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company's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transparent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compliant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regulations.</a:t>
            </a:r>
            <a:endParaRPr sz="1300">
              <a:latin typeface="Arial"/>
              <a:cs typeface="Arial"/>
            </a:endParaRPr>
          </a:p>
          <a:p>
            <a:pPr marL="12700" marR="6223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9.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Partnerships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Acquisitions: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Strategic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Partnerships: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Forming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partnerships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non-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companies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segments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offer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additional</a:t>
            </a:r>
            <a:r>
              <a:rPr dirty="0" sz="13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services.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Acquisitions: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Although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been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cautious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about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acquisitions,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strategic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purchases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gain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share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quickly.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56610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Cannibalize</a:t>
            </a:r>
            <a:r>
              <a:rPr dirty="0" spc="-165"/>
              <a:t> </a:t>
            </a:r>
            <a:r>
              <a:rPr dirty="0" spc="-10"/>
              <a:t>oneself?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264" y="1445145"/>
            <a:ext cx="11405235" cy="42875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123825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executives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believe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willingness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“cannibalize”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oneself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important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quest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ahead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curve.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organizational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structural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factors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continue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execute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this?</a:t>
            </a:r>
            <a:endParaRPr sz="1300">
              <a:latin typeface="Arial"/>
              <a:cs typeface="Arial"/>
            </a:endParaRPr>
          </a:p>
          <a:p>
            <a:pPr marL="12700" marR="6223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1.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Leadership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Vision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Culture: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strong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leadership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team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clear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vision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instill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culture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continuous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and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self-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drive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organization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embrace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change.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Walt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Bettinger's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early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morning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rituals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metrics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demonstrate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leadership commitment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staying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ahead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curve.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future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leadership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lacks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same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level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commitment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vision,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culture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support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necessary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level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risk-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taking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innovation.</a:t>
            </a:r>
            <a:endParaRPr sz="1300">
              <a:latin typeface="Arial"/>
              <a:cs typeface="Arial"/>
            </a:endParaRPr>
          </a:p>
          <a:p>
            <a:pPr marL="12700" marR="163830" indent="182880">
              <a:lnSpc>
                <a:spcPct val="102600"/>
              </a:lnSpc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Capabilities: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budget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increases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own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models.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fails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keep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rapid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technological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advancements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R&amp;D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efforts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aligned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needs,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struggle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effectively.</a:t>
            </a:r>
            <a:endParaRPr sz="1300">
              <a:latin typeface="Arial"/>
              <a:cs typeface="Arial"/>
            </a:endParaRPr>
          </a:p>
          <a:p>
            <a:pPr marL="12700" marR="50800" indent="182880">
              <a:lnSpc>
                <a:spcPct val="102600"/>
              </a:lnSpc>
              <a:buAutoNum type="arabicPeriod" startAt="3"/>
              <a:tabLst>
                <a:tab pos="195580" algn="l"/>
              </a:tabLst>
            </a:pP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Customer-Centric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Approach: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"Through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Clients'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Eyes"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identify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areas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where self-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experience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satisfaction.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Challenge: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loses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fails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adapt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changing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expectations,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able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identify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opportunities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self-disruption.</a:t>
            </a:r>
            <a:endParaRPr sz="1300">
              <a:latin typeface="Arial"/>
              <a:cs typeface="Arial"/>
            </a:endParaRPr>
          </a:p>
          <a:p>
            <a:pPr marL="12700" marR="46990" indent="182880">
              <a:lnSpc>
                <a:spcPct val="102600"/>
              </a:lnSpc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Resources:Positive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stability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resources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allow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ventures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withstand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short-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term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losses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that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cannibalizing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existing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Overextension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misallocation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resources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jeopardize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company's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ability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in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necessary</a:t>
            </a:r>
            <a:r>
              <a:rPr dirty="0" sz="1300" spc="-7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innovations.</a:t>
            </a:r>
            <a:endParaRPr sz="1300">
              <a:latin typeface="Arial"/>
              <a:cs typeface="Arial"/>
            </a:endParaRPr>
          </a:p>
          <a:p>
            <a:pPr marL="12700" marR="5080" indent="182880">
              <a:lnSpc>
                <a:spcPct val="102600"/>
              </a:lnSpc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Environment: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favorable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environment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opportunities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existing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models.Challenge: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Heavy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regulation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slow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down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difficult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quickly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respond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changes.</a:t>
            </a:r>
            <a:endParaRPr sz="1300">
              <a:latin typeface="Arial"/>
              <a:cs typeface="Arial"/>
            </a:endParaRPr>
          </a:p>
          <a:p>
            <a:pPr marL="12700" marR="209550" indent="180340">
              <a:lnSpc>
                <a:spcPct val="102600"/>
              </a:lnSpc>
              <a:buAutoNum type="arabicPeriod" startAt="3"/>
              <a:tabLst>
                <a:tab pos="193040" algn="l"/>
              </a:tabLst>
            </a:pP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Talent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8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retaining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talent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skills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necessary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drive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disruption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crucial.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Challenge: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Competition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talent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giants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fintech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startups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difficult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maintain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skilled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workforce.</a:t>
            </a:r>
            <a:endParaRPr sz="1300">
              <a:latin typeface="Arial"/>
              <a:cs typeface="Arial"/>
            </a:endParaRPr>
          </a:p>
          <a:p>
            <a:pPr marL="12700" marR="173990" indent="182880">
              <a:lnSpc>
                <a:spcPct val="102600"/>
              </a:lnSpc>
              <a:buAutoNum type="arabicPeriod" startAt="3"/>
              <a:tabLst>
                <a:tab pos="195580" algn="l"/>
              </a:tabLst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Positive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Factor: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Effective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practices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identify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mitigate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associated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self-disruption.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Challenge: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management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too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conservative,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stifle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necessary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level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3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risk-taking.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Competition</a:t>
            </a:r>
            <a:r>
              <a:rPr dirty="0" spc="-65"/>
              <a:t> </a:t>
            </a:r>
            <a:r>
              <a:rPr dirty="0"/>
              <a:t>from</a:t>
            </a:r>
            <a:r>
              <a:rPr dirty="0" spc="-65"/>
              <a:t> </a:t>
            </a:r>
            <a:r>
              <a:rPr dirty="0"/>
              <a:t>big</a:t>
            </a:r>
            <a:r>
              <a:rPr dirty="0" spc="-60"/>
              <a:t> </a:t>
            </a:r>
            <a:r>
              <a:rPr dirty="0" spc="-10"/>
              <a:t>techs?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729" y="1807971"/>
            <a:ext cx="11195050" cy="288988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451484" marR="1324610" indent="-228600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451484" algn="l"/>
              </a:tabLst>
            </a:pPr>
            <a:r>
              <a:rPr dirty="0" sz="2800">
                <a:latin typeface="Century Gothic"/>
                <a:cs typeface="Century Gothic"/>
              </a:rPr>
              <a:t>Can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US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regulations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sufficiently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protect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Charles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Schwab </a:t>
            </a:r>
            <a:r>
              <a:rPr dirty="0" sz="2800">
                <a:latin typeface="Century Gothic"/>
                <a:cs typeface="Century Gothic"/>
              </a:rPr>
              <a:t>from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potential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competitions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from</a:t>
            </a:r>
            <a:r>
              <a:rPr dirty="0" sz="2800" spc="-8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big</a:t>
            </a:r>
            <a:r>
              <a:rPr dirty="0" sz="2800" spc="-75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technology companies?</a:t>
            </a:r>
            <a:endParaRPr sz="2800">
              <a:latin typeface="Century Gothic"/>
              <a:cs typeface="Century Gothic"/>
            </a:endParaRPr>
          </a:p>
          <a:p>
            <a:pPr marL="12700" marR="5080">
              <a:lnSpc>
                <a:spcPct val="92200"/>
              </a:lnSpc>
              <a:spcBef>
                <a:spcPts val="3110"/>
              </a:spcBef>
            </a:pP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U.S.</a:t>
            </a:r>
            <a:r>
              <a:rPr dirty="0" sz="18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regulations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create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fair,</a:t>
            </a:r>
            <a:r>
              <a:rPr dirty="0" sz="18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safe,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transparent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system</a:t>
            </a:r>
            <a:r>
              <a:rPr dirty="0" sz="18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benefits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established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firms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like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Charles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Schwab,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designed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erect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fortress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around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incumbents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against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competition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2600"/>
                </a:solidFill>
                <a:latin typeface="Arial"/>
                <a:cs typeface="Arial"/>
              </a:rPr>
              <a:t>Big </a:t>
            </a:r>
            <a:r>
              <a:rPr dirty="0" sz="1800" spc="-35">
                <a:solidFill>
                  <a:srgbClr val="FF2600"/>
                </a:solidFill>
                <a:latin typeface="Arial"/>
                <a:cs typeface="Arial"/>
              </a:rPr>
              <a:t>Tech.</a:t>
            </a:r>
            <a:r>
              <a:rPr dirty="0" sz="18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level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parts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playing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field—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especially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around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use,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consumer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protection,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2600"/>
                </a:solidFill>
                <a:latin typeface="Arial"/>
                <a:cs typeface="Arial"/>
              </a:rPr>
              <a:t>risk 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management—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real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pressure</a:t>
            </a:r>
            <a:r>
              <a:rPr dirty="0" sz="18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comes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innovation,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preferences,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scale,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25"/>
              </a:lnSpc>
            </a:pP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regulations</a:t>
            </a:r>
            <a:r>
              <a:rPr dirty="0" sz="18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alone</a:t>
            </a:r>
            <a:r>
              <a:rPr dirty="0" sz="18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do</a:t>
            </a:r>
            <a:r>
              <a:rPr dirty="0" sz="18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800" spc="-10">
                <a:solidFill>
                  <a:srgbClr val="FF2600"/>
                </a:solidFill>
                <a:latin typeface="Arial"/>
                <a:cs typeface="Arial"/>
              </a:rPr>
              <a:t> eliminate.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Strategy</a:t>
            </a:r>
            <a:r>
              <a:rPr dirty="0" spc="-100"/>
              <a:t> </a:t>
            </a:r>
            <a:r>
              <a:rPr dirty="0"/>
              <a:t>towards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 spc="-10"/>
              <a:t>young?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10036810" cy="16998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1300" marR="5080" indent="-228600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believe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Schwab’s</a:t>
            </a:r>
            <a:r>
              <a:rPr dirty="0" sz="2800" spc="-6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strategy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towards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younger </a:t>
            </a:r>
            <a:r>
              <a:rPr dirty="0" sz="2800">
                <a:latin typeface="Century Gothic"/>
                <a:cs typeface="Century Gothic"/>
              </a:rPr>
              <a:t>investors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is</a:t>
            </a:r>
            <a:r>
              <a:rPr dirty="0" sz="2800" spc="-3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3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right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one?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If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so,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why?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If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not,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why</a:t>
            </a:r>
            <a:r>
              <a:rPr dirty="0" sz="2800" spc="-4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and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what </a:t>
            </a:r>
            <a:r>
              <a:rPr dirty="0" sz="2800">
                <a:latin typeface="Century Gothic"/>
                <a:cs typeface="Century Gothic"/>
              </a:rPr>
              <a:t>should</a:t>
            </a:r>
            <a:r>
              <a:rPr dirty="0" sz="2800" spc="-7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Schwab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differently?</a:t>
            </a:r>
            <a:endParaRPr sz="2800">
              <a:latin typeface="Century Gothic"/>
              <a:cs typeface="Century Gothic"/>
            </a:endParaRPr>
          </a:p>
          <a:p>
            <a:pPr algn="ctr" marL="725170">
              <a:lnSpc>
                <a:spcPct val="100000"/>
              </a:lnSpc>
              <a:spcBef>
                <a:spcPts val="2710"/>
              </a:spcBef>
            </a:pPr>
            <a:r>
              <a:rPr dirty="0" sz="850">
                <a:solidFill>
                  <a:srgbClr val="FF2600"/>
                </a:solidFill>
                <a:latin typeface="Arial"/>
                <a:cs typeface="Arial"/>
              </a:rPr>
              <a:t>right</a:t>
            </a:r>
            <a:r>
              <a:rPr dirty="0" sz="85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80115" y="643382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entury Gothic"/>
                <a:cs typeface="Century Gothic"/>
              </a:rPr>
              <a:t>46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" y="3644252"/>
            <a:ext cx="12049125" cy="28651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436880">
              <a:lnSpc>
                <a:spcPct val="102600"/>
              </a:lnSpc>
              <a:spcBef>
                <a:spcPts val="6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towards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outlined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case,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several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key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aspects,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literacy,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mix,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pricing,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branding,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life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stage.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Here's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analysis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whether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right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suggestions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improvements: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Right:1.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Targeting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Life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Stages: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recognizes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often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point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lives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need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start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investing,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when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get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married,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children,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certain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career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milestones.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life-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stage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targeting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approach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aligns</a:t>
            </a:r>
            <a:r>
              <a:rPr dirty="0" sz="1300" spc="50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marketing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efforts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times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becomes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pressing.2.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Engagement: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generally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50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comfortable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prefer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interactions.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Schwab's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digital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user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experience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likely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resonate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well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this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demographic.3.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Literacy: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addressing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literacy,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educating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potential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customers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building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trust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brand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loyalty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ground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up.4.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Pricing: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competitive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pricing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particularly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attractive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often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price-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sensitive</a:t>
            </a:r>
            <a:r>
              <a:rPr dirty="0" sz="13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less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disposable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income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invest.Potential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Shortcomings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Alternatives:1.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Proactive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Engagement: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waits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point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feel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proactive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approach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might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beneficial.</a:t>
            </a:r>
            <a:r>
              <a:rPr dirty="0" sz="13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involve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educational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campaigns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targeting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specific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faced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student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debt,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solutions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advice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start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despite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these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challenges.2.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Customized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Solutions:</a:t>
            </a:r>
            <a:r>
              <a:rPr dirty="0" sz="13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goals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tolerances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compared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older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investors.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tailored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cater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specifically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millennials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Gen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Z,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micro-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plans,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socially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responsible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options,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goal-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strategies.5.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Simplified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Products:</a:t>
            </a:r>
            <a:r>
              <a:rPr dirty="0" sz="13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2600"/>
                </a:solidFill>
                <a:latin typeface="Arial"/>
                <a:cs typeface="Arial"/>
              </a:rPr>
              <a:t>Younger</a:t>
            </a:r>
            <a:r>
              <a:rPr dirty="0" sz="13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investors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often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find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investment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products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complex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intimidating.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Schwab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focus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simplifying</a:t>
            </a:r>
            <a:r>
              <a:rPr dirty="0" sz="13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product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" y="6489052"/>
            <a:ext cx="73361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offerings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them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accessible,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lower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barrier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entry</a:t>
            </a:r>
            <a:r>
              <a:rPr dirty="0" sz="13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3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2600"/>
                </a:solidFill>
                <a:latin typeface="Arial"/>
                <a:cs typeface="Arial"/>
              </a:rPr>
              <a:t>new</a:t>
            </a:r>
            <a:r>
              <a:rPr dirty="0" sz="13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2600"/>
                </a:solidFill>
                <a:latin typeface="Arial"/>
                <a:cs typeface="Arial"/>
              </a:rPr>
              <a:t>investors.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110"/>
              <a:t> </a:t>
            </a:r>
            <a:r>
              <a:rPr dirty="0" spc="-10"/>
              <a:t>disruptions?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971"/>
            <a:ext cx="9684385" cy="122682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1300" marR="5080" indent="-228600">
              <a:lnSpc>
                <a:spcPct val="907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latin typeface="Century Gothic"/>
                <a:cs typeface="Century Gothic"/>
              </a:rPr>
              <a:t>If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in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ten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years,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Schwab’s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business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has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been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disrupted, </a:t>
            </a:r>
            <a:r>
              <a:rPr dirty="0" sz="2800">
                <a:latin typeface="Century Gothic"/>
                <a:cs typeface="Century Gothic"/>
              </a:rPr>
              <a:t>where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do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you</a:t>
            </a:r>
            <a:r>
              <a:rPr dirty="0" sz="2800" spc="-5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think</a:t>
            </a:r>
            <a:r>
              <a:rPr dirty="0" sz="2800" spc="-6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the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disruption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will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have</a:t>
            </a:r>
            <a:r>
              <a:rPr dirty="0" sz="2800" spc="-45">
                <a:latin typeface="Century Gothic"/>
                <a:cs typeface="Century Gothic"/>
              </a:rPr>
              <a:t> </a:t>
            </a:r>
            <a:r>
              <a:rPr dirty="0" sz="2800">
                <a:latin typeface="Century Gothic"/>
                <a:cs typeface="Century Gothic"/>
              </a:rPr>
              <a:t>come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10">
                <a:latin typeface="Century Gothic"/>
                <a:cs typeface="Century Gothic"/>
              </a:rPr>
              <a:t>from, </a:t>
            </a:r>
            <a:r>
              <a:rPr dirty="0" sz="2800">
                <a:latin typeface="Century Gothic"/>
                <a:cs typeface="Century Gothic"/>
              </a:rPr>
              <a:t>and</a:t>
            </a:r>
            <a:r>
              <a:rPr dirty="0" sz="2800" spc="-50">
                <a:latin typeface="Century Gothic"/>
                <a:cs typeface="Century Gothic"/>
              </a:rPr>
              <a:t> </a:t>
            </a:r>
            <a:r>
              <a:rPr dirty="0" sz="2800" spc="-20">
                <a:latin typeface="Century Gothic"/>
                <a:cs typeface="Century Gothic"/>
              </a:rPr>
              <a:t>why?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068" rIns="0" bIns="0" rtlCol="0" vert="horz">
            <a:spAutoFit/>
          </a:bodyPr>
          <a:lstStyle/>
          <a:p>
            <a:pPr marL="43624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85"/>
              <a:t> </a:t>
            </a:r>
            <a:r>
              <a:rPr dirty="0" spc="-1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147"/>
            <a:ext cx="10287635" cy="35306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40029" marR="5080" indent="-227329">
              <a:lnSpc>
                <a:spcPts val="262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suffer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from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various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behavioral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biases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that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make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them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 spc="-10">
                <a:latin typeface="Century Gothic"/>
                <a:cs typeface="Century Gothic"/>
              </a:rPr>
              <a:t>underperform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stock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market.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36195" indent="-227329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Online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trading,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robo-</a:t>
            </a:r>
            <a:r>
              <a:rPr dirty="0" sz="2400">
                <a:latin typeface="Century Gothic"/>
                <a:cs typeface="Century Gothic"/>
              </a:rPr>
              <a:t>advisors,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tech-</a:t>
            </a:r>
            <a:r>
              <a:rPr dirty="0" sz="2400">
                <a:latin typeface="Century Gothic"/>
                <a:cs typeface="Century Gothic"/>
              </a:rPr>
              <a:t>enabled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information </a:t>
            </a:r>
            <a:r>
              <a:rPr dirty="0" sz="2400" spc="-1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democratization,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alleviate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exacerbate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behavioural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biases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of </a:t>
            </a:r>
            <a:r>
              <a:rPr dirty="0" sz="2400" spc="-25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investors.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4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marR="330835" indent="-227329">
              <a:lnSpc>
                <a:spcPts val="262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entury Gothic"/>
                <a:cs typeface="Century Gothic"/>
              </a:rPr>
              <a:t>Traditional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low-</a:t>
            </a:r>
            <a:r>
              <a:rPr dirty="0" sz="2400">
                <a:latin typeface="Century Gothic"/>
                <a:cs typeface="Century Gothic"/>
              </a:rPr>
              <a:t>cost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brokerages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need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disrupt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themselves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stay </a:t>
            </a:r>
            <a:r>
              <a:rPr dirty="0" sz="2400" spc="-20">
                <a:latin typeface="Century Gothic"/>
                <a:cs typeface="Century Gothic"/>
              </a:rPr>
              <a:t>	</a:t>
            </a:r>
            <a:r>
              <a:rPr dirty="0" sz="2400">
                <a:latin typeface="Century Gothic"/>
                <a:cs typeface="Century Gothic"/>
              </a:rPr>
              <a:t>ahead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curve.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2025-12-17T16:44:55Z</dcterms:created>
  <dcterms:modified xsi:type="dcterms:W3CDTF">2025-12-17T16:44:55Z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LastSaved">
    <vt:filetime>2025-12-17T00:00:00Z</vt:filetime>
  </property>
  <property fmtid="{D5CDD505-2E9C-101B-9397-08002B2CF9AE}" pid="4" name="Producer">
    <vt:lpwstr>macOS 版本14.0（版号23A344） Quartz PDFContext, AppendMode 1.1</vt:lpwstr>
  </property>
</Properties>
</file>