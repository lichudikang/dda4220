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34060"/>
            <a:ext cx="776287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398" y="-114426"/>
            <a:ext cx="10115816" cy="1445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76453"/>
            <a:ext cx="9949815" cy="3108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56619" y="6432317"/>
            <a:ext cx="2571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www.edelmansmithfield.com/trust/2025/trust-barometer/report-financial-sector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www.edelmansmithfield.com/trust/2025/trust-barometer/report-financial-sector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www.jbs.cam.ac.uk/faculty-research/centres/alternative-finance/publications/the-future-of-global-fintech-rapid-expansion-to-sustainable-growth/%0d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oindesk.com/blockchain-rise-networked-trust" TargetMode="External"/><Relationship Id="rId3" Type="http://schemas.openxmlformats.org/officeDocument/2006/relationships/hyperlink" Target="https://www.forbes.com/sites/jimblasingame/2019/07/18/blockchain-isnt-the-end-of-trust-its-the-future-of-trust/?sh=2de8bdf11596" TargetMode="External"/><Relationship Id="rId4" Type="http://schemas.openxmlformats.org/officeDocument/2006/relationships/image" Target="../media/image13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hyperlink" Target="https://www.cbinsights.com/research/report/blockchain-technology-companies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nsensys.net/solutions/payments-and-money/cbdc/" TargetMode="External"/><Relationship Id="rId3" Type="http://schemas.openxmlformats.org/officeDocument/2006/relationships/hyperlink" Target="https://en.wikipedia.org/wiki/Central_bank_digital_currency" TargetMode="External"/><Relationship Id="rId4" Type="http://schemas.openxmlformats.org/officeDocument/2006/relationships/hyperlink" Target="https://thefintechtimes.com/how-suzhou-is-taking-steps-to-become-chinas-leading-blockchain-district/" TargetMode="External"/><Relationship Id="rId5" Type="http://schemas.openxmlformats.org/officeDocument/2006/relationships/image" Target="../media/image16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dersbrownworth.com/blockchain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thereum.org/en/" TargetMode="External"/><Relationship Id="rId3" Type="http://schemas.openxmlformats.org/officeDocument/2006/relationships/hyperlink" Target="https://www.hyperledger.org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hyperlink" Target="https://sg.finance.yahoo.com/quote/BTC-USD/%0d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hyperlink" Target="https://sg.finance.yahoo.com/quote/BTC-USD/%0d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749421" y="2612847"/>
            <a:ext cx="478853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latin typeface="Century Gothic"/>
                <a:cs typeface="Century Gothic"/>
              </a:rPr>
              <a:t>9. </a:t>
            </a:r>
            <a:r>
              <a:rPr dirty="0" sz="6000" spc="-10">
                <a:latin typeface="Century Gothic"/>
                <a:cs typeface="Century Gothic"/>
              </a:rPr>
              <a:t>Innovation</a:t>
            </a:r>
            <a:endParaRPr sz="6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35600" y="4049014"/>
            <a:ext cx="1321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Qi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Wang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613"/>
            <a:ext cx="7401559" cy="305054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 spc="-10">
                <a:latin typeface="Century Gothic"/>
                <a:cs typeface="Century Gothic"/>
              </a:rPr>
              <a:t>Innovation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Strategies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innovation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Regulations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Distributed</a:t>
            </a:r>
            <a:r>
              <a:rPr dirty="0" sz="2200" spc="-1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ledger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technology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Cryptocurrency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1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7: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Deutsche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Pursuing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Blockchain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Opportunities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96485" y="2804541"/>
            <a:ext cx="290068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852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0"/>
              </a:spcBef>
            </a:pPr>
            <a:r>
              <a:rPr dirty="0"/>
              <a:t>Innovation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10"/>
              <a:t>finance</a:t>
            </a:r>
          </a:p>
        </p:txBody>
      </p:sp>
      <p:pic>
        <p:nvPicPr>
          <p:cNvPr id="3" name="object 3" descr="char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5115" y="1327402"/>
            <a:ext cx="5015484" cy="54620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Innovation</a:t>
            </a:r>
            <a:r>
              <a:rPr dirty="0" spc="-30"/>
              <a:t> </a:t>
            </a:r>
            <a:r>
              <a:rPr dirty="0"/>
              <a:t>in </a:t>
            </a:r>
            <a:r>
              <a:rPr dirty="0" spc="-10"/>
              <a:t>finance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2450"/>
            <a:ext cx="10208260" cy="383730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8760" marR="5080" indent="-226695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under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pressure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wider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range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products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services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higher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quality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lower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costs.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8760" marR="668655" indent="-226695">
              <a:lnSpc>
                <a:spcPts val="216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FinTech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competitors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ways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traditional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financial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institutions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been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slow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take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advantage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of.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8760" marR="350520" indent="-226695">
              <a:lnSpc>
                <a:spcPts val="216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rethink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how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they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deliver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technology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solutions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how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core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businesses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improved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technology</a:t>
            </a:r>
            <a:r>
              <a:rPr dirty="0" sz="2000" spc="-50">
                <a:latin typeface="Century Gothic"/>
                <a:cs typeface="Century Gothic"/>
              </a:rPr>
              <a:t> 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ts val="228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innovate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maintain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position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continue</a:t>
            </a:r>
            <a:endParaRPr sz="2000">
              <a:latin typeface="Century Gothic"/>
              <a:cs typeface="Century Gothic"/>
            </a:endParaRPr>
          </a:p>
          <a:p>
            <a:pPr marL="241300">
              <a:lnSpc>
                <a:spcPts val="2280"/>
              </a:lnSpc>
            </a:pPr>
            <a:r>
              <a:rPr dirty="0" sz="2000" spc="-10">
                <a:latin typeface="Century Gothic"/>
                <a:cs typeface="Century Gothic"/>
              </a:rPr>
              <a:t>growing.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Bank </a:t>
            </a:r>
            <a:r>
              <a:rPr dirty="0" spc="-10"/>
              <a:t>Innovation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44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Barriers</a:t>
            </a:r>
            <a:r>
              <a:rPr dirty="0" spc="-105"/>
              <a:t> </a:t>
            </a:r>
            <a:r>
              <a:rPr dirty="0"/>
              <a:t>for</a:t>
            </a:r>
            <a:r>
              <a:rPr dirty="0" spc="-85"/>
              <a:t> </a:t>
            </a:r>
            <a:r>
              <a:rPr dirty="0"/>
              <a:t>banks’</a:t>
            </a:r>
            <a:r>
              <a:rPr dirty="0" spc="-80"/>
              <a:t> </a:t>
            </a:r>
            <a:r>
              <a:rPr dirty="0" spc="-10"/>
              <a:t>innovation</a:t>
            </a: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Speed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delivery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/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time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market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Scaling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benefits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reach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mass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market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Attracting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keeping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innovative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thinkers</a:t>
            </a:r>
            <a:endParaRPr sz="2400">
              <a:latin typeface="Century Gothic"/>
              <a:cs typeface="Century Gothic"/>
            </a:endParaRPr>
          </a:p>
          <a:p>
            <a:pPr lvl="1" marL="697230" marR="1509395" indent="-227329">
              <a:lnSpc>
                <a:spcPts val="2590"/>
              </a:lnSpc>
              <a:spcBef>
                <a:spcPts val="53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Breaking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away</a:t>
            </a:r>
            <a:r>
              <a:rPr dirty="0" sz="2400" spc="-10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standard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operating</a:t>
            </a:r>
            <a:r>
              <a:rPr dirty="0" sz="2400" spc="-1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models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performance</a:t>
            </a:r>
            <a:r>
              <a:rPr dirty="0" sz="2400" spc="-10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assessment</a:t>
            </a:r>
            <a:r>
              <a:rPr dirty="0" sz="2400" spc="-1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approaches</a:t>
            </a:r>
            <a:endParaRPr sz="24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ts val="259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Determining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how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quantify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value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delivered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innovation 	functions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FinTech </a:t>
            </a:r>
            <a:r>
              <a:rPr dirty="0" spc="-1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6353"/>
            <a:ext cx="9884410" cy="3260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Fintech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companies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outpace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banks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at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innovation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because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92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FinTech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firms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different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operating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models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7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lvl="1" marL="696595" marR="5080" indent="-226695">
              <a:lnSpc>
                <a:spcPts val="2160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FinTech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firms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unencumbered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some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constraints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banks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are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bound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by,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e.g.</a:t>
            </a:r>
            <a:endParaRPr sz="2000">
              <a:latin typeface="Century Gothic"/>
              <a:cs typeface="Century Gothic"/>
            </a:endParaRPr>
          </a:p>
          <a:p>
            <a:pPr lvl="2" marL="1155065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800">
                <a:latin typeface="Century Gothic"/>
                <a:cs typeface="Century Gothic"/>
              </a:rPr>
              <a:t>Regulatory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audit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requirements</a:t>
            </a:r>
            <a:endParaRPr sz="1800">
              <a:latin typeface="Century Gothic"/>
              <a:cs typeface="Century Gothic"/>
            </a:endParaRPr>
          </a:p>
          <a:p>
            <a:pPr lvl="2" marL="1155065" indent="-22796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800">
                <a:latin typeface="Century Gothic"/>
                <a:cs typeface="Century Gothic"/>
              </a:rPr>
              <a:t>Ongoing</a:t>
            </a:r>
            <a:r>
              <a:rPr dirty="0" sz="1800" spc="-8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operational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issues</a:t>
            </a:r>
            <a:endParaRPr sz="1800">
              <a:latin typeface="Century Gothic"/>
              <a:cs typeface="Century Gothic"/>
            </a:endParaRPr>
          </a:p>
          <a:p>
            <a:pPr lvl="2" marL="1155065" indent="-22796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800">
                <a:latin typeface="Century Gothic"/>
                <a:cs typeface="Century Gothic"/>
              </a:rPr>
              <a:t>Keeping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line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with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corporate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technology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standards</a:t>
            </a:r>
            <a:endParaRPr sz="1800">
              <a:latin typeface="Century Gothic"/>
              <a:cs typeface="Century Gothic"/>
            </a:endParaRPr>
          </a:p>
          <a:p>
            <a:pPr lvl="2" marL="11550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dirty="0" sz="1800">
                <a:latin typeface="Century Gothic"/>
                <a:cs typeface="Century Gothic"/>
              </a:rPr>
              <a:t>Directives</a:t>
            </a:r>
            <a:r>
              <a:rPr dirty="0" sz="1800" spc="-7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increase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efficiency</a:t>
            </a:r>
            <a:r>
              <a:rPr dirty="0" sz="1800" spc="-7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productivity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FinTech </a:t>
            </a:r>
            <a:r>
              <a:rPr dirty="0" spc="-1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5873"/>
            <a:ext cx="10153650" cy="406019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41300" marR="5080" indent="-229235">
              <a:lnSpc>
                <a:spcPts val="211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Fintech</a:t>
            </a:r>
            <a:r>
              <a:rPr dirty="0" sz="2200" spc="-9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companies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are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better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matched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understand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younger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customer </a:t>
            </a:r>
            <a:r>
              <a:rPr dirty="0" sz="2200">
                <a:latin typeface="Century Gothic"/>
                <a:cs typeface="Century Gothic"/>
              </a:rPr>
              <a:t>needs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preferences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marR="247650" indent="-229235">
              <a:lnSpc>
                <a:spcPct val="8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Being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smaller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than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banks,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key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decisions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can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agreed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quickly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by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just</a:t>
            </a:r>
            <a:r>
              <a:rPr dirty="0" sz="2200" spc="-10">
                <a:latin typeface="Century Gothic"/>
                <a:cs typeface="Century Gothic"/>
              </a:rPr>
              <a:t> </a:t>
            </a:r>
            <a:r>
              <a:rPr dirty="0" sz="2200" spc="-50">
                <a:latin typeface="Century Gothic"/>
                <a:cs typeface="Century Gothic"/>
              </a:rPr>
              <a:t>a </a:t>
            </a:r>
            <a:r>
              <a:rPr dirty="0" sz="2200">
                <a:latin typeface="Century Gothic"/>
                <a:cs typeface="Century Gothic"/>
              </a:rPr>
              <a:t>few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people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Technology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transfer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often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core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focus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banks’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innovation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functions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8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Fintech</a:t>
            </a:r>
            <a:r>
              <a:rPr dirty="0" sz="2200" spc="-10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firm’s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strengths</a:t>
            </a:r>
            <a:r>
              <a:rPr dirty="0" sz="2200" spc="-7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can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complement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banks’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weakness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Banks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need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embrace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Fintech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avoid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being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displaced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by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it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79990" y="3295936"/>
            <a:ext cx="186055" cy="2287905"/>
          </a:xfrm>
          <a:custGeom>
            <a:avLst/>
            <a:gdLst/>
            <a:ahLst/>
            <a:cxnLst/>
            <a:rect l="l" t="t" r="r" b="b"/>
            <a:pathLst>
              <a:path w="186054" h="2287904">
                <a:moveTo>
                  <a:pt x="185953" y="0"/>
                </a:moveTo>
                <a:lnTo>
                  <a:pt x="0" y="0"/>
                </a:lnTo>
                <a:lnTo>
                  <a:pt x="0" y="2287412"/>
                </a:lnTo>
                <a:lnTo>
                  <a:pt x="185953" y="2287412"/>
                </a:lnTo>
                <a:lnTo>
                  <a:pt x="18595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18661" y="3412455"/>
            <a:ext cx="173990" cy="2171065"/>
          </a:xfrm>
          <a:custGeom>
            <a:avLst/>
            <a:gdLst/>
            <a:ahLst/>
            <a:cxnLst/>
            <a:rect l="l" t="t" r="r" b="b"/>
            <a:pathLst>
              <a:path w="173989" h="2171065">
                <a:moveTo>
                  <a:pt x="173965" y="0"/>
                </a:moveTo>
                <a:lnTo>
                  <a:pt x="0" y="0"/>
                </a:lnTo>
                <a:lnTo>
                  <a:pt x="0" y="2170892"/>
                </a:lnTo>
                <a:lnTo>
                  <a:pt x="173965" y="2170892"/>
                </a:lnTo>
                <a:lnTo>
                  <a:pt x="17396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44050" y="2809166"/>
            <a:ext cx="186690" cy="2774315"/>
          </a:xfrm>
          <a:custGeom>
            <a:avLst/>
            <a:gdLst/>
            <a:ahLst/>
            <a:cxnLst/>
            <a:rect l="l" t="t" r="r" b="b"/>
            <a:pathLst>
              <a:path w="186689" h="2774315">
                <a:moveTo>
                  <a:pt x="186286" y="0"/>
                </a:moveTo>
                <a:lnTo>
                  <a:pt x="0" y="0"/>
                </a:lnTo>
                <a:lnTo>
                  <a:pt x="0" y="2774182"/>
                </a:lnTo>
                <a:lnTo>
                  <a:pt x="186286" y="2774182"/>
                </a:lnTo>
                <a:lnTo>
                  <a:pt x="18628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82745" y="3517027"/>
            <a:ext cx="173990" cy="2066925"/>
          </a:xfrm>
          <a:custGeom>
            <a:avLst/>
            <a:gdLst/>
            <a:ahLst/>
            <a:cxnLst/>
            <a:rect l="l" t="t" r="r" b="b"/>
            <a:pathLst>
              <a:path w="173989" h="2066925">
                <a:moveTo>
                  <a:pt x="173965" y="0"/>
                </a:moveTo>
                <a:lnTo>
                  <a:pt x="0" y="0"/>
                </a:lnTo>
                <a:lnTo>
                  <a:pt x="0" y="2066321"/>
                </a:lnTo>
                <a:lnTo>
                  <a:pt x="173965" y="2066321"/>
                </a:lnTo>
                <a:lnTo>
                  <a:pt x="17396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09366" y="3794654"/>
            <a:ext cx="185420" cy="1788795"/>
          </a:xfrm>
          <a:custGeom>
            <a:avLst/>
            <a:gdLst/>
            <a:ahLst/>
            <a:cxnLst/>
            <a:rect l="l" t="t" r="r" b="b"/>
            <a:pathLst>
              <a:path w="185420" h="1788795">
                <a:moveTo>
                  <a:pt x="185054" y="0"/>
                </a:moveTo>
                <a:lnTo>
                  <a:pt x="0" y="0"/>
                </a:lnTo>
                <a:lnTo>
                  <a:pt x="0" y="1788694"/>
                </a:lnTo>
                <a:lnTo>
                  <a:pt x="185054" y="1788694"/>
                </a:lnTo>
                <a:lnTo>
                  <a:pt x="18505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35124" y="2530554"/>
            <a:ext cx="186055" cy="3053080"/>
          </a:xfrm>
          <a:custGeom>
            <a:avLst/>
            <a:gdLst/>
            <a:ahLst/>
            <a:cxnLst/>
            <a:rect l="l" t="t" r="r" b="b"/>
            <a:pathLst>
              <a:path w="186054" h="3053079">
                <a:moveTo>
                  <a:pt x="185916" y="0"/>
                </a:moveTo>
                <a:lnTo>
                  <a:pt x="0" y="0"/>
                </a:lnTo>
                <a:lnTo>
                  <a:pt x="0" y="3052793"/>
                </a:lnTo>
                <a:lnTo>
                  <a:pt x="185916" y="3052793"/>
                </a:lnTo>
                <a:lnTo>
                  <a:pt x="1859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73819" y="3145791"/>
            <a:ext cx="173990" cy="2437765"/>
          </a:xfrm>
          <a:custGeom>
            <a:avLst/>
            <a:gdLst/>
            <a:ahLst/>
            <a:cxnLst/>
            <a:rect l="l" t="t" r="r" b="b"/>
            <a:pathLst>
              <a:path w="173990" h="2437765">
                <a:moveTo>
                  <a:pt x="173965" y="0"/>
                </a:moveTo>
                <a:lnTo>
                  <a:pt x="0" y="0"/>
                </a:lnTo>
                <a:lnTo>
                  <a:pt x="0" y="2437557"/>
                </a:lnTo>
                <a:lnTo>
                  <a:pt x="173965" y="2437557"/>
                </a:lnTo>
                <a:lnTo>
                  <a:pt x="17396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99208" y="4410137"/>
            <a:ext cx="186690" cy="1173480"/>
          </a:xfrm>
          <a:custGeom>
            <a:avLst/>
            <a:gdLst/>
            <a:ahLst/>
            <a:cxnLst/>
            <a:rect l="l" t="t" r="r" b="b"/>
            <a:pathLst>
              <a:path w="186690" h="1173479">
                <a:moveTo>
                  <a:pt x="186286" y="0"/>
                </a:moveTo>
                <a:lnTo>
                  <a:pt x="0" y="0"/>
                </a:lnTo>
                <a:lnTo>
                  <a:pt x="0" y="1173211"/>
                </a:lnTo>
                <a:lnTo>
                  <a:pt x="186286" y="1173211"/>
                </a:lnTo>
                <a:lnTo>
                  <a:pt x="18628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65944" y="4618418"/>
            <a:ext cx="185420" cy="965200"/>
          </a:xfrm>
          <a:custGeom>
            <a:avLst/>
            <a:gdLst/>
            <a:ahLst/>
            <a:cxnLst/>
            <a:rect l="l" t="t" r="r" b="b"/>
            <a:pathLst>
              <a:path w="185420" h="965200">
                <a:moveTo>
                  <a:pt x="185041" y="0"/>
                </a:moveTo>
                <a:lnTo>
                  <a:pt x="0" y="0"/>
                </a:lnTo>
                <a:lnTo>
                  <a:pt x="0" y="964930"/>
                </a:lnTo>
                <a:lnTo>
                  <a:pt x="185041" y="964930"/>
                </a:lnTo>
                <a:lnTo>
                  <a:pt x="185041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92626" y="4711658"/>
            <a:ext cx="185420" cy="871855"/>
          </a:xfrm>
          <a:custGeom>
            <a:avLst/>
            <a:gdLst/>
            <a:ahLst/>
            <a:cxnLst/>
            <a:rect l="l" t="t" r="r" b="b"/>
            <a:pathLst>
              <a:path w="185420" h="871854">
                <a:moveTo>
                  <a:pt x="185054" y="0"/>
                </a:moveTo>
                <a:lnTo>
                  <a:pt x="0" y="0"/>
                </a:lnTo>
                <a:lnTo>
                  <a:pt x="0" y="871690"/>
                </a:lnTo>
                <a:lnTo>
                  <a:pt x="185054" y="871690"/>
                </a:lnTo>
                <a:lnTo>
                  <a:pt x="18505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30336" y="3968570"/>
            <a:ext cx="174625" cy="1614805"/>
          </a:xfrm>
          <a:custGeom>
            <a:avLst/>
            <a:gdLst/>
            <a:ahLst/>
            <a:cxnLst/>
            <a:rect l="l" t="t" r="r" b="b"/>
            <a:pathLst>
              <a:path w="174625" h="1614804">
                <a:moveTo>
                  <a:pt x="174088" y="0"/>
                </a:moveTo>
                <a:lnTo>
                  <a:pt x="0" y="0"/>
                </a:lnTo>
                <a:lnTo>
                  <a:pt x="0" y="1614777"/>
                </a:lnTo>
                <a:lnTo>
                  <a:pt x="174088" y="1614777"/>
                </a:lnTo>
                <a:lnTo>
                  <a:pt x="17408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56710" y="4584053"/>
            <a:ext cx="185420" cy="999490"/>
          </a:xfrm>
          <a:custGeom>
            <a:avLst/>
            <a:gdLst/>
            <a:ahLst/>
            <a:cxnLst/>
            <a:rect l="l" t="t" r="r" b="b"/>
            <a:pathLst>
              <a:path w="185420" h="999489">
                <a:moveTo>
                  <a:pt x="185300" y="0"/>
                </a:moveTo>
                <a:lnTo>
                  <a:pt x="0" y="0"/>
                </a:lnTo>
                <a:lnTo>
                  <a:pt x="0" y="999294"/>
                </a:lnTo>
                <a:lnTo>
                  <a:pt x="185300" y="999294"/>
                </a:lnTo>
                <a:lnTo>
                  <a:pt x="1853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94420" y="4502515"/>
            <a:ext cx="173990" cy="1081405"/>
          </a:xfrm>
          <a:custGeom>
            <a:avLst/>
            <a:gdLst/>
            <a:ahLst/>
            <a:cxnLst/>
            <a:rect l="l" t="t" r="r" b="b"/>
            <a:pathLst>
              <a:path w="173989" h="1081404">
                <a:moveTo>
                  <a:pt x="173965" y="0"/>
                </a:moveTo>
                <a:lnTo>
                  <a:pt x="0" y="0"/>
                </a:lnTo>
                <a:lnTo>
                  <a:pt x="0" y="1080833"/>
                </a:lnTo>
                <a:lnTo>
                  <a:pt x="173965" y="1080833"/>
                </a:lnTo>
                <a:lnTo>
                  <a:pt x="173965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21041" y="3133844"/>
            <a:ext cx="185420" cy="2449830"/>
          </a:xfrm>
          <a:custGeom>
            <a:avLst/>
            <a:gdLst/>
            <a:ahLst/>
            <a:cxnLst/>
            <a:rect l="l" t="t" r="r" b="b"/>
            <a:pathLst>
              <a:path w="185420" h="2449829">
                <a:moveTo>
                  <a:pt x="185054" y="0"/>
                </a:moveTo>
                <a:lnTo>
                  <a:pt x="0" y="0"/>
                </a:lnTo>
                <a:lnTo>
                  <a:pt x="0" y="2449504"/>
                </a:lnTo>
                <a:lnTo>
                  <a:pt x="185054" y="2449504"/>
                </a:lnTo>
                <a:lnTo>
                  <a:pt x="18505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447785" y="3678996"/>
            <a:ext cx="185420" cy="1904364"/>
          </a:xfrm>
          <a:custGeom>
            <a:avLst/>
            <a:gdLst/>
            <a:ahLst/>
            <a:cxnLst/>
            <a:rect l="l" t="t" r="r" b="b"/>
            <a:pathLst>
              <a:path w="185420" h="1904364">
                <a:moveTo>
                  <a:pt x="185054" y="0"/>
                </a:moveTo>
                <a:lnTo>
                  <a:pt x="0" y="0"/>
                </a:lnTo>
                <a:lnTo>
                  <a:pt x="0" y="1904351"/>
                </a:lnTo>
                <a:lnTo>
                  <a:pt x="185054" y="1904351"/>
                </a:lnTo>
                <a:lnTo>
                  <a:pt x="18505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085494" y="4885575"/>
            <a:ext cx="173990" cy="697865"/>
          </a:xfrm>
          <a:custGeom>
            <a:avLst/>
            <a:gdLst/>
            <a:ahLst/>
            <a:cxnLst/>
            <a:rect l="l" t="t" r="r" b="b"/>
            <a:pathLst>
              <a:path w="173990" h="697864">
                <a:moveTo>
                  <a:pt x="173719" y="0"/>
                </a:moveTo>
                <a:lnTo>
                  <a:pt x="0" y="0"/>
                </a:lnTo>
                <a:lnTo>
                  <a:pt x="0" y="697773"/>
                </a:lnTo>
                <a:lnTo>
                  <a:pt x="173719" y="697773"/>
                </a:lnTo>
                <a:lnTo>
                  <a:pt x="173719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01380" y="1568100"/>
            <a:ext cx="5097145" cy="4064635"/>
          </a:xfrm>
          <a:custGeom>
            <a:avLst/>
            <a:gdLst/>
            <a:ahLst/>
            <a:cxnLst/>
            <a:rect l="l" t="t" r="r" b="b"/>
            <a:pathLst>
              <a:path w="5097145" h="4064635">
                <a:moveTo>
                  <a:pt x="48937" y="4015248"/>
                </a:moveTo>
                <a:lnTo>
                  <a:pt x="48937" y="4015248"/>
                </a:lnTo>
                <a:lnTo>
                  <a:pt x="48937" y="0"/>
                </a:lnTo>
              </a:path>
              <a:path w="5097145" h="4064635">
                <a:moveTo>
                  <a:pt x="0" y="4015248"/>
                </a:moveTo>
                <a:lnTo>
                  <a:pt x="0" y="4015248"/>
                </a:lnTo>
                <a:lnTo>
                  <a:pt x="48937" y="4015248"/>
                </a:lnTo>
              </a:path>
              <a:path w="5097145" h="4064635">
                <a:moveTo>
                  <a:pt x="0" y="3618380"/>
                </a:moveTo>
                <a:lnTo>
                  <a:pt x="0" y="3618380"/>
                </a:lnTo>
                <a:lnTo>
                  <a:pt x="48937" y="3618380"/>
                </a:lnTo>
              </a:path>
              <a:path w="5097145" h="4064635">
                <a:moveTo>
                  <a:pt x="0" y="3212903"/>
                </a:moveTo>
                <a:lnTo>
                  <a:pt x="0" y="3212903"/>
                </a:lnTo>
                <a:lnTo>
                  <a:pt x="48937" y="3212903"/>
                </a:lnTo>
              </a:path>
              <a:path w="5097145" h="4064635">
                <a:moveTo>
                  <a:pt x="0" y="2806809"/>
                </a:moveTo>
                <a:lnTo>
                  <a:pt x="0" y="2806809"/>
                </a:lnTo>
                <a:lnTo>
                  <a:pt x="48937" y="2806809"/>
                </a:lnTo>
              </a:path>
              <a:path w="5097145" h="4064635">
                <a:moveTo>
                  <a:pt x="0" y="2412417"/>
                </a:moveTo>
                <a:lnTo>
                  <a:pt x="0" y="2412417"/>
                </a:lnTo>
                <a:lnTo>
                  <a:pt x="48937" y="2412417"/>
                </a:lnTo>
              </a:path>
              <a:path w="5097145" h="4064635">
                <a:moveTo>
                  <a:pt x="0" y="2006324"/>
                </a:moveTo>
                <a:lnTo>
                  <a:pt x="0" y="2006324"/>
                </a:lnTo>
                <a:lnTo>
                  <a:pt x="48937" y="2006324"/>
                </a:lnTo>
              </a:path>
              <a:path w="5097145" h="4064635">
                <a:moveTo>
                  <a:pt x="0" y="1600970"/>
                </a:moveTo>
                <a:lnTo>
                  <a:pt x="0" y="1600970"/>
                </a:lnTo>
                <a:lnTo>
                  <a:pt x="48937" y="1600970"/>
                </a:lnTo>
              </a:path>
              <a:path w="5097145" h="4064635">
                <a:moveTo>
                  <a:pt x="0" y="1205839"/>
                </a:moveTo>
                <a:lnTo>
                  <a:pt x="0" y="1205839"/>
                </a:lnTo>
                <a:lnTo>
                  <a:pt x="48937" y="1205839"/>
                </a:lnTo>
              </a:path>
              <a:path w="5097145" h="4064635">
                <a:moveTo>
                  <a:pt x="0" y="800485"/>
                </a:moveTo>
                <a:lnTo>
                  <a:pt x="0" y="800485"/>
                </a:lnTo>
                <a:lnTo>
                  <a:pt x="48937" y="800485"/>
                </a:lnTo>
              </a:path>
              <a:path w="5097145" h="4064635">
                <a:moveTo>
                  <a:pt x="0" y="406339"/>
                </a:moveTo>
                <a:lnTo>
                  <a:pt x="0" y="406339"/>
                </a:lnTo>
                <a:lnTo>
                  <a:pt x="48937" y="406339"/>
                </a:lnTo>
              </a:path>
              <a:path w="5097145" h="4064635">
                <a:moveTo>
                  <a:pt x="0" y="0"/>
                </a:moveTo>
                <a:lnTo>
                  <a:pt x="0" y="0"/>
                </a:lnTo>
                <a:lnTo>
                  <a:pt x="48937" y="0"/>
                </a:lnTo>
              </a:path>
              <a:path w="5097145" h="4064635">
                <a:moveTo>
                  <a:pt x="48937" y="4015248"/>
                </a:moveTo>
                <a:lnTo>
                  <a:pt x="48937" y="4015248"/>
                </a:lnTo>
                <a:lnTo>
                  <a:pt x="5096686" y="4015248"/>
                </a:lnTo>
              </a:path>
              <a:path w="5097145" h="4064635">
                <a:moveTo>
                  <a:pt x="48937" y="4015248"/>
                </a:moveTo>
                <a:lnTo>
                  <a:pt x="48937" y="4015248"/>
                </a:lnTo>
                <a:lnTo>
                  <a:pt x="48937" y="4064479"/>
                </a:lnTo>
              </a:path>
              <a:path w="5097145" h="4064635">
                <a:moveTo>
                  <a:pt x="677443" y="4015248"/>
                </a:moveTo>
                <a:lnTo>
                  <a:pt x="677443" y="4015248"/>
                </a:lnTo>
                <a:lnTo>
                  <a:pt x="677443" y="4064479"/>
                </a:lnTo>
              </a:path>
              <a:path w="5097145" h="4064635">
                <a:moveTo>
                  <a:pt x="1316015" y="4015248"/>
                </a:moveTo>
                <a:lnTo>
                  <a:pt x="1316015" y="4015248"/>
                </a:lnTo>
                <a:lnTo>
                  <a:pt x="1316015" y="4064479"/>
                </a:lnTo>
              </a:path>
              <a:path w="5097145" h="4064635">
                <a:moveTo>
                  <a:pt x="1941527" y="4015248"/>
                </a:moveTo>
                <a:lnTo>
                  <a:pt x="1941527" y="4015248"/>
                </a:lnTo>
                <a:lnTo>
                  <a:pt x="1941527" y="4064479"/>
                </a:lnTo>
              </a:path>
              <a:path w="5097145" h="4064635">
                <a:moveTo>
                  <a:pt x="2568271" y="4015248"/>
                </a:moveTo>
                <a:lnTo>
                  <a:pt x="2568271" y="4015248"/>
                </a:lnTo>
                <a:lnTo>
                  <a:pt x="2568271" y="4064479"/>
                </a:lnTo>
              </a:path>
              <a:path w="5097145" h="4064635">
                <a:moveTo>
                  <a:pt x="3205857" y="4015248"/>
                </a:moveTo>
                <a:lnTo>
                  <a:pt x="3205857" y="4015248"/>
                </a:lnTo>
                <a:lnTo>
                  <a:pt x="3205857" y="4064479"/>
                </a:lnTo>
              </a:path>
              <a:path w="5097145" h="4064635">
                <a:moveTo>
                  <a:pt x="3832602" y="4015248"/>
                </a:moveTo>
                <a:lnTo>
                  <a:pt x="3832602" y="4015248"/>
                </a:lnTo>
                <a:lnTo>
                  <a:pt x="3832602" y="4064479"/>
                </a:lnTo>
              </a:path>
              <a:path w="5097145" h="4064635">
                <a:moveTo>
                  <a:pt x="4471173" y="4015248"/>
                </a:moveTo>
                <a:lnTo>
                  <a:pt x="4471173" y="4015248"/>
                </a:lnTo>
                <a:lnTo>
                  <a:pt x="4471173" y="4064479"/>
                </a:lnTo>
              </a:path>
              <a:path w="5097145" h="4064635">
                <a:moveTo>
                  <a:pt x="5096686" y="4015248"/>
                </a:moveTo>
                <a:lnTo>
                  <a:pt x="5096686" y="4015248"/>
                </a:lnTo>
                <a:lnTo>
                  <a:pt x="5096686" y="4064479"/>
                </a:lnTo>
              </a:path>
            </a:pathLst>
          </a:custGeom>
          <a:ln w="1100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873947" y="1845873"/>
            <a:ext cx="354965" cy="3839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5">
                <a:latin typeface="Arial"/>
                <a:cs typeface="Arial"/>
              </a:rPr>
              <a:t>90%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latin typeface="Arial"/>
                <a:cs typeface="Arial"/>
              </a:rPr>
              <a:t>80%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latin typeface="Arial"/>
                <a:cs typeface="Arial"/>
              </a:rPr>
              <a:t>70%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latin typeface="Arial"/>
                <a:cs typeface="Arial"/>
              </a:rPr>
              <a:t>60%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latin typeface="Arial"/>
                <a:cs typeface="Arial"/>
              </a:rPr>
              <a:t>50%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25">
                <a:latin typeface="Arial"/>
                <a:cs typeface="Arial"/>
              </a:rPr>
              <a:t>40%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latin typeface="Arial"/>
                <a:cs typeface="Arial"/>
              </a:rPr>
              <a:t>30%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25">
                <a:latin typeface="Arial"/>
                <a:cs typeface="Arial"/>
              </a:rPr>
              <a:t>20%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latin typeface="Arial"/>
                <a:cs typeface="Arial"/>
              </a:rPr>
              <a:t>10%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</a:pPr>
            <a:r>
              <a:rPr dirty="0" sz="1250" spc="-25">
                <a:latin typeface="Arial"/>
                <a:cs typeface="Arial"/>
              </a:rPr>
              <a:t>0%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83411" y="1451727"/>
            <a:ext cx="43624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0">
                <a:latin typeface="Arial"/>
                <a:cs typeface="Arial"/>
              </a:rPr>
              <a:t>100%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18960000">
            <a:off x="3092465" y="5912781"/>
            <a:ext cx="695538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10">
                <a:latin typeface="Arial"/>
                <a:cs typeface="Arial"/>
              </a:rPr>
              <a:t>Ge</a:t>
            </a:r>
            <a:r>
              <a:rPr dirty="0" baseline="2222" sz="1875" spc="-15">
                <a:latin typeface="Arial"/>
                <a:cs typeface="Arial"/>
              </a:rPr>
              <a:t>rman</a:t>
            </a:r>
            <a:r>
              <a:rPr dirty="0" baseline="4444" sz="1875" spc="-15">
                <a:latin typeface="Arial"/>
                <a:cs typeface="Arial"/>
              </a:rPr>
              <a:t>y</a:t>
            </a:r>
            <a:endParaRPr baseline="4444" sz="1875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 rot="18960000">
            <a:off x="3550428" y="5983302"/>
            <a:ext cx="888753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10">
                <a:latin typeface="Arial"/>
                <a:cs typeface="Arial"/>
              </a:rPr>
              <a:t>Ne</a:t>
            </a:r>
            <a:r>
              <a:rPr dirty="0" baseline="2222" sz="1875" spc="-15">
                <a:latin typeface="Arial"/>
                <a:cs typeface="Arial"/>
              </a:rPr>
              <a:t>therla</a:t>
            </a:r>
            <a:r>
              <a:rPr dirty="0" baseline="4444" sz="1875" spc="-15">
                <a:latin typeface="Arial"/>
                <a:cs typeface="Arial"/>
              </a:rPr>
              <a:t>nds</a:t>
            </a:r>
            <a:endParaRPr baseline="4444" sz="1875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 rot="18960000">
            <a:off x="4715397" y="5756995"/>
            <a:ext cx="279988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25">
                <a:latin typeface="Arial"/>
                <a:cs typeface="Arial"/>
              </a:rPr>
              <a:t>US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18960000">
            <a:off x="5015813" y="5891525"/>
            <a:ext cx="659169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10">
                <a:latin typeface="Arial"/>
                <a:cs typeface="Arial"/>
              </a:rPr>
              <a:t>Au</a:t>
            </a:r>
            <a:r>
              <a:rPr dirty="0" baseline="2222" sz="1875" spc="-15">
                <a:latin typeface="Arial"/>
                <a:cs typeface="Arial"/>
              </a:rPr>
              <a:t>strali</a:t>
            </a:r>
            <a:r>
              <a:rPr dirty="0" baseline="4444" sz="1875" spc="-15">
                <a:latin typeface="Arial"/>
                <a:cs typeface="Arial"/>
              </a:rPr>
              <a:t>a</a:t>
            </a:r>
            <a:endParaRPr baseline="4444" sz="1875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18960000">
            <a:off x="5556635" y="5936190"/>
            <a:ext cx="761146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10">
                <a:latin typeface="Arial"/>
                <a:cs typeface="Arial"/>
              </a:rPr>
              <a:t>Si</a:t>
            </a:r>
            <a:r>
              <a:rPr dirty="0" baseline="2222" sz="1875" spc="-15">
                <a:latin typeface="Arial"/>
                <a:cs typeface="Arial"/>
              </a:rPr>
              <a:t>ngapo</a:t>
            </a:r>
            <a:r>
              <a:rPr dirty="0" baseline="4444" sz="1875" spc="-15">
                <a:latin typeface="Arial"/>
                <a:cs typeface="Arial"/>
              </a:rPr>
              <a:t>re</a:t>
            </a:r>
            <a:endParaRPr baseline="4444" sz="1875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18960000">
            <a:off x="6508005" y="5791928"/>
            <a:ext cx="395620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10">
                <a:latin typeface="Arial"/>
                <a:cs typeface="Arial"/>
              </a:rPr>
              <a:t>Ind</a:t>
            </a:r>
            <a:r>
              <a:rPr dirty="0" baseline="2222" sz="1875" spc="-15">
                <a:latin typeface="Arial"/>
                <a:cs typeface="Arial"/>
              </a:rPr>
              <a:t>ia</a:t>
            </a:r>
            <a:endParaRPr baseline="2222" sz="1875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 rot="18960000">
            <a:off x="7095110" y="5820387"/>
            <a:ext cx="441836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10">
                <a:latin typeface="Arial"/>
                <a:cs typeface="Arial"/>
              </a:rPr>
              <a:t>Bra</a:t>
            </a:r>
            <a:r>
              <a:rPr dirty="0" baseline="2222" sz="1875" spc="-15">
                <a:latin typeface="Arial"/>
                <a:cs typeface="Arial"/>
              </a:rPr>
              <a:t>zil</a:t>
            </a:r>
            <a:endParaRPr baseline="2222" sz="1875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 rot="18960000">
            <a:off x="7697024" y="5832857"/>
            <a:ext cx="470908" cy="16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250" spc="-10">
                <a:latin typeface="Arial"/>
                <a:cs typeface="Arial"/>
              </a:rPr>
              <a:t>Jap</a:t>
            </a:r>
            <a:r>
              <a:rPr dirty="0" baseline="2222" sz="1875" spc="-15">
                <a:latin typeface="Arial"/>
                <a:cs typeface="Arial"/>
              </a:rPr>
              <a:t>an</a:t>
            </a:r>
            <a:endParaRPr baseline="2222" sz="1875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220428" y="6462429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74908" y="0"/>
                </a:moveTo>
                <a:lnTo>
                  <a:pt x="0" y="0"/>
                </a:lnTo>
                <a:lnTo>
                  <a:pt x="0" y="74912"/>
                </a:lnTo>
                <a:lnTo>
                  <a:pt x="74908" y="74912"/>
                </a:lnTo>
                <a:lnTo>
                  <a:pt x="74908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03002" y="6462429"/>
            <a:ext cx="74930" cy="74930"/>
          </a:xfrm>
          <a:custGeom>
            <a:avLst/>
            <a:gdLst/>
            <a:ahLst/>
            <a:cxnLst/>
            <a:rect l="l" t="t" r="r" b="b"/>
            <a:pathLst>
              <a:path w="74929" h="74929">
                <a:moveTo>
                  <a:pt x="74908" y="0"/>
                </a:moveTo>
                <a:lnTo>
                  <a:pt x="0" y="0"/>
                </a:lnTo>
                <a:lnTo>
                  <a:pt x="0" y="74912"/>
                </a:lnTo>
                <a:lnTo>
                  <a:pt x="74908" y="74912"/>
                </a:lnTo>
                <a:lnTo>
                  <a:pt x="749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741687" y="1556240"/>
            <a:ext cx="1173480" cy="3568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30"/>
              </a:lnSpc>
              <a:spcBef>
                <a:spcPts val="130"/>
              </a:spcBef>
            </a:pP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Source:</a:t>
            </a:r>
            <a:r>
              <a:rPr dirty="0" sz="700" spc="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Duran,</a:t>
            </a:r>
            <a:r>
              <a:rPr dirty="0" sz="700" spc="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R.</a:t>
            </a:r>
            <a:r>
              <a:rPr dirty="0" sz="700" spc="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E.,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830"/>
              </a:lnSpc>
            </a:pP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Financial</a:t>
            </a:r>
            <a:r>
              <a:rPr dirty="0" sz="700" spc="14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Services</a:t>
            </a:r>
            <a:r>
              <a:rPr dirty="0" sz="700" spc="114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Technology,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Cengage</a:t>
            </a:r>
            <a:r>
              <a:rPr dirty="0" sz="700" spc="10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Learning</a:t>
            </a:r>
            <a:r>
              <a:rPr dirty="0" sz="700" spc="1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Asia,</a:t>
            </a:r>
            <a:r>
              <a:rPr dirty="0" sz="700" spc="9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585858"/>
                </a:solidFill>
                <a:latin typeface="Calibri"/>
                <a:cs typeface="Calibri"/>
              </a:rPr>
              <a:t>2018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16026" y="6407657"/>
            <a:ext cx="1608455" cy="1930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"/>
                <a:cs typeface="Arial"/>
              </a:rPr>
              <a:t>Trust</a:t>
            </a:r>
            <a:r>
              <a:rPr dirty="0" sz="1150" spc="4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with</a:t>
            </a:r>
            <a:r>
              <a:rPr dirty="0" sz="1150" spc="-1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Primary</a:t>
            </a:r>
            <a:r>
              <a:rPr dirty="0" sz="1150" spc="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Bank</a:t>
            </a:r>
            <a:endParaRPr sz="11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98476" y="6407657"/>
            <a:ext cx="1619250" cy="1930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"/>
                <a:cs typeface="Arial"/>
              </a:rPr>
              <a:t>Trust</a:t>
            </a:r>
            <a:r>
              <a:rPr dirty="0" sz="1150" spc="4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with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Fintech</a:t>
            </a:r>
            <a:r>
              <a:rPr dirty="0" sz="1150" spc="8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Firms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9</a:t>
            </a:fld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Trust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banks</a:t>
            </a:r>
            <a:r>
              <a:rPr dirty="0" spc="-5"/>
              <a:t> </a:t>
            </a:r>
            <a:r>
              <a:rPr dirty="0"/>
              <a:t>vs</a:t>
            </a:r>
            <a:r>
              <a:rPr dirty="0" spc="-20"/>
              <a:t> </a:t>
            </a:r>
            <a:r>
              <a:rPr dirty="0"/>
              <a:t>FinTech</a:t>
            </a:r>
            <a:r>
              <a:rPr dirty="0" spc="-5"/>
              <a:t> </a:t>
            </a:r>
            <a:r>
              <a:rPr dirty="0" spc="-10"/>
              <a:t>firms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Trust</a:t>
            </a:r>
            <a:r>
              <a:rPr dirty="0" spc="-15"/>
              <a:t> </a:t>
            </a:r>
            <a:r>
              <a:rPr dirty="0"/>
              <a:t>in </a:t>
            </a:r>
            <a:r>
              <a:rPr dirty="0" spc="-10"/>
              <a:t>banks</a:t>
            </a:r>
          </a:p>
        </p:txBody>
      </p:sp>
      <p:pic>
        <p:nvPicPr>
          <p:cNvPr id="3" name="object 3" descr="556454c2d3014729dd294219f7dd0ef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254" y="1603247"/>
            <a:ext cx="10020261" cy="4687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73316" y="2865500"/>
            <a:ext cx="453390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u="sng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DengXian"/>
                <a:cs typeface="DengXian"/>
                <a:hlinkClick r:id="rId3"/>
              </a:rPr>
              <a:t>https://www.edelmansmithfield.com/trust/2025/trus</a:t>
            </a:r>
            <a:r>
              <a:rPr dirty="0" u="none" sz="1600" spc="-10">
                <a:solidFill>
                  <a:srgbClr val="0462C1"/>
                </a:solidFill>
                <a:latin typeface="DengXian"/>
                <a:cs typeface="DengXian"/>
                <a:hlinkClick r:id="rId3"/>
              </a:rPr>
              <a:t> </a:t>
            </a:r>
            <a:r>
              <a:rPr dirty="0" u="sng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DengXian"/>
                <a:cs typeface="DengXian"/>
                <a:hlinkClick r:id="rId3"/>
              </a:rPr>
              <a:t>t-barometer/report-financial-sector</a:t>
            </a:r>
            <a:endParaRPr sz="1600">
              <a:latin typeface="DengXian"/>
              <a:cs typeface="DengXi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Trust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banks</a:t>
            </a:r>
            <a:r>
              <a:rPr dirty="0" spc="-5"/>
              <a:t> </a:t>
            </a:r>
            <a:r>
              <a:rPr dirty="0"/>
              <a:t>vs</a:t>
            </a:r>
            <a:r>
              <a:rPr dirty="0" spc="-20"/>
              <a:t> </a:t>
            </a:r>
            <a:r>
              <a:rPr dirty="0"/>
              <a:t>FinTech</a:t>
            </a:r>
            <a:r>
              <a:rPr dirty="0" spc="-5"/>
              <a:t> </a:t>
            </a:r>
            <a:r>
              <a:rPr dirty="0" spc="-10"/>
              <a:t>firms</a:t>
            </a:r>
          </a:p>
        </p:txBody>
      </p:sp>
      <p:pic>
        <p:nvPicPr>
          <p:cNvPr id="3" name="object 3" descr="4374023229d2bbfbbe44f4f00d2b5d4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34" y="1627632"/>
            <a:ext cx="9941037" cy="4651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73316" y="2865500"/>
            <a:ext cx="453390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u="sng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DengXian"/>
                <a:cs typeface="DengXian"/>
                <a:hlinkClick r:id="rId3"/>
              </a:rPr>
              <a:t>https://www.edelmansmithfield.com/trust/2025/trus</a:t>
            </a:r>
            <a:r>
              <a:rPr dirty="0" u="none" sz="1600" spc="-10">
                <a:solidFill>
                  <a:srgbClr val="0462C1"/>
                </a:solidFill>
                <a:latin typeface="DengXian"/>
                <a:cs typeface="DengXian"/>
                <a:hlinkClick r:id="rId3"/>
              </a:rPr>
              <a:t> </a:t>
            </a:r>
            <a:r>
              <a:rPr dirty="0" u="sng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DengXian"/>
                <a:cs typeface="DengXian"/>
                <a:hlinkClick r:id="rId3"/>
              </a:rPr>
              <a:t>t-barometer/report-financial-sector</a:t>
            </a:r>
            <a:endParaRPr sz="1600">
              <a:latin typeface="DengXian"/>
              <a:cs typeface="DengXi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Innovation</a:t>
            </a:r>
            <a:r>
              <a:rPr dirty="0" spc="-30"/>
              <a:t> </a:t>
            </a:r>
            <a:r>
              <a:rPr dirty="0" spc="-1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2450"/>
            <a:ext cx="10074910" cy="3288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Innovation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core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principle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competitive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strategy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innovation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supports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development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new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products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services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ts val="228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institutions’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innovation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program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needs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aligned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overall</a:t>
            </a:r>
            <a:endParaRPr sz="2000">
              <a:latin typeface="Century Gothic"/>
              <a:cs typeface="Century Gothic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Century Gothic"/>
                <a:cs typeface="Century Gothic"/>
              </a:rPr>
              <a:t>technology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strategy.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000">
              <a:latin typeface="Century Gothic"/>
              <a:cs typeface="Century Gothic"/>
            </a:endParaRPr>
          </a:p>
          <a:p>
            <a:pPr marL="238760" marR="300355" indent="-226695">
              <a:lnSpc>
                <a:spcPts val="216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institution’s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innovation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functions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in-</a:t>
            </a:r>
            <a:r>
              <a:rPr dirty="0" sz="2000">
                <a:latin typeface="Century Gothic"/>
                <a:cs typeface="Century Gothic"/>
              </a:rPr>
              <a:t>house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collaborate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with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Fintech</a:t>
            </a:r>
            <a:r>
              <a:rPr dirty="0" sz="2000" spc="-9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companies.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In-</a:t>
            </a:r>
            <a:r>
              <a:rPr dirty="0"/>
              <a:t>house</a:t>
            </a:r>
            <a:r>
              <a:rPr dirty="0" spc="-30"/>
              <a:t> </a:t>
            </a:r>
            <a:r>
              <a:rPr dirty="0"/>
              <a:t>vs</a:t>
            </a:r>
            <a:r>
              <a:rPr dirty="0" spc="-45"/>
              <a:t> </a:t>
            </a:r>
            <a:r>
              <a:rPr dirty="0"/>
              <a:t>outsourced</a:t>
            </a:r>
            <a:r>
              <a:rPr dirty="0" spc="-50"/>
              <a:t> </a:t>
            </a:r>
            <a:r>
              <a:rPr dirty="0" spc="-1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5252085" cy="2600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In-</a:t>
            </a:r>
            <a:r>
              <a:rPr dirty="0" sz="2800">
                <a:latin typeface="Century Gothic"/>
                <a:cs typeface="Century Gothic"/>
              </a:rPr>
              <a:t>house</a:t>
            </a:r>
            <a:r>
              <a:rPr dirty="0" sz="2800" spc="-25">
                <a:latin typeface="Century Gothic"/>
                <a:cs typeface="Century Gothic"/>
              </a:rPr>
              <a:t> R&amp;D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Outsourcing</a:t>
            </a:r>
            <a:r>
              <a:rPr dirty="0" sz="2800" spc="-18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innovation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Collaboration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with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startups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Acquisition</a:t>
            </a:r>
            <a:endParaRPr sz="2400">
              <a:latin typeface="Century Gothic"/>
              <a:cs typeface="Century Gothic"/>
            </a:endParaRPr>
          </a:p>
          <a:p>
            <a:pPr lvl="2" marL="1153795" indent="-22669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1153795" algn="l"/>
              </a:tabLst>
            </a:pPr>
            <a:r>
              <a:rPr dirty="0" sz="2000">
                <a:latin typeface="Century Gothic"/>
                <a:cs typeface="Century Gothic"/>
              </a:rPr>
              <a:t>Corporate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venture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capital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(CVC)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Bank </a:t>
            </a:r>
            <a:r>
              <a:rPr dirty="0" spc="-10"/>
              <a:t>Innovation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68417" y="2006345"/>
            <a:ext cx="5295265" cy="3845560"/>
            <a:chOff x="3868417" y="2006345"/>
            <a:chExt cx="5295265" cy="3845560"/>
          </a:xfrm>
        </p:grpSpPr>
        <p:sp>
          <p:nvSpPr>
            <p:cNvPr id="4" name="object 4"/>
            <p:cNvSpPr/>
            <p:nvPr/>
          </p:nvSpPr>
          <p:spPr>
            <a:xfrm>
              <a:off x="3939235" y="2220200"/>
              <a:ext cx="3968115" cy="3401695"/>
            </a:xfrm>
            <a:custGeom>
              <a:avLst/>
              <a:gdLst/>
              <a:ahLst/>
              <a:cxnLst/>
              <a:rect l="l" t="t" r="r" b="b"/>
              <a:pathLst>
                <a:path w="3968115" h="3401695">
                  <a:moveTo>
                    <a:pt x="348691" y="3027299"/>
                  </a:moveTo>
                  <a:lnTo>
                    <a:pt x="0" y="3027299"/>
                  </a:lnTo>
                  <a:lnTo>
                    <a:pt x="0" y="3401618"/>
                  </a:lnTo>
                  <a:lnTo>
                    <a:pt x="348691" y="3401618"/>
                  </a:lnTo>
                  <a:lnTo>
                    <a:pt x="348691" y="3027299"/>
                  </a:lnTo>
                  <a:close/>
                </a:path>
                <a:path w="3968115" h="3401695">
                  <a:moveTo>
                    <a:pt x="1555623" y="2269896"/>
                  </a:moveTo>
                  <a:lnTo>
                    <a:pt x="0" y="2269896"/>
                  </a:lnTo>
                  <a:lnTo>
                    <a:pt x="0" y="2644584"/>
                  </a:lnTo>
                  <a:lnTo>
                    <a:pt x="1555623" y="2644584"/>
                  </a:lnTo>
                  <a:lnTo>
                    <a:pt x="1555623" y="2269896"/>
                  </a:lnTo>
                  <a:close/>
                </a:path>
                <a:path w="3968115" h="3401695">
                  <a:moveTo>
                    <a:pt x="3722293" y="1513979"/>
                  </a:moveTo>
                  <a:lnTo>
                    <a:pt x="0" y="1513979"/>
                  </a:lnTo>
                  <a:lnTo>
                    <a:pt x="0" y="1887550"/>
                  </a:lnTo>
                  <a:lnTo>
                    <a:pt x="3722293" y="1887550"/>
                  </a:lnTo>
                  <a:lnTo>
                    <a:pt x="3722293" y="1513979"/>
                  </a:lnTo>
                  <a:close/>
                </a:path>
                <a:path w="3968115" h="3401695">
                  <a:moveTo>
                    <a:pt x="3806939" y="756996"/>
                  </a:moveTo>
                  <a:lnTo>
                    <a:pt x="0" y="756996"/>
                  </a:lnTo>
                  <a:lnTo>
                    <a:pt x="0" y="1131633"/>
                  </a:lnTo>
                  <a:lnTo>
                    <a:pt x="3806939" y="1131633"/>
                  </a:lnTo>
                  <a:lnTo>
                    <a:pt x="3806939" y="756996"/>
                  </a:lnTo>
                  <a:close/>
                </a:path>
                <a:path w="3968115" h="3401695">
                  <a:moveTo>
                    <a:pt x="3968089" y="0"/>
                  </a:moveTo>
                  <a:lnTo>
                    <a:pt x="0" y="0"/>
                  </a:lnTo>
                  <a:lnTo>
                    <a:pt x="0" y="374180"/>
                  </a:lnTo>
                  <a:lnTo>
                    <a:pt x="3968089" y="374180"/>
                  </a:lnTo>
                  <a:lnTo>
                    <a:pt x="39680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21620" y="2203703"/>
              <a:ext cx="3969385" cy="3401060"/>
            </a:xfrm>
            <a:custGeom>
              <a:avLst/>
              <a:gdLst/>
              <a:ahLst/>
              <a:cxnLst/>
              <a:rect l="l" t="t" r="r" b="b"/>
              <a:pathLst>
                <a:path w="3969384" h="3401060">
                  <a:moveTo>
                    <a:pt x="349808" y="3026194"/>
                  </a:moveTo>
                  <a:lnTo>
                    <a:pt x="0" y="3026194"/>
                  </a:lnTo>
                  <a:lnTo>
                    <a:pt x="0" y="3400882"/>
                  </a:lnTo>
                  <a:lnTo>
                    <a:pt x="349808" y="3400882"/>
                  </a:lnTo>
                  <a:lnTo>
                    <a:pt x="349808" y="3026194"/>
                  </a:lnTo>
                  <a:close/>
                </a:path>
                <a:path w="3969384" h="3401060">
                  <a:moveTo>
                    <a:pt x="1556118" y="2270353"/>
                  </a:moveTo>
                  <a:lnTo>
                    <a:pt x="0" y="2270353"/>
                  </a:lnTo>
                  <a:lnTo>
                    <a:pt x="0" y="2643479"/>
                  </a:lnTo>
                  <a:lnTo>
                    <a:pt x="1556118" y="2643479"/>
                  </a:lnTo>
                  <a:lnTo>
                    <a:pt x="1556118" y="2270353"/>
                  </a:lnTo>
                  <a:close/>
                </a:path>
                <a:path w="3969384" h="3401060">
                  <a:moveTo>
                    <a:pt x="3722636" y="1513217"/>
                  </a:moveTo>
                  <a:lnTo>
                    <a:pt x="0" y="1513217"/>
                  </a:lnTo>
                  <a:lnTo>
                    <a:pt x="0" y="1887550"/>
                  </a:lnTo>
                  <a:lnTo>
                    <a:pt x="3722636" y="1887550"/>
                  </a:lnTo>
                  <a:lnTo>
                    <a:pt x="3722636" y="1513217"/>
                  </a:lnTo>
                  <a:close/>
                </a:path>
                <a:path w="3969384" h="3401060">
                  <a:moveTo>
                    <a:pt x="3806825" y="756221"/>
                  </a:moveTo>
                  <a:lnTo>
                    <a:pt x="0" y="756221"/>
                  </a:lnTo>
                  <a:lnTo>
                    <a:pt x="0" y="1130554"/>
                  </a:lnTo>
                  <a:lnTo>
                    <a:pt x="3806825" y="1130554"/>
                  </a:lnTo>
                  <a:lnTo>
                    <a:pt x="3806825" y="756221"/>
                  </a:lnTo>
                  <a:close/>
                </a:path>
                <a:path w="3969384" h="3401060">
                  <a:moveTo>
                    <a:pt x="3969194" y="0"/>
                  </a:moveTo>
                  <a:lnTo>
                    <a:pt x="0" y="0"/>
                  </a:lnTo>
                  <a:lnTo>
                    <a:pt x="0" y="373557"/>
                  </a:lnTo>
                  <a:lnTo>
                    <a:pt x="3969194" y="373557"/>
                  </a:lnTo>
                  <a:lnTo>
                    <a:pt x="396919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68417" y="2010363"/>
              <a:ext cx="5291455" cy="3841115"/>
            </a:xfrm>
            <a:custGeom>
              <a:avLst/>
              <a:gdLst/>
              <a:ahLst/>
              <a:cxnLst/>
              <a:rect l="l" t="t" r="r" b="b"/>
              <a:pathLst>
                <a:path w="5291455" h="3841115">
                  <a:moveTo>
                    <a:pt x="53214" y="3787504"/>
                  </a:moveTo>
                  <a:lnTo>
                    <a:pt x="53214" y="3787504"/>
                  </a:lnTo>
                  <a:lnTo>
                    <a:pt x="5291014" y="3787504"/>
                  </a:lnTo>
                </a:path>
                <a:path w="5291455" h="3841115">
                  <a:moveTo>
                    <a:pt x="53214" y="3787504"/>
                  </a:moveTo>
                  <a:lnTo>
                    <a:pt x="53214" y="3787504"/>
                  </a:lnTo>
                  <a:lnTo>
                    <a:pt x="53214" y="3841080"/>
                  </a:lnTo>
                </a:path>
                <a:path w="5291455" h="3841115">
                  <a:moveTo>
                    <a:pt x="928995" y="3787504"/>
                  </a:moveTo>
                  <a:lnTo>
                    <a:pt x="928995" y="3787504"/>
                  </a:lnTo>
                  <a:lnTo>
                    <a:pt x="928995" y="3841080"/>
                  </a:lnTo>
                </a:path>
                <a:path w="5291455" h="3841115">
                  <a:moveTo>
                    <a:pt x="1795755" y="3787504"/>
                  </a:moveTo>
                  <a:lnTo>
                    <a:pt x="1795755" y="3787504"/>
                  </a:lnTo>
                  <a:lnTo>
                    <a:pt x="1795755" y="3841080"/>
                  </a:lnTo>
                </a:path>
                <a:path w="5291455" h="3841115">
                  <a:moveTo>
                    <a:pt x="2671459" y="3787504"/>
                  </a:moveTo>
                  <a:lnTo>
                    <a:pt x="2671459" y="3787504"/>
                  </a:lnTo>
                  <a:lnTo>
                    <a:pt x="2671459" y="3841080"/>
                  </a:lnTo>
                </a:path>
                <a:path w="5291455" h="3841115">
                  <a:moveTo>
                    <a:pt x="3546237" y="3787504"/>
                  </a:moveTo>
                  <a:lnTo>
                    <a:pt x="3546237" y="3787504"/>
                  </a:lnTo>
                  <a:lnTo>
                    <a:pt x="3546237" y="3841080"/>
                  </a:lnTo>
                </a:path>
                <a:path w="5291455" h="3841115">
                  <a:moveTo>
                    <a:pt x="4420862" y="3787504"/>
                  </a:moveTo>
                  <a:lnTo>
                    <a:pt x="4420862" y="3787504"/>
                  </a:lnTo>
                  <a:lnTo>
                    <a:pt x="4420862" y="3841080"/>
                  </a:lnTo>
                </a:path>
                <a:path w="5291455" h="3841115">
                  <a:moveTo>
                    <a:pt x="5291014" y="3787504"/>
                  </a:moveTo>
                  <a:lnTo>
                    <a:pt x="5291014" y="3787504"/>
                  </a:lnTo>
                  <a:lnTo>
                    <a:pt x="5291014" y="3841080"/>
                  </a:lnTo>
                </a:path>
                <a:path w="5291455" h="3841115">
                  <a:moveTo>
                    <a:pt x="53214" y="3787504"/>
                  </a:moveTo>
                  <a:lnTo>
                    <a:pt x="53214" y="3787504"/>
                  </a:lnTo>
                  <a:lnTo>
                    <a:pt x="53214" y="0"/>
                  </a:lnTo>
                </a:path>
                <a:path w="5291455" h="3841115">
                  <a:moveTo>
                    <a:pt x="0" y="3787504"/>
                  </a:moveTo>
                  <a:lnTo>
                    <a:pt x="0" y="3787504"/>
                  </a:lnTo>
                  <a:lnTo>
                    <a:pt x="53214" y="3787504"/>
                  </a:lnTo>
                </a:path>
                <a:path w="5291455" h="3841115">
                  <a:moveTo>
                    <a:pt x="0" y="3032763"/>
                  </a:moveTo>
                  <a:lnTo>
                    <a:pt x="0" y="3032763"/>
                  </a:lnTo>
                  <a:lnTo>
                    <a:pt x="53214" y="3032763"/>
                  </a:lnTo>
                </a:path>
                <a:path w="5291455" h="3841115">
                  <a:moveTo>
                    <a:pt x="0" y="2275755"/>
                  </a:moveTo>
                  <a:lnTo>
                    <a:pt x="0" y="2275755"/>
                  </a:lnTo>
                  <a:lnTo>
                    <a:pt x="53214" y="2275755"/>
                  </a:lnTo>
                </a:path>
                <a:path w="5291455" h="3841115">
                  <a:moveTo>
                    <a:pt x="0" y="1510592"/>
                  </a:moveTo>
                  <a:lnTo>
                    <a:pt x="0" y="1510592"/>
                  </a:lnTo>
                  <a:lnTo>
                    <a:pt x="53214" y="1510592"/>
                  </a:lnTo>
                </a:path>
                <a:path w="5291455" h="3841115">
                  <a:moveTo>
                    <a:pt x="0" y="754833"/>
                  </a:moveTo>
                  <a:lnTo>
                    <a:pt x="0" y="754833"/>
                  </a:lnTo>
                  <a:lnTo>
                    <a:pt x="53214" y="754833"/>
                  </a:lnTo>
                </a:path>
                <a:path w="5291455" h="3841115">
                  <a:moveTo>
                    <a:pt x="0" y="0"/>
                  </a:moveTo>
                  <a:lnTo>
                    <a:pt x="0" y="0"/>
                  </a:lnTo>
                  <a:lnTo>
                    <a:pt x="53214" y="0"/>
                  </a:lnTo>
                </a:path>
              </a:pathLst>
            </a:custGeom>
            <a:ln w="8037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310084" y="5294896"/>
            <a:ext cx="23114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4%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5514697" y="4539014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18%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80287" y="3782038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43%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7101" y="3024891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44%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32404" y="2268978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46%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05957" y="5881619"/>
            <a:ext cx="23114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5447" y="5881619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10%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08992" y="5881619"/>
            <a:ext cx="31559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20%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81457" y="5881619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30%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55002" y="5881619"/>
            <a:ext cx="31559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40%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27313" y="5881619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50%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99780" y="5881619"/>
            <a:ext cx="3168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5">
                <a:latin typeface="Calibri"/>
                <a:cs typeface="Calibri"/>
              </a:rPr>
              <a:t>60%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66105" y="5286864"/>
            <a:ext cx="81089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>
                <a:latin typeface="Calibri"/>
                <a:cs typeface="Calibri"/>
              </a:rPr>
              <a:t>Do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Nothing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21044" y="4529825"/>
            <a:ext cx="55943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>
                <a:latin typeface="Calibri"/>
                <a:cs typeface="Calibri"/>
              </a:rPr>
              <a:t>Acquire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68764" y="3773866"/>
            <a:ext cx="120523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>
                <a:latin typeface="Calibri"/>
                <a:cs typeface="Calibri"/>
              </a:rPr>
              <a:t>Build</a:t>
            </a:r>
            <a:r>
              <a:rPr dirty="0" sz="1300" spc="6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Capabilities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35507" y="3016874"/>
            <a:ext cx="43942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>
                <a:latin typeface="Calibri"/>
                <a:cs typeface="Calibri"/>
              </a:rPr>
              <a:t>Invest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2319" y="2259882"/>
            <a:ext cx="823594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>
                <a:latin typeface="Calibri"/>
                <a:cs typeface="Calibri"/>
              </a:rPr>
              <a:t>Collaborate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02342" y="5169499"/>
            <a:ext cx="1178560" cy="3733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Source:</a:t>
            </a:r>
            <a:r>
              <a:rPr dirty="0" sz="700" spc="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Duran,</a:t>
            </a:r>
            <a:r>
              <a:rPr dirty="0" sz="700" spc="8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R.</a:t>
            </a:r>
            <a:r>
              <a:rPr dirty="0" sz="700" spc="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585858"/>
                </a:solidFill>
                <a:latin typeface="Calibri"/>
                <a:cs typeface="Calibri"/>
              </a:rPr>
              <a:t>E.,</a:t>
            </a:r>
            <a:endParaRPr sz="700">
              <a:latin typeface="Calibri"/>
              <a:cs typeface="Calibri"/>
            </a:endParaRPr>
          </a:p>
          <a:p>
            <a:pPr marL="12700" marR="5080">
              <a:lnSpc>
                <a:spcPct val="104400"/>
              </a:lnSpc>
              <a:spcBef>
                <a:spcPts val="55"/>
              </a:spcBef>
            </a:pPr>
            <a:r>
              <a:rPr dirty="0" sz="700" spc="10">
                <a:solidFill>
                  <a:srgbClr val="585858"/>
                </a:solidFill>
                <a:latin typeface="Calibri"/>
                <a:cs typeface="Calibri"/>
              </a:rPr>
              <a:t>Financial</a:t>
            </a:r>
            <a:r>
              <a:rPr dirty="0" sz="700" spc="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Services</a:t>
            </a:r>
            <a:r>
              <a:rPr dirty="0" sz="700" spc="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Calibri"/>
                <a:cs typeface="Calibri"/>
              </a:rPr>
              <a:t>Technology,</a:t>
            </a:r>
            <a:r>
              <a:rPr dirty="0" sz="700" spc="50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10">
                <a:solidFill>
                  <a:srgbClr val="585858"/>
                </a:solidFill>
                <a:latin typeface="Calibri"/>
                <a:cs typeface="Calibri"/>
              </a:rPr>
              <a:t>Cengage</a:t>
            </a:r>
            <a:r>
              <a:rPr dirty="0" sz="700" spc="10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10">
                <a:solidFill>
                  <a:srgbClr val="585858"/>
                </a:solidFill>
                <a:latin typeface="Calibri"/>
                <a:cs typeface="Calibri"/>
              </a:rPr>
              <a:t>Learning</a:t>
            </a:r>
            <a:r>
              <a:rPr dirty="0" sz="7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85858"/>
                </a:solidFill>
                <a:latin typeface="Calibri"/>
                <a:cs typeface="Calibri"/>
              </a:rPr>
              <a:t>Asia,</a:t>
            </a:r>
            <a:r>
              <a:rPr dirty="0" sz="700" spc="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585858"/>
                </a:solidFill>
                <a:latin typeface="Calibri"/>
                <a:cs typeface="Calibri"/>
              </a:rPr>
              <a:t>2018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2019" y="6433210"/>
            <a:ext cx="193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entury Gothic"/>
                <a:cs typeface="Century Gothic"/>
              </a:rPr>
              <a:t>15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261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Motivation</a:t>
            </a:r>
            <a:r>
              <a:rPr dirty="0" spc="-55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 spc="-10"/>
              <a:t>collaboration</a:t>
            </a:r>
          </a:p>
        </p:txBody>
      </p:sp>
      <p:pic>
        <p:nvPicPr>
          <p:cNvPr id="4" name="object 4" descr="27ea232b94d9995995acbdb383661d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39" y="1319783"/>
            <a:ext cx="8090915" cy="48478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12188" y="6256121"/>
            <a:ext cx="92106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1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3"/>
              </a:rPr>
              <a:t>https://www.jbs.cam.ac.uk/faculty-research/centres/alternative-finance/publications/the-future-of-global-fintech-rapid-expansion-to-sustainable-growth/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In-</a:t>
            </a:r>
            <a:r>
              <a:rPr dirty="0"/>
              <a:t>house</a:t>
            </a:r>
            <a:r>
              <a:rPr dirty="0" spc="-15"/>
              <a:t> </a:t>
            </a:r>
            <a:r>
              <a:rPr dirty="0" spc="-10"/>
              <a:t>innovations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26536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entury Gothic"/>
                <a:cs typeface="Century Gothic"/>
              </a:rPr>
              <a:t>Innovation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labs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351788"/>
            <a:ext cx="12192000" cy="5506720"/>
            <a:chOff x="0" y="1351788"/>
            <a:chExt cx="12192000" cy="5506720"/>
          </a:xfrm>
        </p:grpSpPr>
        <p:pic>
          <p:nvPicPr>
            <p:cNvPr id="5" name="object 5" descr="A website with people walking  Description automatically generated with medium confidenc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130294"/>
              <a:ext cx="7421879" cy="3727702"/>
            </a:xfrm>
            <a:prstGeom prst="rect">
              <a:avLst/>
            </a:prstGeom>
          </p:spPr>
        </p:pic>
        <p:pic>
          <p:nvPicPr>
            <p:cNvPr id="6" name="object 6" descr="A screenshot of a website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5019" y="1351788"/>
              <a:ext cx="6316980" cy="32887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Outsourcing</a:t>
            </a:r>
            <a:r>
              <a:rPr dirty="0" spc="-10"/>
              <a:t> </a:t>
            </a:r>
            <a:r>
              <a:rPr dirty="0"/>
              <a:t>innovation:</a:t>
            </a:r>
            <a:r>
              <a:rPr dirty="0" spc="-45"/>
              <a:t> </a:t>
            </a:r>
            <a:r>
              <a:rPr dirty="0" spc="-10"/>
              <a:t>acquisition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6353"/>
            <a:ext cx="10001250" cy="25844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96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institutions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acquire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innovations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acquiring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another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company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(typically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startups).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Corporate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venture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capital</a:t>
            </a:r>
            <a:r>
              <a:rPr dirty="0" sz="2400" spc="-11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(CVC)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Similar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VCs,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not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venture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capitalist.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Established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corporations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(non-</a:t>
            </a:r>
            <a:r>
              <a:rPr dirty="0" sz="2000">
                <a:latin typeface="Century Gothic"/>
                <a:cs typeface="Century Gothic"/>
              </a:rPr>
              <a:t>VC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firms)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investing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startups,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directly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or</a:t>
            </a:r>
            <a:endParaRPr sz="2000">
              <a:latin typeface="Century Gothic"/>
              <a:cs typeface="Century Gothic"/>
            </a:endParaRPr>
          </a:p>
          <a:p>
            <a:pPr marL="698500">
              <a:lnSpc>
                <a:spcPts val="2280"/>
              </a:lnSpc>
            </a:pPr>
            <a:r>
              <a:rPr dirty="0" sz="2000" spc="-10">
                <a:latin typeface="Century Gothic"/>
                <a:cs typeface="Century Gothic"/>
              </a:rPr>
              <a:t>indirectly.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Outsourcing</a:t>
            </a:r>
            <a:r>
              <a:rPr dirty="0" spc="-10"/>
              <a:t> </a:t>
            </a:r>
            <a:r>
              <a:rPr dirty="0"/>
              <a:t>innovation:</a:t>
            </a:r>
            <a:r>
              <a:rPr dirty="0" spc="-45"/>
              <a:t> </a:t>
            </a:r>
            <a:r>
              <a:rPr dirty="0" spc="-25"/>
              <a:t>CVC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2983" y="2104644"/>
            <a:ext cx="4023098" cy="9942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3643" y="4107179"/>
            <a:ext cx="1104900" cy="1104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1822450"/>
            <a:ext cx="10504170" cy="406907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8760" marR="4403090" indent="-226695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“Gaining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window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new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technologies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a </a:t>
            </a:r>
            <a:r>
              <a:rPr dirty="0" sz="2000" spc="-5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prominent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motive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corporate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venture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capital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(CVC)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investing”</a:t>
            </a:r>
            <a:r>
              <a:rPr dirty="0" sz="2000" spc="-9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(Benson</a:t>
            </a:r>
            <a:r>
              <a:rPr dirty="0" sz="1600" spc="-1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Ziedonis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2009)</a:t>
            </a:r>
            <a:r>
              <a:rPr dirty="0" sz="2000" spc="-10">
                <a:latin typeface="Century Gothic"/>
                <a:cs typeface="Century Gothic"/>
              </a:rPr>
              <a:t>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8760" marR="4189729" indent="-226695">
              <a:lnSpc>
                <a:spcPts val="216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“CVC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entry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concentrates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firms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experience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deteriorations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internal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innovation”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(Ma</a:t>
            </a:r>
            <a:r>
              <a:rPr dirty="0" sz="1600" spc="-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2020)</a:t>
            </a:r>
            <a:r>
              <a:rPr dirty="0" sz="2000" spc="-10">
                <a:latin typeface="Century Gothic"/>
                <a:cs typeface="Century Gothic"/>
              </a:rPr>
              <a:t>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8760" marR="4563110" indent="-226695">
              <a:lnSpc>
                <a:spcPts val="216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CVCs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terminated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when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firms’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innovation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recovers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(Ma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2020)</a:t>
            </a:r>
            <a:r>
              <a:rPr dirty="0" sz="2000" spc="-10">
                <a:latin typeface="Century Gothic"/>
                <a:cs typeface="Century Gothic"/>
              </a:rPr>
              <a:t>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000">
              <a:latin typeface="Century Gothic"/>
              <a:cs typeface="Century Gothic"/>
            </a:endParaRPr>
          </a:p>
          <a:p>
            <a:pPr marL="7319009" marR="5080">
              <a:lnSpc>
                <a:spcPct val="100000"/>
              </a:lnSpc>
            </a:pPr>
            <a:r>
              <a:rPr dirty="0" sz="1600">
                <a:solidFill>
                  <a:srgbClr val="1F2021"/>
                </a:solidFill>
                <a:latin typeface="Arial"/>
                <a:cs typeface="Arial"/>
              </a:rPr>
              <a:t>Formerly:</a:t>
            </a:r>
            <a:r>
              <a:rPr dirty="0" sz="1600" spc="-5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021"/>
                </a:solidFill>
                <a:latin typeface="Arial"/>
                <a:cs typeface="Arial"/>
              </a:rPr>
              <a:t>Citigroup</a:t>
            </a:r>
            <a:r>
              <a:rPr dirty="0" sz="1600" spc="-9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1F2021"/>
                </a:solidFill>
                <a:latin typeface="Arial"/>
                <a:cs typeface="Arial"/>
              </a:rPr>
              <a:t>Venture</a:t>
            </a:r>
            <a:r>
              <a:rPr dirty="0" sz="1600" spc="-90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1F2021"/>
                </a:solidFill>
                <a:latin typeface="Arial"/>
                <a:cs typeface="Arial"/>
              </a:rPr>
              <a:t>Capital </a:t>
            </a:r>
            <a:r>
              <a:rPr dirty="0" sz="1600">
                <a:solidFill>
                  <a:srgbClr val="1F2021"/>
                </a:solidFill>
                <a:latin typeface="Arial"/>
                <a:cs typeface="Arial"/>
              </a:rPr>
              <a:t>Equity</a:t>
            </a:r>
            <a:r>
              <a:rPr dirty="0" sz="1600" spc="-35">
                <a:solidFill>
                  <a:srgbClr val="1F2021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1F2021"/>
                </a:solidFill>
                <a:latin typeface="Arial"/>
                <a:cs typeface="Arial"/>
              </a:rPr>
              <a:t>Partners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Anti</a:t>
            </a:r>
            <a:r>
              <a:rPr dirty="0" spc="-35"/>
              <a:t> </a:t>
            </a:r>
            <a:r>
              <a:rPr dirty="0"/>
              <a:t>patent</a:t>
            </a:r>
            <a:r>
              <a:rPr dirty="0" spc="-40"/>
              <a:t> </a:t>
            </a:r>
            <a:r>
              <a:rPr dirty="0"/>
              <a:t>troll</a:t>
            </a:r>
            <a:r>
              <a:rPr dirty="0" spc="-15"/>
              <a:t> </a:t>
            </a:r>
            <a:r>
              <a:rPr dirty="0" spc="-25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6353"/>
            <a:ext cx="6019800" cy="3526154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96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Patent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trolling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meritless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legal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claims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patent</a:t>
            </a:r>
            <a:r>
              <a:rPr dirty="0" sz="2400" spc="-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infringement.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Typically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filed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nonpracticing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entities.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39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665" indent="-227965">
              <a:lnSpc>
                <a:spcPts val="2735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400" spc="-10">
                <a:latin typeface="Century Gothic"/>
                <a:cs typeface="Century Gothic"/>
              </a:rPr>
              <a:t>Anti-</a:t>
            </a:r>
            <a:r>
              <a:rPr dirty="0" sz="2400">
                <a:latin typeface="Century Gothic"/>
                <a:cs typeface="Century Gothic"/>
              </a:rPr>
              <a:t>troll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laws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protect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startups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(Appel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spc="-25">
                <a:latin typeface="Century Gothic"/>
                <a:cs typeface="Century Gothic"/>
              </a:rPr>
              <a:t>et</a:t>
            </a:r>
            <a:endParaRPr sz="1800">
              <a:latin typeface="Century Gothic"/>
              <a:cs typeface="Century Gothic"/>
            </a:endParaRPr>
          </a:p>
          <a:p>
            <a:pPr marL="241300">
              <a:lnSpc>
                <a:spcPts val="2735"/>
              </a:lnSpc>
            </a:pPr>
            <a:r>
              <a:rPr dirty="0" sz="1800">
                <a:latin typeface="Century Gothic"/>
                <a:cs typeface="Century Gothic"/>
              </a:rPr>
              <a:t>al.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2019)</a:t>
            </a:r>
            <a:r>
              <a:rPr dirty="0" sz="2400" spc="-10"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  <a:p>
            <a:pPr lvl="1" marL="696595" marR="814069" indent="-226695">
              <a:lnSpc>
                <a:spcPts val="216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Increased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access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financing: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VC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&amp; </a:t>
            </a:r>
            <a:r>
              <a:rPr dirty="0" sz="2000" spc="-5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patent-backed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lending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ts val="2280"/>
              </a:lnSpc>
              <a:spcBef>
                <a:spcPts val="22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4.4%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increase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employment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high-</a:t>
            </a:r>
            <a:r>
              <a:rPr dirty="0" sz="2000" spc="-20">
                <a:latin typeface="Century Gothic"/>
                <a:cs typeface="Century Gothic"/>
              </a:rPr>
              <a:t>tech</a:t>
            </a:r>
            <a:endParaRPr sz="2000">
              <a:latin typeface="Century Gothic"/>
              <a:cs typeface="Century Gothic"/>
            </a:endParaRPr>
          </a:p>
          <a:p>
            <a:pPr marL="698500">
              <a:lnSpc>
                <a:spcPts val="2280"/>
              </a:lnSpc>
            </a:pPr>
            <a:r>
              <a:rPr dirty="0" sz="2000" spc="-10">
                <a:latin typeface="Century Gothic"/>
                <a:cs typeface="Century Gothic"/>
              </a:rPr>
              <a:t>startups.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625" y="2168651"/>
            <a:ext cx="4659633" cy="29332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Patent</a:t>
            </a:r>
            <a:r>
              <a:rPr dirty="0" spc="-35"/>
              <a:t> </a:t>
            </a:r>
            <a:r>
              <a:rPr dirty="0" spc="-10"/>
              <a:t>disclosure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453"/>
            <a:ext cx="10041255" cy="283400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American</a:t>
            </a:r>
            <a:r>
              <a:rPr dirty="0" sz="2800" spc="-12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Inventor's</a:t>
            </a:r>
            <a:r>
              <a:rPr dirty="0" sz="2800" spc="-11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Protection</a:t>
            </a:r>
            <a:r>
              <a:rPr dirty="0" sz="2800" spc="-114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Act</a:t>
            </a:r>
            <a:r>
              <a:rPr dirty="0" sz="2800" spc="-12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(AIPA)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74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Accelerated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public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disclosure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most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patents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U.S.</a:t>
            </a:r>
            <a:r>
              <a:rPr dirty="0" sz="2400" spc="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by</a:t>
            </a:r>
            <a:endParaRPr sz="2400">
              <a:latin typeface="Century Gothic"/>
              <a:cs typeface="Century Gothic"/>
            </a:endParaRPr>
          </a:p>
          <a:p>
            <a:pPr marL="698500">
              <a:lnSpc>
                <a:spcPts val="2740"/>
              </a:lnSpc>
            </a:pPr>
            <a:r>
              <a:rPr dirty="0" sz="2400">
                <a:latin typeface="Century Gothic"/>
                <a:cs typeface="Century Gothic"/>
              </a:rPr>
              <a:t>two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years.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Century Gothic"/>
                <a:cs typeface="Century Gothic"/>
              </a:rPr>
              <a:t>AIPA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facilitates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technology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diffusion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(Hedge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et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al.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2019)</a:t>
            </a:r>
            <a:r>
              <a:rPr dirty="0" sz="2800" spc="-10">
                <a:latin typeface="Century Gothic"/>
                <a:cs typeface="Century Gothic"/>
              </a:rPr>
              <a:t>.</a:t>
            </a:r>
            <a:endParaRPr sz="2800">
              <a:latin typeface="Century Gothic"/>
              <a:cs typeface="Century Gothic"/>
            </a:endParaRPr>
          </a:p>
          <a:p>
            <a:pPr lvl="1" marL="697230" marR="537845" indent="-227329">
              <a:lnSpc>
                <a:spcPts val="2590"/>
              </a:lnSpc>
              <a:spcBef>
                <a:spcPts val="55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AIPA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increased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patenting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6.2%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increased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firms’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R&amp;D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investment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up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6%.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The value</a:t>
            </a:r>
            <a:r>
              <a:rPr dirty="0" spc="-25"/>
              <a:t> </a:t>
            </a:r>
            <a:r>
              <a:rPr dirty="0"/>
              <a:t>of </a:t>
            </a:r>
            <a:r>
              <a:rPr dirty="0" spc="-1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613"/>
            <a:ext cx="10028555" cy="325247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Innovation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</a:t>
            </a:r>
            <a:r>
              <a:rPr dirty="0" sz="2400" spc="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intangible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asset.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Under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U.S.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accounting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rule,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R&amp;D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treated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expense.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1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marR="5080" indent="-227965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house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R&amp;D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leads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positive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stock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reaction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(Chan</a:t>
            </a:r>
            <a:r>
              <a:rPr dirty="0" sz="1800" spc="1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et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al.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1990, </a:t>
            </a:r>
            <a:r>
              <a:rPr dirty="0" sz="1800" spc="-10">
                <a:latin typeface="Century Gothic"/>
                <a:cs typeface="Century Gothic"/>
              </a:rPr>
              <a:t>	</a:t>
            </a:r>
            <a:r>
              <a:rPr dirty="0" sz="1800">
                <a:latin typeface="Century Gothic"/>
                <a:cs typeface="Century Gothic"/>
              </a:rPr>
              <a:t>Chan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el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al.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2002)</a:t>
            </a:r>
            <a:r>
              <a:rPr dirty="0" sz="2400" spc="-10"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20700" indent="-227965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Outsourcing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R&amp;D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through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acquisitions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leads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positive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stock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reaction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(Higgins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Rodriguez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2006)</a:t>
            </a:r>
            <a:r>
              <a:rPr dirty="0" sz="2400" spc="-10"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07104" y="2578100"/>
            <a:ext cx="5177790" cy="1300480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005840" marR="5080" indent="-993775">
              <a:lnSpc>
                <a:spcPts val="4750"/>
              </a:lnSpc>
              <a:spcBef>
                <a:spcPts val="705"/>
              </a:spcBef>
            </a:pPr>
            <a:r>
              <a:rPr dirty="0"/>
              <a:t>Distributed</a:t>
            </a:r>
            <a:r>
              <a:rPr dirty="0" spc="-70"/>
              <a:t> </a:t>
            </a:r>
            <a:r>
              <a:rPr dirty="0" spc="-10"/>
              <a:t>Ledgers Technology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Distributed</a:t>
            </a:r>
            <a:r>
              <a:rPr dirty="0" spc="-35"/>
              <a:t> </a:t>
            </a:r>
            <a:r>
              <a:rPr dirty="0"/>
              <a:t>Leger</a:t>
            </a:r>
            <a:r>
              <a:rPr dirty="0" spc="-15"/>
              <a:t> </a:t>
            </a:r>
            <a:r>
              <a:rPr dirty="0" spc="-1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917"/>
            <a:ext cx="6247765" cy="415290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41300" marR="529590" indent="-229235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 i="1">
                <a:latin typeface="Century Gothic"/>
                <a:cs typeface="Century Gothic"/>
              </a:rPr>
              <a:t>Ledger:</a:t>
            </a:r>
            <a:r>
              <a:rPr dirty="0" sz="2200" spc="-50" i="1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permanent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record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financial transactions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ts val="2245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Traditionally,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financial</a:t>
            </a:r>
            <a:r>
              <a:rPr dirty="0" sz="2200" spc="-9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transactions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rely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on</a:t>
            </a:r>
            <a:endParaRPr sz="2200">
              <a:latin typeface="Century Gothic"/>
              <a:cs typeface="Century Gothic"/>
            </a:endParaRPr>
          </a:p>
          <a:p>
            <a:pPr marL="241300" marR="334010">
              <a:lnSpc>
                <a:spcPct val="70000"/>
              </a:lnSpc>
              <a:spcBef>
                <a:spcPts val="395"/>
              </a:spcBef>
            </a:pPr>
            <a:r>
              <a:rPr dirty="0" sz="2200">
                <a:latin typeface="Century Gothic"/>
                <a:cs typeface="Century Gothic"/>
              </a:rPr>
              <a:t>c</a:t>
            </a:r>
            <a:r>
              <a:rPr dirty="0" sz="2200" i="1">
                <a:latin typeface="Century Gothic"/>
                <a:cs typeface="Century Gothic"/>
              </a:rPr>
              <a:t>entralized</a:t>
            </a:r>
            <a:r>
              <a:rPr dirty="0" sz="2200" spc="-65" i="1">
                <a:latin typeface="Century Gothic"/>
                <a:cs typeface="Century Gothic"/>
              </a:rPr>
              <a:t> </a:t>
            </a:r>
            <a:r>
              <a:rPr dirty="0" sz="2200" i="1">
                <a:latin typeface="Century Gothic"/>
                <a:cs typeface="Century Gothic"/>
              </a:rPr>
              <a:t>ledgers</a:t>
            </a:r>
            <a:r>
              <a:rPr dirty="0" sz="2200" spc="-50" i="1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maintained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by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central counterparty.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ts val="2245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 i="1">
                <a:latin typeface="Century Gothic"/>
                <a:cs typeface="Century Gothic"/>
              </a:rPr>
              <a:t>Distributed</a:t>
            </a:r>
            <a:r>
              <a:rPr dirty="0" sz="2200" spc="-75" i="1">
                <a:latin typeface="Century Gothic"/>
                <a:cs typeface="Century Gothic"/>
              </a:rPr>
              <a:t> </a:t>
            </a:r>
            <a:r>
              <a:rPr dirty="0" sz="2200" i="1">
                <a:latin typeface="Century Gothic"/>
                <a:cs typeface="Century Gothic"/>
              </a:rPr>
              <a:t>ledger:</a:t>
            </a:r>
            <a:r>
              <a:rPr dirty="0" sz="2200" spc="-40" i="1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keeps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track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ownership</a:t>
            </a:r>
            <a:endParaRPr sz="2200">
              <a:latin typeface="Century Gothic"/>
              <a:cs typeface="Century Gothic"/>
            </a:endParaRPr>
          </a:p>
          <a:p>
            <a:pPr marL="241300">
              <a:lnSpc>
                <a:spcPts val="1850"/>
              </a:lnSpc>
            </a:pP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transaction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flows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between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participants</a:t>
            </a:r>
            <a:endParaRPr sz="2200">
              <a:latin typeface="Century Gothic"/>
              <a:cs typeface="Century Gothic"/>
            </a:endParaRPr>
          </a:p>
          <a:p>
            <a:pPr marL="241300" marR="274955">
              <a:lnSpc>
                <a:spcPct val="70000"/>
              </a:lnSpc>
              <a:spcBef>
                <a:spcPts val="395"/>
              </a:spcBef>
            </a:pP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is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not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managed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maintained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by</a:t>
            </a:r>
            <a:r>
              <a:rPr dirty="0" sz="2200" spc="-50">
                <a:latin typeface="Century Gothic"/>
                <a:cs typeface="Century Gothic"/>
              </a:rPr>
              <a:t> a </a:t>
            </a:r>
            <a:r>
              <a:rPr dirty="0" sz="2200">
                <a:latin typeface="Century Gothic"/>
                <a:cs typeface="Century Gothic"/>
              </a:rPr>
              <a:t>central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authority</a:t>
            </a:r>
            <a:endParaRPr sz="2200">
              <a:latin typeface="Century Gothic"/>
              <a:cs typeface="Century Gothic"/>
            </a:endParaRPr>
          </a:p>
          <a:p>
            <a:pPr lvl="1" marL="697230" indent="-227329">
              <a:lnSpc>
                <a:spcPts val="1760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Maintained</a:t>
            </a:r>
            <a:r>
              <a:rPr dirty="0" sz="1900" spc="-7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by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multiple</a:t>
            </a:r>
            <a:r>
              <a:rPr dirty="0" sz="1900" spc="-7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parties</a:t>
            </a:r>
            <a:r>
              <a:rPr dirty="0" sz="1900" spc="-7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that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perform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the</a:t>
            </a:r>
            <a:endParaRPr sz="1900">
              <a:latin typeface="Century Gothic"/>
              <a:cs typeface="Century Gothic"/>
            </a:endParaRPr>
          </a:p>
          <a:p>
            <a:pPr marL="698500">
              <a:lnSpc>
                <a:spcPts val="1595"/>
              </a:lnSpc>
            </a:pPr>
            <a:r>
              <a:rPr dirty="0" sz="1900" spc="-10">
                <a:latin typeface="Century Gothic"/>
                <a:cs typeface="Century Gothic"/>
              </a:rPr>
              <a:t>recordkeeping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and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updating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activities</a:t>
            </a:r>
            <a:r>
              <a:rPr dirty="0" sz="1900" spc="-90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on</a:t>
            </a:r>
            <a:endParaRPr sz="1900">
              <a:latin typeface="Century Gothic"/>
              <a:cs typeface="Century Gothic"/>
            </a:endParaRPr>
          </a:p>
          <a:p>
            <a:pPr marL="698500">
              <a:lnSpc>
                <a:spcPts val="1845"/>
              </a:lnSpc>
            </a:pPr>
            <a:r>
              <a:rPr dirty="0" sz="1900">
                <a:latin typeface="Century Gothic"/>
                <a:cs typeface="Century Gothic"/>
              </a:rPr>
              <a:t>copies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ledger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parallel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185"/>
              </a:lnSpc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A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type</a:t>
            </a:r>
            <a:r>
              <a:rPr dirty="0" sz="1900" spc="-1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1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distributed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database</a:t>
            </a:r>
            <a:endParaRPr sz="1900">
              <a:latin typeface="Century Gothic"/>
              <a:cs typeface="Century Gothic"/>
            </a:endParaRPr>
          </a:p>
        </p:txBody>
      </p:sp>
      <p:pic>
        <p:nvPicPr>
          <p:cNvPr id="4" name="object 4" descr="distributed ledger technology (DLT)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4298" y="2692907"/>
            <a:ext cx="4520793" cy="23439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lockhcain technology: new network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555" y="94488"/>
            <a:ext cx="9003792" cy="62804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Distributed</a:t>
            </a:r>
            <a:r>
              <a:rPr dirty="0" spc="-35"/>
              <a:t> </a:t>
            </a:r>
            <a:r>
              <a:rPr dirty="0"/>
              <a:t>Leger</a:t>
            </a:r>
            <a:r>
              <a:rPr dirty="0" spc="-15"/>
              <a:t> </a:t>
            </a:r>
            <a:r>
              <a:rPr dirty="0" spc="-1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2450"/>
            <a:ext cx="10259695" cy="383730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8760" marR="161290" indent="-226695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some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applications,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distributed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ledgers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enable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demonstrate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ownership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virtual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assets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8760" marR="5080" indent="-226695">
              <a:lnSpc>
                <a:spcPts val="216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Typically,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structure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management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process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permanent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record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immutable,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transparent,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secure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8760" marR="1443355" indent="-226695">
              <a:lnSpc>
                <a:spcPts val="216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Cryptography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commonly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used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secure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stored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authenticate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parties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involved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transactions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ts val="228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distributed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ledger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chain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validated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transaction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records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grows</a:t>
            </a:r>
            <a:r>
              <a:rPr dirty="0" sz="2000" spc="-20">
                <a:latin typeface="Century Gothic"/>
                <a:cs typeface="Century Gothic"/>
              </a:rPr>
              <a:t> with</a:t>
            </a:r>
            <a:endParaRPr sz="2000">
              <a:latin typeface="Century Gothic"/>
              <a:cs typeface="Century Gothic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Century Gothic"/>
                <a:cs typeface="Century Gothic"/>
              </a:rPr>
              <a:t>each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new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transactions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added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it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Distributed</a:t>
            </a:r>
            <a:r>
              <a:rPr dirty="0" spc="-35"/>
              <a:t> </a:t>
            </a:r>
            <a:r>
              <a:rPr dirty="0"/>
              <a:t>Leger</a:t>
            </a:r>
            <a:r>
              <a:rPr dirty="0" spc="-15"/>
              <a:t> </a:t>
            </a:r>
            <a:r>
              <a:rPr dirty="0" spc="-1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453"/>
            <a:ext cx="10165080" cy="304419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Special</a:t>
            </a:r>
            <a:r>
              <a:rPr dirty="0" sz="2800" spc="-10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Characteristics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74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Decentralized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–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there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“owner”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blockchain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there</a:t>
            </a:r>
            <a:endParaRPr sz="2400">
              <a:latin typeface="Century Gothic"/>
              <a:cs typeface="Century Gothic"/>
            </a:endParaRPr>
          </a:p>
          <a:p>
            <a:pPr marL="698500">
              <a:lnSpc>
                <a:spcPts val="2740"/>
              </a:lnSpc>
            </a:pP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 single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point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 </a:t>
            </a:r>
            <a:r>
              <a:rPr dirty="0" sz="2400" spc="-10">
                <a:latin typeface="Century Gothic"/>
                <a:cs typeface="Century Gothic"/>
              </a:rPr>
              <a:t>failure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Trust –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design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system,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not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central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authority</a:t>
            </a:r>
            <a:endParaRPr sz="2400">
              <a:latin typeface="Century Gothic"/>
              <a:cs typeface="Century Gothic"/>
            </a:endParaRPr>
          </a:p>
          <a:p>
            <a:pPr lvl="1" marL="697230" marR="565785" indent="-227329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Immutability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–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ensures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verified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transactions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irrevocable</a:t>
            </a:r>
            <a:endParaRPr sz="2400">
              <a:latin typeface="Century Gothic"/>
              <a:cs typeface="Century Gothic"/>
            </a:endParaRPr>
          </a:p>
          <a:p>
            <a:pPr lvl="1" marL="697230" marR="313690" indent="-227329">
              <a:lnSpc>
                <a:spcPts val="259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Fully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automated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–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eliminates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potential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human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error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eliminates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discretionary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decisions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transaction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processing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Blockchain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778"/>
            <a:ext cx="5633720" cy="405193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240029" marR="13335" indent="-227965">
              <a:lnSpc>
                <a:spcPct val="801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i="1">
                <a:latin typeface="Century Gothic"/>
                <a:cs typeface="Century Gothic"/>
              </a:rPr>
              <a:t>Blockchain</a:t>
            </a:r>
            <a:r>
              <a:rPr dirty="0" sz="2400" spc="-30" i="1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type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DLT</a:t>
            </a:r>
            <a:r>
              <a:rPr dirty="0" sz="2400" spc="-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-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example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new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potential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area</a:t>
            </a:r>
            <a:r>
              <a:rPr dirty="0" sz="2400" spc="-25">
                <a:latin typeface="Century Gothic"/>
                <a:cs typeface="Century Gothic"/>
              </a:rPr>
              <a:t> for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innovation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5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549275" indent="-227965">
              <a:lnSpc>
                <a:spcPct val="8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key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find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ways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use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to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create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new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unique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solutions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algn="just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Much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activity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driven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by</a:t>
            </a:r>
            <a:endParaRPr sz="2400">
              <a:latin typeface="Century Gothic"/>
              <a:cs typeface="Century Gothic"/>
            </a:endParaRPr>
          </a:p>
          <a:p>
            <a:pPr algn="just" lvl="1" marL="696595" indent="-22669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Fear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missing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out</a:t>
            </a:r>
            <a:endParaRPr sz="2000">
              <a:latin typeface="Century Gothic"/>
              <a:cs typeface="Century Gothic"/>
            </a:endParaRPr>
          </a:p>
          <a:p>
            <a:pPr algn="just" lvl="1" marL="696595" marR="5080" indent="-226695">
              <a:lnSpc>
                <a:spcPct val="801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Concerns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blockchain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could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quickly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transform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existing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business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model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for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banks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(like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Uber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taxi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industry)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 descr="DLT Comparis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356" y="1254252"/>
            <a:ext cx="5391911" cy="41300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Blockchain:</a:t>
            </a:r>
            <a:r>
              <a:rPr dirty="0" spc="-50"/>
              <a:t> </a:t>
            </a:r>
            <a:r>
              <a:rPr dirty="0"/>
              <a:t>structure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mechanics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5205"/>
            <a:ext cx="10077450" cy="3522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ts val="213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Key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components</a:t>
            </a:r>
            <a:endParaRPr sz="1800">
              <a:latin typeface="Century Gothic"/>
              <a:cs typeface="Century Gothic"/>
            </a:endParaRPr>
          </a:p>
          <a:p>
            <a:pPr lvl="1" marL="698500" indent="-228600">
              <a:lnSpc>
                <a:spcPts val="1760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1500">
                <a:latin typeface="Century Gothic"/>
                <a:cs typeface="Century Gothic"/>
              </a:rPr>
              <a:t>A</a:t>
            </a:r>
            <a:r>
              <a:rPr dirty="0" sz="1500" spc="-6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network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protocol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that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supports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communication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between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 spc="-10">
                <a:latin typeface="Century Gothic"/>
                <a:cs typeface="Century Gothic"/>
              </a:rPr>
              <a:t>participants</a:t>
            </a:r>
            <a:endParaRPr sz="1500">
              <a:latin typeface="Century Gothic"/>
              <a:cs typeface="Century Gothic"/>
            </a:endParaRPr>
          </a:p>
          <a:p>
            <a:pPr lvl="1" marL="698500" indent="-228600">
              <a:lnSpc>
                <a:spcPts val="1764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1500">
                <a:latin typeface="Century Gothic"/>
                <a:cs typeface="Century Gothic"/>
              </a:rPr>
              <a:t>A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network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of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computers</a:t>
            </a:r>
            <a:r>
              <a:rPr dirty="0" sz="1500" spc="-2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that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store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and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manage</a:t>
            </a:r>
            <a:r>
              <a:rPr dirty="0" sz="1500" spc="-2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transaction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 spc="-20">
                <a:latin typeface="Century Gothic"/>
                <a:cs typeface="Century Gothic"/>
              </a:rPr>
              <a:t>data</a:t>
            </a:r>
            <a:endParaRPr sz="1500">
              <a:latin typeface="Century Gothic"/>
              <a:cs typeface="Century Gothic"/>
            </a:endParaRPr>
          </a:p>
          <a:p>
            <a:pPr lvl="1" marL="698500" indent="-228600">
              <a:lnSpc>
                <a:spcPts val="1785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1500">
                <a:latin typeface="Century Gothic"/>
                <a:cs typeface="Century Gothic"/>
              </a:rPr>
              <a:t>A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process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for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managing</a:t>
            </a:r>
            <a:r>
              <a:rPr dirty="0" sz="1500" spc="-3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records</a:t>
            </a:r>
            <a:r>
              <a:rPr dirty="0" sz="1500" spc="-6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that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is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based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on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achieving</a:t>
            </a:r>
            <a:r>
              <a:rPr dirty="0" sz="1500" spc="-6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consensus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between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 spc="-10">
                <a:latin typeface="Century Gothic"/>
                <a:cs typeface="Century Gothic"/>
              </a:rPr>
              <a:t>participants</a:t>
            </a:r>
            <a:endParaRPr sz="15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015"/>
              </a:spcBef>
              <a:buFont typeface="Arial"/>
              <a:buChar char="•"/>
            </a:pPr>
            <a:endParaRPr sz="15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Records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are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maintained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many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different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computers,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“nodes”,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within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network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Nodes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coordinate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with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one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another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maintain</a:t>
            </a:r>
            <a:r>
              <a:rPr dirty="0" sz="1800" spc="-8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consistency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distributed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ledger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 i="1">
                <a:latin typeface="Century Gothic"/>
                <a:cs typeface="Century Gothic"/>
              </a:rPr>
              <a:t>Permissionless</a:t>
            </a:r>
            <a:r>
              <a:rPr dirty="0" sz="1800" spc="-60" i="1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blockchain</a:t>
            </a:r>
            <a:r>
              <a:rPr dirty="0" sz="1800" spc="-8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implementations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allow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open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access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distributed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ledger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 i="1">
                <a:latin typeface="Century Gothic"/>
                <a:cs typeface="Century Gothic"/>
              </a:rPr>
              <a:t>Permissioned</a:t>
            </a:r>
            <a:r>
              <a:rPr dirty="0" sz="1800" spc="-30" i="1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blockchain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implementations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limit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who</a:t>
            </a:r>
            <a:r>
              <a:rPr dirty="0" sz="1800" spc="-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participate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network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Blockchain:</a:t>
            </a:r>
            <a:r>
              <a:rPr dirty="0" spc="-50"/>
              <a:t> </a:t>
            </a:r>
            <a:r>
              <a:rPr dirty="0"/>
              <a:t>structure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mechanics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5686"/>
            <a:ext cx="10350500" cy="4076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600">
                <a:latin typeface="Century Gothic"/>
                <a:cs typeface="Century Gothic"/>
              </a:rPr>
              <a:t>Initiator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of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transaction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distributes</a:t>
            </a:r>
            <a:r>
              <a:rPr dirty="0" sz="1600" spc="-1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transaction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request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nodes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on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network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1300" indent="-228600">
              <a:lnSpc>
                <a:spcPts val="173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600">
                <a:latin typeface="Century Gothic"/>
                <a:cs typeface="Century Gothic"/>
              </a:rPr>
              <a:t>Nodes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validate</a:t>
            </a:r>
            <a:r>
              <a:rPr dirty="0" sz="1600" spc="-7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transaction’s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digital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signature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review</a:t>
            </a:r>
            <a:r>
              <a:rPr dirty="0" sz="1600" spc="-7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previous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transactions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have</a:t>
            </a:r>
            <a:r>
              <a:rPr dirty="0" sz="1600" spc="-75">
                <a:latin typeface="Century Gothic"/>
                <a:cs typeface="Century Gothic"/>
              </a:rPr>
              <a:t> </a:t>
            </a:r>
            <a:r>
              <a:rPr dirty="0" sz="1600" spc="-20">
                <a:latin typeface="Century Gothic"/>
                <a:cs typeface="Century Gothic"/>
              </a:rPr>
              <a:t>been</a:t>
            </a:r>
            <a:endParaRPr sz="1600">
              <a:latin typeface="Century Gothic"/>
              <a:cs typeface="Century Gothic"/>
            </a:endParaRPr>
          </a:p>
          <a:p>
            <a:pPr marL="241300">
              <a:lnSpc>
                <a:spcPts val="1730"/>
              </a:lnSpc>
            </a:pPr>
            <a:r>
              <a:rPr dirty="0" sz="1600">
                <a:latin typeface="Century Gothic"/>
                <a:cs typeface="Century Gothic"/>
              </a:rPr>
              <a:t>recorded</a:t>
            </a:r>
            <a:r>
              <a:rPr dirty="0" sz="1600" spc="-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by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blockchain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verify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address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transferring</a:t>
            </a:r>
            <a:r>
              <a:rPr dirty="0" sz="1600" spc="-1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funds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actually</a:t>
            </a:r>
            <a:r>
              <a:rPr dirty="0" sz="1600" spc="-6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owns</a:t>
            </a:r>
            <a:r>
              <a:rPr dirty="0" sz="1600" spc="-10">
                <a:latin typeface="Century Gothic"/>
                <a:cs typeface="Century Gothic"/>
              </a:rPr>
              <a:t> </a:t>
            </a:r>
            <a:r>
              <a:rPr dirty="0" sz="1600" spc="-20">
                <a:latin typeface="Century Gothic"/>
                <a:cs typeface="Century Gothic"/>
              </a:rPr>
              <a:t>them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600">
              <a:latin typeface="Century Gothic"/>
              <a:cs typeface="Century Gothic"/>
            </a:endParaRPr>
          </a:p>
          <a:p>
            <a:pPr marL="241300" marR="5080" indent="-229235">
              <a:lnSpc>
                <a:spcPts val="154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transaction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grouped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with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other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verified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transactions</a:t>
            </a:r>
            <a:r>
              <a:rPr dirty="0" sz="1600" spc="-1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into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“block”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proposed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as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update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distributed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ledger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600">
                <a:latin typeface="Century Gothic"/>
                <a:cs typeface="Century Gothic"/>
              </a:rPr>
              <a:t>Miner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nodes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will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perform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computationally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intensive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verification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of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block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1300" marR="713740" indent="-229235">
              <a:lnSpc>
                <a:spcPts val="154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600">
                <a:latin typeface="Century Gothic"/>
                <a:cs typeface="Century Gothic"/>
              </a:rPr>
              <a:t>When miner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nodes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reach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consensus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transaction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information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valid,</a:t>
            </a:r>
            <a:r>
              <a:rPr dirty="0" sz="1600" spc="-7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transaction</a:t>
            </a:r>
            <a:r>
              <a:rPr dirty="0" sz="1600" spc="-25">
                <a:latin typeface="Century Gothic"/>
                <a:cs typeface="Century Gothic"/>
              </a:rPr>
              <a:t> is </a:t>
            </a:r>
            <a:r>
              <a:rPr dirty="0" sz="1600">
                <a:latin typeface="Century Gothic"/>
                <a:cs typeface="Century Gothic"/>
              </a:rPr>
              <a:t>approved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for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inclusion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ledger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block</a:t>
            </a:r>
            <a:r>
              <a:rPr dirty="0" sz="1600" spc="-6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then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distributed</a:t>
            </a:r>
            <a:r>
              <a:rPr dirty="0" sz="1600" spc="-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all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nodes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network</a:t>
            </a:r>
            <a:r>
              <a:rPr dirty="0" sz="1600" spc="-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for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inclusion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their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copy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of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ledger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Blockchain:</a:t>
            </a:r>
            <a:r>
              <a:rPr dirty="0" spc="-50"/>
              <a:t> </a:t>
            </a:r>
            <a:r>
              <a:rPr dirty="0"/>
              <a:t>structure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mechanics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917"/>
            <a:ext cx="10158730" cy="227647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41300" marR="211454" indent="-229235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Nodes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that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contribute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computing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resources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validate</a:t>
            </a:r>
            <a:r>
              <a:rPr dirty="0" sz="2200" spc="-9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transactions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are </a:t>
            </a:r>
            <a:r>
              <a:rPr dirty="0" sz="2200">
                <a:latin typeface="Century Gothic"/>
                <a:cs typeface="Century Gothic"/>
              </a:rPr>
              <a:t>rewarded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with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small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amount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its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underlying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digital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currency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marR="5080" indent="-229235">
              <a:lnSpc>
                <a:spcPct val="7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consensus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mechanism</a:t>
            </a:r>
            <a:r>
              <a:rPr dirty="0" sz="2200" spc="-9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help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prevent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fraudulent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activity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by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bad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actors </a:t>
            </a:r>
            <a:r>
              <a:rPr dirty="0" sz="2200">
                <a:latin typeface="Century Gothic"/>
                <a:cs typeface="Century Gothic"/>
              </a:rPr>
              <a:t>entering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false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information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into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blockchain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Two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consensus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mechanisms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used</a:t>
            </a:r>
            <a:r>
              <a:rPr dirty="0" sz="2200" spc="-25">
                <a:latin typeface="Century Gothic"/>
                <a:cs typeface="Century Gothic"/>
              </a:rPr>
              <a:t> are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3979545"/>
            <a:ext cx="94449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Proof-of-</a:t>
            </a:r>
            <a:r>
              <a:rPr dirty="0" sz="2000">
                <a:latin typeface="Century Gothic"/>
                <a:cs typeface="Century Gothic"/>
              </a:rPr>
              <a:t>work: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requires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miners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solve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computationally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difficult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problems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to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2994" y="4192904"/>
            <a:ext cx="15449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“win”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blocks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4394" y="4470272"/>
            <a:ext cx="97770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Proof-of-</a:t>
            </a:r>
            <a:r>
              <a:rPr dirty="0" sz="2000">
                <a:latin typeface="Century Gothic"/>
                <a:cs typeface="Century Gothic"/>
              </a:rPr>
              <a:t>stake: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participants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must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how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much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digital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currency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they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994" y="4683633"/>
            <a:ext cx="6299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Century Gothic"/>
                <a:cs typeface="Century Gothic"/>
              </a:rPr>
              <a:t>own.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5377383"/>
            <a:ext cx="9130030" cy="59499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41300" marR="5080" indent="-229235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Cryptographic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hash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functions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are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used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prevent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tampering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 spc="-20">
                <a:latin typeface="Century Gothic"/>
                <a:cs typeface="Century Gothic"/>
              </a:rPr>
              <a:t>with </a:t>
            </a:r>
            <a:r>
              <a:rPr dirty="0" sz="2200">
                <a:latin typeface="Century Gothic"/>
                <a:cs typeface="Century Gothic"/>
              </a:rPr>
              <a:t>transaction</a:t>
            </a:r>
            <a:r>
              <a:rPr dirty="0" sz="2200" spc="-10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details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 </a:t>
            </a:r>
            <a:r>
              <a:rPr dirty="0" spc="-10"/>
              <a:t>blockchain?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9125" y="1652727"/>
            <a:ext cx="8531860" cy="371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4982210" algn="l"/>
                <a:tab pos="8193405" algn="l"/>
              </a:tabLst>
            </a:pPr>
            <a:r>
              <a:rPr dirty="0" sz="2400">
                <a:latin typeface="Century Gothic"/>
                <a:cs typeface="Century Gothic"/>
              </a:rPr>
              <a:t>Blockchain is a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r>
              <a:rPr dirty="0" u="none" sz="2400">
                <a:latin typeface="Century Gothic"/>
                <a:cs typeface="Century Gothic"/>
              </a:rPr>
              <a:t>and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endParaRPr sz="2400">
              <a:latin typeface="Century Gothic"/>
              <a:cs typeface="Century Gothic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Century Gothic"/>
                <a:cs typeface="Century Gothic"/>
              </a:rPr>
              <a:t>ledger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tracks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transactions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among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accounts.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400">
              <a:latin typeface="Century Gothic"/>
              <a:cs typeface="Century Gothic"/>
            </a:endParaRPr>
          </a:p>
          <a:p>
            <a:pPr lvl="1" marL="812800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7364730" algn="l"/>
              </a:tabLst>
            </a:pPr>
            <a:r>
              <a:rPr dirty="0" sz="2400">
                <a:latin typeface="Century Gothic"/>
                <a:cs typeface="Century Gothic"/>
              </a:rPr>
              <a:t>Anybody can obtain accounts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34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lvl="1" marL="812800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5294630" algn="l"/>
              </a:tabLst>
            </a:pPr>
            <a:r>
              <a:rPr dirty="0" sz="2400">
                <a:latin typeface="Century Gothic"/>
                <a:cs typeface="Century Gothic"/>
              </a:rPr>
              <a:t>Anybody can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34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lvl="1" marL="812800" indent="-342900">
              <a:lnSpc>
                <a:spcPct val="100000"/>
              </a:lnSpc>
              <a:buFont typeface="Arial"/>
              <a:buChar char="•"/>
              <a:tabLst>
                <a:tab pos="812800" algn="l"/>
                <a:tab pos="5695315" algn="l"/>
                <a:tab pos="6863715" algn="l"/>
                <a:tab pos="8518525" algn="l"/>
              </a:tabLst>
            </a:pPr>
            <a:r>
              <a:rPr dirty="0" sz="2400">
                <a:latin typeface="Century Gothic"/>
                <a:cs typeface="Century Gothic"/>
              </a:rPr>
              <a:t>Transfers are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r>
              <a:rPr dirty="0" u="none" sz="2400">
                <a:latin typeface="Century Gothic"/>
                <a:cs typeface="Century Gothic"/>
              </a:rPr>
              <a:t>and </a:t>
            </a:r>
            <a:r>
              <a:rPr dirty="0" u="heavy" baseline="2777" sz="1500" b="1">
                <a:solidFill>
                  <a:srgbClr val="FF26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heavy" baseline="2777" sz="1500" spc="-15" b="1">
                <a:solidFill>
                  <a:srgbClr val="FF26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irreversible</a:t>
            </a:r>
            <a:r>
              <a:rPr dirty="0" u="heavy" baseline="2777" sz="1500" b="1">
                <a:solidFill>
                  <a:srgbClr val="FF26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baseline="2777"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6579" y="6012281"/>
            <a:ext cx="7943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spc="-25">
                <a:latin typeface="Century Gothic"/>
                <a:cs typeface="Century Gothic"/>
              </a:rPr>
              <a:t>No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1082" y="6360597"/>
            <a:ext cx="2592070" cy="0"/>
          </a:xfrm>
          <a:custGeom>
            <a:avLst/>
            <a:gdLst/>
            <a:ahLst/>
            <a:cxnLst/>
            <a:rect l="l" t="t" r="r" b="b"/>
            <a:pathLst>
              <a:path w="2592070" h="0">
                <a:moveTo>
                  <a:pt x="0" y="0"/>
                </a:moveTo>
                <a:lnTo>
                  <a:pt x="1067866" y="0"/>
                </a:lnTo>
              </a:path>
              <a:path w="2592070" h="0">
                <a:moveTo>
                  <a:pt x="1066951" y="0"/>
                </a:moveTo>
                <a:lnTo>
                  <a:pt x="2134818" y="0"/>
                </a:lnTo>
              </a:path>
              <a:path w="2592070" h="0">
                <a:moveTo>
                  <a:pt x="2133903" y="0"/>
                </a:moveTo>
                <a:lnTo>
                  <a:pt x="2591560" y="0"/>
                </a:lnTo>
              </a:path>
            </a:pathLst>
          </a:custGeom>
          <a:ln w="152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74457" y="6012281"/>
            <a:ext cx="29641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mediate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disputes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31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423695" y="6061422"/>
            <a:ext cx="1012825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central</a:t>
            </a:r>
            <a:r>
              <a:rPr dirty="0" sz="1000" spc="-40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2600"/>
                </a:solidFill>
                <a:latin typeface="Arial"/>
                <a:cs typeface="Arial"/>
              </a:rPr>
              <a:t>authority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366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5"/>
              <a:t> </a:t>
            </a:r>
            <a:r>
              <a:rPr dirty="0"/>
              <a:t>Future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10"/>
              <a:t>Trust?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5960770"/>
            <a:ext cx="12782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Calibri Light"/>
                <a:cs typeface="Calibri Light"/>
              </a:rPr>
              <a:t>Interesting</a:t>
            </a:r>
            <a:r>
              <a:rPr dirty="0" sz="1200" spc="10" b="0">
                <a:latin typeface="Calibri Light"/>
                <a:cs typeface="Calibri Light"/>
              </a:rPr>
              <a:t> </a:t>
            </a:r>
            <a:r>
              <a:rPr dirty="0" sz="1200" spc="-10" b="0">
                <a:latin typeface="Calibri Light"/>
                <a:cs typeface="Calibri Light"/>
              </a:rPr>
              <a:t>readings: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6144259"/>
            <a:ext cx="8488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u="sng" sz="1200" spc="-1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2"/>
              </a:rPr>
              <a:t>https://www.coindesk.com/blockchain-rise-</a:t>
            </a:r>
            <a:r>
              <a:rPr dirty="0" u="sng" sz="1200" spc="-2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2"/>
              </a:rPr>
              <a:t>networked-</a:t>
            </a:r>
            <a:r>
              <a:rPr dirty="0" u="sng" sz="1200" spc="-1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2"/>
              </a:rPr>
              <a:t>trust</a:t>
            </a:r>
            <a:endParaRPr sz="12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u="sng" sz="1200" spc="-1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3"/>
              </a:rPr>
              <a:t>https://www.forbes.com/sites/jimblasingame/2019/07/18/blockchain-isnt-the-end-of-trust-its-the-future-of-trust/?sh=2de8bdf11596</a:t>
            </a:r>
            <a:endParaRPr sz="1200">
              <a:latin typeface="Calibri Light"/>
              <a:cs typeface="Calibri Light"/>
            </a:endParaRPr>
          </a:p>
        </p:txBody>
      </p:sp>
      <p:pic>
        <p:nvPicPr>
          <p:cNvPr id="5" name="object 5" descr="Image result for trust machine economist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2304" y="938783"/>
            <a:ext cx="5108448" cy="49971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82019" y="6433210"/>
            <a:ext cx="193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entury Gothic"/>
                <a:cs typeface="Century Gothic"/>
              </a:rPr>
              <a:t>32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Smart</a:t>
            </a:r>
            <a:r>
              <a:rPr dirty="0" spc="-40"/>
              <a:t> </a:t>
            </a:r>
            <a:r>
              <a:rPr dirty="0" spc="-10"/>
              <a:t>contracts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44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Smart</a:t>
            </a:r>
            <a:r>
              <a:rPr dirty="0" spc="-90"/>
              <a:t> </a:t>
            </a:r>
            <a:r>
              <a:rPr dirty="0"/>
              <a:t>Contracts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100"/>
              <a:t> </a:t>
            </a:r>
            <a:r>
              <a:rPr dirty="0"/>
              <a:t>an</a:t>
            </a:r>
            <a:r>
              <a:rPr dirty="0" spc="-85"/>
              <a:t> </a:t>
            </a:r>
            <a:r>
              <a:rPr dirty="0"/>
              <a:t>offshoot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85"/>
              <a:t> </a:t>
            </a:r>
            <a:r>
              <a:rPr dirty="0"/>
              <a:t>blockchain</a:t>
            </a:r>
            <a:r>
              <a:rPr dirty="0" spc="-75"/>
              <a:t> </a:t>
            </a:r>
            <a:r>
              <a:rPr dirty="0" spc="-10"/>
              <a:t>technology</a:t>
            </a:r>
          </a:p>
          <a:p>
            <a:pPr algn="ctr" lvl="1" marL="227329" marR="775335" indent="-227329">
              <a:lnSpc>
                <a:spcPts val="2740"/>
              </a:lnSpc>
              <a:spcBef>
                <a:spcPts val="220"/>
              </a:spcBef>
              <a:buFont typeface="Arial"/>
              <a:buChar char="•"/>
              <a:tabLst>
                <a:tab pos="227329" algn="l"/>
              </a:tabLst>
            </a:pPr>
            <a:r>
              <a:rPr dirty="0" sz="2400">
                <a:latin typeface="Century Gothic"/>
                <a:cs typeface="Century Gothic"/>
              </a:rPr>
              <a:t>Computer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programs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execute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terms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</a:t>
            </a:r>
            <a:endParaRPr sz="2400">
              <a:latin typeface="Century Gothic"/>
              <a:cs typeface="Century Gothic"/>
            </a:endParaRPr>
          </a:p>
          <a:p>
            <a:pPr algn="ctr" marR="684530">
              <a:lnSpc>
                <a:spcPts val="2740"/>
              </a:lnSpc>
            </a:pPr>
            <a:r>
              <a:rPr dirty="0" sz="2400"/>
              <a:t>agreement</a:t>
            </a:r>
            <a:r>
              <a:rPr dirty="0" sz="2400" spc="-75"/>
              <a:t> </a:t>
            </a:r>
            <a:r>
              <a:rPr dirty="0" sz="2400"/>
              <a:t>between</a:t>
            </a:r>
            <a:r>
              <a:rPr dirty="0" sz="2400" spc="-45"/>
              <a:t> </a:t>
            </a:r>
            <a:r>
              <a:rPr dirty="0" sz="2400"/>
              <a:t>users</a:t>
            </a:r>
            <a:r>
              <a:rPr dirty="0" sz="2400" spc="-55"/>
              <a:t> </a:t>
            </a:r>
            <a:r>
              <a:rPr dirty="0" sz="2400"/>
              <a:t>of</a:t>
            </a:r>
            <a:r>
              <a:rPr dirty="0" sz="2400" spc="-55"/>
              <a:t> </a:t>
            </a:r>
            <a:r>
              <a:rPr dirty="0" sz="2400"/>
              <a:t>the</a:t>
            </a:r>
            <a:r>
              <a:rPr dirty="0" sz="2400" spc="-55"/>
              <a:t> </a:t>
            </a:r>
            <a:r>
              <a:rPr dirty="0" sz="2400"/>
              <a:t>blockchain</a:t>
            </a:r>
            <a:r>
              <a:rPr dirty="0" sz="2400" spc="-100"/>
              <a:t> </a:t>
            </a:r>
            <a:r>
              <a:rPr dirty="0" sz="2400" spc="-10"/>
              <a:t>network</a:t>
            </a:r>
            <a:endParaRPr sz="2400"/>
          </a:p>
          <a:p>
            <a:pPr lvl="1" marL="697230" marR="715010" indent="-227329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Typically,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value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transferred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held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escrow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delivered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when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specified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conditions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met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Transfers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automated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Benefits: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faster,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lower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cost,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reduced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errors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Ethereum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579" y="611738"/>
            <a:ext cx="7906511" cy="59780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DLT </a:t>
            </a:r>
            <a:r>
              <a:rPr dirty="0" spc="-1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5873"/>
            <a:ext cx="9922510" cy="4250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DLT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is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good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fit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for</a:t>
            </a:r>
            <a:endParaRPr sz="22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Multiple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writers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information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shared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repository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Eliminating</a:t>
            </a:r>
            <a:r>
              <a:rPr dirty="0" sz="1900" spc="-7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need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for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intermediaries</a:t>
            </a:r>
            <a:r>
              <a:rPr dirty="0" sz="1900" spc="-7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transaction</a:t>
            </a:r>
            <a:r>
              <a:rPr dirty="0" sz="1900" spc="-10">
                <a:latin typeface="Century Gothic"/>
                <a:cs typeface="Century Gothic"/>
              </a:rPr>
              <a:t> process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Geographically</a:t>
            </a:r>
            <a:r>
              <a:rPr dirty="0" sz="1900" spc="-8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distributed</a:t>
            </a:r>
            <a:r>
              <a:rPr dirty="0" sz="1900" spc="-12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participants</a:t>
            </a:r>
            <a:endParaRPr sz="19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245"/>
              </a:spcBef>
              <a:buFont typeface="Arial"/>
              <a:buChar char="•"/>
            </a:pPr>
            <a:endParaRPr sz="1900">
              <a:latin typeface="Century Gothic"/>
              <a:cs typeface="Century Gothic"/>
            </a:endParaRPr>
          </a:p>
          <a:p>
            <a:pPr marL="241300" indent="-228600">
              <a:lnSpc>
                <a:spcPts val="2375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Important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consider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context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problem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business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process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20">
                <a:latin typeface="Century Gothic"/>
                <a:cs typeface="Century Gothic"/>
              </a:rPr>
              <a:t>that</a:t>
            </a:r>
            <a:endParaRPr sz="2200">
              <a:latin typeface="Century Gothic"/>
              <a:cs typeface="Century Gothic"/>
            </a:endParaRPr>
          </a:p>
          <a:p>
            <a:pPr marL="241300">
              <a:lnSpc>
                <a:spcPts val="2375"/>
              </a:lnSpc>
            </a:pPr>
            <a:r>
              <a:rPr dirty="0" sz="2200">
                <a:latin typeface="Century Gothic"/>
                <a:cs typeface="Century Gothic"/>
              </a:rPr>
              <a:t>must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supported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2200">
              <a:latin typeface="Century Gothic"/>
              <a:cs typeface="Century Gothic"/>
            </a:endParaRPr>
          </a:p>
          <a:p>
            <a:pPr marL="241300" marR="75565" indent="-229235">
              <a:lnSpc>
                <a:spcPct val="8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Nontechnical</a:t>
            </a:r>
            <a:r>
              <a:rPr dirty="0" sz="2200" spc="-9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implementation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requirements</a:t>
            </a:r>
            <a:r>
              <a:rPr dirty="0" sz="2200" spc="-9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that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could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hinderances </a:t>
            </a:r>
            <a:r>
              <a:rPr dirty="0" sz="2200">
                <a:latin typeface="Century Gothic"/>
                <a:cs typeface="Century Gothic"/>
              </a:rPr>
              <a:t>also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need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considered</a:t>
            </a:r>
            <a:endParaRPr sz="22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need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replace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infrastructure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Significant</a:t>
            </a:r>
            <a:r>
              <a:rPr dirty="0" sz="1900" spc="-9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changes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existing</a:t>
            </a:r>
            <a:r>
              <a:rPr dirty="0" sz="1900" spc="-10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processes</a:t>
            </a:r>
            <a:endParaRPr sz="19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Alterations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legal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or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regulatory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frameworks</a:t>
            </a:r>
            <a:endParaRPr sz="1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Distributed</a:t>
            </a:r>
            <a:r>
              <a:rPr dirty="0" spc="-35"/>
              <a:t> </a:t>
            </a:r>
            <a:r>
              <a:rPr dirty="0"/>
              <a:t>Leger</a:t>
            </a:r>
            <a:r>
              <a:rPr dirty="0" spc="-15"/>
              <a:t> </a:t>
            </a:r>
            <a:r>
              <a:rPr dirty="0" spc="-10"/>
              <a:t>Technology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453"/>
            <a:ext cx="4100195" cy="28428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Application</a:t>
            </a:r>
            <a:r>
              <a:rPr dirty="0" sz="2800" spc="-1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examples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Digital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currencies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Payments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Trade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finance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Property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title</a:t>
            </a:r>
            <a:r>
              <a:rPr dirty="0" sz="2400" spc="-11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registry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Syndicated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loans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Settlement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securities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0690" y="315488"/>
            <a:ext cx="7776687" cy="56707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84323" y="6182969"/>
            <a:ext cx="80581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3"/>
              </a:rPr>
              <a:t>https://www.cbinsights.com/research/report/blockchain-technology-companies/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Mini</a:t>
            </a:r>
            <a:r>
              <a:rPr dirty="0" spc="-40"/>
              <a:t> </a:t>
            </a:r>
            <a:r>
              <a:rPr dirty="0" spc="-2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518604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Central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bank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vs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Commercial </a:t>
            </a:r>
            <a:r>
              <a:rPr dirty="0" sz="2800" spc="-10">
                <a:latin typeface="Century Gothic"/>
                <a:cs typeface="Century Gothic"/>
              </a:rPr>
              <a:t>	</a:t>
            </a:r>
            <a:r>
              <a:rPr dirty="0" sz="2800" spc="-20">
                <a:latin typeface="Century Gothic"/>
                <a:cs typeface="Century Gothic"/>
              </a:rPr>
              <a:t>bank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726560"/>
            <a:ext cx="575246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What’s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new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about</a:t>
            </a:r>
            <a:r>
              <a:rPr dirty="0" sz="2800" spc="-10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Central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Bank </a:t>
            </a:r>
            <a:r>
              <a:rPr dirty="0" sz="2800" spc="-20">
                <a:latin typeface="Century Gothic"/>
                <a:cs typeface="Century Gothic"/>
              </a:rPr>
              <a:t>	</a:t>
            </a:r>
            <a:r>
              <a:rPr dirty="0" sz="2800">
                <a:latin typeface="Century Gothic"/>
                <a:cs typeface="Century Gothic"/>
              </a:rPr>
              <a:t>Digital</a:t>
            </a:r>
            <a:r>
              <a:rPr dirty="0" sz="2800" spc="-12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Currency</a:t>
            </a:r>
            <a:r>
              <a:rPr dirty="0" sz="2800" spc="-10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(CBDC)?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7894" y="5316982"/>
            <a:ext cx="4032250" cy="973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0">
                <a:latin typeface="Calibri Light"/>
                <a:cs typeface="Calibri Light"/>
              </a:rPr>
              <a:t>References:</a:t>
            </a:r>
            <a:endParaRPr sz="14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spcBef>
                <a:spcPts val="25"/>
              </a:spcBef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u="sng" sz="1200" spc="-1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2"/>
              </a:rPr>
              <a:t>https://consensys.net/solutions/payments-and-money/cbdc/</a:t>
            </a:r>
            <a:endParaRPr sz="1200">
              <a:latin typeface="Calibri Light"/>
              <a:cs typeface="Calibri Light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u="sng" sz="1200" spc="-1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3"/>
              </a:rPr>
              <a:t>https://en.wikipedia.org/wiki/Central_bank_digital_currency</a:t>
            </a:r>
            <a:endParaRPr sz="1200">
              <a:latin typeface="Calibri Light"/>
              <a:cs typeface="Calibri Light"/>
            </a:endParaRPr>
          </a:p>
          <a:p>
            <a:pPr marL="299085" marR="46355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u="sng" sz="1200" spc="-1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4"/>
              </a:rPr>
              <a:t>https://thefintechtimes.com/how-suzhou-is-taking-steps-</a:t>
            </a:r>
            <a:r>
              <a:rPr dirty="0" u="sng" sz="1200" spc="-25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4"/>
              </a:rPr>
              <a:t>to-</a:t>
            </a:r>
            <a:r>
              <a:rPr dirty="0" u="sng" sz="1200" spc="-10" b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4"/>
              </a:rPr>
              <a:t>become-chinas-leading-blockchain-district/</a:t>
            </a:r>
            <a:endParaRPr sz="1200">
              <a:latin typeface="Calibri Light"/>
              <a:cs typeface="Calibri Light"/>
            </a:endParaRPr>
          </a:p>
        </p:txBody>
      </p:sp>
      <p:pic>
        <p:nvPicPr>
          <p:cNvPr id="6" name="object 6" descr="Image result for CBDC vs. alipay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12735" y="1855851"/>
            <a:ext cx="4357116" cy="471106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Challenges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25"/>
              <a:t>DLT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6613"/>
            <a:ext cx="9081135" cy="1901189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Competing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standards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Unclear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which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platforms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will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viable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supported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long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run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90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400" spc="-10">
                <a:latin typeface="Century Gothic"/>
                <a:cs typeface="Century Gothic"/>
              </a:rPr>
              <a:t>Regulatory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legal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uncertainty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Particularly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concern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heavily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regulated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entities,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i.e.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banks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Prospects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5"/>
              <a:t> DLT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2450"/>
            <a:ext cx="10114915" cy="345312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38760" marR="5080" indent="-226695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Proprietary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blockchain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infrastructure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improved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features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areas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 spc="-25">
                <a:latin typeface="Century Gothic"/>
                <a:cs typeface="Century Gothic"/>
              </a:rPr>
              <a:t>of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Privacy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Performance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Scalability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Governance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1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large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investment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blockchain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technology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will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produce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some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winners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seen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which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will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“killer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apps”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Bitcoin</a:t>
            </a:r>
            <a:r>
              <a:rPr dirty="0" spc="-25"/>
              <a:t> </a:t>
            </a:r>
            <a:r>
              <a:rPr dirty="0" spc="-1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23895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Oct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31,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2008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 descr="Text, letter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2153" y="1555996"/>
            <a:ext cx="6212128" cy="48487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Bitcoin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9886" y="1549807"/>
            <a:ext cx="7758430" cy="457898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25">
                <a:latin typeface="Century Gothic"/>
                <a:cs typeface="Century Gothic"/>
              </a:rPr>
              <a:t>Who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Satoshi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Nakamoto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(but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pseudonym)</a:t>
            </a: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Century Gothic"/>
                <a:cs typeface="Century Gothic"/>
              </a:rPr>
              <a:t>What: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735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No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official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definition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but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commonly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known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50">
                <a:latin typeface="Century Gothic"/>
                <a:cs typeface="Century Gothic"/>
              </a:rPr>
              <a:t>a</a:t>
            </a:r>
            <a:endParaRPr sz="2400">
              <a:latin typeface="Century Gothic"/>
              <a:cs typeface="Century Gothic"/>
            </a:endParaRPr>
          </a:p>
          <a:p>
            <a:pPr marL="698500">
              <a:lnSpc>
                <a:spcPts val="2735"/>
              </a:lnSpc>
            </a:pPr>
            <a:r>
              <a:rPr dirty="0" sz="2400">
                <a:latin typeface="Century Gothic"/>
                <a:cs typeface="Century Gothic"/>
              </a:rPr>
              <a:t>decentralized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digital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currency</a:t>
            </a: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0">
                <a:latin typeface="Century Gothic"/>
                <a:cs typeface="Century Gothic"/>
              </a:rPr>
              <a:t>How?</a:t>
            </a:r>
            <a:endParaRPr sz="28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ct val="901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data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structure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form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chain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blocks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enables</a:t>
            </a:r>
            <a:r>
              <a:rPr dirty="0" sz="2400" spc="-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direct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payment</a:t>
            </a:r>
            <a:r>
              <a:rPr dirty="0" sz="2400" spc="-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transfer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between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peer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users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without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intermediaries.</a:t>
            </a: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Bitcoin</a:t>
            </a:r>
            <a:r>
              <a:rPr dirty="0" sz="2800" spc="-12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blockchain</a:t>
            </a:r>
            <a:r>
              <a:rPr dirty="0" sz="2800" spc="-114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demo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Clr>
                <a:srgbClr val="000000"/>
              </a:buClr>
              <a:buFont typeface="Arial"/>
              <a:buChar char="•"/>
              <a:tabLst>
                <a:tab pos="697230" algn="l"/>
              </a:tabLst>
            </a:pPr>
            <a:r>
              <a:rPr dirty="0" u="sng" sz="2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2"/>
              </a:rPr>
              <a:t>https://andersbrownworth.com/blockchain/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Bitcoin</a:t>
            </a:r>
            <a:r>
              <a:rPr dirty="0" spc="-30"/>
              <a:t> </a:t>
            </a:r>
            <a:r>
              <a:rPr dirty="0"/>
              <a:t>VS </a:t>
            </a:r>
            <a:r>
              <a:rPr dirty="0" spc="-10"/>
              <a:t>Blockchain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7126" y="1836166"/>
            <a:ext cx="7714615" cy="416369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15875" indent="-227329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Bitcoin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is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not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built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on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protocols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that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(mostly) </a:t>
            </a:r>
            <a:r>
              <a:rPr dirty="0" sz="2800" spc="-10">
                <a:latin typeface="Century Gothic"/>
                <a:cs typeface="Century Gothic"/>
              </a:rPr>
              <a:t>	</a:t>
            </a:r>
            <a:r>
              <a:rPr dirty="0" sz="2800">
                <a:latin typeface="Century Gothic"/>
                <a:cs typeface="Century Gothic"/>
              </a:rPr>
              <a:t>allow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it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anything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more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than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 spc="-50">
                <a:latin typeface="Century Gothic"/>
                <a:cs typeface="Century Gothic"/>
              </a:rPr>
              <a:t>a </a:t>
            </a:r>
            <a:r>
              <a:rPr dirty="0" sz="2800" spc="-50">
                <a:latin typeface="Century Gothic"/>
                <a:cs typeface="Century Gothic"/>
              </a:rPr>
              <a:t>	</a:t>
            </a:r>
            <a:r>
              <a:rPr dirty="0" sz="2800" spc="-10">
                <a:latin typeface="Century Gothic"/>
                <a:cs typeface="Century Gothic"/>
              </a:rPr>
              <a:t>cryptocurrency.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029" marR="5080" indent="-227329">
              <a:lnSpc>
                <a:spcPct val="9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Projects</a:t>
            </a:r>
            <a:r>
              <a:rPr dirty="0" sz="2800" spc="-10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like</a:t>
            </a:r>
            <a:r>
              <a:rPr dirty="0" sz="2800" spc="-100">
                <a:latin typeface="Century Gothic"/>
                <a:cs typeface="Century Gothic"/>
              </a:rPr>
              <a:t> </a:t>
            </a:r>
            <a:r>
              <a:rPr dirty="0" u="sng" sz="2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2"/>
              </a:rPr>
              <a:t>Ethereum</a:t>
            </a:r>
            <a:r>
              <a:rPr dirty="0" u="none" sz="2800" spc="-75">
                <a:solidFill>
                  <a:srgbClr val="0462C1"/>
                </a:solidFill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and</a:t>
            </a:r>
            <a:r>
              <a:rPr dirty="0" u="none" sz="2800" spc="-95">
                <a:latin typeface="Century Gothic"/>
                <a:cs typeface="Century Gothic"/>
              </a:rPr>
              <a:t> </a:t>
            </a:r>
            <a:r>
              <a:rPr dirty="0" u="sng" sz="2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3"/>
              </a:rPr>
              <a:t>Hyperledger</a:t>
            </a:r>
            <a:r>
              <a:rPr dirty="0" u="sng" sz="2800" spc="-8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</a:rPr>
              <a:t> </a:t>
            </a:r>
            <a:r>
              <a:rPr dirty="0" u="none" sz="2800" spc="-25">
                <a:latin typeface="Century Gothic"/>
                <a:cs typeface="Century Gothic"/>
              </a:rPr>
              <a:t>are </a:t>
            </a:r>
            <a:r>
              <a:rPr dirty="0" u="none" sz="2800" spc="-25">
                <a:latin typeface="Century Gothic"/>
                <a:cs typeface="Century Gothic"/>
              </a:rPr>
              <a:t>	</a:t>
            </a:r>
            <a:r>
              <a:rPr dirty="0" u="none" sz="2800">
                <a:latin typeface="Century Gothic"/>
                <a:cs typeface="Century Gothic"/>
              </a:rPr>
              <a:t>working</a:t>
            </a:r>
            <a:r>
              <a:rPr dirty="0" u="none" sz="2800" spc="-6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to</a:t>
            </a:r>
            <a:r>
              <a:rPr dirty="0" u="none" sz="2800" spc="-60">
                <a:latin typeface="Century Gothic"/>
                <a:cs typeface="Century Gothic"/>
              </a:rPr>
              <a:t> </a:t>
            </a:r>
            <a:r>
              <a:rPr dirty="0" u="none" sz="2800" spc="-10">
                <a:latin typeface="Century Gothic"/>
                <a:cs typeface="Century Gothic"/>
              </a:rPr>
              <a:t>collaboratively</a:t>
            </a:r>
            <a:r>
              <a:rPr dirty="0" u="none" sz="2800" spc="-6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build</a:t>
            </a:r>
            <a:r>
              <a:rPr dirty="0" u="none" sz="2800" spc="-65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an</a:t>
            </a:r>
            <a:r>
              <a:rPr dirty="0" u="none" sz="2800" spc="-45">
                <a:latin typeface="Century Gothic"/>
                <a:cs typeface="Century Gothic"/>
              </a:rPr>
              <a:t> </a:t>
            </a:r>
            <a:r>
              <a:rPr dirty="0" u="none" sz="2800" spc="-10">
                <a:latin typeface="Century Gothic"/>
                <a:cs typeface="Century Gothic"/>
              </a:rPr>
              <a:t>open-</a:t>
            </a:r>
            <a:r>
              <a:rPr dirty="0" u="none" sz="2800" spc="-10">
                <a:latin typeface="Century Gothic"/>
                <a:cs typeface="Century Gothic"/>
              </a:rPr>
              <a:t>	</a:t>
            </a:r>
            <a:r>
              <a:rPr dirty="0" u="none" sz="2800">
                <a:latin typeface="Century Gothic"/>
                <a:cs typeface="Century Gothic"/>
              </a:rPr>
              <a:t>source,</a:t>
            </a:r>
            <a:r>
              <a:rPr dirty="0" u="none" sz="2800" spc="-80">
                <a:latin typeface="Century Gothic"/>
                <a:cs typeface="Century Gothic"/>
              </a:rPr>
              <a:t> </a:t>
            </a:r>
            <a:r>
              <a:rPr dirty="0" u="none" sz="2800" spc="-25">
                <a:latin typeface="Century Gothic"/>
                <a:cs typeface="Century Gothic"/>
              </a:rPr>
              <a:t>cross-</a:t>
            </a:r>
            <a:r>
              <a:rPr dirty="0" u="none" sz="2800">
                <a:latin typeface="Century Gothic"/>
                <a:cs typeface="Century Gothic"/>
              </a:rPr>
              <a:t>industry</a:t>
            </a:r>
            <a:r>
              <a:rPr dirty="0" u="none" sz="2800" spc="-7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blockchain</a:t>
            </a:r>
            <a:r>
              <a:rPr dirty="0" u="none" sz="2800" spc="-75">
                <a:latin typeface="Century Gothic"/>
                <a:cs typeface="Century Gothic"/>
              </a:rPr>
              <a:t> </a:t>
            </a:r>
            <a:r>
              <a:rPr dirty="0" u="none" sz="2800" spc="-10">
                <a:latin typeface="Century Gothic"/>
                <a:cs typeface="Century Gothic"/>
              </a:rPr>
              <a:t>platform </a:t>
            </a:r>
            <a:r>
              <a:rPr dirty="0" u="none" sz="2800" spc="-10">
                <a:latin typeface="Century Gothic"/>
                <a:cs typeface="Century Gothic"/>
              </a:rPr>
              <a:t>	</a:t>
            </a:r>
            <a:r>
              <a:rPr dirty="0" u="none" sz="2800">
                <a:latin typeface="Century Gothic"/>
                <a:cs typeface="Century Gothic"/>
              </a:rPr>
              <a:t>for</a:t>
            </a:r>
            <a:r>
              <a:rPr dirty="0" u="none" sz="2800" spc="-8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use</a:t>
            </a:r>
            <a:r>
              <a:rPr dirty="0" u="none" sz="2800" spc="-7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beyond</a:t>
            </a:r>
            <a:r>
              <a:rPr dirty="0" u="none" sz="2800" spc="-50">
                <a:latin typeface="Century Gothic"/>
                <a:cs typeface="Century Gothic"/>
              </a:rPr>
              <a:t> </a:t>
            </a:r>
            <a:r>
              <a:rPr dirty="0" u="none" sz="2800" spc="-10">
                <a:latin typeface="Century Gothic"/>
                <a:cs typeface="Century Gothic"/>
              </a:rPr>
              <a:t>cryptocurrency,</a:t>
            </a:r>
            <a:r>
              <a:rPr dirty="0" u="none" sz="2800" spc="-65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where</a:t>
            </a:r>
            <a:r>
              <a:rPr dirty="0" u="none" sz="2800" spc="-60">
                <a:latin typeface="Century Gothic"/>
                <a:cs typeface="Century Gothic"/>
              </a:rPr>
              <a:t> </a:t>
            </a:r>
            <a:r>
              <a:rPr dirty="0" u="none" sz="2800" spc="-25">
                <a:latin typeface="Century Gothic"/>
                <a:cs typeface="Century Gothic"/>
              </a:rPr>
              <a:t>you </a:t>
            </a:r>
            <a:r>
              <a:rPr dirty="0" u="none" sz="2800" spc="-25">
                <a:latin typeface="Century Gothic"/>
                <a:cs typeface="Century Gothic"/>
              </a:rPr>
              <a:t>	</a:t>
            </a:r>
            <a:r>
              <a:rPr dirty="0" u="none" sz="2800">
                <a:latin typeface="Century Gothic"/>
                <a:cs typeface="Century Gothic"/>
              </a:rPr>
              <a:t>can</a:t>
            </a:r>
            <a:r>
              <a:rPr dirty="0" u="none" sz="2800" spc="-55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program</a:t>
            </a:r>
            <a:r>
              <a:rPr dirty="0" u="none" sz="2800" spc="-6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on</a:t>
            </a:r>
            <a:r>
              <a:rPr dirty="0" u="none" sz="2800" spc="-7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top</a:t>
            </a:r>
            <a:r>
              <a:rPr dirty="0" u="none" sz="2800" spc="-65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of</a:t>
            </a:r>
            <a:r>
              <a:rPr dirty="0" u="none" sz="2800" spc="-65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blockchain</a:t>
            </a:r>
            <a:r>
              <a:rPr dirty="0" u="none" sz="2800" spc="-7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to</a:t>
            </a:r>
            <a:r>
              <a:rPr dirty="0" u="none" sz="2800" spc="-55">
                <a:latin typeface="Century Gothic"/>
                <a:cs typeface="Century Gothic"/>
              </a:rPr>
              <a:t> </a:t>
            </a:r>
            <a:r>
              <a:rPr dirty="0" u="none" sz="2800" spc="-10">
                <a:latin typeface="Century Gothic"/>
                <a:cs typeface="Century Gothic"/>
              </a:rPr>
              <a:t>build </a:t>
            </a:r>
            <a:r>
              <a:rPr dirty="0" u="none" sz="2800" spc="-10">
                <a:latin typeface="Century Gothic"/>
                <a:cs typeface="Century Gothic"/>
              </a:rPr>
              <a:t>	</a:t>
            </a:r>
            <a:r>
              <a:rPr dirty="0" u="none" sz="2800">
                <a:latin typeface="Century Gothic"/>
                <a:cs typeface="Century Gothic"/>
              </a:rPr>
              <a:t>businesses</a:t>
            </a:r>
            <a:r>
              <a:rPr dirty="0" u="none" sz="2800" spc="-75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and</a:t>
            </a:r>
            <a:r>
              <a:rPr dirty="0" u="none" sz="2800" spc="-110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create</a:t>
            </a:r>
            <a:r>
              <a:rPr dirty="0" u="none" sz="2800" spc="-85">
                <a:latin typeface="Century Gothic"/>
                <a:cs typeface="Century Gothic"/>
              </a:rPr>
              <a:t> </a:t>
            </a:r>
            <a:r>
              <a:rPr dirty="0" u="none" sz="2800">
                <a:latin typeface="Century Gothic"/>
                <a:cs typeface="Century Gothic"/>
              </a:rPr>
              <a:t>smart</a:t>
            </a:r>
            <a:r>
              <a:rPr dirty="0" u="none" sz="2800" spc="-110">
                <a:latin typeface="Century Gothic"/>
                <a:cs typeface="Century Gothic"/>
              </a:rPr>
              <a:t> </a:t>
            </a:r>
            <a:r>
              <a:rPr dirty="0" u="none" sz="2800" spc="-10">
                <a:latin typeface="Century Gothic"/>
                <a:cs typeface="Century Gothic"/>
              </a:rPr>
              <a:t>contracts.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09bfd38dd3964de70621116d041ec0b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445" y="821436"/>
            <a:ext cx="10430254" cy="51663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75838" y="6016428"/>
            <a:ext cx="5228590" cy="3060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3"/>
              </a:rPr>
              <a:t>https://sg.finance.yahoo.com/quote/BTC-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3"/>
              </a:rPr>
              <a:t>USD/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44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e6f7ca24e92ebd7d00cf17c086644f5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795" y="664463"/>
            <a:ext cx="10447004" cy="53233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75838" y="6016428"/>
            <a:ext cx="5228590" cy="3060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3"/>
              </a:rPr>
              <a:t>https://sg.finance.yahoo.com/quote/BTC-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3"/>
              </a:rPr>
              <a:t>USD/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44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inance Suspends Trading LUNA, Price Zero, Down 100%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3951" y="307847"/>
            <a:ext cx="6864096" cy="62423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9766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About</a:t>
            </a:r>
            <a:r>
              <a:rPr dirty="0" sz="3600" spc="-30"/>
              <a:t> </a:t>
            </a:r>
            <a:r>
              <a:rPr dirty="0" sz="3600"/>
              <a:t>cryptocurrency</a:t>
            </a:r>
            <a:r>
              <a:rPr dirty="0" sz="3600" spc="-35"/>
              <a:t> </a:t>
            </a:r>
            <a:r>
              <a:rPr dirty="0" sz="3600"/>
              <a:t>(not</a:t>
            </a:r>
            <a:r>
              <a:rPr dirty="0" sz="3600" spc="-5"/>
              <a:t> </a:t>
            </a:r>
            <a:r>
              <a:rPr dirty="0" sz="3600"/>
              <a:t>necessarily</a:t>
            </a:r>
            <a:r>
              <a:rPr dirty="0" sz="3600" spc="-15"/>
              <a:t> </a:t>
            </a:r>
            <a:r>
              <a:rPr dirty="0" sz="3600" spc="-20"/>
              <a:t>DLT)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94605" y="1691132"/>
            <a:ext cx="3333750" cy="116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entury Gothic"/>
                <a:cs typeface="Century Gothic"/>
              </a:rPr>
              <a:t>“Stay</a:t>
            </a:r>
            <a:r>
              <a:rPr dirty="0" sz="2700" spc="-65">
                <a:latin typeface="Century Gothic"/>
                <a:cs typeface="Century Gothic"/>
              </a:rPr>
              <a:t> </a:t>
            </a:r>
            <a:r>
              <a:rPr dirty="0" sz="2700">
                <a:latin typeface="Century Gothic"/>
                <a:cs typeface="Century Gothic"/>
              </a:rPr>
              <a:t>away</a:t>
            </a:r>
            <a:r>
              <a:rPr dirty="0" sz="2700" spc="-60">
                <a:latin typeface="Century Gothic"/>
                <a:cs typeface="Century Gothic"/>
              </a:rPr>
              <a:t> </a:t>
            </a:r>
            <a:r>
              <a:rPr dirty="0" sz="2700">
                <a:latin typeface="Century Gothic"/>
                <a:cs typeface="Century Gothic"/>
              </a:rPr>
              <a:t>from</a:t>
            </a:r>
            <a:r>
              <a:rPr dirty="0" sz="2700" spc="-65">
                <a:latin typeface="Century Gothic"/>
                <a:cs typeface="Century Gothic"/>
              </a:rPr>
              <a:t> </a:t>
            </a:r>
            <a:r>
              <a:rPr dirty="0" sz="2700" spc="-20">
                <a:latin typeface="Century Gothic"/>
                <a:cs typeface="Century Gothic"/>
              </a:rPr>
              <a:t>it!”</a:t>
            </a:r>
            <a:endParaRPr sz="2700">
              <a:latin typeface="Century Gothic"/>
              <a:cs typeface="Century Gothic"/>
            </a:endParaRPr>
          </a:p>
          <a:p>
            <a:pPr marL="121285">
              <a:lnSpc>
                <a:spcPct val="100000"/>
              </a:lnSpc>
              <a:spcBef>
                <a:spcPts val="2820"/>
              </a:spcBef>
            </a:pPr>
            <a:r>
              <a:rPr dirty="0" sz="2400">
                <a:latin typeface="Segoe UI"/>
                <a:cs typeface="Segoe UI"/>
              </a:rPr>
              <a:t>Bitcoin</a:t>
            </a:r>
            <a:r>
              <a:rPr dirty="0" sz="2400" spc="-15">
                <a:latin typeface="Segoe UI"/>
                <a:cs typeface="Segoe UI"/>
              </a:rPr>
              <a:t> </a:t>
            </a:r>
            <a:r>
              <a:rPr dirty="0" sz="2400">
                <a:latin typeface="Segoe UI"/>
                <a:cs typeface="Segoe UI"/>
              </a:rPr>
              <a:t>is</a:t>
            </a:r>
            <a:r>
              <a:rPr dirty="0" sz="2400" spc="-55">
                <a:latin typeface="Segoe UI"/>
                <a:cs typeface="Segoe UI"/>
              </a:rPr>
              <a:t> </a:t>
            </a:r>
            <a:r>
              <a:rPr dirty="0" sz="2400">
                <a:latin typeface="Segoe UI"/>
                <a:cs typeface="Segoe UI"/>
              </a:rPr>
              <a:t>a</a:t>
            </a:r>
            <a:r>
              <a:rPr dirty="0" sz="2400" spc="-35">
                <a:latin typeface="Segoe UI"/>
                <a:cs typeface="Segoe UI"/>
              </a:rPr>
              <a:t> </a:t>
            </a:r>
            <a:r>
              <a:rPr dirty="0" sz="2400" spc="-10">
                <a:latin typeface="Segoe UI"/>
                <a:cs typeface="Segoe UI"/>
              </a:rPr>
              <a:t>‘mirage’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7805" y="4172153"/>
            <a:ext cx="4422140" cy="2035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“It is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bubble,</a:t>
            </a:r>
            <a:r>
              <a:rPr dirty="0" sz="2400" spc="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there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no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ts val="2740"/>
              </a:lnSpc>
            </a:pPr>
            <a:r>
              <a:rPr dirty="0" sz="2400">
                <a:latin typeface="Century Gothic"/>
                <a:cs typeface="Century Gothic"/>
              </a:rPr>
              <a:t>question</a:t>
            </a:r>
            <a:r>
              <a:rPr dirty="0" sz="2400" spc="-114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about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it.”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latin typeface="Century Gothic"/>
                <a:cs typeface="Century Gothic"/>
              </a:rPr>
              <a:t>“The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central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problem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Bitcoin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…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doesn’t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really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solve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any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latin typeface="Century Gothic"/>
                <a:cs typeface="Century Gothic"/>
              </a:rPr>
              <a:t>sensible</a:t>
            </a:r>
            <a:r>
              <a:rPr dirty="0" sz="2000" spc="-9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economic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problem.”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7355" y="1342644"/>
            <a:ext cx="2197100" cy="2439670"/>
            <a:chOff x="2467355" y="1342644"/>
            <a:chExt cx="2197100" cy="24396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7355" y="1342644"/>
              <a:ext cx="2196846" cy="21739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6681" y="3468877"/>
              <a:ext cx="1579880" cy="31318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4079" y="3768600"/>
            <a:ext cx="2739464" cy="18926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3594" y="5720308"/>
            <a:ext cx="2705227" cy="5596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9766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About</a:t>
            </a:r>
            <a:r>
              <a:rPr dirty="0" sz="3600" spc="-30"/>
              <a:t> </a:t>
            </a:r>
            <a:r>
              <a:rPr dirty="0" sz="3600"/>
              <a:t>cryptocurrency</a:t>
            </a:r>
            <a:r>
              <a:rPr dirty="0" sz="3600" spc="-35"/>
              <a:t> </a:t>
            </a:r>
            <a:r>
              <a:rPr dirty="0" sz="3600"/>
              <a:t>(not</a:t>
            </a:r>
            <a:r>
              <a:rPr dirty="0" sz="3600" spc="-5"/>
              <a:t> </a:t>
            </a:r>
            <a:r>
              <a:rPr dirty="0" sz="3600"/>
              <a:t>necessarily</a:t>
            </a:r>
            <a:r>
              <a:rPr dirty="0" sz="3600" spc="-15"/>
              <a:t> </a:t>
            </a:r>
            <a:r>
              <a:rPr dirty="0" sz="3600" spc="-20"/>
              <a:t>DLT)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614422" y="4637658"/>
            <a:ext cx="51231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“The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ability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create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something </a:t>
            </a:r>
            <a:r>
              <a:rPr dirty="0" sz="2400">
                <a:latin typeface="Century Gothic"/>
                <a:cs typeface="Century Gothic"/>
              </a:rPr>
              <a:t>which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not duplicable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25">
                <a:latin typeface="Century Gothic"/>
                <a:cs typeface="Century Gothic"/>
              </a:rPr>
              <a:t> the </a:t>
            </a:r>
            <a:r>
              <a:rPr dirty="0" sz="2400">
                <a:latin typeface="Century Gothic"/>
                <a:cs typeface="Century Gothic"/>
              </a:rPr>
              <a:t>digital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world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enormous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value.”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8163" y="1807540"/>
            <a:ext cx="5057140" cy="1759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625"/>
              </a:lnSpc>
              <a:spcBef>
                <a:spcPts val="105"/>
              </a:spcBef>
            </a:pPr>
            <a:r>
              <a:rPr dirty="0" sz="2300">
                <a:latin typeface="Century Gothic"/>
                <a:cs typeface="Century Gothic"/>
              </a:rPr>
              <a:t>“Bitcoin</a:t>
            </a:r>
            <a:r>
              <a:rPr dirty="0" sz="2300" spc="-5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is</a:t>
            </a:r>
            <a:r>
              <a:rPr dirty="0" sz="2300" spc="-3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exciting</a:t>
            </a:r>
            <a:r>
              <a:rPr dirty="0" sz="2300" spc="-3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because</a:t>
            </a:r>
            <a:r>
              <a:rPr dirty="0" sz="2300" spc="-2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it</a:t>
            </a:r>
            <a:r>
              <a:rPr dirty="0" sz="2300" spc="-20">
                <a:latin typeface="Century Gothic"/>
                <a:cs typeface="Century Gothic"/>
              </a:rPr>
              <a:t> </a:t>
            </a:r>
            <a:r>
              <a:rPr dirty="0" sz="2300" spc="-10">
                <a:latin typeface="Century Gothic"/>
                <a:cs typeface="Century Gothic"/>
              </a:rPr>
              <a:t>shows</a:t>
            </a:r>
            <a:endParaRPr sz="2300">
              <a:latin typeface="Century Gothic"/>
              <a:cs typeface="Century Gothic"/>
            </a:endParaRPr>
          </a:p>
          <a:p>
            <a:pPr marL="12700">
              <a:lnSpc>
                <a:spcPts val="2625"/>
              </a:lnSpc>
            </a:pPr>
            <a:r>
              <a:rPr dirty="0" sz="2300">
                <a:latin typeface="Century Gothic"/>
                <a:cs typeface="Century Gothic"/>
              </a:rPr>
              <a:t>how</a:t>
            </a:r>
            <a:r>
              <a:rPr dirty="0" sz="2300" spc="-3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cheap</a:t>
            </a:r>
            <a:r>
              <a:rPr dirty="0" sz="2300" spc="-5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it</a:t>
            </a:r>
            <a:r>
              <a:rPr dirty="0" sz="2300" spc="-10">
                <a:latin typeface="Century Gothic"/>
                <a:cs typeface="Century Gothic"/>
              </a:rPr>
              <a:t> </a:t>
            </a:r>
            <a:r>
              <a:rPr dirty="0" sz="2300">
                <a:latin typeface="Century Gothic"/>
                <a:cs typeface="Century Gothic"/>
              </a:rPr>
              <a:t>can</a:t>
            </a:r>
            <a:r>
              <a:rPr dirty="0" sz="2300" spc="-15">
                <a:latin typeface="Century Gothic"/>
                <a:cs typeface="Century Gothic"/>
              </a:rPr>
              <a:t> </a:t>
            </a:r>
            <a:r>
              <a:rPr dirty="0" sz="2300" spc="-20">
                <a:latin typeface="Century Gothic"/>
                <a:cs typeface="Century Gothic"/>
              </a:rPr>
              <a:t>be.”</a:t>
            </a:r>
            <a:endParaRPr sz="2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300">
              <a:latin typeface="Century Gothic"/>
              <a:cs typeface="Century Gothic"/>
            </a:endParaRPr>
          </a:p>
          <a:p>
            <a:pPr marL="12700" marR="1280160" indent="69850">
              <a:lnSpc>
                <a:spcPct val="100000"/>
              </a:lnSpc>
            </a:pPr>
            <a:r>
              <a:rPr dirty="0" sz="2000">
                <a:latin typeface="Segoe UI"/>
                <a:cs typeface="Segoe UI"/>
              </a:rPr>
              <a:t>It</a:t>
            </a:r>
            <a:r>
              <a:rPr dirty="0" sz="2000" spc="-25">
                <a:latin typeface="Segoe UI"/>
                <a:cs typeface="Segoe UI"/>
              </a:rPr>
              <a:t> </a:t>
            </a:r>
            <a:r>
              <a:rPr dirty="0" sz="2000">
                <a:latin typeface="Segoe UI"/>
                <a:cs typeface="Segoe UI"/>
              </a:rPr>
              <a:t>was</a:t>
            </a:r>
            <a:r>
              <a:rPr dirty="0" sz="2000" spc="-30">
                <a:latin typeface="Segoe UI"/>
                <a:cs typeface="Segoe UI"/>
              </a:rPr>
              <a:t> </a:t>
            </a:r>
            <a:r>
              <a:rPr dirty="0" sz="2000">
                <a:latin typeface="Segoe UI"/>
                <a:cs typeface="Segoe UI"/>
              </a:rPr>
              <a:t>a</a:t>
            </a:r>
            <a:r>
              <a:rPr dirty="0" sz="2000" spc="-30">
                <a:latin typeface="Segoe UI"/>
                <a:cs typeface="Segoe UI"/>
              </a:rPr>
              <a:t> </a:t>
            </a:r>
            <a:r>
              <a:rPr dirty="0" sz="2000">
                <a:latin typeface="Segoe UI"/>
                <a:cs typeface="Segoe UI"/>
              </a:rPr>
              <a:t>key</a:t>
            </a:r>
            <a:r>
              <a:rPr dirty="0" sz="2000" spc="-40">
                <a:latin typeface="Segoe UI"/>
                <a:cs typeface="Segoe UI"/>
              </a:rPr>
              <a:t> </a:t>
            </a:r>
            <a:r>
              <a:rPr dirty="0" sz="2000">
                <a:latin typeface="Segoe UI"/>
                <a:cs typeface="Segoe UI"/>
              </a:rPr>
              <a:t>technology</a:t>
            </a:r>
            <a:r>
              <a:rPr dirty="0" sz="2000" spc="-30">
                <a:latin typeface="Segoe UI"/>
                <a:cs typeface="Segoe UI"/>
              </a:rPr>
              <a:t> </a:t>
            </a:r>
            <a:r>
              <a:rPr dirty="0" sz="2000">
                <a:latin typeface="Segoe UI"/>
                <a:cs typeface="Segoe UI"/>
              </a:rPr>
              <a:t>that</a:t>
            </a:r>
            <a:r>
              <a:rPr dirty="0" sz="2000" spc="-55">
                <a:latin typeface="Segoe UI"/>
                <a:cs typeface="Segoe UI"/>
              </a:rPr>
              <a:t> </a:t>
            </a:r>
            <a:r>
              <a:rPr dirty="0" sz="2000" spc="-20">
                <a:latin typeface="Segoe UI"/>
                <a:cs typeface="Segoe UI"/>
              </a:rPr>
              <a:t>held </a:t>
            </a:r>
            <a:r>
              <a:rPr dirty="0" sz="2000">
                <a:latin typeface="Segoe UI"/>
                <a:cs typeface="Segoe UI"/>
              </a:rPr>
              <a:t>revolutionary</a:t>
            </a:r>
            <a:r>
              <a:rPr dirty="0" sz="2000" spc="-85">
                <a:latin typeface="Segoe UI"/>
                <a:cs typeface="Segoe UI"/>
              </a:rPr>
              <a:t> </a:t>
            </a:r>
            <a:r>
              <a:rPr dirty="0" sz="2000" spc="-10">
                <a:latin typeface="Segoe UI"/>
                <a:cs typeface="Segoe UI"/>
              </a:rPr>
              <a:t>potential.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36992" y="3945635"/>
            <a:ext cx="2865755" cy="2310765"/>
            <a:chOff x="7936992" y="3945635"/>
            <a:chExt cx="2865755" cy="23107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5036" y="5804949"/>
              <a:ext cx="2767564" cy="4512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6992" y="3945635"/>
              <a:ext cx="2596133" cy="204597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9439" y="3929253"/>
            <a:ext cx="972565" cy="23431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3760" y="1580092"/>
            <a:ext cx="1974485" cy="22294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37538" y="2502230"/>
            <a:ext cx="8820150" cy="130111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019810" marR="5080" indent="-1007744">
              <a:lnSpc>
                <a:spcPts val="4750"/>
              </a:lnSpc>
              <a:spcBef>
                <a:spcPts val="705"/>
              </a:spcBef>
            </a:pPr>
            <a:r>
              <a:rPr dirty="0"/>
              <a:t>Case</a:t>
            </a:r>
            <a:r>
              <a:rPr dirty="0" spc="-25"/>
              <a:t> </a:t>
            </a:r>
            <a:r>
              <a:rPr dirty="0"/>
              <a:t>7.</a:t>
            </a:r>
            <a:r>
              <a:rPr dirty="0" spc="-20"/>
              <a:t> </a:t>
            </a:r>
            <a:r>
              <a:rPr dirty="0"/>
              <a:t>Deutsche Bank:</a:t>
            </a:r>
            <a:r>
              <a:rPr dirty="0" spc="-40"/>
              <a:t> </a:t>
            </a:r>
            <a:r>
              <a:rPr dirty="0" spc="-10"/>
              <a:t>Pursuing </a:t>
            </a:r>
            <a:r>
              <a:rPr dirty="0"/>
              <a:t>Blockchain</a:t>
            </a:r>
            <a:r>
              <a:rPr dirty="0" spc="-35"/>
              <a:t> </a:t>
            </a:r>
            <a:r>
              <a:rPr dirty="0" spc="-10"/>
              <a:t>Opportunities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/>
              <a:t>Learning</a:t>
            </a:r>
            <a:r>
              <a:rPr dirty="0" spc="-15"/>
              <a:t> </a:t>
            </a:r>
            <a:r>
              <a:rPr dirty="0" spc="-1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4538"/>
            <a:ext cx="97199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Describe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discuss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blockchain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DLT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importance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exploring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its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1977898"/>
            <a:ext cx="26949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entury Gothic"/>
                <a:cs typeface="Century Gothic"/>
              </a:rPr>
              <a:t>application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potential.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659507"/>
            <a:ext cx="96704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Reflect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impact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blockchain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technology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business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models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are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844" y="2872867"/>
            <a:ext cx="54819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entury Gothic"/>
                <a:cs typeface="Century Gothic"/>
              </a:rPr>
              <a:t>based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trust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information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asymmetries.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552571"/>
            <a:ext cx="91776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Elaborate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importance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discovery,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incubation,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acceleration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844" y="3765626"/>
            <a:ext cx="89484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entury Gothic"/>
                <a:cs typeface="Century Gothic"/>
              </a:rPr>
              <a:t>mechanisms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incumbent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organizations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help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them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sense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of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844" y="3979545"/>
            <a:ext cx="51714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disruptive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innovations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such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blockchain.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4660772"/>
            <a:ext cx="93173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Characterize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role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executive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leaders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designing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implementing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844" y="4874133"/>
            <a:ext cx="8624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blockchain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initiatives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large,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established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organizations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industries.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5555691"/>
            <a:ext cx="100615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Recognize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importance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strategic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cooperation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identify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associated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844" y="5769051"/>
            <a:ext cx="27959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entury Gothic"/>
                <a:cs typeface="Century Gothic"/>
              </a:rPr>
              <a:t>risks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opportunities.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5398" y="23177"/>
            <a:ext cx="9297035" cy="953135"/>
          </a:xfrm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 sz="3200"/>
              <a:t>Q: Where</a:t>
            </a:r>
            <a:r>
              <a:rPr dirty="0" sz="3200" spc="-20"/>
              <a:t> </a:t>
            </a:r>
            <a:r>
              <a:rPr dirty="0" sz="3200"/>
              <a:t>did</a:t>
            </a:r>
            <a:r>
              <a:rPr dirty="0" sz="3200" spc="-5"/>
              <a:t> </a:t>
            </a:r>
            <a:r>
              <a:rPr dirty="0" sz="3200"/>
              <a:t>Deutsche</a:t>
            </a:r>
            <a:r>
              <a:rPr dirty="0" sz="3200" spc="-30"/>
              <a:t> </a:t>
            </a:r>
            <a:r>
              <a:rPr dirty="0" sz="3200"/>
              <a:t>Bank apply</a:t>
            </a:r>
            <a:r>
              <a:rPr dirty="0" sz="3200" spc="10"/>
              <a:t> </a:t>
            </a:r>
            <a:r>
              <a:rPr dirty="0" sz="3200" spc="-10"/>
              <a:t>blockchain technology?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6719" y="1087729"/>
            <a:ext cx="11733530" cy="505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670" indent="2101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Securities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Settlement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ClearingPurpose: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was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tested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way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efficiently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track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securities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like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bonds,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equities,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loans.Objective: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time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cost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settlement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clearing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processes,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traditionally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involved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multiple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intermediaries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Experiment: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team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created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Proof-of-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Concept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(PoC)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issuing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simulated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bond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through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blockchain.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involved: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Testing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transfer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asset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(corporate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bond)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blockchain.Using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automate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lifecycle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events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ownership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changes,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coupon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payments,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maturity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triggers.Outcome:</a:t>
            </a:r>
            <a:r>
              <a:rPr dirty="0" sz="15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experiment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demonstrated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technical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feasibility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using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securities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settlement.</a:t>
            </a:r>
            <a:endParaRPr sz="1500">
              <a:latin typeface="Arial"/>
              <a:cs typeface="Arial"/>
            </a:endParaRPr>
          </a:p>
          <a:p>
            <a:pPr marL="12700" marR="5080" indent="210185">
              <a:lnSpc>
                <a:spcPct val="100000"/>
              </a:lnSpc>
              <a:buAutoNum type="arabicPeriod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ContractsPurpose: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85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explore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blockchain-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enabled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automating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reliance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on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intermediaries.</a:t>
            </a:r>
            <a:endParaRPr sz="1500">
              <a:latin typeface="Arial"/>
              <a:cs typeface="Arial"/>
            </a:endParaRPr>
          </a:p>
          <a:p>
            <a:pPr marL="12700" marR="97155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Application: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were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tested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automating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execution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agreements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(e.g.,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asset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transfers).These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were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modeled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handle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lifecycle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events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corporate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bond,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payments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ownership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changes.Objective: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greater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transparency,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operational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risks,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improve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efficiency.</a:t>
            </a:r>
            <a:endParaRPr sz="1500">
              <a:latin typeface="Arial"/>
              <a:cs typeface="Arial"/>
            </a:endParaRPr>
          </a:p>
          <a:p>
            <a:pPr marL="12700" marR="297815" indent="210185">
              <a:lnSpc>
                <a:spcPct val="100000"/>
              </a:lnSpc>
              <a:buAutoNum type="arabicPeriod" startAt="3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Payments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FinancePurpose: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was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evaluated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solution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improving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cross-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border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payment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systems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processes.Objective:</a:t>
            </a:r>
            <a:r>
              <a:rPr dirty="0" sz="1500" spc="-9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inefficiencies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payment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systems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explore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payment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infrastructures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using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currencies.Focus</a:t>
            </a:r>
            <a:r>
              <a:rPr dirty="0" sz="1500" spc="-9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Areas: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Cross-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border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payments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costs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time).Trade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finance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(to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streamline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documentation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execution).</a:t>
            </a:r>
            <a:endParaRPr sz="1500">
              <a:latin typeface="Arial"/>
              <a:cs typeface="Arial"/>
            </a:endParaRPr>
          </a:p>
          <a:p>
            <a:pPr marL="12700" marR="156845" indent="210185">
              <a:lnSpc>
                <a:spcPct val="100000"/>
              </a:lnSpc>
              <a:buAutoNum type="arabicPeriod" startAt="3"/>
              <a:tabLst>
                <a:tab pos="222885" algn="l"/>
              </a:tabLst>
            </a:pP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Post-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ProcessesPurpose: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85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improve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efficiency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back-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office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infrastructure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blockchain's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Distributed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5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(DLT).Objective: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Simplify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settlement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clearing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processes.Improve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transparency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operational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risks</a:t>
            </a:r>
            <a:r>
              <a:rPr dirty="0" sz="15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 post-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 operations.</a:t>
            </a:r>
            <a:endParaRPr sz="1500">
              <a:latin typeface="Arial"/>
              <a:cs typeface="Arial"/>
            </a:endParaRPr>
          </a:p>
          <a:p>
            <a:pPr marL="12700" marR="180975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Example: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Simulated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corporate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bond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were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used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assess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automate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traditionally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handled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by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clearing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houses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exchanges.</a:t>
            </a:r>
            <a:endParaRPr sz="1500">
              <a:latin typeface="Arial"/>
              <a:cs typeface="Arial"/>
            </a:endParaRPr>
          </a:p>
          <a:p>
            <a:pPr marL="12700" marR="29845" indent="210185">
              <a:lnSpc>
                <a:spcPct val="100000"/>
              </a:lnSpc>
              <a:buAutoNum type="arabicPeriod" startAt="5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Exploration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Crypto-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Currencies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WalletsWhile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Deutsche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Bitcoin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topic,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explored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broader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context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of: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Cryptocurrencies.Digital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wallets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retail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banking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applications.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1821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Disruption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175875" cy="3649979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35433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spc="-20">
                <a:latin typeface="Century Gothic"/>
                <a:cs typeface="Century Gothic"/>
              </a:rPr>
              <a:t>Low-</a:t>
            </a:r>
            <a:r>
              <a:rPr dirty="0" sz="2800">
                <a:latin typeface="Century Gothic"/>
                <a:cs typeface="Century Gothic"/>
              </a:rPr>
              <a:t>end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disruption: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making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product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platform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more </a:t>
            </a:r>
            <a:r>
              <a:rPr dirty="0" sz="2800" spc="-20">
                <a:latin typeface="Century Gothic"/>
                <a:cs typeface="Century Gothic"/>
              </a:rPr>
              <a:t>	</a:t>
            </a:r>
            <a:r>
              <a:rPr dirty="0" sz="2800" spc="-10">
                <a:latin typeface="Century Gothic"/>
                <a:cs typeface="Century Gothic"/>
              </a:rPr>
              <a:t>affordable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029" marR="716280" indent="-227965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 spc="-20">
                <a:latin typeface="Century Gothic"/>
                <a:cs typeface="Century Gothic"/>
              </a:rPr>
              <a:t>High-</a:t>
            </a:r>
            <a:r>
              <a:rPr dirty="0" sz="2800">
                <a:latin typeface="Century Gothic"/>
                <a:cs typeface="Century Gothic"/>
              </a:rPr>
              <a:t>end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disruption: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entering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market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with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superior </a:t>
            </a:r>
            <a:r>
              <a:rPr dirty="0" sz="2800" spc="-10">
                <a:latin typeface="Century Gothic"/>
                <a:cs typeface="Century Gothic"/>
              </a:rPr>
              <a:t>	</a:t>
            </a:r>
            <a:r>
              <a:rPr dirty="0" sz="2800">
                <a:latin typeface="Century Gothic"/>
                <a:cs typeface="Century Gothic"/>
              </a:rPr>
              <a:t>product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platform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029" marR="5080" indent="-227965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 spc="-30">
                <a:latin typeface="Century Gothic"/>
                <a:cs typeface="Century Gothic"/>
              </a:rPr>
              <a:t>New-</a:t>
            </a:r>
            <a:r>
              <a:rPr dirty="0" sz="2800">
                <a:latin typeface="Century Gothic"/>
                <a:cs typeface="Century Gothic"/>
              </a:rPr>
              <a:t>market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disruption: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creating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new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category,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even </a:t>
            </a:r>
            <a:r>
              <a:rPr dirty="0" sz="2800" spc="-20">
                <a:latin typeface="Century Gothic"/>
                <a:cs typeface="Century Gothic"/>
              </a:rPr>
              <a:t>	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new</a:t>
            </a:r>
            <a:r>
              <a:rPr dirty="0" sz="2800" spc="-1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industry.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1801113"/>
            <a:ext cx="991616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What</a:t>
            </a:r>
            <a:r>
              <a:rPr dirty="0" sz="3200" spc="-5"/>
              <a:t> </a:t>
            </a:r>
            <a:r>
              <a:rPr dirty="0" sz="3200"/>
              <a:t>type</a:t>
            </a:r>
            <a:r>
              <a:rPr dirty="0" sz="3200" spc="-15"/>
              <a:t> </a:t>
            </a:r>
            <a:r>
              <a:rPr dirty="0" sz="3200"/>
              <a:t>of</a:t>
            </a:r>
            <a:r>
              <a:rPr dirty="0" sz="3200" spc="-10"/>
              <a:t> </a:t>
            </a:r>
            <a:r>
              <a:rPr dirty="0" sz="3200"/>
              <a:t>disruption</a:t>
            </a:r>
            <a:r>
              <a:rPr dirty="0" sz="3200" spc="-15"/>
              <a:t> </a:t>
            </a:r>
            <a:r>
              <a:rPr dirty="0" sz="3200"/>
              <a:t>is blockchain</a:t>
            </a:r>
            <a:r>
              <a:rPr dirty="0" sz="3200" spc="-5"/>
              <a:t> </a:t>
            </a:r>
            <a:r>
              <a:rPr dirty="0" sz="3200" spc="-10"/>
              <a:t>technology?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958073" y="3344809"/>
            <a:ext cx="3357879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000" spc="-25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high</a:t>
            </a:r>
            <a:r>
              <a:rPr dirty="0" sz="1000" spc="-25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end,</a:t>
            </a:r>
            <a:r>
              <a:rPr dirty="0" sz="1000" spc="-20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000" spc="-25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000" spc="-20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already</a:t>
            </a:r>
            <a:r>
              <a:rPr dirty="0" sz="1000" spc="-25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used</a:t>
            </a:r>
            <a:r>
              <a:rPr dirty="0" sz="1000" spc="-25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case</a:t>
            </a:r>
            <a:r>
              <a:rPr dirty="0" sz="1000" spc="-20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000" spc="-25" b="1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2019" y="6433210"/>
            <a:ext cx="193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entury Gothic"/>
                <a:cs typeface="Century Gothic"/>
              </a:rPr>
              <a:t>54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2139" y="-114426"/>
            <a:ext cx="9652635" cy="953135"/>
          </a:xfrm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 sz="3200"/>
              <a:t>Q:</a:t>
            </a:r>
            <a:r>
              <a:rPr dirty="0" sz="3200" spc="-5"/>
              <a:t> </a:t>
            </a:r>
            <a:r>
              <a:rPr dirty="0" sz="3200"/>
              <a:t>How</a:t>
            </a:r>
            <a:r>
              <a:rPr dirty="0" sz="3200" spc="-5"/>
              <a:t> </a:t>
            </a:r>
            <a:r>
              <a:rPr dirty="0" sz="3200"/>
              <a:t>did</a:t>
            </a:r>
            <a:r>
              <a:rPr dirty="0" sz="3200" spc="-5"/>
              <a:t> </a:t>
            </a:r>
            <a:r>
              <a:rPr dirty="0" sz="3200"/>
              <a:t>the</a:t>
            </a:r>
            <a:r>
              <a:rPr dirty="0" sz="3200" spc="-10"/>
              <a:t> </a:t>
            </a:r>
            <a:r>
              <a:rPr dirty="0" sz="3200"/>
              <a:t>Deutsche</a:t>
            </a:r>
            <a:r>
              <a:rPr dirty="0" sz="3200" spc="-25"/>
              <a:t> </a:t>
            </a:r>
            <a:r>
              <a:rPr dirty="0" sz="3200"/>
              <a:t>Bank</a:t>
            </a:r>
            <a:r>
              <a:rPr dirty="0" sz="3200" spc="5"/>
              <a:t> </a:t>
            </a:r>
            <a:r>
              <a:rPr dirty="0" sz="3200"/>
              <a:t>managers</a:t>
            </a:r>
            <a:r>
              <a:rPr dirty="0" sz="3200" spc="-30"/>
              <a:t> </a:t>
            </a:r>
            <a:r>
              <a:rPr dirty="0" sz="3200"/>
              <a:t>lay</a:t>
            </a:r>
            <a:r>
              <a:rPr dirty="0" sz="3200" spc="-10"/>
              <a:t> </a:t>
            </a:r>
            <a:r>
              <a:rPr dirty="0" sz="3200" spc="-25"/>
              <a:t>the </a:t>
            </a:r>
            <a:r>
              <a:rPr dirty="0" sz="3200"/>
              <a:t>foundations</a:t>
            </a:r>
            <a:r>
              <a:rPr dirty="0" sz="3200" spc="-65"/>
              <a:t> </a:t>
            </a:r>
            <a:r>
              <a:rPr dirty="0" sz="3200"/>
              <a:t>for</a:t>
            </a:r>
            <a:r>
              <a:rPr dirty="0" sz="3200" spc="-55"/>
              <a:t> </a:t>
            </a:r>
            <a:r>
              <a:rPr dirty="0" sz="3200"/>
              <a:t>commercializing</a:t>
            </a:r>
            <a:r>
              <a:rPr dirty="0" sz="3200" spc="-50"/>
              <a:t> </a:t>
            </a:r>
            <a:r>
              <a:rPr dirty="0" sz="3200" spc="-10"/>
              <a:t>blockchain?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46417" y="890841"/>
            <a:ext cx="11638915" cy="54203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255270">
              <a:lnSpc>
                <a:spcPct val="101200"/>
              </a:lnSpc>
              <a:spcBef>
                <a:spcPts val="8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Awareness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Education: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Deutsche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managers,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starting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Rhomaios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Ram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Paul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Maley,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recognized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blockchain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early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initiated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conversations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discussions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raise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awareness.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internal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social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media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platforms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post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blogs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explaining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applications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banking,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generating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interest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among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employees.</a:t>
            </a:r>
            <a:endParaRPr sz="1400">
              <a:latin typeface="Arial"/>
              <a:cs typeface="Arial"/>
            </a:endParaRPr>
          </a:p>
          <a:p>
            <a:pPr marL="12700" marR="2540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Internal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Workshops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Communities:They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hosted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Distributed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Workshop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engage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interested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parties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departments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creating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internal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community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enthusiasts.This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community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included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individuals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various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levels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units,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fostering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diverse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perspective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leveraged.</a:t>
            </a:r>
            <a:endParaRPr sz="1400">
              <a:latin typeface="Arial"/>
              <a:cs typeface="Arial"/>
            </a:endParaRPr>
          </a:p>
          <a:p>
            <a:pPr marL="12700" marR="3175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Formal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Organizational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Structure:Recognizing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structured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approach,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Deutsche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established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official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organizational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structure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activities.They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funding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support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bank’s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Chief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Operating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Officer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run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initial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projects,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indicating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commitment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exploring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technology.</a:t>
            </a:r>
            <a:endParaRPr sz="1400">
              <a:latin typeface="Arial"/>
              <a:cs typeface="Arial"/>
            </a:endParaRPr>
          </a:p>
          <a:p>
            <a:pPr marL="12700" marR="23558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Deutsche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Labs:Deutsche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Labs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were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up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London,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Berlin,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Silicon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Valley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serve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platforms,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partnering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tech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startups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established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experiment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emerging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technologies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blockchain.</a:t>
            </a:r>
            <a:endParaRPr sz="1400">
              <a:latin typeface="Arial"/>
              <a:cs typeface="Arial"/>
            </a:endParaRPr>
          </a:p>
          <a:p>
            <a:pPr marL="12700" marR="36004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Labs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provided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updates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emergent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themes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ecosystem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facilitated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exploration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applied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advance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bank's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strategy.</a:t>
            </a:r>
            <a:endParaRPr sz="1400">
              <a:latin typeface="Arial"/>
              <a:cs typeface="Arial"/>
            </a:endParaRPr>
          </a:p>
          <a:p>
            <a:pPr marL="12700" marR="11430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Concept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(PoC):The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used 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Deutsche Bank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Lab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 London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 set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 Proof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Concept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(PoC)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contract-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based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corporate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bond,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testing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feasibility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securities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clearing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settlement.This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PoC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involved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mapping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corporate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bond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lifecycle,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originating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validating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corporate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bond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contracts,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setting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distributed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environment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execute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contracts.</a:t>
            </a:r>
            <a:endParaRPr sz="1400">
              <a:latin typeface="Arial"/>
              <a:cs typeface="Arial"/>
            </a:endParaRPr>
          </a:p>
          <a:p>
            <a:pPr marL="12700" marR="614045">
              <a:lnSpc>
                <a:spcPct val="101200"/>
              </a:lnSpc>
            </a:pP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Multidisciplinary</a:t>
            </a:r>
            <a:r>
              <a:rPr dirty="0" sz="14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Approach:Deutsche Bank's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 team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included investment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bankers,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lawyers,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coders,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 diverse range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of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expertise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aspects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implementation.</a:t>
            </a:r>
            <a:endParaRPr sz="1400">
              <a:latin typeface="Arial"/>
              <a:cs typeface="Arial"/>
            </a:endParaRPr>
          </a:p>
          <a:p>
            <a:pPr algn="just" marL="12700" marR="17399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Measuring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Success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Expansion:The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team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measured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success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experiments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validating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feasibility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blockchain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creating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executing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corporate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bonds.They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planned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experiments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beyond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Deutsche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Labs,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educating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teams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practical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challenges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leveraging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blockchain.</a:t>
            </a:r>
            <a:endParaRPr sz="1400">
              <a:latin typeface="Arial"/>
              <a:cs typeface="Arial"/>
            </a:endParaRPr>
          </a:p>
          <a:p>
            <a:pPr marL="12700" marR="22860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Challenges:Deutsche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managers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recognized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significant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political,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market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obstacles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commercialize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technology.They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anticipated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standards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interoperability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considered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implications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requirements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reporting.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Organizational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Engagement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Commitment:Ensuring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engagement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organization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was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critical,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organization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417" y="6288341"/>
            <a:ext cx="59067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take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responsibility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demonstrate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tangible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value.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2019" y="6433210"/>
            <a:ext cx="193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entury Gothic"/>
                <a:cs typeface="Century Gothic"/>
              </a:rPr>
              <a:t>55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9512" y="-101473"/>
            <a:ext cx="908812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Q: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How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should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Deutsche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Bank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move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ahead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start </a:t>
            </a:r>
            <a:r>
              <a:rPr dirty="0" sz="2800" spc="-10">
                <a:latin typeface="Century Gothic"/>
                <a:cs typeface="Century Gothic"/>
              </a:rPr>
              <a:t>	</a:t>
            </a:r>
            <a:r>
              <a:rPr dirty="0" sz="2800">
                <a:latin typeface="Century Gothic"/>
                <a:cs typeface="Century Gothic"/>
              </a:rPr>
              <a:t>creating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value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from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blockchain?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0249" y="953363"/>
            <a:ext cx="11160760" cy="54203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281940">
              <a:lnSpc>
                <a:spcPct val="101200"/>
              </a:lnSpc>
              <a:spcBef>
                <a:spcPts val="8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Pilot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Programs: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Build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success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initial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Concept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(PoC)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expanding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pilot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programs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units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real-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world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scenarios.</a:t>
            </a:r>
            <a:r>
              <a:rPr dirty="0" sz="14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will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help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understanding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practical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implications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challenges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implementing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larger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scale.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Educate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Staff:Invest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education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training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programs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increase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understanding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different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departments.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includes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aspects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regulatory,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implications.</a:t>
            </a:r>
            <a:endParaRPr sz="1400">
              <a:latin typeface="Arial"/>
              <a:cs typeface="Arial"/>
            </a:endParaRPr>
          </a:p>
          <a:p>
            <a:pPr marL="12700" marR="5016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Collaborate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Industry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Partners:Partner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institutions,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companies,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industry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consortia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share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knowledge,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develop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standards,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create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interoperable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solutions.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Collaboration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help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costs,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spreading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accelerating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innovation.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Challenges:Work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closely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understand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implications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blockchain technology.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Engage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dialogue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help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shape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environment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compliance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emerging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regulations.</a:t>
            </a:r>
            <a:endParaRPr sz="1400">
              <a:latin typeface="Arial"/>
              <a:cs typeface="Arial"/>
            </a:endParaRPr>
          </a:p>
          <a:p>
            <a:pPr marL="12700" marR="1206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Develop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Clear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Case:Identify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specific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cases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significant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value,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improving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efficiency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in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cross-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border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payments,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securities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settlement,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finance.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Develop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clear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case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each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case,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outlining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benefits,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costs,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 potential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ROI.</a:t>
            </a:r>
            <a:endParaRPr sz="1400">
              <a:latin typeface="Arial"/>
              <a:cs typeface="Arial"/>
            </a:endParaRPr>
          </a:p>
          <a:p>
            <a:pPr marL="12700" marR="45910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Invest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R&amp;D:Continue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invest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research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development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refine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technology,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scalability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issues,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enhance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security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features.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creating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solutions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meet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specific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industry.</a:t>
            </a:r>
            <a:endParaRPr sz="1400">
              <a:latin typeface="Arial"/>
              <a:cs typeface="Arial"/>
            </a:endParaRPr>
          </a:p>
          <a:p>
            <a:pPr marL="12700" marR="23876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Create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Scalable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Infrastructure:Develop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scalable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infrastructure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handle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volume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velocity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sector.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includes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system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integrate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banking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systems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processes.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Needs:Understand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customers,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increased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transparency,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reduced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transaction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times,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improved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security.</a:t>
            </a:r>
            <a:r>
              <a:rPr dirty="0" sz="14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Tailor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solutions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enhance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experience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meet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specific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requirements.</a:t>
            </a:r>
            <a:endParaRPr sz="1400">
              <a:latin typeface="Arial"/>
              <a:cs typeface="Arial"/>
            </a:endParaRPr>
          </a:p>
          <a:p>
            <a:pPr marL="12700" marR="104139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Security:Implement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robust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practices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unique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associated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technology,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cybersecurity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privacy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concerns,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operational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risks.</a:t>
            </a:r>
            <a:endParaRPr sz="1400">
              <a:latin typeface="Arial"/>
              <a:cs typeface="Arial"/>
            </a:endParaRPr>
          </a:p>
          <a:p>
            <a:pPr marL="12700" marR="23558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Monitor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9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Adapt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Technological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Changes:Stay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abreast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latest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developments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prepared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adapt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strategies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evolves.</a:t>
            </a:r>
            <a:r>
              <a:rPr dirty="0" sz="14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includes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monitoring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advancements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cryptography,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consensus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mechanisms,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contract capabilities.</a:t>
            </a:r>
            <a:endParaRPr sz="1400">
              <a:latin typeface="Arial"/>
              <a:cs typeface="Arial"/>
            </a:endParaRPr>
          </a:p>
          <a:p>
            <a:pPr marL="12700" marR="16319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Measure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Demonstrate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Value:Establish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metrics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measure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success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initiatives,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focusing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both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quantitative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(e.g.,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cost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savings,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transaction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speed)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qualitative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(e.g.,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satisfaction,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reduction)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outcomes.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Communicate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Engage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Stakeholders:Communicate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value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proposition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internal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external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stakeholders,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0249" y="6350863"/>
            <a:ext cx="9790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employees,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customers,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investors,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regulators.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Engage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them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journey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address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concerns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misconceptions.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tianjianz@outlook.com</dc:creator>
  <dc:title>Week 4: Deposit and Lending</dc:title>
  <dcterms:created xsi:type="dcterms:W3CDTF">2025-12-17T17:22:04Z</dcterms:created>
  <dcterms:modified xsi:type="dcterms:W3CDTF">2025-12-17T17:22:04Z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2025-12-17T00:00:00Z</vt:filetime>
  </property>
  <property fmtid="{D5CDD505-2E9C-101B-9397-08002B2CF9AE}" pid="5" name="Producer">
    <vt:lpwstr>macOS 版本14.0（版号23A344） Quartz PDFContext, AppendMode 1.1</vt:lpwstr>
  </property>
</Properties>
</file>