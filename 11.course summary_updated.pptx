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png" ContentType="image/pn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34060"/>
            <a:ext cx="498983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04013"/>
            <a:ext cx="933958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75205"/>
            <a:ext cx="10077450" cy="352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6619" y="6432317"/>
            <a:ext cx="256540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r3.com/company/" TargetMode="External"/><Relationship Id="rId3" Type="http://schemas.openxmlformats.org/officeDocument/2006/relationships/hyperlink" Target="https://www.youtube.com/watch?v=wZLf5C6P16I" TargetMode="External"/><Relationship Id="rId4" Type="http://schemas.openxmlformats.org/officeDocument/2006/relationships/hyperlink" Target="https://www.youtube.com/watch?v=K_2QhtTBN8U" TargetMode="External"/><Relationship Id="rId5" Type="http://schemas.openxmlformats.org/officeDocument/2006/relationships/hyperlink" Target="https://www.youtube.com/watch?v=zDX0TJuOWj0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nlinesurvey.cityu.edu.hk/" TargetMode="External"/><Relationship Id="rId3" Type="http://schemas.openxmlformats.org/officeDocument/2006/relationships/image" Target="../media/image7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08757" y="2612847"/>
            <a:ext cx="6268720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Course</a:t>
            </a:r>
            <a:r>
              <a:rPr dirty="0" sz="6000" spc="-25"/>
              <a:t> </a:t>
            </a:r>
            <a:r>
              <a:rPr dirty="0" sz="6000" spc="-10"/>
              <a:t>Summary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916939" y="1822450"/>
            <a:ext cx="3750945" cy="34880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Project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Final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Exam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information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Course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summary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9: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R3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Consultation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Final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Project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dirty="0" spc="-4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5873"/>
            <a:ext cx="10820400" cy="407352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1)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</a:t>
            </a:r>
            <a:r>
              <a:rPr dirty="0" sz="2200" spc="-5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abstract</a:t>
            </a:r>
            <a:r>
              <a:rPr dirty="0" sz="2200" spc="-50" b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within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150</a:t>
            </a:r>
            <a:r>
              <a:rPr dirty="0" sz="2200" spc="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words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summarizing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main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story;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2)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one-</a:t>
            </a:r>
            <a:r>
              <a:rPr dirty="0" sz="2200" spc="-20">
                <a:latin typeface="Century Gothic"/>
                <a:cs typeface="Century Gothic"/>
              </a:rPr>
              <a:t>page </a:t>
            </a:r>
            <a:r>
              <a:rPr dirty="0" sz="2200" b="1">
                <a:latin typeface="Century Gothic"/>
                <a:cs typeface="Century Gothic"/>
              </a:rPr>
              <a:t>introduction</a:t>
            </a:r>
            <a:r>
              <a:rPr dirty="0" sz="2200" spc="-10" b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motivating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key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question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interest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providing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overview </a:t>
            </a:r>
            <a:r>
              <a:rPr dirty="0" sz="2200">
                <a:latin typeface="Century Gothic"/>
                <a:cs typeface="Century Gothic"/>
              </a:rPr>
              <a:t>for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rest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report;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3)</a:t>
            </a:r>
            <a:r>
              <a:rPr dirty="0" sz="2200" spc="5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findings</a:t>
            </a:r>
            <a:r>
              <a:rPr dirty="0" sz="2200" spc="-30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and</a:t>
            </a:r>
            <a:r>
              <a:rPr dirty="0" sz="2200" spc="-30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rationales</a:t>
            </a:r>
            <a:r>
              <a:rPr dirty="0" sz="2200" spc="-25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of</a:t>
            </a:r>
            <a:r>
              <a:rPr dirty="0" sz="2200" spc="-30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the</a:t>
            </a:r>
            <a:r>
              <a:rPr dirty="0" sz="2200" spc="-25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findings</a:t>
            </a:r>
            <a:r>
              <a:rPr dirty="0" sz="2200" spc="-25" b="1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(with </a:t>
            </a:r>
            <a:r>
              <a:rPr dirty="0" sz="2200">
                <a:latin typeface="Century Gothic"/>
                <a:cs typeface="Century Gothic"/>
              </a:rPr>
              <a:t>supporting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materials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arguments);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4)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broader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implications</a:t>
            </a:r>
            <a:r>
              <a:rPr dirty="0" sz="2200" spc="-50" b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findings.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Tables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graphs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should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numbered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referenced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manuscript.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ts val="2375"/>
              </a:lnSpc>
              <a:spcBef>
                <a:spcPts val="46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References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should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cited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manuscript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listed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alphabetically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at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the</a:t>
            </a:r>
            <a:endParaRPr sz="2200">
              <a:latin typeface="Century Gothic"/>
              <a:cs typeface="Century Gothic"/>
            </a:endParaRPr>
          </a:p>
          <a:p>
            <a:pPr marL="241300">
              <a:lnSpc>
                <a:spcPts val="2375"/>
              </a:lnSpc>
            </a:pPr>
            <a:r>
              <a:rPr dirty="0" sz="2200">
                <a:latin typeface="Century Gothic"/>
                <a:cs typeface="Century Gothic"/>
              </a:rPr>
              <a:t>end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report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(can</a:t>
            </a:r>
            <a:r>
              <a:rPr dirty="0" sz="2200" spc="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choose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any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referencing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style).</a:t>
            </a:r>
            <a:endParaRPr sz="2200">
              <a:latin typeface="Century Gothic"/>
              <a:cs typeface="Century Gothic"/>
            </a:endParaRPr>
          </a:p>
          <a:p>
            <a:pPr marL="241300" marR="954405" indent="-229235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Page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limit: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three</a:t>
            </a:r>
            <a:r>
              <a:rPr dirty="0" sz="2200" spc="-55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to</a:t>
            </a:r>
            <a:r>
              <a:rPr dirty="0" sz="2200" spc="-50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five</a:t>
            </a:r>
            <a:r>
              <a:rPr dirty="0" sz="2200" spc="-40" b="1">
                <a:latin typeface="Century Gothic"/>
                <a:cs typeface="Century Gothic"/>
              </a:rPr>
              <a:t> </a:t>
            </a:r>
            <a:r>
              <a:rPr dirty="0" sz="2200" b="1">
                <a:latin typeface="Century Gothic"/>
                <a:cs typeface="Century Gothic"/>
              </a:rPr>
              <a:t>thousand</a:t>
            </a:r>
            <a:r>
              <a:rPr dirty="0" sz="2200" spc="-25" b="1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words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(not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counting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tables,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graphs,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25">
                <a:latin typeface="Century Gothic"/>
                <a:cs typeface="Century Gothic"/>
              </a:rPr>
              <a:t>or </a:t>
            </a:r>
            <a:r>
              <a:rPr dirty="0" sz="2200" spc="-10">
                <a:latin typeface="Century Gothic"/>
                <a:cs typeface="Century Gothic"/>
              </a:rPr>
              <a:t>references).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Polish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the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language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(e.g.,</a:t>
            </a:r>
            <a:r>
              <a:rPr dirty="0" sz="2200" spc="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Grammarly,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ChatGPT)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solidFill>
                  <a:srgbClr val="FF0000"/>
                </a:solidFill>
                <a:latin typeface="Century Gothic"/>
                <a:cs typeface="Century Gothic"/>
              </a:rPr>
              <a:t>Plagiarism</a:t>
            </a:r>
            <a:r>
              <a:rPr dirty="0" sz="2200" spc="-4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>
                <a:solidFill>
                  <a:srgbClr val="FF0000"/>
                </a:solidFill>
                <a:latin typeface="Century Gothic"/>
                <a:cs typeface="Century Gothic"/>
              </a:rPr>
              <a:t>is</a:t>
            </a:r>
            <a:r>
              <a:rPr dirty="0" sz="2200" spc="-25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>
                <a:solidFill>
                  <a:srgbClr val="FF0000"/>
                </a:solidFill>
                <a:latin typeface="Century Gothic"/>
                <a:cs typeface="Century Gothic"/>
              </a:rPr>
              <a:t>not </a:t>
            </a:r>
            <a:r>
              <a:rPr dirty="0" sz="2200" spc="-10">
                <a:solidFill>
                  <a:srgbClr val="FF0000"/>
                </a:solidFill>
                <a:latin typeface="Century Gothic"/>
                <a:cs typeface="Century Gothic"/>
              </a:rPr>
              <a:t>allowed</a:t>
            </a: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Deadline: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entury Gothic"/>
                <a:cs typeface="Century Gothic"/>
              </a:rPr>
              <a:t>Dec</a:t>
            </a:r>
            <a:r>
              <a:rPr dirty="0" sz="2200" spc="-6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entury Gothic"/>
                <a:cs typeface="Century Gothic"/>
              </a:rPr>
              <a:t>21,</a:t>
            </a:r>
            <a:r>
              <a:rPr dirty="0" sz="2200" spc="-5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entury Gothic"/>
                <a:cs typeface="Century Gothic"/>
              </a:rPr>
              <a:t>2025</a:t>
            </a:r>
            <a:r>
              <a:rPr dirty="0" sz="2200" spc="-30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 b="1">
                <a:solidFill>
                  <a:srgbClr val="FF0000"/>
                </a:solidFill>
                <a:latin typeface="Century Gothic"/>
                <a:cs typeface="Century Gothic"/>
              </a:rPr>
              <a:t>(11:59</a:t>
            </a:r>
            <a:r>
              <a:rPr dirty="0" sz="2200" spc="-45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200" spc="-25" b="1">
                <a:solidFill>
                  <a:srgbClr val="FF0000"/>
                </a:solidFill>
                <a:latin typeface="Century Gothic"/>
                <a:cs typeface="Century Gothic"/>
              </a:rPr>
              <a:t>pm)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dirty="0" spc="-45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6832"/>
            <a:ext cx="10807700" cy="172212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Include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figures</a:t>
            </a:r>
            <a:r>
              <a:rPr dirty="0" sz="2400" spc="-9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tables</a:t>
            </a: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ts val="2740"/>
              </a:lnSpc>
              <a:spcBef>
                <a:spcPts val="70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Make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solutions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(e.g.,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technical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non-</a:t>
            </a:r>
            <a:r>
              <a:rPr dirty="0" sz="2400">
                <a:latin typeface="Century Gothic"/>
                <a:cs typeface="Century Gothic"/>
              </a:rPr>
              <a:t>technical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solutions)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specific</a:t>
            </a:r>
            <a:endParaRPr sz="2400">
              <a:latin typeface="Century Gothic"/>
              <a:cs typeface="Century Gothic"/>
            </a:endParaRPr>
          </a:p>
          <a:p>
            <a:pPr marL="241300">
              <a:lnSpc>
                <a:spcPts val="2740"/>
              </a:lnSpc>
            </a:pP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your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questions/context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One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or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two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paragraphs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on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broader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implications</a:t>
            </a:r>
            <a:endParaRPr sz="24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6242" y="3901440"/>
          <a:ext cx="6741159" cy="2494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8615"/>
                <a:gridCol w="1223010"/>
              </a:tblGrid>
              <a:tr h="308610">
                <a:tc>
                  <a:txBody>
                    <a:bodyPr/>
                    <a:lstStyle/>
                    <a:p>
                      <a:pPr algn="ctr" marL="635">
                        <a:lnSpc>
                          <a:spcPts val="1750"/>
                        </a:lnSpc>
                      </a:pPr>
                      <a:r>
                        <a:rPr dirty="0" sz="1500" spc="-20" b="1">
                          <a:latin typeface="Century Gothic"/>
                          <a:cs typeface="Century Gothic"/>
                        </a:rPr>
                        <a:t>Item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750"/>
                        </a:lnSpc>
                      </a:pP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Points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dirty="0" sz="1500" b="1">
                          <a:latin typeface="Century Gothic"/>
                          <a:cs typeface="Century Gothic"/>
                        </a:rPr>
                        <a:t>Completeness</a:t>
                      </a:r>
                      <a:r>
                        <a:rPr dirty="0" sz="15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-5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main</a:t>
                      </a:r>
                      <a:r>
                        <a:rPr dirty="0" sz="1500" spc="-4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components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45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10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dirty="0" sz="1500" b="1">
                          <a:latin typeface="Century Gothic"/>
                          <a:cs typeface="Century Gothic"/>
                        </a:rPr>
                        <a:t>Novelties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-3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dirty="0" sz="15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topic</a:t>
                      </a:r>
                      <a:r>
                        <a:rPr dirty="0" sz="15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(not</a:t>
                      </a:r>
                      <a:r>
                        <a:rPr dirty="0" sz="1500" spc="-2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novelties</a:t>
                      </a:r>
                      <a:r>
                        <a:rPr dirty="0" sz="1500" spc="-2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dirty="0" sz="1500" spc="-3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technology)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50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20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dirty="0" sz="1500" b="1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dirty="0" sz="1500" spc="39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extent</a:t>
                      </a:r>
                      <a:r>
                        <a:rPr dirty="0" sz="1500" spc="40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that</a:t>
                      </a:r>
                      <a:r>
                        <a:rPr dirty="0" sz="1500" spc="40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dirty="0" sz="1500" spc="40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key</a:t>
                      </a:r>
                      <a:r>
                        <a:rPr dirty="0" sz="1500" spc="409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question</a:t>
                      </a:r>
                      <a:r>
                        <a:rPr dirty="0" sz="1500" spc="39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39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interest</a:t>
                      </a:r>
                      <a:r>
                        <a:rPr dirty="0" sz="1500" spc="39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has</a:t>
                      </a:r>
                      <a:r>
                        <a:rPr dirty="0" sz="1500" spc="39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spc="-20" b="1">
                          <a:latin typeface="Century Gothic"/>
                          <a:cs typeface="Century Gothic"/>
                        </a:rPr>
                        <a:t>been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addressed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750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100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dirty="0" sz="1500" b="1">
                          <a:latin typeface="Century Gothic"/>
                          <a:cs typeface="Century Gothic"/>
                        </a:rPr>
                        <a:t>Clarity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writing</a:t>
                      </a:r>
                      <a:r>
                        <a:rPr dirty="0" sz="1500" spc="-2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dirty="0" sz="1500" spc="-3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grammar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50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10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dirty="0" sz="1500" b="1">
                          <a:latin typeface="Century Gothic"/>
                          <a:cs typeface="Century Gothic"/>
                        </a:rPr>
                        <a:t>Clarity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dirty="0" sz="1500" spc="-2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tables,</a:t>
                      </a:r>
                      <a:r>
                        <a:rPr dirty="0" sz="1500" spc="-20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graphs,</a:t>
                      </a:r>
                      <a:r>
                        <a:rPr dirty="0" sz="1500" spc="-4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b="1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dirty="0" sz="1500" spc="-35" b="1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references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50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10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marL="1270">
                        <a:lnSpc>
                          <a:spcPts val="1750"/>
                        </a:lnSpc>
                      </a:pPr>
                      <a:r>
                        <a:rPr dirty="0" sz="1500" spc="-10" b="1">
                          <a:latin typeface="Century Gothic"/>
                          <a:cs typeface="Century Gothic"/>
                        </a:rPr>
                        <a:t>Total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750"/>
                        </a:lnSpc>
                      </a:pPr>
                      <a:r>
                        <a:rPr dirty="0" sz="1500" spc="-25">
                          <a:latin typeface="Century Gothic"/>
                          <a:cs typeface="Century Gothic"/>
                        </a:rPr>
                        <a:t>150</a:t>
                      </a:r>
                      <a:endParaRPr sz="15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13741"/>
            <a:ext cx="26574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Century Gothic"/>
                <a:cs typeface="Century Gothic"/>
              </a:rPr>
              <a:t>Final</a:t>
            </a:r>
            <a:r>
              <a:rPr dirty="0" sz="4000" spc="-80" b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4000" spc="-20" b="1">
                <a:solidFill>
                  <a:srgbClr val="FF0000"/>
                </a:solidFill>
                <a:latin typeface="Century Gothic"/>
                <a:cs typeface="Century Gothic"/>
              </a:rPr>
              <a:t>Exam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926083"/>
            <a:ext cx="11061700" cy="54762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Date</a:t>
            </a:r>
            <a:r>
              <a:rPr dirty="0" sz="240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dirty="0" sz="2400" spc="-3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400">
                <a:solidFill>
                  <a:srgbClr val="FF0000"/>
                </a:solidFill>
                <a:latin typeface="Century Gothic"/>
                <a:cs typeface="Century Gothic"/>
              </a:rPr>
              <a:t>Dec</a:t>
            </a:r>
            <a:r>
              <a:rPr dirty="0" sz="2400" spc="-2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400">
                <a:solidFill>
                  <a:srgbClr val="FF0000"/>
                </a:solidFill>
                <a:latin typeface="Century Gothic"/>
                <a:cs typeface="Century Gothic"/>
              </a:rPr>
              <a:t>18</a:t>
            </a:r>
            <a:r>
              <a:rPr dirty="0" sz="2400" spc="-25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Century Gothic"/>
                <a:cs typeface="Century Gothic"/>
              </a:rPr>
              <a:t>(9:30-</a:t>
            </a:r>
            <a:r>
              <a:rPr dirty="0" sz="2400">
                <a:solidFill>
                  <a:srgbClr val="FF0000"/>
                </a:solidFill>
                <a:latin typeface="Century Gothic"/>
                <a:cs typeface="Century Gothic"/>
              </a:rPr>
              <a:t>11:30</a:t>
            </a:r>
            <a:r>
              <a:rPr dirty="0" sz="2400" spc="-1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Century Gothic"/>
                <a:cs typeface="Century Gothic"/>
              </a:rPr>
              <a:t>am)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 spc="-25">
                <a:solidFill>
                  <a:srgbClr val="FF0000"/>
                </a:solidFill>
                <a:latin typeface="Century Gothic"/>
                <a:cs typeface="Century Gothic"/>
              </a:rPr>
              <a:t>open-</a:t>
            </a:r>
            <a:r>
              <a:rPr dirty="0" sz="2400">
                <a:solidFill>
                  <a:srgbClr val="FF0000"/>
                </a:solidFill>
                <a:latin typeface="Century Gothic"/>
                <a:cs typeface="Century Gothic"/>
              </a:rPr>
              <a:t>book</a:t>
            </a:r>
            <a:r>
              <a:rPr dirty="0" sz="2400" spc="3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exam </a:t>
            </a:r>
            <a:r>
              <a:rPr dirty="0" sz="2400" spc="-10">
                <a:latin typeface="Century Gothic"/>
                <a:cs typeface="Century Gothic"/>
              </a:rPr>
              <a:t>(Face-</a:t>
            </a:r>
            <a:r>
              <a:rPr dirty="0" sz="2400" spc="-20">
                <a:latin typeface="Century Gothic"/>
                <a:cs typeface="Century Gothic"/>
              </a:rPr>
              <a:t>to-</a:t>
            </a:r>
            <a:r>
              <a:rPr dirty="0" sz="2400">
                <a:latin typeface="Century Gothic"/>
                <a:cs typeface="Century Gothic"/>
              </a:rPr>
              <a:t>face</a:t>
            </a:r>
            <a:r>
              <a:rPr dirty="0" sz="2400" spc="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Final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exam)</a:t>
            </a: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Students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can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bring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following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hard-</a:t>
            </a:r>
            <a:r>
              <a:rPr dirty="0" sz="2400">
                <a:latin typeface="Century Gothic"/>
                <a:cs typeface="Century Gothic"/>
              </a:rPr>
              <a:t>copy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materials/aids:</a:t>
            </a:r>
            <a:endParaRPr sz="24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30"/>
              </a:spcBef>
            </a:pPr>
            <a:r>
              <a:rPr dirty="0" sz="2000">
                <a:latin typeface="Courier New"/>
                <a:cs typeface="Courier New"/>
              </a:rPr>
              <a:t>o</a:t>
            </a:r>
            <a:r>
              <a:rPr dirty="0" sz="2000" spc="-605">
                <a:latin typeface="Courier New"/>
                <a:cs typeface="Courier New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studies</a:t>
            </a:r>
            <a:endParaRPr sz="20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Courier New"/>
                <a:cs typeface="Courier New"/>
              </a:rPr>
              <a:t>o</a:t>
            </a:r>
            <a:r>
              <a:rPr dirty="0" sz="2000" spc="-605">
                <a:latin typeface="Courier New"/>
                <a:cs typeface="Courier New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slides</a:t>
            </a:r>
            <a:endParaRPr sz="20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exam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has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two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parts.</a:t>
            </a:r>
            <a:endParaRPr sz="2400">
              <a:latin typeface="Century Gothic"/>
              <a:cs typeface="Century Gothic"/>
            </a:endParaRPr>
          </a:p>
          <a:p>
            <a:pPr lvl="1" marL="697865" indent="-227965">
              <a:lnSpc>
                <a:spcPts val="2160"/>
              </a:lnSpc>
              <a:spcBef>
                <a:spcPts val="2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2000">
                <a:latin typeface="Century Gothic"/>
                <a:cs typeface="Century Gothic"/>
              </a:rPr>
              <a:t>Section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A.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Short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Answers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(10</a:t>
            </a:r>
            <a:r>
              <a:rPr dirty="0" sz="2000" spc="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questions,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40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points):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Provide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concise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to-the-point</a:t>
            </a:r>
            <a:endParaRPr sz="2000">
              <a:latin typeface="Century Gothic"/>
              <a:cs typeface="Century Gothic"/>
            </a:endParaRPr>
          </a:p>
          <a:p>
            <a:pPr marL="698500">
              <a:lnSpc>
                <a:spcPts val="2160"/>
              </a:lnSpc>
            </a:pPr>
            <a:r>
              <a:rPr dirty="0" sz="2000">
                <a:latin typeface="Century Gothic"/>
                <a:cs typeface="Century Gothic"/>
              </a:rPr>
              <a:t>answers.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This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part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similar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assignment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questions.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(3</a:t>
            </a:r>
            <a:r>
              <a:rPr dirty="0" sz="2000" spc="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4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points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question)</a:t>
            </a:r>
            <a:endParaRPr sz="2000">
              <a:latin typeface="Century Gothic"/>
              <a:cs typeface="Century Gothic"/>
            </a:endParaRPr>
          </a:p>
          <a:p>
            <a:pPr algn="just" lvl="1" marL="698500" marR="5080" indent="-228600">
              <a:lnSpc>
                <a:spcPts val="1920"/>
              </a:lnSpc>
              <a:spcBef>
                <a:spcPts val="490"/>
              </a:spcBef>
              <a:buFont typeface="Courier New"/>
              <a:buChar char="o"/>
              <a:tabLst>
                <a:tab pos="698500" algn="l"/>
              </a:tabLst>
            </a:pPr>
            <a:r>
              <a:rPr dirty="0" sz="2000">
                <a:latin typeface="Century Gothic"/>
                <a:cs typeface="Century Gothic"/>
              </a:rPr>
              <a:t>Section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B.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Long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Answers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(8</a:t>
            </a:r>
            <a:r>
              <a:rPr dirty="0" sz="2000" spc="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questions,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60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points):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3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questions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mini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study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(5 </a:t>
            </a:r>
            <a:r>
              <a:rPr dirty="0" sz="2000">
                <a:latin typeface="Century Gothic"/>
                <a:cs typeface="Century Gothic"/>
              </a:rPr>
              <a:t>questions).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This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part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similar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discussion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questions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studies.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(6</a:t>
            </a:r>
            <a:r>
              <a:rPr dirty="0" sz="2000" spc="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15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points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for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question)</a:t>
            </a:r>
            <a:endParaRPr sz="2000">
              <a:latin typeface="Century Gothic"/>
              <a:cs typeface="Century Gothic"/>
            </a:endParaRPr>
          </a:p>
          <a:p>
            <a:pPr algn="just" marL="240029" indent="-227329">
              <a:lnSpc>
                <a:spcPts val="2865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Exam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coverage:</a:t>
            </a:r>
            <a:endParaRPr sz="2400">
              <a:latin typeface="Century Gothic"/>
              <a:cs typeface="Century Gothic"/>
            </a:endParaRPr>
          </a:p>
          <a:p>
            <a:pPr lvl="1" marL="775970" indent="-306070">
              <a:lnSpc>
                <a:spcPts val="2625"/>
              </a:lnSpc>
              <a:buFont typeface="Courier New"/>
              <a:buChar char="o"/>
              <a:tabLst>
                <a:tab pos="775970" algn="l"/>
              </a:tabLst>
            </a:pPr>
            <a:r>
              <a:rPr dirty="0" sz="2200">
                <a:latin typeface="Century Gothic"/>
                <a:cs typeface="Century Gothic"/>
              </a:rPr>
              <a:t>All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slides,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case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studies,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assignments.</a:t>
            </a:r>
            <a:endParaRPr sz="2200">
              <a:latin typeface="Century Gothic"/>
              <a:cs typeface="Century Gothic"/>
            </a:endParaRPr>
          </a:p>
          <a:p>
            <a:pPr marL="240029" indent="-227965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0029" algn="l"/>
                <a:tab pos="469900" algn="l"/>
              </a:tabLst>
            </a:pPr>
            <a:r>
              <a:rPr dirty="0" sz="2400">
                <a:latin typeface="Century Gothic"/>
                <a:cs typeface="Century Gothic"/>
              </a:rPr>
              <a:t>To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review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exam,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you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 spc="-25">
                <a:latin typeface="Century Gothic"/>
                <a:cs typeface="Century Gothic"/>
              </a:rPr>
              <a:t>can</a:t>
            </a:r>
            <a:endParaRPr sz="24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</a:pPr>
            <a:r>
              <a:rPr dirty="0" sz="2100" spc="-20">
                <a:latin typeface="Courier New"/>
                <a:cs typeface="Courier New"/>
              </a:rPr>
              <a:t>o</a:t>
            </a:r>
            <a:r>
              <a:rPr dirty="0" sz="2100" spc="-725">
                <a:latin typeface="Courier New"/>
                <a:cs typeface="Courier New"/>
              </a:rPr>
              <a:t> </a:t>
            </a:r>
            <a:r>
              <a:rPr dirty="0" sz="2100">
                <a:latin typeface="Century Gothic"/>
                <a:cs typeface="Century Gothic"/>
              </a:rPr>
              <a:t>review</a:t>
            </a:r>
            <a:r>
              <a:rPr dirty="0" sz="2100" spc="-100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basic</a:t>
            </a:r>
            <a:r>
              <a:rPr dirty="0" sz="2100" spc="-25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concepts</a:t>
            </a:r>
            <a:r>
              <a:rPr dirty="0" sz="2100" spc="-55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from</a:t>
            </a:r>
            <a:r>
              <a:rPr dirty="0" sz="2100" spc="-40">
                <a:latin typeface="Century Gothic"/>
                <a:cs typeface="Century Gothic"/>
              </a:rPr>
              <a:t> </a:t>
            </a:r>
            <a:r>
              <a:rPr dirty="0" sz="2100" spc="-10">
                <a:latin typeface="Century Gothic"/>
                <a:cs typeface="Century Gothic"/>
              </a:rPr>
              <a:t>slides</a:t>
            </a:r>
            <a:endParaRPr sz="21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</a:pPr>
            <a:r>
              <a:rPr dirty="0" sz="2100" spc="-20">
                <a:latin typeface="Courier New"/>
                <a:cs typeface="Courier New"/>
              </a:rPr>
              <a:t>o</a:t>
            </a:r>
            <a:r>
              <a:rPr dirty="0" sz="2100" spc="-725">
                <a:latin typeface="Courier New"/>
                <a:cs typeface="Courier New"/>
              </a:rPr>
              <a:t> </a:t>
            </a:r>
            <a:r>
              <a:rPr dirty="0" sz="2100">
                <a:latin typeface="Century Gothic"/>
                <a:cs typeface="Century Gothic"/>
              </a:rPr>
              <a:t>review</a:t>
            </a:r>
            <a:r>
              <a:rPr dirty="0" sz="2100" spc="-45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case</a:t>
            </a:r>
            <a:r>
              <a:rPr dirty="0" sz="2100" spc="-10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studies</a:t>
            </a:r>
            <a:r>
              <a:rPr dirty="0" sz="2100" spc="-10">
                <a:latin typeface="Century Gothic"/>
                <a:cs typeface="Century Gothic"/>
              </a:rPr>
              <a:t> </a:t>
            </a:r>
            <a:r>
              <a:rPr dirty="0" sz="2100">
                <a:latin typeface="Century Gothic"/>
                <a:cs typeface="Century Gothic"/>
              </a:rPr>
              <a:t>and</a:t>
            </a:r>
            <a:r>
              <a:rPr dirty="0" sz="2100" spc="-35">
                <a:latin typeface="Century Gothic"/>
                <a:cs typeface="Century Gothic"/>
              </a:rPr>
              <a:t> </a:t>
            </a:r>
            <a:r>
              <a:rPr dirty="0" sz="2100" spc="-10">
                <a:latin typeface="Century Gothic"/>
                <a:cs typeface="Century Gothic"/>
              </a:rPr>
              <a:t>assignments</a:t>
            </a:r>
            <a:endParaRPr sz="2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0064" y="620725"/>
            <a:ext cx="68294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Main</a:t>
            </a:r>
            <a:r>
              <a:rPr dirty="0" spc="-55"/>
              <a:t> </a:t>
            </a:r>
            <a:r>
              <a:rPr dirty="0"/>
              <a:t>topics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this</a:t>
            </a:r>
            <a:r>
              <a:rPr dirty="0" spc="-30"/>
              <a:t> </a:t>
            </a:r>
            <a:r>
              <a:rPr dirty="0" spc="-10"/>
              <a:t>course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064" y="1646982"/>
            <a:ext cx="4177665" cy="38398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Banking</a:t>
            </a:r>
            <a:endParaRPr sz="20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Basic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concepts,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digital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banking</a:t>
            </a:r>
            <a:endParaRPr sz="18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 spc="-10">
                <a:latin typeface="Century Gothic"/>
                <a:cs typeface="Century Gothic"/>
              </a:rPr>
              <a:t>Crowdfunding</a:t>
            </a:r>
            <a:endParaRPr sz="18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Payment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System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Financial</a:t>
            </a:r>
            <a:r>
              <a:rPr dirty="0" sz="2000" spc="-11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market</a:t>
            </a:r>
            <a:endParaRPr sz="20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Basic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concepts</a:t>
            </a:r>
            <a:endParaRPr sz="18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 spc="-10">
                <a:latin typeface="Century Gothic"/>
                <a:cs typeface="Century Gothic"/>
              </a:rPr>
              <a:t>Robo-advisory</a:t>
            </a:r>
            <a:endParaRPr sz="1800">
              <a:latin typeface="Century Gothic"/>
              <a:cs typeface="Century Gothic"/>
            </a:endParaRPr>
          </a:p>
          <a:p>
            <a:pPr lvl="1" marL="698500" indent="-228600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8500" algn="l"/>
              </a:tabLst>
            </a:pPr>
            <a:r>
              <a:rPr dirty="0" sz="1800">
                <a:latin typeface="Century Gothic"/>
                <a:cs typeface="Century Gothic"/>
              </a:rPr>
              <a:t>Retail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institutional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trading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RegTech,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Blockchain,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InsurTech</a:t>
            </a:r>
            <a:endParaRPr sz="20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91936" y="1684401"/>
          <a:ext cx="6390005" cy="343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7515"/>
                <a:gridCol w="1374140"/>
                <a:gridCol w="1540509"/>
                <a:gridCol w="144779"/>
                <a:gridCol w="1532255"/>
                <a:gridCol w="1275714"/>
              </a:tblGrid>
              <a:tr h="219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625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Module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625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Topic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3845">
                        <a:lnSpc>
                          <a:spcPts val="1625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Cases/Guest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625"/>
                        </a:lnSpc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Assignments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5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Introduction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25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Overview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25"/>
                        </a:lnSpc>
                      </a:pPr>
                      <a:r>
                        <a:rPr dirty="0" sz="1400" spc="-50">
                          <a:latin typeface="Century Gothic"/>
                          <a:cs typeface="Century Gothic"/>
                        </a:rPr>
                        <a:t>-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Assignment</a:t>
                      </a:r>
                      <a:r>
                        <a:rPr dirty="0" sz="1400" spc="-50">
                          <a:latin typeface="Century Gothic"/>
                          <a:cs typeface="Century Gothic"/>
                        </a:rPr>
                        <a:t> 1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2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155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9215" marR="457834">
                        <a:lnSpc>
                          <a:spcPct val="10710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FinTech</a:t>
                      </a:r>
                      <a:r>
                        <a:rPr dirty="0" sz="14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35">
                          <a:latin typeface="Century Gothic"/>
                          <a:cs typeface="Century Gothic"/>
                        </a:rPr>
                        <a:t>in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Banking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Bank(ing)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digitization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Akbank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3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Lending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Salary</a:t>
                      </a:r>
                      <a:r>
                        <a:rPr dirty="0" sz="1400" spc="-4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Finance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Assignment</a:t>
                      </a:r>
                      <a:r>
                        <a:rPr dirty="0" sz="1400" spc="-7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50">
                          <a:latin typeface="Century Gothic"/>
                          <a:cs typeface="Century Gothic"/>
                        </a:rPr>
                        <a:t>2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4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Payments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Ant</a:t>
                      </a:r>
                      <a:r>
                        <a:rPr dirty="0" sz="14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>
                          <a:latin typeface="Century Gothic"/>
                          <a:cs typeface="Century Gothic"/>
                        </a:rPr>
                        <a:t>Financial</a:t>
                      </a:r>
                      <a:r>
                        <a:rPr dirty="0" sz="1400" spc="-1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25">
                          <a:latin typeface="Century Gothic"/>
                          <a:cs typeface="Century Gothic"/>
                        </a:rPr>
                        <a:t>(A)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5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69215" marR="457834">
                        <a:lnSpc>
                          <a:spcPct val="107100"/>
                        </a:lnSpc>
                        <a:spcBef>
                          <a:spcPts val="695"/>
                        </a:spcBef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FinTech</a:t>
                      </a:r>
                      <a:r>
                        <a:rPr dirty="0" sz="1400" spc="-4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35">
                          <a:latin typeface="Century Gothic"/>
                          <a:cs typeface="Century Gothic"/>
                        </a:rPr>
                        <a:t>in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Trading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Capital</a:t>
                      </a:r>
                      <a:r>
                        <a:rPr dirty="0" sz="1400" spc="-5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market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Domeyard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Assignment</a:t>
                      </a:r>
                      <a:r>
                        <a:rPr dirty="0" sz="1400" spc="-50">
                          <a:latin typeface="Century Gothic"/>
                          <a:cs typeface="Century Gothic"/>
                        </a:rPr>
                        <a:t> 3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33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6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82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Retail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trading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Charles</a:t>
                      </a:r>
                      <a:r>
                        <a:rPr dirty="0" sz="1400" spc="-5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Schwab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7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82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AI</a:t>
                      </a:r>
                      <a:r>
                        <a:rPr dirty="0" sz="1400" spc="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dirty="0" sz="14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>
                          <a:latin typeface="Century Gothic"/>
                          <a:cs typeface="Century Gothic"/>
                        </a:rPr>
                        <a:t>big</a:t>
                      </a:r>
                      <a:r>
                        <a:rPr dirty="0" sz="14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20">
                          <a:latin typeface="Century Gothic"/>
                          <a:cs typeface="Century Gothic"/>
                        </a:rPr>
                        <a:t>data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Guest</a:t>
                      </a:r>
                      <a:r>
                        <a:rPr dirty="0" sz="1400" spc="-2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Speaker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3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8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69215" marR="318770">
                        <a:lnSpc>
                          <a:spcPct val="107100"/>
                        </a:lnSpc>
                        <a:spcBef>
                          <a:spcPts val="1120"/>
                        </a:spcBef>
                      </a:pPr>
                      <a:r>
                        <a:rPr dirty="0" sz="1400" spc="-20">
                          <a:latin typeface="Century Gothic"/>
                          <a:cs typeface="Century Gothic"/>
                        </a:rPr>
                        <a:t>Risk,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Regulation, </a:t>
                      </a:r>
                      <a:r>
                        <a:rPr dirty="0" sz="1400" spc="-25"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Innovation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20">
                          <a:latin typeface="Century Gothic"/>
                          <a:cs typeface="Century Gothic"/>
                        </a:rPr>
                        <a:t>Risk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Management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RegTech</a:t>
                      </a:r>
                      <a:r>
                        <a:rPr dirty="0" sz="1400" spc="-3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>
                          <a:latin typeface="Century Gothic"/>
                          <a:cs typeface="Century Gothic"/>
                        </a:rPr>
                        <a:t>at</a:t>
                      </a:r>
                      <a:r>
                        <a:rPr dirty="0" sz="1400" spc="-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20">
                          <a:latin typeface="Century Gothic"/>
                          <a:cs typeface="Century Gothic"/>
                        </a:rPr>
                        <a:t>HSBC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Assignment</a:t>
                      </a:r>
                      <a:r>
                        <a:rPr dirty="0" sz="1400" spc="-50">
                          <a:latin typeface="Century Gothic"/>
                          <a:cs typeface="Century Gothic"/>
                        </a:rPr>
                        <a:t> 4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9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2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Innovation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  <a:tabLst>
                          <a:tab pos="1186815" algn="l"/>
                        </a:tabLst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Deutsche</a:t>
                      </a:r>
                      <a:r>
                        <a:rPr dirty="0" sz="1400">
                          <a:latin typeface="Century Gothic"/>
                          <a:cs typeface="Century Gothic"/>
                        </a:rPr>
                        <a:t>	</a:t>
                      </a:r>
                      <a:r>
                        <a:rPr dirty="0" sz="1400" spc="-20">
                          <a:latin typeface="Century Gothic"/>
                          <a:cs typeface="Century Gothic"/>
                        </a:rPr>
                        <a:t>Bank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400" spc="-25">
                          <a:latin typeface="Century Gothic"/>
                          <a:cs typeface="Century Gothic"/>
                        </a:rPr>
                        <a:t>(A)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10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22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Insurance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ts val="1630"/>
                        </a:lnSpc>
                      </a:pPr>
                      <a:r>
                        <a:rPr dirty="0" sz="1400" spc="-10">
                          <a:latin typeface="Century Gothic"/>
                          <a:cs typeface="Century Gothic"/>
                        </a:rPr>
                        <a:t>Lemonade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11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10260">
                        <a:lnSpc>
                          <a:spcPts val="1635"/>
                        </a:lnSpc>
                      </a:pPr>
                      <a:r>
                        <a:rPr dirty="0" sz="1400">
                          <a:latin typeface="Century Gothic"/>
                          <a:cs typeface="Century Gothic"/>
                        </a:rPr>
                        <a:t>Course</a:t>
                      </a:r>
                      <a:r>
                        <a:rPr dirty="0" sz="1400" spc="-65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dirty="0" sz="1400" spc="-10">
                          <a:latin typeface="Century Gothic"/>
                          <a:cs typeface="Century Gothic"/>
                        </a:rPr>
                        <a:t>summary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35"/>
                        </a:lnSpc>
                      </a:pPr>
                      <a:r>
                        <a:rPr dirty="0" sz="1400" spc="-25">
                          <a:latin typeface="Century Gothic"/>
                          <a:cs typeface="Century Gothic"/>
                        </a:rPr>
                        <a:t>R3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4470">
                        <a:lnSpc>
                          <a:spcPts val="1635"/>
                        </a:lnSpc>
                      </a:pPr>
                      <a:r>
                        <a:rPr dirty="0" sz="1400" spc="-50">
                          <a:latin typeface="Century Gothic"/>
                          <a:cs typeface="Century Gothic"/>
                        </a:rPr>
                        <a:t>-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Banking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0776"/>
            <a:ext cx="7954009" cy="250698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Types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Commercial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Investment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Universal</a:t>
            </a:r>
            <a:r>
              <a:rPr dirty="0" sz="2400" spc="-11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35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What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are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main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business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models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these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banks?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2613"/>
            <a:ext cx="10180320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Difference</a:t>
            </a:r>
            <a:r>
              <a:rPr dirty="0" spc="-95"/>
              <a:t> </a:t>
            </a:r>
            <a:r>
              <a:rPr dirty="0"/>
              <a:t>between</a:t>
            </a:r>
            <a:r>
              <a:rPr dirty="0" spc="-114"/>
              <a:t> </a:t>
            </a:r>
            <a:r>
              <a:rPr dirty="0"/>
              <a:t>commercial</a:t>
            </a:r>
            <a:r>
              <a:rPr dirty="0" spc="-114"/>
              <a:t> </a:t>
            </a:r>
            <a:r>
              <a:rPr dirty="0" spc="-25"/>
              <a:t>and </a:t>
            </a:r>
            <a:r>
              <a:rPr dirty="0"/>
              <a:t>investment</a:t>
            </a:r>
            <a:r>
              <a:rPr dirty="0" spc="-15"/>
              <a:t> </a:t>
            </a:r>
            <a:r>
              <a:rPr dirty="0" spc="-10"/>
              <a:t>banking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835" y="2142744"/>
            <a:ext cx="8156448" cy="3886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Banking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82292" y="1984400"/>
            <a:ext cx="9785985" cy="38684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entury Gothic"/>
                <a:cs typeface="Century Gothic"/>
              </a:rPr>
              <a:t>Why</a:t>
            </a:r>
            <a:r>
              <a:rPr dirty="0" sz="2200" spc="-2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digital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transformation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banks?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Digital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banking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needs,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Regulatory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compliance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needs,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Cost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saving?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10">
                <a:latin typeface="Century Gothic"/>
                <a:cs typeface="Century Gothic"/>
              </a:rPr>
              <a:t>mini-</a:t>
            </a:r>
            <a:r>
              <a:rPr dirty="0" sz="2200">
                <a:latin typeface="Century Gothic"/>
                <a:cs typeface="Century Gothic"/>
              </a:rPr>
              <a:t>case: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HSBC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Legacy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systems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1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entury Gothic"/>
                <a:cs typeface="Century Gothic"/>
              </a:rPr>
              <a:t>Why</a:t>
            </a:r>
            <a:r>
              <a:rPr dirty="0" sz="2200" spc="-3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clouds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for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banks?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Cloud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adoption</a:t>
            </a:r>
            <a:r>
              <a:rPr dirty="0" sz="2200" spc="-6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example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Cloud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security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91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entury Gothic"/>
                <a:cs typeface="Century Gothic"/>
              </a:rPr>
              <a:t>Case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1:</a:t>
            </a:r>
            <a:r>
              <a:rPr dirty="0" sz="2200" spc="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Akbank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Lending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5651500" cy="312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Common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loan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attributes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5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Corporate</a:t>
            </a:r>
            <a:r>
              <a:rPr dirty="0" sz="2400" spc="-12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loans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Unsecured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credit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(e.g.,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Credit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cards)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Mortgages</a:t>
            </a:r>
            <a:r>
              <a:rPr dirty="0" sz="2400" spc="-10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other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secured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credit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Crowdfunding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6087745" cy="221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Why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crowdfunding?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5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400">
                <a:latin typeface="Century Gothic"/>
                <a:cs typeface="Century Gothic"/>
              </a:rPr>
              <a:t>Types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crowdfunding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Advantages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and</a:t>
            </a:r>
            <a:r>
              <a:rPr dirty="0" sz="2400" spc="-2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Risks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Crowdfunding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BNPL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522" y="2132457"/>
            <a:ext cx="6737984" cy="312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Benefits</a:t>
            </a:r>
            <a:r>
              <a:rPr dirty="0" sz="2400" spc="-5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BNPL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5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Risks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of</a:t>
            </a:r>
            <a:r>
              <a:rPr dirty="0" sz="2400" spc="-20">
                <a:latin typeface="Century Gothic"/>
                <a:cs typeface="Century Gothic"/>
              </a:rPr>
              <a:t> BNPL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(online)</a:t>
            </a:r>
            <a:r>
              <a:rPr dirty="0" sz="2400" spc="-114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Payday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loans,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Earned</a:t>
            </a:r>
            <a:r>
              <a:rPr dirty="0" sz="2400" spc="-8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wage</a:t>
            </a:r>
            <a:r>
              <a:rPr dirty="0" sz="2400" spc="-8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access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Case</a:t>
            </a:r>
            <a:r>
              <a:rPr dirty="0" sz="2400" spc="-5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2: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Salary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Finance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4060"/>
            <a:ext cx="101790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Main</a:t>
            </a:r>
            <a:r>
              <a:rPr dirty="0" spc="-50"/>
              <a:t> </a:t>
            </a:r>
            <a:r>
              <a:rPr dirty="0"/>
              <a:t>activities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payment</a:t>
            </a:r>
            <a:r>
              <a:rPr dirty="0" spc="-40"/>
              <a:t> </a:t>
            </a:r>
            <a:r>
              <a:rPr dirty="0" spc="-1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2799"/>
            <a:ext cx="10211435" cy="352869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Payment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instruction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generation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Specification</a:t>
            </a:r>
            <a:r>
              <a:rPr dirty="0" sz="1800" spc="-8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fund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transfer</a:t>
            </a:r>
            <a:r>
              <a:rPr dirty="0" sz="1800" spc="-1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details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by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payer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E.g.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amount,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payer,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payee’s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account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information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10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Clearing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4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Process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providing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payment</a:t>
            </a:r>
            <a:r>
              <a:rPr dirty="0" sz="1800" spc="-2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instruction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information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to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clearing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house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clearing</a:t>
            </a:r>
            <a:r>
              <a:rPr dirty="0" sz="1800" spc="-8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house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matches,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reconciles,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and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sometimes</a:t>
            </a:r>
            <a:r>
              <a:rPr dirty="0" sz="1800" spc="-7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nets</a:t>
            </a:r>
            <a:r>
              <a:rPr dirty="0" sz="1800" spc="-3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payment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instructions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70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Settlement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transfer</a:t>
            </a:r>
            <a:r>
              <a:rPr dirty="0" sz="1800" spc="-1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cash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or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securities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so</a:t>
            </a:r>
            <a:r>
              <a:rPr dirty="0" sz="1800" spc="-4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that</a:t>
            </a:r>
            <a:r>
              <a:rPr dirty="0" sz="1800" spc="-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the</a:t>
            </a:r>
            <a:r>
              <a:rPr dirty="0" sz="1800" spc="-2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transfer</a:t>
            </a:r>
            <a:r>
              <a:rPr dirty="0" sz="1800" spc="-1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is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final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from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a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legal</a:t>
            </a:r>
            <a:r>
              <a:rPr dirty="0" sz="1800" spc="-3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standpoint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</a:t>
            </a:r>
            <a:r>
              <a:rPr dirty="0" spc="-20"/>
              <a:t> </a:t>
            </a:r>
            <a:r>
              <a:rPr dirty="0" spc="-10"/>
              <a:t>Technologies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7466"/>
            <a:ext cx="10377170" cy="433324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Automated</a:t>
            </a:r>
            <a:r>
              <a:rPr dirty="0" sz="2000" spc="-8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clearing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house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(ACH)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transactions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US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store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forward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system</a:t>
            </a:r>
            <a:endParaRPr sz="2000">
              <a:latin typeface="Century Gothic"/>
              <a:cs typeface="Century Gothic"/>
            </a:endParaRPr>
          </a:p>
          <a:p>
            <a:pPr marL="238760" marR="1010919" indent="-226695">
              <a:lnSpc>
                <a:spcPts val="216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ACH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files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created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originator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are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received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ODFI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0">
                <a:latin typeface="Century Gothic"/>
                <a:cs typeface="Century Gothic"/>
              </a:rPr>
              <a:t> then </a:t>
            </a:r>
            <a:r>
              <a:rPr dirty="0" sz="2000" spc="-2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forwarded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ACH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operator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10">
                <a:latin typeface="Century Gothic"/>
                <a:cs typeface="Century Gothic"/>
              </a:rPr>
              <a:t> operator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Verifies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that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formatting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correct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sets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settlement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date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value</a:t>
            </a:r>
            <a:endParaRPr sz="2000">
              <a:latin typeface="Century Gothic"/>
              <a:cs typeface="Century Gothic"/>
            </a:endParaRPr>
          </a:p>
          <a:p>
            <a:pPr marL="238760" marR="221615" indent="-226695">
              <a:lnSpc>
                <a:spcPts val="216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Extracts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entries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from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ODFI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files,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sorts,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groups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according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destination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 spc="-20">
                <a:latin typeface="Century Gothic"/>
                <a:cs typeface="Century Gothic"/>
              </a:rPr>
              <a:t>RDFI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ts val="2280"/>
              </a:lnSpc>
              <a:spcBef>
                <a:spcPts val="72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Generates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RDFI-</a:t>
            </a:r>
            <a:r>
              <a:rPr dirty="0" sz="2000">
                <a:latin typeface="Century Gothic"/>
                <a:cs typeface="Century Gothic"/>
              </a:rPr>
              <a:t>specific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files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makes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them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available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for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download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by</a:t>
            </a:r>
            <a:r>
              <a:rPr dirty="0" sz="2000" spc="-25">
                <a:latin typeface="Century Gothic"/>
                <a:cs typeface="Century Gothic"/>
              </a:rPr>
              <a:t> the</a:t>
            </a:r>
            <a:endParaRPr sz="2000">
              <a:latin typeface="Century Gothic"/>
              <a:cs typeface="Century Gothic"/>
            </a:endParaRPr>
          </a:p>
          <a:p>
            <a:pPr marL="241300">
              <a:lnSpc>
                <a:spcPts val="2280"/>
              </a:lnSpc>
            </a:pPr>
            <a:r>
              <a:rPr dirty="0" sz="2000" spc="-20">
                <a:latin typeface="Century Gothic"/>
                <a:cs typeface="Century Gothic"/>
              </a:rPr>
              <a:t>RDFI</a:t>
            </a:r>
            <a:endParaRPr sz="2000">
              <a:latin typeface="Century Gothic"/>
              <a:cs typeface="Century Gothic"/>
            </a:endParaRPr>
          </a:p>
          <a:p>
            <a:pPr marL="238760" marR="5080" indent="-226695">
              <a:lnSpc>
                <a:spcPts val="216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000">
                <a:latin typeface="Century Gothic"/>
                <a:cs typeface="Century Gothic"/>
              </a:rPr>
              <a:t>Historically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has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been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next-</a:t>
            </a:r>
            <a:r>
              <a:rPr dirty="0" sz="2000">
                <a:latin typeface="Century Gothic"/>
                <a:cs typeface="Century Gothic"/>
              </a:rPr>
              <a:t>day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payments,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but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moving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same-</a:t>
            </a:r>
            <a:r>
              <a:rPr dirty="0" sz="2000">
                <a:latin typeface="Century Gothic"/>
                <a:cs typeface="Century Gothic"/>
              </a:rPr>
              <a:t>day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and,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ultimately, </a:t>
            </a:r>
            <a:r>
              <a:rPr dirty="0" sz="2000" spc="-10">
                <a:latin typeface="Century Gothic"/>
                <a:cs typeface="Century Gothic"/>
              </a:rPr>
              <a:t>	</a:t>
            </a:r>
            <a:r>
              <a:rPr dirty="0" sz="2000">
                <a:latin typeface="Century Gothic"/>
                <a:cs typeface="Century Gothic"/>
              </a:rPr>
              <a:t>immediate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payments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741" y="2964306"/>
            <a:ext cx="203962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10">
                <a:latin typeface="Century Gothic"/>
                <a:cs typeface="Century Gothic"/>
              </a:rPr>
              <a:t>Market Participants</a:t>
            </a:r>
            <a:endParaRPr sz="28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74672" y="1348928"/>
            <a:ext cx="7801609" cy="5084445"/>
            <a:chOff x="3274672" y="1348928"/>
            <a:chExt cx="7801609" cy="50844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0150" y="1975503"/>
              <a:ext cx="1086341" cy="19961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90641" y="1967901"/>
              <a:ext cx="1085650" cy="19986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9896" y="5076104"/>
              <a:ext cx="1006877" cy="612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0411" y="5622666"/>
              <a:ext cx="1085848" cy="6820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84108" y="3887180"/>
              <a:ext cx="1047176" cy="643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9843" y="5046448"/>
              <a:ext cx="1085848" cy="6820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9843" y="5622666"/>
              <a:ext cx="1085848" cy="68208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9752" y="1354009"/>
              <a:ext cx="7791450" cy="5074285"/>
            </a:xfrm>
            <a:custGeom>
              <a:avLst/>
              <a:gdLst/>
              <a:ahLst/>
              <a:cxnLst/>
              <a:rect l="l" t="t" r="r" b="b"/>
              <a:pathLst>
                <a:path w="7791450" h="5074285">
                  <a:moveTo>
                    <a:pt x="0" y="0"/>
                  </a:moveTo>
                  <a:lnTo>
                    <a:pt x="7791307" y="0"/>
                  </a:lnTo>
                  <a:lnTo>
                    <a:pt x="7791307" y="5074013"/>
                  </a:lnTo>
                  <a:lnTo>
                    <a:pt x="0" y="50740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79752" y="1354008"/>
              <a:ext cx="7791450" cy="5074285"/>
            </a:xfrm>
            <a:custGeom>
              <a:avLst/>
              <a:gdLst/>
              <a:ahLst/>
              <a:cxnLst/>
              <a:rect l="l" t="t" r="r" b="b"/>
              <a:pathLst>
                <a:path w="7791450" h="5074285">
                  <a:moveTo>
                    <a:pt x="0" y="0"/>
                  </a:moveTo>
                  <a:lnTo>
                    <a:pt x="7791307" y="0"/>
                  </a:lnTo>
                  <a:lnTo>
                    <a:pt x="7791307" y="5074013"/>
                  </a:lnTo>
                  <a:lnTo>
                    <a:pt x="0" y="5074013"/>
                  </a:lnTo>
                  <a:lnTo>
                    <a:pt x="0" y="0"/>
                  </a:lnTo>
                  <a:close/>
                </a:path>
              </a:pathLst>
            </a:custGeom>
            <a:ln w="9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4977" y="134922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146901" y="6099895"/>
            <a:ext cx="73469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050" spc="-10" b="1">
                <a:latin typeface="Arial"/>
                <a:cs typeface="Arial"/>
              </a:rPr>
              <a:t>Regulators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25657" y="1459015"/>
            <a:ext cx="1403350" cy="2551430"/>
            <a:chOff x="9525657" y="1459015"/>
            <a:chExt cx="1403350" cy="2551430"/>
          </a:xfrm>
        </p:grpSpPr>
        <p:sp>
          <p:nvSpPr>
            <p:cNvPr id="16" name="object 16"/>
            <p:cNvSpPr/>
            <p:nvPr/>
          </p:nvSpPr>
          <p:spPr>
            <a:xfrm>
              <a:off x="9530432" y="1463794"/>
              <a:ext cx="1398905" cy="2546985"/>
            </a:xfrm>
            <a:custGeom>
              <a:avLst/>
              <a:gdLst/>
              <a:ahLst/>
              <a:cxnLst/>
              <a:rect l="l" t="t" r="r" b="b"/>
              <a:pathLst>
                <a:path w="1398904" h="2546985">
                  <a:moveTo>
                    <a:pt x="0" y="0"/>
                  </a:moveTo>
                  <a:lnTo>
                    <a:pt x="1398373" y="0"/>
                  </a:lnTo>
                  <a:lnTo>
                    <a:pt x="1398373" y="2546400"/>
                  </a:lnTo>
                  <a:lnTo>
                    <a:pt x="0" y="2546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525657" y="145901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59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530433" y="1463794"/>
            <a:ext cx="1398905" cy="2546985"/>
          </a:xfrm>
          <a:prstGeom prst="rect">
            <a:avLst/>
          </a:prstGeom>
          <a:ln w="9552">
            <a:solidFill>
              <a:srgbClr val="0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375285" marR="376555" indent="31115">
              <a:lnSpc>
                <a:spcPct val="104600"/>
              </a:lnSpc>
              <a:spcBef>
                <a:spcPts val="415"/>
              </a:spcBef>
            </a:pPr>
            <a:r>
              <a:rPr dirty="0" sz="1050" spc="-10" b="1">
                <a:latin typeface="Arial"/>
                <a:cs typeface="Arial"/>
              </a:rPr>
              <a:t>Liquidity Providers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45761" y="1467111"/>
            <a:ext cx="1403985" cy="1886585"/>
            <a:chOff x="5445761" y="1467111"/>
            <a:chExt cx="1403985" cy="1886585"/>
          </a:xfrm>
        </p:grpSpPr>
        <p:sp>
          <p:nvSpPr>
            <p:cNvPr id="20" name="object 20"/>
            <p:cNvSpPr/>
            <p:nvPr/>
          </p:nvSpPr>
          <p:spPr>
            <a:xfrm>
              <a:off x="5450536" y="1471890"/>
              <a:ext cx="1399540" cy="1881505"/>
            </a:xfrm>
            <a:custGeom>
              <a:avLst/>
              <a:gdLst/>
              <a:ahLst/>
              <a:cxnLst/>
              <a:rect l="l" t="t" r="r" b="b"/>
              <a:pathLst>
                <a:path w="1399540" h="1881504">
                  <a:moveTo>
                    <a:pt x="0" y="0"/>
                  </a:moveTo>
                  <a:lnTo>
                    <a:pt x="1399063" y="0"/>
                  </a:lnTo>
                  <a:lnTo>
                    <a:pt x="1399063" y="1881465"/>
                  </a:lnTo>
                  <a:lnTo>
                    <a:pt x="0" y="188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45761" y="146711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50537" y="1471890"/>
            <a:ext cx="1399540" cy="1881505"/>
          </a:xfrm>
          <a:prstGeom prst="rect">
            <a:avLst/>
          </a:prstGeom>
          <a:ln w="9553">
            <a:solidFill>
              <a:srgbClr val="000000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marL="221615" marR="223520" indent="173355">
              <a:lnSpc>
                <a:spcPct val="104800"/>
              </a:lnSpc>
              <a:spcBef>
                <a:spcPts val="409"/>
              </a:spcBef>
            </a:pPr>
            <a:r>
              <a:rPr dirty="0" sz="1050" spc="-10" b="1">
                <a:latin typeface="Arial"/>
                <a:cs typeface="Arial"/>
              </a:rPr>
              <a:t>Financial Intermediaries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86153" y="1458225"/>
            <a:ext cx="1403350" cy="2551430"/>
            <a:chOff x="7486153" y="1458225"/>
            <a:chExt cx="1403350" cy="2551430"/>
          </a:xfrm>
        </p:grpSpPr>
        <p:sp>
          <p:nvSpPr>
            <p:cNvPr id="24" name="object 24"/>
            <p:cNvSpPr/>
            <p:nvPr/>
          </p:nvSpPr>
          <p:spPr>
            <a:xfrm>
              <a:off x="7490928" y="1463005"/>
              <a:ext cx="1398270" cy="2546985"/>
            </a:xfrm>
            <a:custGeom>
              <a:avLst/>
              <a:gdLst/>
              <a:ahLst/>
              <a:cxnLst/>
              <a:rect l="l" t="t" r="r" b="b"/>
              <a:pathLst>
                <a:path w="1398270" h="2546985">
                  <a:moveTo>
                    <a:pt x="0" y="0"/>
                  </a:moveTo>
                  <a:lnTo>
                    <a:pt x="1398175" y="0"/>
                  </a:lnTo>
                  <a:lnTo>
                    <a:pt x="1398176" y="2546499"/>
                  </a:lnTo>
                  <a:lnTo>
                    <a:pt x="0" y="2546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86153" y="145822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59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490928" y="1463004"/>
            <a:ext cx="1398270" cy="2546985"/>
          </a:xfrm>
          <a:prstGeom prst="rect">
            <a:avLst/>
          </a:prstGeom>
          <a:ln w="9552">
            <a:solidFill>
              <a:srgbClr val="0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452120" marR="365760" indent="-88265">
              <a:lnSpc>
                <a:spcPct val="104600"/>
              </a:lnSpc>
              <a:spcBef>
                <a:spcPts val="415"/>
              </a:spcBef>
            </a:pPr>
            <a:r>
              <a:rPr dirty="0" sz="1050" spc="-10" b="1">
                <a:latin typeface="Arial"/>
                <a:cs typeface="Arial"/>
              </a:rPr>
              <a:t>Execution Venues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54088" y="2040327"/>
            <a:ext cx="866775" cy="469265"/>
            <a:chOff x="7754088" y="2040327"/>
            <a:chExt cx="866775" cy="469265"/>
          </a:xfrm>
        </p:grpSpPr>
        <p:sp>
          <p:nvSpPr>
            <p:cNvPr id="28" name="object 28"/>
            <p:cNvSpPr/>
            <p:nvPr/>
          </p:nvSpPr>
          <p:spPr>
            <a:xfrm>
              <a:off x="7758864" y="2045107"/>
              <a:ext cx="861694" cy="464820"/>
            </a:xfrm>
            <a:custGeom>
              <a:avLst/>
              <a:gdLst/>
              <a:ahLst/>
              <a:cxnLst/>
              <a:rect l="l" t="t" r="r" b="b"/>
              <a:pathLst>
                <a:path w="861695" h="464819">
                  <a:moveTo>
                    <a:pt x="0" y="0"/>
                  </a:moveTo>
                  <a:lnTo>
                    <a:pt x="861516" y="0"/>
                  </a:lnTo>
                  <a:lnTo>
                    <a:pt x="861516" y="464220"/>
                  </a:lnTo>
                  <a:lnTo>
                    <a:pt x="0" y="46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54088" y="204032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758863" y="2045107"/>
            <a:ext cx="861694" cy="464820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Exchanges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919666" y="5394465"/>
            <a:ext cx="337820" cy="631190"/>
          </a:xfrm>
          <a:custGeom>
            <a:avLst/>
            <a:gdLst/>
            <a:ahLst/>
            <a:cxnLst/>
            <a:rect l="l" t="t" r="r" b="b"/>
            <a:pathLst>
              <a:path w="337820" h="631189">
                <a:moveTo>
                  <a:pt x="187347" y="301476"/>
                </a:moveTo>
                <a:lnTo>
                  <a:pt x="151103" y="301476"/>
                </a:lnTo>
                <a:lnTo>
                  <a:pt x="151103" y="470588"/>
                </a:lnTo>
                <a:lnTo>
                  <a:pt x="45063" y="588480"/>
                </a:lnTo>
                <a:lnTo>
                  <a:pt x="40929" y="595272"/>
                </a:lnTo>
                <a:lnTo>
                  <a:pt x="39551" y="602938"/>
                </a:lnTo>
                <a:lnTo>
                  <a:pt x="40929" y="610605"/>
                </a:lnTo>
                <a:lnTo>
                  <a:pt x="45063" y="617397"/>
                </a:lnTo>
                <a:lnTo>
                  <a:pt x="51673" y="624752"/>
                </a:lnTo>
                <a:lnTo>
                  <a:pt x="58011" y="629439"/>
                </a:lnTo>
                <a:lnTo>
                  <a:pt x="65109" y="631002"/>
                </a:lnTo>
                <a:lnTo>
                  <a:pt x="72163" y="629439"/>
                </a:lnTo>
                <a:lnTo>
                  <a:pt x="78368" y="624752"/>
                </a:lnTo>
                <a:lnTo>
                  <a:pt x="168732" y="524020"/>
                </a:lnTo>
                <a:lnTo>
                  <a:pt x="234960" y="524020"/>
                </a:lnTo>
                <a:lnTo>
                  <a:pt x="187347" y="470588"/>
                </a:lnTo>
                <a:lnTo>
                  <a:pt x="187347" y="301476"/>
                </a:lnTo>
                <a:close/>
              </a:path>
              <a:path w="337820" h="631189">
                <a:moveTo>
                  <a:pt x="234960" y="524020"/>
                </a:moveTo>
                <a:lnTo>
                  <a:pt x="168732" y="524020"/>
                </a:lnTo>
                <a:lnTo>
                  <a:pt x="259836" y="624752"/>
                </a:lnTo>
                <a:lnTo>
                  <a:pt x="266162" y="629439"/>
                </a:lnTo>
                <a:lnTo>
                  <a:pt x="273179" y="631002"/>
                </a:lnTo>
                <a:lnTo>
                  <a:pt x="280013" y="629439"/>
                </a:lnTo>
                <a:lnTo>
                  <a:pt x="285791" y="624752"/>
                </a:lnTo>
                <a:lnTo>
                  <a:pt x="292400" y="617397"/>
                </a:lnTo>
                <a:lnTo>
                  <a:pt x="296673" y="610605"/>
                </a:lnTo>
                <a:lnTo>
                  <a:pt x="298097" y="602938"/>
                </a:lnTo>
                <a:lnTo>
                  <a:pt x="296673" y="595272"/>
                </a:lnTo>
                <a:lnTo>
                  <a:pt x="292400" y="588480"/>
                </a:lnTo>
                <a:lnTo>
                  <a:pt x="234960" y="524020"/>
                </a:lnTo>
                <a:close/>
              </a:path>
              <a:path w="337820" h="631189">
                <a:moveTo>
                  <a:pt x="331870" y="249516"/>
                </a:moveTo>
                <a:lnTo>
                  <a:pt x="6609" y="249516"/>
                </a:lnTo>
                <a:lnTo>
                  <a:pt x="0" y="259319"/>
                </a:lnTo>
                <a:lnTo>
                  <a:pt x="0" y="292660"/>
                </a:lnTo>
                <a:lnTo>
                  <a:pt x="6609" y="301476"/>
                </a:lnTo>
                <a:lnTo>
                  <a:pt x="331870" y="301476"/>
                </a:lnTo>
                <a:lnTo>
                  <a:pt x="337691" y="292660"/>
                </a:lnTo>
                <a:lnTo>
                  <a:pt x="337691" y="259319"/>
                </a:lnTo>
                <a:lnTo>
                  <a:pt x="331870" y="249516"/>
                </a:lnTo>
                <a:close/>
              </a:path>
              <a:path w="337820" h="631189">
                <a:moveTo>
                  <a:pt x="168732" y="0"/>
                </a:moveTo>
                <a:lnTo>
                  <a:pt x="133634" y="7552"/>
                </a:lnTo>
                <a:lnTo>
                  <a:pt x="102853" y="30210"/>
                </a:lnTo>
                <a:lnTo>
                  <a:pt x="82465" y="64645"/>
                </a:lnTo>
                <a:lnTo>
                  <a:pt x="75669" y="103849"/>
                </a:lnTo>
                <a:lnTo>
                  <a:pt x="82465" y="143110"/>
                </a:lnTo>
                <a:lnTo>
                  <a:pt x="102853" y="177710"/>
                </a:lnTo>
                <a:lnTo>
                  <a:pt x="138016" y="202007"/>
                </a:lnTo>
                <a:lnTo>
                  <a:pt x="151103" y="205897"/>
                </a:lnTo>
                <a:lnTo>
                  <a:pt x="151103" y="249516"/>
                </a:lnTo>
                <a:lnTo>
                  <a:pt x="187347" y="249516"/>
                </a:lnTo>
                <a:lnTo>
                  <a:pt x="187347" y="205897"/>
                </a:lnTo>
                <a:lnTo>
                  <a:pt x="199997" y="202007"/>
                </a:lnTo>
                <a:lnTo>
                  <a:pt x="234611" y="177710"/>
                </a:lnTo>
                <a:lnTo>
                  <a:pt x="255137" y="143110"/>
                </a:lnTo>
                <a:lnTo>
                  <a:pt x="261979" y="103849"/>
                </a:lnTo>
                <a:lnTo>
                  <a:pt x="255137" y="64645"/>
                </a:lnTo>
                <a:lnTo>
                  <a:pt x="234611" y="30210"/>
                </a:lnTo>
                <a:lnTo>
                  <a:pt x="203830" y="7552"/>
                </a:lnTo>
                <a:lnTo>
                  <a:pt x="168732" y="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779582" y="6020735"/>
            <a:ext cx="632460" cy="3067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R="5080" indent="147955">
              <a:lnSpc>
                <a:spcPct val="101099"/>
              </a:lnSpc>
              <a:spcBef>
                <a:spcPts val="120"/>
              </a:spcBef>
            </a:pPr>
            <a:r>
              <a:rPr dirty="0" sz="900" spc="-10" b="1">
                <a:latin typeface="Arial"/>
                <a:cs typeface="Arial"/>
              </a:rPr>
              <a:t>Retail Customers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90613" y="2701807"/>
            <a:ext cx="3830320" cy="469900"/>
            <a:chOff x="4790613" y="2701807"/>
            <a:chExt cx="3830320" cy="469900"/>
          </a:xfrm>
        </p:grpSpPr>
        <p:sp>
          <p:nvSpPr>
            <p:cNvPr id="34" name="object 34"/>
            <p:cNvSpPr/>
            <p:nvPr/>
          </p:nvSpPr>
          <p:spPr>
            <a:xfrm>
              <a:off x="4795693" y="2714682"/>
              <a:ext cx="611505" cy="142240"/>
            </a:xfrm>
            <a:custGeom>
              <a:avLst/>
              <a:gdLst/>
              <a:ahLst/>
              <a:cxnLst/>
              <a:rect l="l" t="t" r="r" b="b"/>
              <a:pathLst>
                <a:path w="611504" h="142239">
                  <a:moveTo>
                    <a:pt x="196413" y="5430"/>
                  </a:moveTo>
                  <a:lnTo>
                    <a:pt x="0" y="78686"/>
                  </a:lnTo>
                  <a:lnTo>
                    <a:pt x="200063" y="141675"/>
                  </a:lnTo>
                  <a:lnTo>
                    <a:pt x="199274" y="108304"/>
                  </a:lnTo>
                  <a:lnTo>
                    <a:pt x="414036" y="102479"/>
                  </a:lnTo>
                  <a:lnTo>
                    <a:pt x="506012" y="102479"/>
                  </a:lnTo>
                  <a:lnTo>
                    <a:pt x="610943" y="63284"/>
                  </a:lnTo>
                  <a:lnTo>
                    <a:pt x="536095" y="39491"/>
                  </a:lnTo>
                  <a:lnTo>
                    <a:pt x="197104" y="39491"/>
                  </a:lnTo>
                  <a:lnTo>
                    <a:pt x="196413" y="5430"/>
                  </a:lnTo>
                  <a:close/>
                </a:path>
                <a:path w="611504" h="142239">
                  <a:moveTo>
                    <a:pt x="506012" y="102479"/>
                  </a:moveTo>
                  <a:lnTo>
                    <a:pt x="414036" y="102479"/>
                  </a:lnTo>
                  <a:lnTo>
                    <a:pt x="414826" y="136541"/>
                  </a:lnTo>
                  <a:lnTo>
                    <a:pt x="506012" y="102479"/>
                  </a:lnTo>
                  <a:close/>
                </a:path>
                <a:path w="611504" h="142239">
                  <a:moveTo>
                    <a:pt x="411866" y="0"/>
                  </a:moveTo>
                  <a:lnTo>
                    <a:pt x="412655" y="33567"/>
                  </a:lnTo>
                  <a:lnTo>
                    <a:pt x="197104" y="39491"/>
                  </a:lnTo>
                  <a:lnTo>
                    <a:pt x="536095" y="39491"/>
                  </a:lnTo>
                  <a:lnTo>
                    <a:pt x="411866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795693" y="2714682"/>
              <a:ext cx="611505" cy="142240"/>
            </a:xfrm>
            <a:custGeom>
              <a:avLst/>
              <a:gdLst/>
              <a:ahLst/>
              <a:cxnLst/>
              <a:rect l="l" t="t" r="r" b="b"/>
              <a:pathLst>
                <a:path w="611504" h="142239">
                  <a:moveTo>
                    <a:pt x="0" y="78686"/>
                  </a:moveTo>
                  <a:lnTo>
                    <a:pt x="196413" y="5430"/>
                  </a:lnTo>
                  <a:lnTo>
                    <a:pt x="197104" y="39491"/>
                  </a:lnTo>
                  <a:lnTo>
                    <a:pt x="412655" y="33567"/>
                  </a:lnTo>
                  <a:lnTo>
                    <a:pt x="411866" y="0"/>
                  </a:lnTo>
                  <a:lnTo>
                    <a:pt x="610943" y="63284"/>
                  </a:lnTo>
                  <a:lnTo>
                    <a:pt x="414826" y="136541"/>
                  </a:lnTo>
                  <a:lnTo>
                    <a:pt x="414036" y="102480"/>
                  </a:lnTo>
                  <a:lnTo>
                    <a:pt x="199274" y="108304"/>
                  </a:lnTo>
                  <a:lnTo>
                    <a:pt x="200063" y="141675"/>
                  </a:lnTo>
                  <a:lnTo>
                    <a:pt x="0" y="78686"/>
                  </a:lnTo>
                  <a:close/>
                </a:path>
              </a:pathLst>
            </a:custGeom>
            <a:ln w="9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790918" y="27885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758863" y="2706587"/>
              <a:ext cx="861694" cy="465455"/>
            </a:xfrm>
            <a:custGeom>
              <a:avLst/>
              <a:gdLst/>
              <a:ahLst/>
              <a:cxnLst/>
              <a:rect l="l" t="t" r="r" b="b"/>
              <a:pathLst>
                <a:path w="861695" h="465455">
                  <a:moveTo>
                    <a:pt x="0" y="0"/>
                  </a:moveTo>
                  <a:lnTo>
                    <a:pt x="861516" y="0"/>
                  </a:lnTo>
                  <a:lnTo>
                    <a:pt x="861516" y="464911"/>
                  </a:lnTo>
                  <a:lnTo>
                    <a:pt x="0" y="464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754088" y="270180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758864" y="2706586"/>
            <a:ext cx="861694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dirty="0" sz="900" spc="-20" b="1">
                <a:latin typeface="Arial"/>
                <a:cs typeface="Arial"/>
              </a:rPr>
              <a:t>ECNs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754088" y="3353809"/>
            <a:ext cx="866775" cy="469900"/>
            <a:chOff x="7754088" y="3353809"/>
            <a:chExt cx="866775" cy="469900"/>
          </a:xfrm>
        </p:grpSpPr>
        <p:sp>
          <p:nvSpPr>
            <p:cNvPr id="41" name="object 41"/>
            <p:cNvSpPr/>
            <p:nvPr/>
          </p:nvSpPr>
          <p:spPr>
            <a:xfrm>
              <a:off x="7758864" y="3358588"/>
              <a:ext cx="861694" cy="465455"/>
            </a:xfrm>
            <a:custGeom>
              <a:avLst/>
              <a:gdLst/>
              <a:ahLst/>
              <a:cxnLst/>
              <a:rect l="l" t="t" r="r" b="b"/>
              <a:pathLst>
                <a:path w="861695" h="465454">
                  <a:moveTo>
                    <a:pt x="0" y="0"/>
                  </a:moveTo>
                  <a:lnTo>
                    <a:pt x="861516" y="0"/>
                  </a:lnTo>
                  <a:lnTo>
                    <a:pt x="861516" y="464911"/>
                  </a:lnTo>
                  <a:lnTo>
                    <a:pt x="0" y="464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754088" y="335380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758864" y="3358588"/>
            <a:ext cx="861694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Dark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Pools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80471" y="1458714"/>
            <a:ext cx="1409065" cy="3263900"/>
            <a:chOff x="3380471" y="1458714"/>
            <a:chExt cx="1409065" cy="3263900"/>
          </a:xfrm>
        </p:grpSpPr>
        <p:sp>
          <p:nvSpPr>
            <p:cNvPr id="45" name="object 45"/>
            <p:cNvSpPr/>
            <p:nvPr/>
          </p:nvSpPr>
          <p:spPr>
            <a:xfrm>
              <a:off x="3385551" y="1463794"/>
              <a:ext cx="1398905" cy="3253740"/>
            </a:xfrm>
            <a:custGeom>
              <a:avLst/>
              <a:gdLst/>
              <a:ahLst/>
              <a:cxnLst/>
              <a:rect l="l" t="t" r="r" b="b"/>
              <a:pathLst>
                <a:path w="1398904" h="3253740">
                  <a:moveTo>
                    <a:pt x="0" y="0"/>
                  </a:moveTo>
                  <a:lnTo>
                    <a:pt x="1398304" y="0"/>
                  </a:lnTo>
                  <a:lnTo>
                    <a:pt x="1398304" y="3253295"/>
                  </a:lnTo>
                  <a:lnTo>
                    <a:pt x="0" y="3253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85551" y="1463794"/>
              <a:ext cx="1398905" cy="3253740"/>
            </a:xfrm>
            <a:custGeom>
              <a:avLst/>
              <a:gdLst/>
              <a:ahLst/>
              <a:cxnLst/>
              <a:rect l="l" t="t" r="r" b="b"/>
              <a:pathLst>
                <a:path w="1398904" h="3253740">
                  <a:moveTo>
                    <a:pt x="0" y="0"/>
                  </a:moveTo>
                  <a:lnTo>
                    <a:pt x="1398304" y="0"/>
                  </a:lnTo>
                  <a:lnTo>
                    <a:pt x="1398304" y="3253295"/>
                  </a:lnTo>
                  <a:lnTo>
                    <a:pt x="0" y="3253295"/>
                  </a:lnTo>
                  <a:lnTo>
                    <a:pt x="0" y="0"/>
                  </a:lnTo>
                  <a:close/>
                </a:path>
              </a:pathLst>
            </a:custGeom>
            <a:ln w="95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380776" y="1459015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3688488" y="1506718"/>
            <a:ext cx="796290" cy="3587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0480" marR="5080" indent="-31115">
              <a:lnSpc>
                <a:spcPct val="104600"/>
              </a:lnSpc>
              <a:spcBef>
                <a:spcPts val="75"/>
              </a:spcBef>
            </a:pPr>
            <a:r>
              <a:rPr dirty="0" sz="1050" spc="-10" b="1">
                <a:latin typeface="Arial"/>
                <a:cs typeface="Arial"/>
              </a:rPr>
              <a:t>Institutional Customers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793888" y="2033022"/>
            <a:ext cx="867410" cy="469265"/>
            <a:chOff x="9793888" y="2033022"/>
            <a:chExt cx="867410" cy="469265"/>
          </a:xfrm>
        </p:grpSpPr>
        <p:sp>
          <p:nvSpPr>
            <p:cNvPr id="50" name="object 50"/>
            <p:cNvSpPr/>
            <p:nvPr/>
          </p:nvSpPr>
          <p:spPr>
            <a:xfrm>
              <a:off x="9798663" y="2037801"/>
              <a:ext cx="862330" cy="464184"/>
            </a:xfrm>
            <a:custGeom>
              <a:avLst/>
              <a:gdLst/>
              <a:ahLst/>
              <a:cxnLst/>
              <a:rect l="l" t="t" r="r" b="b"/>
              <a:pathLst>
                <a:path w="862329" h="464185">
                  <a:moveTo>
                    <a:pt x="0" y="0"/>
                  </a:moveTo>
                  <a:lnTo>
                    <a:pt x="862009" y="0"/>
                  </a:lnTo>
                  <a:lnTo>
                    <a:pt x="862009" y="464121"/>
                  </a:lnTo>
                  <a:lnTo>
                    <a:pt x="0" y="464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793888" y="2033022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9798663" y="2037801"/>
            <a:ext cx="862330" cy="464184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 marL="221615" marR="222885" indent="13335">
              <a:lnSpc>
                <a:spcPct val="100000"/>
              </a:lnSpc>
              <a:spcBef>
                <a:spcPts val="655"/>
              </a:spcBef>
            </a:pPr>
            <a:r>
              <a:rPr dirty="0" sz="900" spc="-10" b="1">
                <a:latin typeface="Arial"/>
                <a:cs typeface="Arial"/>
              </a:rPr>
              <a:t>Market Makers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9793888" y="2687097"/>
            <a:ext cx="867410" cy="469265"/>
            <a:chOff x="9793888" y="2687097"/>
            <a:chExt cx="867410" cy="469265"/>
          </a:xfrm>
        </p:grpSpPr>
        <p:sp>
          <p:nvSpPr>
            <p:cNvPr id="54" name="object 54"/>
            <p:cNvSpPr/>
            <p:nvPr/>
          </p:nvSpPr>
          <p:spPr>
            <a:xfrm>
              <a:off x="9798663" y="2691876"/>
              <a:ext cx="862330" cy="464820"/>
            </a:xfrm>
            <a:custGeom>
              <a:avLst/>
              <a:gdLst/>
              <a:ahLst/>
              <a:cxnLst/>
              <a:rect l="l" t="t" r="r" b="b"/>
              <a:pathLst>
                <a:path w="862329" h="464819">
                  <a:moveTo>
                    <a:pt x="0" y="0"/>
                  </a:moveTo>
                  <a:lnTo>
                    <a:pt x="862009" y="0"/>
                  </a:lnTo>
                  <a:lnTo>
                    <a:pt x="862009" y="464220"/>
                  </a:lnTo>
                  <a:lnTo>
                    <a:pt x="0" y="46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793888" y="268709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9798663" y="2691876"/>
            <a:ext cx="862330" cy="464820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sz="900" b="1">
                <a:latin typeface="Arial"/>
                <a:cs typeface="Arial"/>
              </a:rPr>
              <a:t>Hedge</a:t>
            </a:r>
            <a:r>
              <a:rPr dirty="0" sz="900" spc="5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9793888" y="3348577"/>
            <a:ext cx="867410" cy="469900"/>
            <a:chOff x="9793888" y="3348577"/>
            <a:chExt cx="867410" cy="469900"/>
          </a:xfrm>
        </p:grpSpPr>
        <p:sp>
          <p:nvSpPr>
            <p:cNvPr id="58" name="object 58"/>
            <p:cNvSpPr/>
            <p:nvPr/>
          </p:nvSpPr>
          <p:spPr>
            <a:xfrm>
              <a:off x="9798663" y="3353356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4">
                  <a:moveTo>
                    <a:pt x="0" y="0"/>
                  </a:moveTo>
                  <a:lnTo>
                    <a:pt x="862009" y="0"/>
                  </a:lnTo>
                  <a:lnTo>
                    <a:pt x="862009" y="465010"/>
                  </a:lnTo>
                  <a:lnTo>
                    <a:pt x="0" y="465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793888" y="334857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9798663" y="3353356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113664" marR="62230" indent="-53975">
              <a:lnSpc>
                <a:spcPct val="101099"/>
              </a:lnSpc>
              <a:spcBef>
                <a:spcPts val="645"/>
              </a:spcBef>
            </a:pPr>
            <a:r>
              <a:rPr dirty="0" sz="900" b="1">
                <a:latin typeface="Arial"/>
                <a:cs typeface="Arial"/>
              </a:rPr>
              <a:t>Prop</a:t>
            </a:r>
            <a:r>
              <a:rPr dirty="0" sz="900" spc="6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Trading Operations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649668" y="2056716"/>
            <a:ext cx="866140" cy="469900"/>
            <a:chOff x="3649668" y="2056716"/>
            <a:chExt cx="866140" cy="469900"/>
          </a:xfrm>
        </p:grpSpPr>
        <p:sp>
          <p:nvSpPr>
            <p:cNvPr id="62" name="object 62"/>
            <p:cNvSpPr/>
            <p:nvPr/>
          </p:nvSpPr>
          <p:spPr>
            <a:xfrm>
              <a:off x="3654443" y="2061496"/>
              <a:ext cx="861694" cy="465455"/>
            </a:xfrm>
            <a:custGeom>
              <a:avLst/>
              <a:gdLst/>
              <a:ahLst/>
              <a:cxnLst/>
              <a:rect l="l" t="t" r="r" b="b"/>
              <a:pathLst>
                <a:path w="861695" h="465455">
                  <a:moveTo>
                    <a:pt x="0" y="0"/>
                  </a:moveTo>
                  <a:lnTo>
                    <a:pt x="861279" y="0"/>
                  </a:lnTo>
                  <a:lnTo>
                    <a:pt x="861279" y="465010"/>
                  </a:lnTo>
                  <a:lnTo>
                    <a:pt x="0" y="4650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49668" y="2056716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3654443" y="2061496"/>
            <a:ext cx="861694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47650" marR="196850" indent="-52705">
              <a:lnSpc>
                <a:spcPct val="101000"/>
              </a:lnSpc>
              <a:spcBef>
                <a:spcPts val="645"/>
              </a:spcBef>
            </a:pPr>
            <a:r>
              <a:rPr dirty="0" sz="900" spc="-10" b="1">
                <a:latin typeface="Arial"/>
                <a:cs typeface="Arial"/>
              </a:rPr>
              <a:t>Pension Funds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649668" y="2718986"/>
            <a:ext cx="866140" cy="469900"/>
            <a:chOff x="3649668" y="2718986"/>
            <a:chExt cx="866140" cy="469900"/>
          </a:xfrm>
        </p:grpSpPr>
        <p:sp>
          <p:nvSpPr>
            <p:cNvPr id="66" name="object 66"/>
            <p:cNvSpPr/>
            <p:nvPr/>
          </p:nvSpPr>
          <p:spPr>
            <a:xfrm>
              <a:off x="3654443" y="2723765"/>
              <a:ext cx="861694" cy="465455"/>
            </a:xfrm>
            <a:custGeom>
              <a:avLst/>
              <a:gdLst/>
              <a:ahLst/>
              <a:cxnLst/>
              <a:rect l="l" t="t" r="r" b="b"/>
              <a:pathLst>
                <a:path w="861695" h="465455">
                  <a:moveTo>
                    <a:pt x="0" y="0"/>
                  </a:moveTo>
                  <a:lnTo>
                    <a:pt x="861279" y="0"/>
                  </a:lnTo>
                  <a:lnTo>
                    <a:pt x="861279" y="464911"/>
                  </a:lnTo>
                  <a:lnTo>
                    <a:pt x="0" y="464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49668" y="2718986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3654443" y="2723765"/>
            <a:ext cx="861694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06680" marR="112395" indent="38735">
              <a:lnSpc>
                <a:spcPct val="100000"/>
              </a:lnSpc>
              <a:spcBef>
                <a:spcPts val="660"/>
              </a:spcBef>
            </a:pPr>
            <a:r>
              <a:rPr dirty="0" sz="900" spc="-10" b="1">
                <a:latin typeface="Arial"/>
                <a:cs typeface="Arial"/>
              </a:rPr>
              <a:t>Insurance Companies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649363" y="3371082"/>
            <a:ext cx="871855" cy="474980"/>
            <a:chOff x="3649363" y="3371082"/>
            <a:chExt cx="871855" cy="474980"/>
          </a:xfrm>
        </p:grpSpPr>
        <p:sp>
          <p:nvSpPr>
            <p:cNvPr id="70" name="object 70"/>
            <p:cNvSpPr/>
            <p:nvPr/>
          </p:nvSpPr>
          <p:spPr>
            <a:xfrm>
              <a:off x="3654443" y="3376162"/>
              <a:ext cx="861694" cy="464820"/>
            </a:xfrm>
            <a:custGeom>
              <a:avLst/>
              <a:gdLst/>
              <a:ahLst/>
              <a:cxnLst/>
              <a:rect l="l" t="t" r="r" b="b"/>
              <a:pathLst>
                <a:path w="861695" h="464820">
                  <a:moveTo>
                    <a:pt x="0" y="0"/>
                  </a:moveTo>
                  <a:lnTo>
                    <a:pt x="861279" y="0"/>
                  </a:lnTo>
                  <a:lnTo>
                    <a:pt x="861279" y="464418"/>
                  </a:lnTo>
                  <a:lnTo>
                    <a:pt x="0" y="464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54443" y="3376162"/>
              <a:ext cx="861694" cy="464820"/>
            </a:xfrm>
            <a:custGeom>
              <a:avLst/>
              <a:gdLst/>
              <a:ahLst/>
              <a:cxnLst/>
              <a:rect l="l" t="t" r="r" b="b"/>
              <a:pathLst>
                <a:path w="861695" h="464820">
                  <a:moveTo>
                    <a:pt x="0" y="0"/>
                  </a:moveTo>
                  <a:lnTo>
                    <a:pt x="861279" y="0"/>
                  </a:lnTo>
                  <a:lnTo>
                    <a:pt x="861279" y="464418"/>
                  </a:lnTo>
                  <a:lnTo>
                    <a:pt x="0" y="464418"/>
                  </a:lnTo>
                  <a:lnTo>
                    <a:pt x="0" y="0"/>
                  </a:lnTo>
                  <a:close/>
                </a:path>
              </a:pathLst>
            </a:custGeom>
            <a:ln w="9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49668" y="337138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3899580" y="3442889"/>
            <a:ext cx="37274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" marR="5080" indent="-3175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latin typeface="Arial"/>
                <a:cs typeface="Arial"/>
              </a:rPr>
              <a:t>Hedge Funds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649364" y="4024466"/>
            <a:ext cx="871855" cy="474980"/>
            <a:chOff x="3649364" y="4024466"/>
            <a:chExt cx="871855" cy="474980"/>
          </a:xfrm>
        </p:grpSpPr>
        <p:sp>
          <p:nvSpPr>
            <p:cNvPr id="75" name="object 75"/>
            <p:cNvSpPr/>
            <p:nvPr/>
          </p:nvSpPr>
          <p:spPr>
            <a:xfrm>
              <a:off x="3654444" y="4029546"/>
              <a:ext cx="861694" cy="464820"/>
            </a:xfrm>
            <a:custGeom>
              <a:avLst/>
              <a:gdLst/>
              <a:ahLst/>
              <a:cxnLst/>
              <a:rect l="l" t="t" r="r" b="b"/>
              <a:pathLst>
                <a:path w="861695" h="464820">
                  <a:moveTo>
                    <a:pt x="0" y="0"/>
                  </a:moveTo>
                  <a:lnTo>
                    <a:pt x="861279" y="0"/>
                  </a:lnTo>
                  <a:lnTo>
                    <a:pt x="861279" y="464220"/>
                  </a:lnTo>
                  <a:lnTo>
                    <a:pt x="0" y="46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654444" y="4029546"/>
              <a:ext cx="861694" cy="464820"/>
            </a:xfrm>
            <a:custGeom>
              <a:avLst/>
              <a:gdLst/>
              <a:ahLst/>
              <a:cxnLst/>
              <a:rect l="l" t="t" r="r" b="b"/>
              <a:pathLst>
                <a:path w="861695" h="464820">
                  <a:moveTo>
                    <a:pt x="0" y="0"/>
                  </a:moveTo>
                  <a:lnTo>
                    <a:pt x="861279" y="0"/>
                  </a:lnTo>
                  <a:lnTo>
                    <a:pt x="861279" y="464220"/>
                  </a:lnTo>
                  <a:lnTo>
                    <a:pt x="0" y="464220"/>
                  </a:lnTo>
                  <a:lnTo>
                    <a:pt x="0" y="0"/>
                  </a:lnTo>
                  <a:close/>
                </a:path>
              </a:pathLst>
            </a:custGeom>
            <a:ln w="95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649668" y="402476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3695097" y="4096273"/>
            <a:ext cx="78295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875" marR="5080" indent="-16510">
              <a:lnSpc>
                <a:spcPct val="100000"/>
              </a:lnSpc>
              <a:spcBef>
                <a:spcPts val="135"/>
              </a:spcBef>
            </a:pPr>
            <a:r>
              <a:rPr dirty="0" sz="900" b="1">
                <a:latin typeface="Arial"/>
                <a:cs typeface="Arial"/>
              </a:rPr>
              <a:t>Mutual</a:t>
            </a:r>
            <a:r>
              <a:rPr dirty="0" sz="900" spc="7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Funds </a:t>
            </a:r>
            <a:r>
              <a:rPr dirty="0" sz="900" b="1">
                <a:latin typeface="Arial"/>
                <a:cs typeface="Arial"/>
              </a:rPr>
              <a:t>&amp;</a:t>
            </a:r>
            <a:r>
              <a:rPr dirty="0" sz="900" spc="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Unit</a:t>
            </a:r>
            <a:r>
              <a:rPr dirty="0" sz="900" spc="4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Trusts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716064" y="2053063"/>
            <a:ext cx="867410" cy="469900"/>
            <a:chOff x="5716064" y="2053063"/>
            <a:chExt cx="867410" cy="469900"/>
          </a:xfrm>
        </p:grpSpPr>
        <p:sp>
          <p:nvSpPr>
            <p:cNvPr id="80" name="object 80"/>
            <p:cNvSpPr/>
            <p:nvPr/>
          </p:nvSpPr>
          <p:spPr>
            <a:xfrm>
              <a:off x="5720839" y="2057843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5">
                  <a:moveTo>
                    <a:pt x="0" y="0"/>
                  </a:moveTo>
                  <a:lnTo>
                    <a:pt x="862108" y="0"/>
                  </a:lnTo>
                  <a:lnTo>
                    <a:pt x="862108" y="464911"/>
                  </a:lnTo>
                  <a:lnTo>
                    <a:pt x="0" y="4649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716064" y="205306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5720839" y="2057843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02565" marR="193675" indent="-13335">
              <a:lnSpc>
                <a:spcPct val="101200"/>
              </a:lnSpc>
              <a:spcBef>
                <a:spcPts val="645"/>
              </a:spcBef>
            </a:pP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716064" y="2716024"/>
            <a:ext cx="867410" cy="469265"/>
            <a:chOff x="5716064" y="2716024"/>
            <a:chExt cx="867410" cy="469265"/>
          </a:xfrm>
        </p:grpSpPr>
        <p:sp>
          <p:nvSpPr>
            <p:cNvPr id="84" name="object 84"/>
            <p:cNvSpPr/>
            <p:nvPr/>
          </p:nvSpPr>
          <p:spPr>
            <a:xfrm>
              <a:off x="5720839" y="2720804"/>
              <a:ext cx="862330" cy="464820"/>
            </a:xfrm>
            <a:custGeom>
              <a:avLst/>
              <a:gdLst/>
              <a:ahLst/>
              <a:cxnLst/>
              <a:rect l="l" t="t" r="r" b="b"/>
              <a:pathLst>
                <a:path w="862329" h="464819">
                  <a:moveTo>
                    <a:pt x="0" y="0"/>
                  </a:moveTo>
                  <a:lnTo>
                    <a:pt x="862108" y="0"/>
                  </a:lnTo>
                  <a:lnTo>
                    <a:pt x="862108" y="464220"/>
                  </a:lnTo>
                  <a:lnTo>
                    <a:pt x="0" y="46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716064" y="271602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5720839" y="2720803"/>
            <a:ext cx="862330" cy="464820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 marL="202565" marR="65405" indent="-138430">
              <a:lnSpc>
                <a:spcPct val="100000"/>
              </a:lnSpc>
              <a:spcBef>
                <a:spcPts val="655"/>
              </a:spcBef>
            </a:pPr>
            <a:r>
              <a:rPr dirty="0" sz="900" b="1">
                <a:latin typeface="Arial"/>
                <a:cs typeface="Arial"/>
              </a:rPr>
              <a:t>Non-</a:t>
            </a:r>
            <a:r>
              <a:rPr dirty="0" sz="900" spc="-10" b="1">
                <a:latin typeface="Arial"/>
                <a:cs typeface="Arial"/>
              </a:rPr>
              <a:t>clearing Brokers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474490" y="2709602"/>
            <a:ext cx="3041015" cy="3639820"/>
            <a:chOff x="6474490" y="2709602"/>
            <a:chExt cx="3041015" cy="3639820"/>
          </a:xfrm>
        </p:grpSpPr>
        <p:sp>
          <p:nvSpPr>
            <p:cNvPr id="88" name="object 88"/>
            <p:cNvSpPr/>
            <p:nvPr/>
          </p:nvSpPr>
          <p:spPr>
            <a:xfrm>
              <a:off x="6870120" y="2714682"/>
              <a:ext cx="611505" cy="142240"/>
            </a:xfrm>
            <a:custGeom>
              <a:avLst/>
              <a:gdLst/>
              <a:ahLst/>
              <a:cxnLst/>
              <a:rect l="l" t="t" r="r" b="b"/>
              <a:pathLst>
                <a:path w="611504" h="142239">
                  <a:moveTo>
                    <a:pt x="196413" y="5430"/>
                  </a:moveTo>
                  <a:lnTo>
                    <a:pt x="0" y="78686"/>
                  </a:lnTo>
                  <a:lnTo>
                    <a:pt x="200162" y="141675"/>
                  </a:lnTo>
                  <a:lnTo>
                    <a:pt x="199373" y="108304"/>
                  </a:lnTo>
                  <a:lnTo>
                    <a:pt x="414135" y="102479"/>
                  </a:lnTo>
                  <a:lnTo>
                    <a:pt x="506111" y="102479"/>
                  </a:lnTo>
                  <a:lnTo>
                    <a:pt x="611042" y="63284"/>
                  </a:lnTo>
                  <a:lnTo>
                    <a:pt x="536194" y="39491"/>
                  </a:lnTo>
                  <a:lnTo>
                    <a:pt x="197202" y="39491"/>
                  </a:lnTo>
                  <a:lnTo>
                    <a:pt x="196413" y="5430"/>
                  </a:lnTo>
                  <a:close/>
                </a:path>
                <a:path w="611504" h="142239">
                  <a:moveTo>
                    <a:pt x="506111" y="102479"/>
                  </a:moveTo>
                  <a:lnTo>
                    <a:pt x="414135" y="102479"/>
                  </a:lnTo>
                  <a:lnTo>
                    <a:pt x="414924" y="136541"/>
                  </a:lnTo>
                  <a:lnTo>
                    <a:pt x="506111" y="102479"/>
                  </a:lnTo>
                  <a:close/>
                </a:path>
                <a:path w="611504" h="142239">
                  <a:moveTo>
                    <a:pt x="411965" y="0"/>
                  </a:moveTo>
                  <a:lnTo>
                    <a:pt x="412655" y="33567"/>
                  </a:lnTo>
                  <a:lnTo>
                    <a:pt x="197202" y="39491"/>
                  </a:lnTo>
                  <a:lnTo>
                    <a:pt x="536194" y="39491"/>
                  </a:lnTo>
                  <a:lnTo>
                    <a:pt x="411965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870120" y="2714682"/>
              <a:ext cx="611505" cy="142240"/>
            </a:xfrm>
            <a:custGeom>
              <a:avLst/>
              <a:gdLst/>
              <a:ahLst/>
              <a:cxnLst/>
              <a:rect l="l" t="t" r="r" b="b"/>
              <a:pathLst>
                <a:path w="611504" h="142239">
                  <a:moveTo>
                    <a:pt x="0" y="78686"/>
                  </a:moveTo>
                  <a:lnTo>
                    <a:pt x="196413" y="5430"/>
                  </a:lnTo>
                  <a:lnTo>
                    <a:pt x="197202" y="39491"/>
                  </a:lnTo>
                  <a:lnTo>
                    <a:pt x="412655" y="33567"/>
                  </a:lnTo>
                  <a:lnTo>
                    <a:pt x="411965" y="0"/>
                  </a:lnTo>
                  <a:lnTo>
                    <a:pt x="611042" y="63284"/>
                  </a:lnTo>
                  <a:lnTo>
                    <a:pt x="414924" y="136541"/>
                  </a:lnTo>
                  <a:lnTo>
                    <a:pt x="414135" y="102480"/>
                  </a:lnTo>
                  <a:lnTo>
                    <a:pt x="199373" y="108304"/>
                  </a:lnTo>
                  <a:lnTo>
                    <a:pt x="200162" y="141675"/>
                  </a:lnTo>
                  <a:lnTo>
                    <a:pt x="0" y="78686"/>
                  </a:lnTo>
                  <a:close/>
                </a:path>
              </a:pathLst>
            </a:custGeom>
            <a:ln w="9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6865344" y="27885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898180" y="2714682"/>
              <a:ext cx="612140" cy="142240"/>
            </a:xfrm>
            <a:custGeom>
              <a:avLst/>
              <a:gdLst/>
              <a:ahLst/>
              <a:cxnLst/>
              <a:rect l="l" t="t" r="r" b="b"/>
              <a:pathLst>
                <a:path w="612140" h="142239">
                  <a:moveTo>
                    <a:pt x="196117" y="5430"/>
                  </a:moveTo>
                  <a:lnTo>
                    <a:pt x="0" y="78686"/>
                  </a:lnTo>
                  <a:lnTo>
                    <a:pt x="199767" y="141675"/>
                  </a:lnTo>
                  <a:lnTo>
                    <a:pt x="199077" y="108304"/>
                  </a:lnTo>
                  <a:lnTo>
                    <a:pt x="414530" y="102479"/>
                  </a:lnTo>
                  <a:lnTo>
                    <a:pt x="506643" y="102479"/>
                  </a:lnTo>
                  <a:lnTo>
                    <a:pt x="611732" y="63284"/>
                  </a:lnTo>
                  <a:lnTo>
                    <a:pt x="536513" y="39491"/>
                  </a:lnTo>
                  <a:lnTo>
                    <a:pt x="196808" y="39491"/>
                  </a:lnTo>
                  <a:lnTo>
                    <a:pt x="196117" y="5430"/>
                  </a:lnTo>
                  <a:close/>
                </a:path>
                <a:path w="612140" h="142239">
                  <a:moveTo>
                    <a:pt x="506643" y="102479"/>
                  </a:moveTo>
                  <a:lnTo>
                    <a:pt x="414530" y="102479"/>
                  </a:lnTo>
                  <a:lnTo>
                    <a:pt x="415319" y="136541"/>
                  </a:lnTo>
                  <a:lnTo>
                    <a:pt x="506643" y="102479"/>
                  </a:lnTo>
                  <a:close/>
                </a:path>
                <a:path w="612140" h="142239">
                  <a:moveTo>
                    <a:pt x="411669" y="0"/>
                  </a:moveTo>
                  <a:lnTo>
                    <a:pt x="412359" y="33567"/>
                  </a:lnTo>
                  <a:lnTo>
                    <a:pt x="196808" y="39491"/>
                  </a:lnTo>
                  <a:lnTo>
                    <a:pt x="536513" y="39491"/>
                  </a:lnTo>
                  <a:lnTo>
                    <a:pt x="411669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898180" y="2714682"/>
              <a:ext cx="612140" cy="142240"/>
            </a:xfrm>
            <a:custGeom>
              <a:avLst/>
              <a:gdLst/>
              <a:ahLst/>
              <a:cxnLst/>
              <a:rect l="l" t="t" r="r" b="b"/>
              <a:pathLst>
                <a:path w="612140" h="142239">
                  <a:moveTo>
                    <a:pt x="0" y="78686"/>
                  </a:moveTo>
                  <a:lnTo>
                    <a:pt x="196117" y="5430"/>
                  </a:lnTo>
                  <a:lnTo>
                    <a:pt x="196808" y="39491"/>
                  </a:lnTo>
                  <a:lnTo>
                    <a:pt x="412359" y="33567"/>
                  </a:lnTo>
                  <a:lnTo>
                    <a:pt x="411669" y="0"/>
                  </a:lnTo>
                  <a:lnTo>
                    <a:pt x="611732" y="63284"/>
                  </a:lnTo>
                  <a:lnTo>
                    <a:pt x="415319" y="136541"/>
                  </a:lnTo>
                  <a:lnTo>
                    <a:pt x="414530" y="102480"/>
                  </a:lnTo>
                  <a:lnTo>
                    <a:pt x="199077" y="108304"/>
                  </a:lnTo>
                  <a:lnTo>
                    <a:pt x="199767" y="141675"/>
                  </a:lnTo>
                  <a:lnTo>
                    <a:pt x="0" y="78686"/>
                  </a:lnTo>
                  <a:close/>
                </a:path>
              </a:pathLst>
            </a:custGeom>
            <a:ln w="9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893405" y="2788589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479266" y="4589632"/>
              <a:ext cx="2410460" cy="1760220"/>
            </a:xfrm>
            <a:custGeom>
              <a:avLst/>
              <a:gdLst/>
              <a:ahLst/>
              <a:cxnLst/>
              <a:rect l="l" t="t" r="r" b="b"/>
              <a:pathLst>
                <a:path w="2410459" h="1760220">
                  <a:moveTo>
                    <a:pt x="0" y="0"/>
                  </a:moveTo>
                  <a:lnTo>
                    <a:pt x="2409838" y="0"/>
                  </a:lnTo>
                  <a:lnTo>
                    <a:pt x="2409838" y="1759716"/>
                  </a:lnTo>
                  <a:lnTo>
                    <a:pt x="0" y="1759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474490" y="458485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6479266" y="4589632"/>
            <a:ext cx="2410460" cy="1760220"/>
          </a:xfrm>
          <a:prstGeom prst="rect">
            <a:avLst/>
          </a:prstGeom>
          <a:ln w="9555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algn="ctr" marL="804545" marR="805815" indent="-635">
              <a:lnSpc>
                <a:spcPct val="105200"/>
              </a:lnSpc>
              <a:spcBef>
                <a:spcPts val="400"/>
              </a:spcBef>
            </a:pPr>
            <a:r>
              <a:rPr dirty="0" sz="1050" spc="-10" b="1">
                <a:latin typeface="Arial"/>
                <a:cs typeface="Arial"/>
              </a:rPr>
              <a:t>Other Participants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7763954" y="5110581"/>
            <a:ext cx="867410" cy="469900"/>
            <a:chOff x="7763954" y="5110581"/>
            <a:chExt cx="867410" cy="469900"/>
          </a:xfrm>
        </p:grpSpPr>
        <p:sp>
          <p:nvSpPr>
            <p:cNvPr id="98" name="object 98"/>
            <p:cNvSpPr/>
            <p:nvPr/>
          </p:nvSpPr>
          <p:spPr>
            <a:xfrm>
              <a:off x="7768729" y="5115360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4">
                  <a:moveTo>
                    <a:pt x="0" y="0"/>
                  </a:moveTo>
                  <a:lnTo>
                    <a:pt x="862009" y="0"/>
                  </a:lnTo>
                  <a:lnTo>
                    <a:pt x="862009" y="464901"/>
                  </a:lnTo>
                  <a:lnTo>
                    <a:pt x="0" y="464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763954" y="511058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7768728" y="5115360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L="179705" marR="180975" indent="-635">
              <a:lnSpc>
                <a:spcPct val="100899"/>
              </a:lnSpc>
              <a:spcBef>
                <a:spcPts val="105"/>
              </a:spcBef>
            </a:pPr>
            <a:r>
              <a:rPr dirty="0" sz="900" spc="-10" b="1">
                <a:latin typeface="Arial"/>
                <a:cs typeface="Arial"/>
              </a:rPr>
              <a:t>Central Counter-parties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763954" y="5686750"/>
            <a:ext cx="867410" cy="469900"/>
            <a:chOff x="7763954" y="5686750"/>
            <a:chExt cx="867410" cy="469900"/>
          </a:xfrm>
        </p:grpSpPr>
        <p:sp>
          <p:nvSpPr>
            <p:cNvPr id="102" name="object 102"/>
            <p:cNvSpPr/>
            <p:nvPr/>
          </p:nvSpPr>
          <p:spPr>
            <a:xfrm>
              <a:off x="7768729" y="5691529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4">
                  <a:moveTo>
                    <a:pt x="0" y="0"/>
                  </a:moveTo>
                  <a:lnTo>
                    <a:pt x="862009" y="0"/>
                  </a:lnTo>
                  <a:lnTo>
                    <a:pt x="862009" y="464931"/>
                  </a:lnTo>
                  <a:lnTo>
                    <a:pt x="0" y="464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7763954" y="5686750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7768729" y="5691529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algn="ctr" marL="66675" marR="68580" indent="-635">
              <a:lnSpc>
                <a:spcPct val="100899"/>
              </a:lnSpc>
              <a:spcBef>
                <a:spcPts val="105"/>
              </a:spcBef>
            </a:pPr>
            <a:r>
              <a:rPr dirty="0" sz="900" spc="-10" b="1">
                <a:latin typeface="Arial"/>
                <a:cs typeface="Arial"/>
              </a:rPr>
              <a:t>Central Securities Depositories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4015239" y="3334849"/>
            <a:ext cx="4245610" cy="2060575"/>
            <a:chOff x="4015239" y="3334849"/>
            <a:chExt cx="4245610" cy="2060575"/>
          </a:xfrm>
        </p:grpSpPr>
        <p:sp>
          <p:nvSpPr>
            <p:cNvPr id="106" name="object 106"/>
            <p:cNvSpPr/>
            <p:nvPr/>
          </p:nvSpPr>
          <p:spPr>
            <a:xfrm>
              <a:off x="4020319" y="4751842"/>
              <a:ext cx="136525" cy="612775"/>
            </a:xfrm>
            <a:custGeom>
              <a:avLst/>
              <a:gdLst/>
              <a:ahLst/>
              <a:cxnLst/>
              <a:rect l="l" t="t" r="r" b="b"/>
              <a:pathLst>
                <a:path w="136525" h="612775">
                  <a:moveTo>
                    <a:pt x="136404" y="413967"/>
                  </a:moveTo>
                  <a:lnTo>
                    <a:pt x="0" y="413967"/>
                  </a:lnTo>
                  <a:lnTo>
                    <a:pt x="68078" y="612707"/>
                  </a:lnTo>
                  <a:lnTo>
                    <a:pt x="136404" y="413967"/>
                  </a:lnTo>
                  <a:close/>
                </a:path>
                <a:path w="136525" h="612775">
                  <a:moveTo>
                    <a:pt x="102853" y="198740"/>
                  </a:moveTo>
                  <a:lnTo>
                    <a:pt x="33304" y="198740"/>
                  </a:lnTo>
                  <a:lnTo>
                    <a:pt x="33304" y="413967"/>
                  </a:lnTo>
                  <a:lnTo>
                    <a:pt x="102853" y="413967"/>
                  </a:lnTo>
                  <a:lnTo>
                    <a:pt x="102853" y="198740"/>
                  </a:lnTo>
                  <a:close/>
                </a:path>
                <a:path w="136525" h="612775">
                  <a:moveTo>
                    <a:pt x="68078" y="0"/>
                  </a:moveTo>
                  <a:lnTo>
                    <a:pt x="0" y="198740"/>
                  </a:lnTo>
                  <a:lnTo>
                    <a:pt x="136404" y="198740"/>
                  </a:lnTo>
                  <a:lnTo>
                    <a:pt x="68078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20319" y="4751842"/>
              <a:ext cx="136525" cy="612775"/>
            </a:xfrm>
            <a:custGeom>
              <a:avLst/>
              <a:gdLst/>
              <a:ahLst/>
              <a:cxnLst/>
              <a:rect l="l" t="t" r="r" b="b"/>
              <a:pathLst>
                <a:path w="136525" h="612775">
                  <a:moveTo>
                    <a:pt x="68078" y="0"/>
                  </a:moveTo>
                  <a:lnTo>
                    <a:pt x="136404" y="198740"/>
                  </a:lnTo>
                  <a:lnTo>
                    <a:pt x="102853" y="198740"/>
                  </a:lnTo>
                  <a:lnTo>
                    <a:pt x="102853" y="413967"/>
                  </a:lnTo>
                  <a:lnTo>
                    <a:pt x="136404" y="413967"/>
                  </a:lnTo>
                  <a:lnTo>
                    <a:pt x="68078" y="612707"/>
                  </a:lnTo>
                  <a:lnTo>
                    <a:pt x="0" y="413967"/>
                  </a:lnTo>
                  <a:lnTo>
                    <a:pt x="33304" y="413967"/>
                  </a:lnTo>
                  <a:lnTo>
                    <a:pt x="33304" y="198740"/>
                  </a:lnTo>
                  <a:lnTo>
                    <a:pt x="0" y="198740"/>
                  </a:lnTo>
                  <a:lnTo>
                    <a:pt x="68078" y="0"/>
                  </a:lnTo>
                  <a:close/>
                </a:path>
              </a:pathLst>
            </a:custGeom>
            <a:ln w="9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83622" y="474706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247788" y="3353356"/>
              <a:ext cx="1915160" cy="2037080"/>
            </a:xfrm>
            <a:custGeom>
              <a:avLst/>
              <a:gdLst/>
              <a:ahLst/>
              <a:cxnLst/>
              <a:rect l="l" t="t" r="r" b="b"/>
              <a:pathLst>
                <a:path w="1915160" h="2037079">
                  <a:moveTo>
                    <a:pt x="85727" y="1845824"/>
                  </a:moveTo>
                  <a:lnTo>
                    <a:pt x="0" y="2036962"/>
                  </a:lnTo>
                  <a:lnTo>
                    <a:pt x="185167" y="1939221"/>
                  </a:lnTo>
                  <a:lnTo>
                    <a:pt x="160701" y="1916119"/>
                  </a:lnTo>
                  <a:lnTo>
                    <a:pt x="205185" y="1868828"/>
                  </a:lnTo>
                  <a:lnTo>
                    <a:pt x="110192" y="1868828"/>
                  </a:lnTo>
                  <a:lnTo>
                    <a:pt x="85727" y="1845824"/>
                  </a:lnTo>
                  <a:close/>
                </a:path>
                <a:path w="1915160" h="2037079">
                  <a:moveTo>
                    <a:pt x="1915105" y="0"/>
                  </a:moveTo>
                  <a:lnTo>
                    <a:pt x="1729937" y="97049"/>
                  </a:lnTo>
                  <a:lnTo>
                    <a:pt x="1754502" y="120152"/>
                  </a:lnTo>
                  <a:lnTo>
                    <a:pt x="110192" y="1868828"/>
                  </a:lnTo>
                  <a:lnTo>
                    <a:pt x="205185" y="1868828"/>
                  </a:lnTo>
                  <a:lnTo>
                    <a:pt x="1804912" y="168134"/>
                  </a:lnTo>
                  <a:lnTo>
                    <a:pt x="1839560" y="168134"/>
                  </a:lnTo>
                  <a:lnTo>
                    <a:pt x="1915105" y="0"/>
                  </a:lnTo>
                  <a:close/>
                </a:path>
                <a:path w="1915160" h="2037079">
                  <a:moveTo>
                    <a:pt x="1839560" y="168134"/>
                  </a:moveTo>
                  <a:lnTo>
                    <a:pt x="1804912" y="168134"/>
                  </a:lnTo>
                  <a:lnTo>
                    <a:pt x="1829180" y="191236"/>
                  </a:lnTo>
                  <a:lnTo>
                    <a:pt x="1839560" y="168134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247788" y="3353356"/>
              <a:ext cx="1915160" cy="2037080"/>
            </a:xfrm>
            <a:custGeom>
              <a:avLst/>
              <a:gdLst/>
              <a:ahLst/>
              <a:cxnLst/>
              <a:rect l="l" t="t" r="r" b="b"/>
              <a:pathLst>
                <a:path w="1915160" h="2037079">
                  <a:moveTo>
                    <a:pt x="1915105" y="0"/>
                  </a:moveTo>
                  <a:lnTo>
                    <a:pt x="1829180" y="191236"/>
                  </a:lnTo>
                  <a:lnTo>
                    <a:pt x="1804912" y="168134"/>
                  </a:lnTo>
                  <a:lnTo>
                    <a:pt x="160701" y="1916119"/>
                  </a:lnTo>
                  <a:lnTo>
                    <a:pt x="185167" y="1939221"/>
                  </a:lnTo>
                  <a:lnTo>
                    <a:pt x="0" y="2036962"/>
                  </a:lnTo>
                  <a:lnTo>
                    <a:pt x="85727" y="1845824"/>
                  </a:lnTo>
                  <a:lnTo>
                    <a:pt x="110192" y="1868828"/>
                  </a:lnTo>
                  <a:lnTo>
                    <a:pt x="1754501" y="120152"/>
                  </a:lnTo>
                  <a:lnTo>
                    <a:pt x="1729937" y="97049"/>
                  </a:lnTo>
                  <a:lnTo>
                    <a:pt x="1915105" y="0"/>
                  </a:lnTo>
                  <a:close/>
                </a:path>
              </a:pathLst>
            </a:custGeom>
            <a:ln w="9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158117" y="3348577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6842695" y="3339929"/>
              <a:ext cx="398780" cy="1244600"/>
            </a:xfrm>
            <a:custGeom>
              <a:avLst/>
              <a:gdLst/>
              <a:ahLst/>
              <a:cxnLst/>
              <a:rect l="l" t="t" r="r" b="b"/>
              <a:pathLst>
                <a:path w="398779" h="1244600">
                  <a:moveTo>
                    <a:pt x="104984" y="199529"/>
                  </a:moveTo>
                  <a:lnTo>
                    <a:pt x="31864" y="199529"/>
                  </a:lnTo>
                  <a:lnTo>
                    <a:pt x="300785" y="1065673"/>
                  </a:lnTo>
                  <a:lnTo>
                    <a:pt x="268231" y="1075447"/>
                  </a:lnTo>
                  <a:lnTo>
                    <a:pt x="391840" y="1244273"/>
                  </a:lnTo>
                  <a:lnTo>
                    <a:pt x="398123" y="1044841"/>
                  </a:lnTo>
                  <a:lnTo>
                    <a:pt x="366684" y="1044841"/>
                  </a:lnTo>
                  <a:lnTo>
                    <a:pt x="104984" y="199529"/>
                  </a:lnTo>
                  <a:close/>
                </a:path>
                <a:path w="398779" h="1244600">
                  <a:moveTo>
                    <a:pt x="398450" y="1034475"/>
                  </a:moveTo>
                  <a:lnTo>
                    <a:pt x="366684" y="1044841"/>
                  </a:lnTo>
                  <a:lnTo>
                    <a:pt x="398123" y="1044841"/>
                  </a:lnTo>
                  <a:lnTo>
                    <a:pt x="398450" y="1034475"/>
                  </a:lnTo>
                  <a:close/>
                </a:path>
                <a:path w="398779" h="1244600">
                  <a:moveTo>
                    <a:pt x="6905" y="0"/>
                  </a:moveTo>
                  <a:lnTo>
                    <a:pt x="0" y="209797"/>
                  </a:lnTo>
                  <a:lnTo>
                    <a:pt x="31864" y="199529"/>
                  </a:lnTo>
                  <a:lnTo>
                    <a:pt x="104984" y="199529"/>
                  </a:lnTo>
                  <a:lnTo>
                    <a:pt x="98749" y="179389"/>
                  </a:lnTo>
                  <a:lnTo>
                    <a:pt x="130613" y="169121"/>
                  </a:lnTo>
                  <a:lnTo>
                    <a:pt x="6905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842695" y="3339929"/>
              <a:ext cx="398780" cy="1244600"/>
            </a:xfrm>
            <a:custGeom>
              <a:avLst/>
              <a:gdLst/>
              <a:ahLst/>
              <a:cxnLst/>
              <a:rect l="l" t="t" r="r" b="b"/>
              <a:pathLst>
                <a:path w="398779" h="1244600">
                  <a:moveTo>
                    <a:pt x="391840" y="1244273"/>
                  </a:moveTo>
                  <a:lnTo>
                    <a:pt x="268231" y="1075447"/>
                  </a:lnTo>
                  <a:lnTo>
                    <a:pt x="300785" y="1065673"/>
                  </a:lnTo>
                  <a:lnTo>
                    <a:pt x="31864" y="199529"/>
                  </a:lnTo>
                  <a:lnTo>
                    <a:pt x="0" y="209797"/>
                  </a:lnTo>
                  <a:lnTo>
                    <a:pt x="6905" y="0"/>
                  </a:lnTo>
                  <a:lnTo>
                    <a:pt x="130613" y="169121"/>
                  </a:lnTo>
                  <a:lnTo>
                    <a:pt x="98749" y="179389"/>
                  </a:lnTo>
                  <a:lnTo>
                    <a:pt x="366684" y="1044841"/>
                  </a:lnTo>
                  <a:lnTo>
                    <a:pt x="398450" y="1034475"/>
                  </a:lnTo>
                  <a:lnTo>
                    <a:pt x="391840" y="1244273"/>
                  </a:lnTo>
                  <a:close/>
                </a:path>
              </a:pathLst>
            </a:custGeom>
            <a:ln w="9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229760" y="457942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118840" y="4025202"/>
              <a:ext cx="136525" cy="559435"/>
            </a:xfrm>
            <a:custGeom>
              <a:avLst/>
              <a:gdLst/>
              <a:ahLst/>
              <a:cxnLst/>
              <a:rect l="l" t="t" r="r" b="b"/>
              <a:pathLst>
                <a:path w="136525" h="559435">
                  <a:moveTo>
                    <a:pt x="102399" y="198740"/>
                  </a:moveTo>
                  <a:lnTo>
                    <a:pt x="33343" y="198740"/>
                  </a:lnTo>
                  <a:lnTo>
                    <a:pt x="33343" y="361246"/>
                  </a:lnTo>
                  <a:lnTo>
                    <a:pt x="0" y="361246"/>
                  </a:lnTo>
                  <a:lnTo>
                    <a:pt x="68167" y="558999"/>
                  </a:lnTo>
                  <a:lnTo>
                    <a:pt x="136433" y="360457"/>
                  </a:lnTo>
                  <a:lnTo>
                    <a:pt x="103188" y="360457"/>
                  </a:lnTo>
                  <a:lnTo>
                    <a:pt x="102399" y="198740"/>
                  </a:lnTo>
                  <a:close/>
                </a:path>
                <a:path w="136525" h="559435">
                  <a:moveTo>
                    <a:pt x="67378" y="0"/>
                  </a:moveTo>
                  <a:lnTo>
                    <a:pt x="0" y="198740"/>
                  </a:lnTo>
                  <a:lnTo>
                    <a:pt x="136433" y="198740"/>
                  </a:lnTo>
                  <a:lnTo>
                    <a:pt x="67378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118840" y="4025202"/>
              <a:ext cx="136525" cy="559435"/>
            </a:xfrm>
            <a:custGeom>
              <a:avLst/>
              <a:gdLst/>
              <a:ahLst/>
              <a:cxnLst/>
              <a:rect l="l" t="t" r="r" b="b"/>
              <a:pathLst>
                <a:path w="136525" h="559435">
                  <a:moveTo>
                    <a:pt x="67378" y="0"/>
                  </a:moveTo>
                  <a:lnTo>
                    <a:pt x="136433" y="198740"/>
                  </a:lnTo>
                  <a:lnTo>
                    <a:pt x="102399" y="198740"/>
                  </a:lnTo>
                  <a:lnTo>
                    <a:pt x="103188" y="360457"/>
                  </a:lnTo>
                  <a:lnTo>
                    <a:pt x="136433" y="360457"/>
                  </a:lnTo>
                  <a:lnTo>
                    <a:pt x="68167" y="558999"/>
                  </a:lnTo>
                  <a:lnTo>
                    <a:pt x="0" y="361246"/>
                  </a:lnTo>
                  <a:lnTo>
                    <a:pt x="33343" y="361246"/>
                  </a:lnTo>
                  <a:lnTo>
                    <a:pt x="33343" y="198740"/>
                  </a:lnTo>
                  <a:lnTo>
                    <a:pt x="0" y="198740"/>
                  </a:lnTo>
                  <a:lnTo>
                    <a:pt x="67378" y="0"/>
                  </a:lnTo>
                  <a:close/>
                </a:path>
              </a:pathLst>
            </a:custGeom>
            <a:ln w="95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181443" y="402042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8826856" y="3933766"/>
            <a:ext cx="757555" cy="445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54305" marR="159385">
              <a:lnSpc>
                <a:spcPct val="101099"/>
              </a:lnSpc>
              <a:spcBef>
                <a:spcPts val="120"/>
              </a:spcBef>
            </a:pPr>
            <a:r>
              <a:rPr dirty="0" sz="900" spc="-25">
                <a:latin typeface="Arial"/>
                <a:cs typeface="Arial"/>
              </a:rPr>
              <a:t>via </a:t>
            </a:r>
            <a:r>
              <a:rPr dirty="0" sz="900" spc="-10">
                <a:latin typeface="Arial"/>
                <a:cs typeface="Arial"/>
              </a:rPr>
              <a:t>financial</a:t>
            </a:r>
            <a:endParaRPr sz="90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latin typeface="Arial"/>
                <a:cs typeface="Arial"/>
              </a:rPr>
              <a:t>intermediaries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6723386" y="2820178"/>
            <a:ext cx="2486025" cy="2760345"/>
            <a:chOff x="6723386" y="2820178"/>
            <a:chExt cx="2486025" cy="2760345"/>
          </a:xfrm>
        </p:grpSpPr>
        <p:sp>
          <p:nvSpPr>
            <p:cNvPr id="120" name="object 120"/>
            <p:cNvSpPr/>
            <p:nvPr/>
          </p:nvSpPr>
          <p:spPr>
            <a:xfrm>
              <a:off x="9203997" y="2825258"/>
              <a:ext cx="0" cy="1097915"/>
            </a:xfrm>
            <a:custGeom>
              <a:avLst/>
              <a:gdLst/>
              <a:ahLst/>
              <a:cxnLst/>
              <a:rect l="l" t="t" r="r" b="b"/>
              <a:pathLst>
                <a:path w="0" h="1097914">
                  <a:moveTo>
                    <a:pt x="0" y="0"/>
                  </a:moveTo>
                  <a:lnTo>
                    <a:pt x="0" y="0"/>
                  </a:lnTo>
                  <a:lnTo>
                    <a:pt x="0" y="9774"/>
                  </a:lnTo>
                </a:path>
                <a:path w="0" h="1097914">
                  <a:moveTo>
                    <a:pt x="0" y="49759"/>
                  </a:moveTo>
                  <a:lnTo>
                    <a:pt x="0" y="49759"/>
                  </a:lnTo>
                  <a:lnTo>
                    <a:pt x="0" y="59236"/>
                  </a:lnTo>
                </a:path>
                <a:path w="0" h="1097914">
                  <a:moveTo>
                    <a:pt x="0" y="98728"/>
                  </a:moveTo>
                  <a:lnTo>
                    <a:pt x="0" y="98728"/>
                  </a:lnTo>
                  <a:lnTo>
                    <a:pt x="0" y="108996"/>
                  </a:lnTo>
                </a:path>
                <a:path w="0" h="1097914">
                  <a:moveTo>
                    <a:pt x="0" y="148289"/>
                  </a:moveTo>
                  <a:lnTo>
                    <a:pt x="0" y="148289"/>
                  </a:lnTo>
                  <a:lnTo>
                    <a:pt x="0" y="158064"/>
                  </a:lnTo>
                </a:path>
                <a:path w="0" h="1097914">
                  <a:moveTo>
                    <a:pt x="0" y="198049"/>
                  </a:moveTo>
                  <a:lnTo>
                    <a:pt x="0" y="198049"/>
                  </a:lnTo>
                  <a:lnTo>
                    <a:pt x="0" y="207526"/>
                  </a:lnTo>
                </a:path>
                <a:path w="0" h="1097914">
                  <a:moveTo>
                    <a:pt x="0" y="247018"/>
                  </a:moveTo>
                  <a:lnTo>
                    <a:pt x="0" y="247018"/>
                  </a:lnTo>
                  <a:lnTo>
                    <a:pt x="0" y="257286"/>
                  </a:lnTo>
                </a:path>
                <a:path w="0" h="1097914">
                  <a:moveTo>
                    <a:pt x="0" y="296777"/>
                  </a:moveTo>
                  <a:lnTo>
                    <a:pt x="0" y="296777"/>
                  </a:lnTo>
                  <a:lnTo>
                    <a:pt x="0" y="306353"/>
                  </a:lnTo>
                </a:path>
                <a:path w="0" h="1097914">
                  <a:moveTo>
                    <a:pt x="0" y="346240"/>
                  </a:moveTo>
                  <a:lnTo>
                    <a:pt x="0" y="346240"/>
                  </a:lnTo>
                  <a:lnTo>
                    <a:pt x="0" y="356113"/>
                  </a:lnTo>
                </a:path>
                <a:path w="0" h="1097914">
                  <a:moveTo>
                    <a:pt x="0" y="395308"/>
                  </a:moveTo>
                  <a:lnTo>
                    <a:pt x="0" y="395308"/>
                  </a:lnTo>
                  <a:lnTo>
                    <a:pt x="0" y="405575"/>
                  </a:lnTo>
                </a:path>
                <a:path w="0" h="1097914">
                  <a:moveTo>
                    <a:pt x="0" y="445067"/>
                  </a:moveTo>
                  <a:lnTo>
                    <a:pt x="0" y="445067"/>
                  </a:lnTo>
                  <a:lnTo>
                    <a:pt x="0" y="454643"/>
                  </a:lnTo>
                </a:path>
                <a:path w="0" h="1097914">
                  <a:moveTo>
                    <a:pt x="0" y="494530"/>
                  </a:moveTo>
                  <a:lnTo>
                    <a:pt x="0" y="494530"/>
                  </a:lnTo>
                  <a:lnTo>
                    <a:pt x="0" y="504403"/>
                  </a:lnTo>
                </a:path>
                <a:path w="0" h="1097914">
                  <a:moveTo>
                    <a:pt x="0" y="543598"/>
                  </a:moveTo>
                  <a:lnTo>
                    <a:pt x="0" y="543598"/>
                  </a:lnTo>
                  <a:lnTo>
                    <a:pt x="0" y="553865"/>
                  </a:lnTo>
                </a:path>
                <a:path w="0" h="1097914">
                  <a:moveTo>
                    <a:pt x="0" y="593357"/>
                  </a:moveTo>
                  <a:lnTo>
                    <a:pt x="0" y="593357"/>
                  </a:lnTo>
                  <a:lnTo>
                    <a:pt x="0" y="602933"/>
                  </a:lnTo>
                </a:path>
                <a:path w="0" h="1097914">
                  <a:moveTo>
                    <a:pt x="0" y="643116"/>
                  </a:moveTo>
                  <a:lnTo>
                    <a:pt x="0" y="643116"/>
                  </a:lnTo>
                  <a:lnTo>
                    <a:pt x="0" y="652594"/>
                  </a:lnTo>
                </a:path>
                <a:path w="0" h="1097914">
                  <a:moveTo>
                    <a:pt x="0" y="691888"/>
                  </a:moveTo>
                  <a:lnTo>
                    <a:pt x="0" y="691888"/>
                  </a:lnTo>
                  <a:lnTo>
                    <a:pt x="0" y="702353"/>
                  </a:lnTo>
                </a:path>
                <a:path w="0" h="1097914">
                  <a:moveTo>
                    <a:pt x="0" y="741647"/>
                  </a:moveTo>
                  <a:lnTo>
                    <a:pt x="0" y="741647"/>
                  </a:lnTo>
                  <a:lnTo>
                    <a:pt x="0" y="751125"/>
                  </a:lnTo>
                </a:path>
                <a:path w="0" h="1097914">
                  <a:moveTo>
                    <a:pt x="0" y="791406"/>
                  </a:moveTo>
                  <a:lnTo>
                    <a:pt x="0" y="791406"/>
                  </a:lnTo>
                  <a:lnTo>
                    <a:pt x="0" y="800884"/>
                  </a:lnTo>
                </a:path>
                <a:path w="0" h="1097914">
                  <a:moveTo>
                    <a:pt x="0" y="840178"/>
                  </a:moveTo>
                  <a:lnTo>
                    <a:pt x="0" y="840178"/>
                  </a:lnTo>
                  <a:lnTo>
                    <a:pt x="0" y="850643"/>
                  </a:lnTo>
                </a:path>
                <a:path w="0" h="1097914">
                  <a:moveTo>
                    <a:pt x="0" y="889838"/>
                  </a:moveTo>
                  <a:lnTo>
                    <a:pt x="0" y="889838"/>
                  </a:lnTo>
                  <a:lnTo>
                    <a:pt x="0" y="899711"/>
                  </a:lnTo>
                </a:path>
                <a:path w="0" h="1097914">
                  <a:moveTo>
                    <a:pt x="0" y="939597"/>
                  </a:moveTo>
                  <a:lnTo>
                    <a:pt x="0" y="939597"/>
                  </a:lnTo>
                  <a:lnTo>
                    <a:pt x="0" y="949174"/>
                  </a:lnTo>
                </a:path>
                <a:path w="0" h="1097914">
                  <a:moveTo>
                    <a:pt x="0" y="988665"/>
                  </a:moveTo>
                  <a:lnTo>
                    <a:pt x="0" y="988665"/>
                  </a:lnTo>
                  <a:lnTo>
                    <a:pt x="0" y="998933"/>
                  </a:lnTo>
                </a:path>
                <a:path w="0" h="1097914">
                  <a:moveTo>
                    <a:pt x="0" y="1038128"/>
                  </a:moveTo>
                  <a:lnTo>
                    <a:pt x="0" y="1038128"/>
                  </a:lnTo>
                  <a:lnTo>
                    <a:pt x="0" y="1048001"/>
                  </a:lnTo>
                </a:path>
                <a:path w="0" h="1097914">
                  <a:moveTo>
                    <a:pt x="0" y="1087887"/>
                  </a:moveTo>
                  <a:lnTo>
                    <a:pt x="0" y="1087887"/>
                  </a:lnTo>
                  <a:lnTo>
                    <a:pt x="0" y="1097464"/>
                  </a:lnTo>
                </a:path>
              </a:pathLst>
            </a:custGeom>
            <a:ln w="9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6728161" y="5115360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4">
                  <a:moveTo>
                    <a:pt x="0" y="0"/>
                  </a:moveTo>
                  <a:lnTo>
                    <a:pt x="862009" y="0"/>
                  </a:lnTo>
                  <a:lnTo>
                    <a:pt x="862009" y="464901"/>
                  </a:lnTo>
                  <a:lnTo>
                    <a:pt x="0" y="464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6723386" y="5110581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>
            <a:off x="6728162" y="5115360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12090" marR="193675" indent="-23495">
              <a:lnSpc>
                <a:spcPct val="101099"/>
              </a:lnSpc>
              <a:spcBef>
                <a:spcPts val="645"/>
              </a:spcBef>
            </a:pPr>
            <a:r>
              <a:rPr dirty="0" sz="900" spc="-10" b="1">
                <a:latin typeface="Arial"/>
                <a:cs typeface="Arial"/>
              </a:rPr>
              <a:t>Clearing Houses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6723386" y="5686750"/>
            <a:ext cx="867410" cy="469900"/>
            <a:chOff x="6723386" y="5686750"/>
            <a:chExt cx="867410" cy="469900"/>
          </a:xfrm>
        </p:grpSpPr>
        <p:sp>
          <p:nvSpPr>
            <p:cNvPr id="125" name="object 125"/>
            <p:cNvSpPr/>
            <p:nvPr/>
          </p:nvSpPr>
          <p:spPr>
            <a:xfrm>
              <a:off x="6728161" y="5691529"/>
              <a:ext cx="862330" cy="465455"/>
            </a:xfrm>
            <a:custGeom>
              <a:avLst/>
              <a:gdLst/>
              <a:ahLst/>
              <a:cxnLst/>
              <a:rect l="l" t="t" r="r" b="b"/>
              <a:pathLst>
                <a:path w="862329" h="465454">
                  <a:moveTo>
                    <a:pt x="0" y="0"/>
                  </a:moveTo>
                  <a:lnTo>
                    <a:pt x="862009" y="0"/>
                  </a:lnTo>
                  <a:lnTo>
                    <a:pt x="862009" y="464931"/>
                  </a:lnTo>
                  <a:lnTo>
                    <a:pt x="0" y="464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6723386" y="5686750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>
            <a:off x="6728162" y="5691529"/>
            <a:ext cx="862330" cy="465455"/>
          </a:xfrm>
          <a:prstGeom prst="rect">
            <a:avLst/>
          </a:prstGeom>
          <a:ln w="9556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</a:pPr>
            <a:r>
              <a:rPr dirty="0" sz="900" spc="-10" b="1">
                <a:latin typeface="Arial"/>
                <a:cs typeface="Arial"/>
              </a:rPr>
              <a:t>Custodians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4784305" y="3794138"/>
            <a:ext cx="1908810" cy="800735"/>
            <a:chOff x="4784305" y="3794138"/>
            <a:chExt cx="1908810" cy="800735"/>
          </a:xfrm>
        </p:grpSpPr>
        <p:sp>
          <p:nvSpPr>
            <p:cNvPr id="129" name="object 129"/>
            <p:cNvSpPr/>
            <p:nvPr/>
          </p:nvSpPr>
          <p:spPr>
            <a:xfrm>
              <a:off x="4789084" y="3798917"/>
              <a:ext cx="1899285" cy="791210"/>
            </a:xfrm>
            <a:custGeom>
              <a:avLst/>
              <a:gdLst/>
              <a:ahLst/>
              <a:cxnLst/>
              <a:rect l="l" t="t" r="r" b="b"/>
              <a:pathLst>
                <a:path w="1899284" h="791210">
                  <a:moveTo>
                    <a:pt x="351121" y="108403"/>
                  </a:moveTo>
                  <a:lnTo>
                    <a:pt x="169679" y="108403"/>
                  </a:lnTo>
                  <a:lnTo>
                    <a:pt x="1702710" y="746089"/>
                  </a:lnTo>
                  <a:lnTo>
                    <a:pt x="1689491" y="777189"/>
                  </a:lnTo>
                  <a:lnTo>
                    <a:pt x="1898828" y="790715"/>
                  </a:lnTo>
                  <a:lnTo>
                    <a:pt x="1776975" y="682410"/>
                  </a:lnTo>
                  <a:lnTo>
                    <a:pt x="1729444" y="682410"/>
                  </a:lnTo>
                  <a:lnTo>
                    <a:pt x="351121" y="108403"/>
                  </a:lnTo>
                  <a:close/>
                </a:path>
                <a:path w="1899284" h="791210">
                  <a:moveTo>
                    <a:pt x="1741874" y="651212"/>
                  </a:moveTo>
                  <a:lnTo>
                    <a:pt x="1729444" y="682410"/>
                  </a:lnTo>
                  <a:lnTo>
                    <a:pt x="1776975" y="682410"/>
                  </a:lnTo>
                  <a:lnTo>
                    <a:pt x="1741874" y="651212"/>
                  </a:lnTo>
                  <a:close/>
                </a:path>
                <a:path w="1899284" h="791210">
                  <a:moveTo>
                    <a:pt x="0" y="0"/>
                  </a:moveTo>
                  <a:lnTo>
                    <a:pt x="156953" y="139503"/>
                  </a:lnTo>
                  <a:lnTo>
                    <a:pt x="169679" y="108403"/>
                  </a:lnTo>
                  <a:lnTo>
                    <a:pt x="351121" y="108403"/>
                  </a:lnTo>
                  <a:lnTo>
                    <a:pt x="196314" y="43934"/>
                  </a:lnTo>
                  <a:lnTo>
                    <a:pt x="209632" y="13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4789084" y="3798917"/>
              <a:ext cx="1899285" cy="791210"/>
            </a:xfrm>
            <a:custGeom>
              <a:avLst/>
              <a:gdLst/>
              <a:ahLst/>
              <a:cxnLst/>
              <a:rect l="l" t="t" r="r" b="b"/>
              <a:pathLst>
                <a:path w="1899284" h="791210">
                  <a:moveTo>
                    <a:pt x="1898828" y="790715"/>
                  </a:moveTo>
                  <a:lnTo>
                    <a:pt x="1689491" y="777189"/>
                  </a:lnTo>
                  <a:lnTo>
                    <a:pt x="1702710" y="746089"/>
                  </a:lnTo>
                  <a:lnTo>
                    <a:pt x="169679" y="108403"/>
                  </a:lnTo>
                  <a:lnTo>
                    <a:pt x="156953" y="139503"/>
                  </a:lnTo>
                  <a:lnTo>
                    <a:pt x="0" y="0"/>
                  </a:lnTo>
                  <a:lnTo>
                    <a:pt x="209632" y="13525"/>
                  </a:lnTo>
                  <a:lnTo>
                    <a:pt x="196314" y="43934"/>
                  </a:lnTo>
                  <a:lnTo>
                    <a:pt x="1729444" y="682410"/>
                  </a:lnTo>
                  <a:lnTo>
                    <a:pt x="1741874" y="651212"/>
                  </a:lnTo>
                  <a:lnTo>
                    <a:pt x="1898828" y="790715"/>
                  </a:lnTo>
                  <a:close/>
                </a:path>
              </a:pathLst>
            </a:custGeom>
            <a:ln w="95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683137" y="4584853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0" y="4779"/>
                  </a:moveTo>
                  <a:lnTo>
                    <a:pt x="1398" y="1399"/>
                  </a:lnTo>
                  <a:lnTo>
                    <a:pt x="4775" y="0"/>
                  </a:lnTo>
                  <a:lnTo>
                    <a:pt x="8152" y="1399"/>
                  </a:lnTo>
                  <a:lnTo>
                    <a:pt x="9550" y="4779"/>
                  </a:lnTo>
                  <a:lnTo>
                    <a:pt x="8152" y="8158"/>
                  </a:lnTo>
                  <a:lnTo>
                    <a:pt x="4775" y="9558"/>
                  </a:lnTo>
                  <a:lnTo>
                    <a:pt x="1398" y="8158"/>
                  </a:lnTo>
                  <a:lnTo>
                    <a:pt x="0" y="4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>
            <a:off x="9496398" y="5234709"/>
            <a:ext cx="1439545" cy="444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R="5080">
              <a:lnSpc>
                <a:spcPct val="100800"/>
              </a:lnSpc>
              <a:spcBef>
                <a:spcPts val="125"/>
              </a:spcBef>
            </a:pP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Source:</a:t>
            </a:r>
            <a:r>
              <a:rPr dirty="0" sz="900" spc="50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Duran,</a:t>
            </a:r>
            <a:r>
              <a:rPr dirty="0" sz="900" spc="55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R.</a:t>
            </a:r>
            <a:r>
              <a:rPr dirty="0" sz="900" spc="45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D7D7D7"/>
                </a:solidFill>
                <a:latin typeface="Calibri"/>
                <a:cs typeface="Calibri"/>
              </a:rPr>
              <a:t>E.,</a:t>
            </a:r>
            <a:r>
              <a:rPr dirty="0" sz="900" spc="500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7D7D7"/>
                </a:solidFill>
                <a:latin typeface="Calibri"/>
                <a:cs typeface="Calibri"/>
              </a:rPr>
              <a:t>Financial</a:t>
            </a:r>
            <a:r>
              <a:rPr dirty="0" sz="900" spc="60" i="1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D7D7D7"/>
                </a:solidFill>
                <a:latin typeface="Calibri"/>
                <a:cs typeface="Calibri"/>
              </a:rPr>
              <a:t>Services</a:t>
            </a:r>
            <a:r>
              <a:rPr dirty="0" sz="900" spc="75" i="1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D7D7D7"/>
                </a:solidFill>
                <a:latin typeface="Calibri"/>
                <a:cs typeface="Calibri"/>
              </a:rPr>
              <a:t>Technology,</a:t>
            </a:r>
            <a:r>
              <a:rPr dirty="0" sz="900" spc="500" i="1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Cengage</a:t>
            </a:r>
            <a:r>
              <a:rPr dirty="0" sz="900" spc="65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Learning</a:t>
            </a:r>
            <a:r>
              <a:rPr dirty="0" sz="900" spc="75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D7D7D7"/>
                </a:solidFill>
                <a:latin typeface="Calibri"/>
                <a:cs typeface="Calibri"/>
              </a:rPr>
              <a:t>Asia,</a:t>
            </a:r>
            <a:r>
              <a:rPr dirty="0" sz="900" spc="75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D7D7D7"/>
                </a:solidFill>
                <a:latin typeface="Calibri"/>
                <a:cs typeface="Calibri"/>
              </a:rPr>
              <a:t>2018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4" name="object 1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133" name="object 133" descr="$PPTXTitle"/>
          <p:cNvSpPr txBox="1">
            <a:spLocks noGrp="1"/>
          </p:cNvSpPr>
          <p:nvPr>
            <p:ph type="title"/>
          </p:nvPr>
        </p:nvSpPr>
        <p:spPr>
          <a:xfrm>
            <a:off x="548741" y="354279"/>
            <a:ext cx="408559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Capital</a:t>
            </a:r>
            <a:r>
              <a:rPr dirty="0" spc="-80"/>
              <a:t> </a:t>
            </a:r>
            <a:r>
              <a:rPr dirty="0" spc="-10"/>
              <a:t>Market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Capital</a:t>
            </a:r>
            <a:r>
              <a:rPr dirty="0" spc="-65"/>
              <a:t> </a:t>
            </a:r>
            <a:r>
              <a:rPr dirty="0" spc="-10"/>
              <a:t>Market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42668"/>
            <a:ext cx="7985125" cy="4998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Retail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investors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1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Institutional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investors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10">
                <a:latin typeface="Century Gothic"/>
                <a:cs typeface="Century Gothic"/>
              </a:rPr>
              <a:t>Banks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Insurance</a:t>
            </a:r>
            <a:r>
              <a:rPr dirty="0" sz="2200" spc="-10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companies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10">
                <a:latin typeface="Century Gothic"/>
                <a:cs typeface="Century Gothic"/>
              </a:rPr>
              <a:t>Pensions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20">
                <a:latin typeface="Century Gothic"/>
                <a:cs typeface="Century Gothic"/>
              </a:rPr>
              <a:t>ETFs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Mutual</a:t>
            </a:r>
            <a:r>
              <a:rPr dirty="0" sz="2200" spc="-5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funds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Hedge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funds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1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200">
                <a:latin typeface="Century Gothic"/>
                <a:cs typeface="Century Gothic"/>
              </a:rPr>
              <a:t>Algorithmic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Trading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10">
                <a:latin typeface="Century Gothic"/>
                <a:cs typeface="Century Gothic"/>
              </a:rPr>
              <a:t>Time-</a:t>
            </a:r>
            <a:r>
              <a:rPr dirty="0" sz="2200">
                <a:latin typeface="Century Gothic"/>
                <a:cs typeface="Century Gothic"/>
              </a:rPr>
              <a:t>weighted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average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pricing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(TWAP)</a:t>
            </a:r>
            <a:r>
              <a:rPr dirty="0" sz="2200" spc="-10">
                <a:latin typeface="Century Gothic"/>
                <a:cs typeface="Century Gothic"/>
              </a:rPr>
              <a:t> algorithms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20">
                <a:latin typeface="Century Gothic"/>
                <a:cs typeface="Century Gothic"/>
              </a:rPr>
              <a:t>Volume-</a:t>
            </a:r>
            <a:r>
              <a:rPr dirty="0" sz="2200">
                <a:latin typeface="Century Gothic"/>
                <a:cs typeface="Century Gothic"/>
              </a:rPr>
              <a:t>weighted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average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(VWAP)</a:t>
            </a:r>
            <a:r>
              <a:rPr dirty="0" sz="2200" spc="-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pricing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algorithms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2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Capital</a:t>
            </a:r>
            <a:r>
              <a:rPr dirty="0" spc="-70"/>
              <a:t> </a:t>
            </a:r>
            <a:r>
              <a:rPr dirty="0" spc="-10"/>
              <a:t>Market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141" y="1442440"/>
            <a:ext cx="7237095" cy="47371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Trading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7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Architectures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routing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system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components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Direct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access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(DMA)</a:t>
            </a:r>
            <a:endParaRPr sz="2000">
              <a:latin typeface="Century Gothic"/>
              <a:cs typeface="Century Gothic"/>
            </a:endParaRPr>
          </a:p>
          <a:p>
            <a:pPr algn="r" marL="226695" marR="3140710" indent="-22669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26695" algn="l"/>
              </a:tabLst>
            </a:pP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VS</a:t>
            </a:r>
            <a:r>
              <a:rPr dirty="0" sz="2000" spc="1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off-exchange</a:t>
            </a:r>
            <a:endParaRPr sz="2000">
              <a:latin typeface="Century Gothic"/>
              <a:cs typeface="Century Gothic"/>
            </a:endParaRPr>
          </a:p>
          <a:p>
            <a:pPr algn="r" marL="226695" marR="3115310" indent="-22669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26695" algn="l"/>
              </a:tabLst>
            </a:pPr>
            <a:r>
              <a:rPr dirty="0" sz="2000">
                <a:latin typeface="Century Gothic"/>
                <a:cs typeface="Century Gothic"/>
              </a:rPr>
              <a:t>Exchanges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processes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data</a:t>
            </a:r>
            <a:endParaRPr sz="2000">
              <a:latin typeface="Century Gothic"/>
              <a:cs typeface="Century Gothic"/>
            </a:endParaRPr>
          </a:p>
          <a:p>
            <a:pPr algn="r" lvl="1" marL="226695" marR="3162300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26695" algn="l"/>
              </a:tabLst>
            </a:pP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messages,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order</a:t>
            </a:r>
            <a:r>
              <a:rPr dirty="0" sz="2000" spc="-1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type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on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matching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and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off-</a:t>
            </a:r>
            <a:r>
              <a:rPr dirty="0" sz="2000">
                <a:latin typeface="Century Gothic"/>
                <a:cs typeface="Century Gothic"/>
              </a:rPr>
              <a:t>exchange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matching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circuit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breakers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surveillance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providers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Designated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makers,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Proprietary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traders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25">
                <a:latin typeface="Century Gothic"/>
                <a:cs typeface="Century Gothic"/>
              </a:rPr>
              <a:t>HFT</a:t>
            </a: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4:</a:t>
            </a:r>
            <a:r>
              <a:rPr dirty="0" sz="2000" spc="-10">
                <a:latin typeface="Century Gothic"/>
                <a:cs typeface="Century Gothic"/>
              </a:rPr>
              <a:t> Domeyard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69239"/>
            <a:ext cx="367728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Retail</a:t>
            </a:r>
            <a:r>
              <a:rPr dirty="0" spc="-45"/>
              <a:t> </a:t>
            </a:r>
            <a:r>
              <a:rPr dirty="0" spc="-10"/>
              <a:t>Trading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0424" y="1350390"/>
            <a:ext cx="7088505" cy="522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Why do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investors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underperform?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FinTech</a:t>
            </a:r>
            <a:r>
              <a:rPr dirty="0" sz="2400" spc="-4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for</a:t>
            </a:r>
            <a:r>
              <a:rPr dirty="0" sz="2400" spc="-1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retail</a:t>
            </a:r>
            <a:r>
              <a:rPr dirty="0" sz="2400" spc="-6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investors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>
                <a:latin typeface="Century Gothic"/>
                <a:cs typeface="Century Gothic"/>
              </a:rPr>
              <a:t>Online</a:t>
            </a:r>
            <a:r>
              <a:rPr dirty="0" sz="2400" spc="-7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trading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25">
                <a:latin typeface="Century Gothic"/>
                <a:cs typeface="Century Gothic"/>
              </a:rPr>
              <a:t>Robo-</a:t>
            </a:r>
            <a:r>
              <a:rPr dirty="0" sz="2400" spc="-10">
                <a:latin typeface="Century Gothic"/>
                <a:cs typeface="Century Gothic"/>
              </a:rPr>
              <a:t>advisor</a:t>
            </a:r>
            <a:endParaRPr sz="2400">
              <a:latin typeface="Century Gothic"/>
              <a:cs typeface="Century Gothic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7230" algn="l"/>
              </a:tabLst>
            </a:pPr>
            <a:r>
              <a:rPr dirty="0" sz="2400" spc="-10">
                <a:latin typeface="Century Gothic"/>
                <a:cs typeface="Century Gothic"/>
              </a:rPr>
              <a:t>Tech-</a:t>
            </a:r>
            <a:r>
              <a:rPr dirty="0" sz="2400">
                <a:latin typeface="Century Gothic"/>
                <a:cs typeface="Century Gothic"/>
              </a:rPr>
              <a:t>enabled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information</a:t>
            </a:r>
            <a:r>
              <a:rPr dirty="0" sz="2400" spc="-9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democratization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350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Brokers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vs</a:t>
            </a:r>
            <a:r>
              <a:rPr dirty="0" sz="2400" spc="-65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dealer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Services</a:t>
            </a:r>
            <a:r>
              <a:rPr dirty="0" sz="2400" spc="-10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by</a:t>
            </a:r>
            <a:r>
              <a:rPr dirty="0" sz="2400" spc="-70">
                <a:latin typeface="Century Gothic"/>
                <a:cs typeface="Century Gothic"/>
              </a:rPr>
              <a:t> </a:t>
            </a:r>
            <a:r>
              <a:rPr dirty="0" sz="2400" spc="-10">
                <a:latin typeface="Century Gothic"/>
                <a:cs typeface="Century Gothic"/>
              </a:rPr>
              <a:t>brokerages</a:t>
            </a:r>
            <a:endParaRPr sz="2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entury Gothic"/>
                <a:cs typeface="Century Gothic"/>
              </a:rPr>
              <a:t>Case</a:t>
            </a:r>
            <a:r>
              <a:rPr dirty="0" sz="2400" spc="-40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5:</a:t>
            </a:r>
            <a:r>
              <a:rPr dirty="0" sz="2400" spc="-3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Charles</a:t>
            </a:r>
            <a:r>
              <a:rPr dirty="0" sz="2400" spc="-15">
                <a:latin typeface="Century Gothic"/>
                <a:cs typeface="Century Gothic"/>
              </a:rPr>
              <a:t> </a:t>
            </a:r>
            <a:r>
              <a:rPr dirty="0" sz="2400">
                <a:latin typeface="Century Gothic"/>
                <a:cs typeface="Century Gothic"/>
              </a:rPr>
              <a:t>Schwab</a:t>
            </a:r>
            <a:r>
              <a:rPr dirty="0" sz="2400" spc="-30">
                <a:latin typeface="Century Gothic"/>
                <a:cs typeface="Century Gothic"/>
              </a:rPr>
              <a:t> </a:t>
            </a:r>
            <a:r>
              <a:rPr dirty="0" sz="2400" spc="-20">
                <a:latin typeface="Century Gothic"/>
                <a:cs typeface="Century Gothic"/>
              </a:rPr>
              <a:t>Corp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92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big</a:t>
            </a:r>
            <a:r>
              <a:rPr dirty="0" spc="-5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1383" y="1415352"/>
            <a:ext cx="5281930" cy="49276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Regulatory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issues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related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to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25">
                <a:latin typeface="Century Gothic"/>
                <a:cs typeface="Century Gothic"/>
              </a:rPr>
              <a:t>AI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AI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application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management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Application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programming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interface</a:t>
            </a:r>
            <a:r>
              <a:rPr dirty="0" sz="2000" spc="-7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(API)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API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applications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Risks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open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APIs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Open</a:t>
            </a:r>
            <a:r>
              <a:rPr dirty="0" sz="2000" spc="-1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banking</a:t>
            </a:r>
            <a:endParaRPr sz="2000">
              <a:latin typeface="Century Gothic"/>
              <a:cs typeface="Century Gothic"/>
            </a:endParaRPr>
          </a:p>
          <a:p>
            <a:pPr lvl="1" marL="695960" indent="-22669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5960" algn="l"/>
              </a:tabLst>
            </a:pPr>
            <a:r>
              <a:rPr dirty="0" sz="2000">
                <a:latin typeface="Century Gothic"/>
                <a:cs typeface="Century Gothic"/>
              </a:rPr>
              <a:t>Different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policies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across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countries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Robotic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process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automation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(RPA)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Alternative</a:t>
            </a:r>
            <a:r>
              <a:rPr dirty="0" sz="2000" spc="-6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data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Fintech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industry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69239"/>
            <a:ext cx="49117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dirty="0" spc="-9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127" y="1154658"/>
            <a:ext cx="4093210" cy="46736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Types</a:t>
            </a:r>
            <a:r>
              <a:rPr dirty="0" sz="2000" spc="-2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of</a:t>
            </a:r>
            <a:r>
              <a:rPr dirty="0" sz="2000" spc="-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5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(measurement)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Market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liquidity</a:t>
            </a:r>
            <a:r>
              <a:rPr dirty="0" sz="2000" spc="-4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Credit</a:t>
            </a:r>
            <a:r>
              <a:rPr dirty="0" sz="2000" spc="-6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Settlement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Operational</a:t>
            </a:r>
            <a:r>
              <a:rPr dirty="0" sz="2000" spc="-8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5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risk</a:t>
            </a:r>
            <a:endParaRPr sz="20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Compliance</a:t>
            </a:r>
            <a:r>
              <a:rPr dirty="0" sz="2000" spc="-4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Risk </a:t>
            </a:r>
            <a:r>
              <a:rPr dirty="0" sz="2000" spc="-10">
                <a:latin typeface="Century Gothic"/>
                <a:cs typeface="Century Gothic"/>
              </a:rPr>
              <a:t>Management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RegTech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>
                <a:latin typeface="Century Gothic"/>
                <a:cs typeface="Century Gothic"/>
              </a:rPr>
              <a:t>Main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RegTech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 spc="-10">
                <a:latin typeface="Century Gothic"/>
                <a:cs typeface="Century Gothic"/>
              </a:rPr>
              <a:t>services</a:t>
            </a:r>
            <a:endParaRPr sz="2000">
              <a:latin typeface="Century Gothic"/>
              <a:cs typeface="Century Gothic"/>
            </a:endParaRPr>
          </a:p>
          <a:p>
            <a:pPr lvl="1" marL="696595" indent="-22669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6595" algn="l"/>
              </a:tabLst>
            </a:pPr>
            <a:r>
              <a:rPr dirty="0" sz="2000" spc="-10">
                <a:latin typeface="Century Gothic"/>
                <a:cs typeface="Century Gothic"/>
              </a:rPr>
              <a:t>technologies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127" y="6299708"/>
            <a:ext cx="33851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3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6: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RegTech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at</a:t>
            </a:r>
            <a:r>
              <a:rPr dirty="0" sz="2000" spc="-25">
                <a:latin typeface="Century Gothic"/>
                <a:cs typeface="Century Gothic"/>
              </a:rPr>
              <a:t> </a:t>
            </a:r>
            <a:r>
              <a:rPr dirty="0" sz="2000" spc="-20">
                <a:latin typeface="Century Gothic"/>
                <a:cs typeface="Century Gothic"/>
              </a:rPr>
              <a:t>HSBC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20</a:t>
            </a:r>
            <a:endParaRPr sz="1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17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9944" y="1490325"/>
            <a:ext cx="9615805" cy="46621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10">
                <a:latin typeface="Century Gothic"/>
                <a:cs typeface="Century Gothic"/>
              </a:rPr>
              <a:t>Innovation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Strategies</a:t>
            </a:r>
            <a:r>
              <a:rPr dirty="0" sz="2200" spc="-6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of</a:t>
            </a:r>
            <a:r>
              <a:rPr dirty="0" sz="2200" spc="-3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innovation</a:t>
            </a:r>
            <a:r>
              <a:rPr dirty="0" sz="2200" spc="-7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(In-</a:t>
            </a:r>
            <a:r>
              <a:rPr dirty="0" sz="2200">
                <a:latin typeface="Century Gothic"/>
                <a:cs typeface="Century Gothic"/>
              </a:rPr>
              <a:t>house</a:t>
            </a:r>
            <a:r>
              <a:rPr dirty="0" sz="2200" spc="-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R&amp;D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VS</a:t>
            </a:r>
            <a:r>
              <a:rPr dirty="0" sz="2200" spc="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Outsourcing</a:t>
            </a:r>
            <a:r>
              <a:rPr dirty="0" sz="2200" spc="-4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innovation)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 spc="-10">
                <a:latin typeface="Century Gothic"/>
                <a:cs typeface="Century Gothic"/>
              </a:rPr>
              <a:t>Regulations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1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entury Gothic"/>
                <a:cs typeface="Century Gothic"/>
              </a:rPr>
              <a:t>Distributed</a:t>
            </a:r>
            <a:r>
              <a:rPr dirty="0" sz="2200" spc="-11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ledger</a:t>
            </a:r>
            <a:r>
              <a:rPr dirty="0" sz="2200" spc="-8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technology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Blockchain</a:t>
            </a:r>
            <a:r>
              <a:rPr dirty="0" sz="2200" spc="-1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(structure</a:t>
            </a:r>
            <a:r>
              <a:rPr dirty="0" sz="2200" spc="-70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10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mechanics)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Smart</a:t>
            </a:r>
            <a:r>
              <a:rPr dirty="0" sz="2200" spc="-5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contract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DLT</a:t>
            </a:r>
            <a:r>
              <a:rPr dirty="0" sz="2200" spc="-4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applications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Characteristics</a:t>
            </a:r>
            <a:r>
              <a:rPr dirty="0" sz="2200" spc="-114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and</a:t>
            </a:r>
            <a:r>
              <a:rPr dirty="0" sz="2200" spc="-90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challenges</a:t>
            </a:r>
            <a:endParaRPr sz="22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2200">
                <a:latin typeface="Century Gothic"/>
                <a:cs typeface="Century Gothic"/>
              </a:rPr>
              <a:t>Cryptocurrency</a:t>
            </a:r>
            <a:r>
              <a:rPr dirty="0" sz="2200" spc="-135">
                <a:latin typeface="Century Gothic"/>
                <a:cs typeface="Century Gothic"/>
              </a:rPr>
              <a:t> </a:t>
            </a:r>
            <a:r>
              <a:rPr dirty="0" sz="2200" spc="-10">
                <a:latin typeface="Century Gothic"/>
                <a:cs typeface="Century Gothic"/>
              </a:rPr>
              <a:t>(Bitcoin)</a:t>
            </a:r>
            <a:endParaRPr sz="22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15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Century Gothic"/>
                <a:cs typeface="Century Gothic"/>
              </a:rPr>
              <a:t>Case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7:</a:t>
            </a:r>
            <a:r>
              <a:rPr dirty="0" sz="2200" spc="-15">
                <a:latin typeface="Century Gothic"/>
                <a:cs typeface="Century Gothic"/>
              </a:rPr>
              <a:t> </a:t>
            </a:r>
            <a:r>
              <a:rPr dirty="0" sz="2200">
                <a:latin typeface="Century Gothic"/>
                <a:cs typeface="Century Gothic"/>
              </a:rPr>
              <a:t>Deutsche</a:t>
            </a:r>
            <a:r>
              <a:rPr dirty="0" sz="2200" spc="-25">
                <a:latin typeface="Century Gothic"/>
                <a:cs typeface="Century Gothic"/>
              </a:rPr>
              <a:t> </a:t>
            </a:r>
            <a:r>
              <a:rPr dirty="0" sz="2200" spc="-20">
                <a:latin typeface="Century Gothic"/>
                <a:cs typeface="Century Gothic"/>
              </a:rPr>
              <a:t>Bank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17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Insurance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3619" y="1751927"/>
            <a:ext cx="3905250" cy="40951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Insurance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Key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ingredients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65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insurances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Types</a:t>
            </a:r>
            <a:r>
              <a:rPr dirty="0" sz="1800" spc="-1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of</a:t>
            </a:r>
            <a:r>
              <a:rPr dirty="0" sz="1800" spc="-4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insurance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Challenges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10">
                <a:latin typeface="Century Gothic"/>
                <a:cs typeface="Century Gothic"/>
              </a:rPr>
              <a:t>Regulations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9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buFont typeface="Arial"/>
              <a:buChar char="•"/>
              <a:tabLst>
                <a:tab pos="239395" algn="l"/>
              </a:tabLst>
            </a:pPr>
            <a:r>
              <a:rPr dirty="0" sz="2000" spc="-10">
                <a:latin typeface="Century Gothic"/>
                <a:cs typeface="Century Gothic"/>
              </a:rPr>
              <a:t>InsurTech</a:t>
            </a:r>
            <a:endParaRPr sz="20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 spc="-25">
                <a:latin typeface="Century Gothic"/>
                <a:cs typeface="Century Gothic"/>
              </a:rPr>
              <a:t>IoT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AI,</a:t>
            </a:r>
            <a:r>
              <a:rPr dirty="0" sz="1800" spc="-50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machine</a:t>
            </a:r>
            <a:r>
              <a:rPr dirty="0" sz="1800" spc="-10">
                <a:latin typeface="Century Gothic"/>
                <a:cs typeface="Century Gothic"/>
              </a:rPr>
              <a:t> learning</a:t>
            </a:r>
            <a:endParaRPr sz="1800">
              <a:latin typeface="Century Gothic"/>
              <a:cs typeface="Century Gothic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7865" algn="l"/>
              </a:tabLst>
            </a:pPr>
            <a:r>
              <a:rPr dirty="0" sz="1800">
                <a:latin typeface="Century Gothic"/>
                <a:cs typeface="Century Gothic"/>
              </a:rPr>
              <a:t>Digital</a:t>
            </a:r>
            <a:r>
              <a:rPr dirty="0" sz="1800" spc="-55">
                <a:latin typeface="Century Gothic"/>
                <a:cs typeface="Century Gothic"/>
              </a:rPr>
              <a:t> </a:t>
            </a:r>
            <a:r>
              <a:rPr dirty="0" sz="1800">
                <a:latin typeface="Century Gothic"/>
                <a:cs typeface="Century Gothic"/>
              </a:rPr>
              <a:t>service</a:t>
            </a:r>
            <a:r>
              <a:rPr dirty="0" sz="1800" spc="-60">
                <a:latin typeface="Century Gothic"/>
                <a:cs typeface="Century Gothic"/>
              </a:rPr>
              <a:t> </a:t>
            </a:r>
            <a:r>
              <a:rPr dirty="0" sz="1800" spc="-10">
                <a:latin typeface="Century Gothic"/>
                <a:cs typeface="Century Gothic"/>
              </a:rPr>
              <a:t>delivery</a:t>
            </a:r>
            <a:endParaRPr sz="18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49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39395" algn="l"/>
              </a:tabLst>
            </a:pPr>
            <a:r>
              <a:rPr dirty="0" sz="2000">
                <a:latin typeface="Century Gothic"/>
                <a:cs typeface="Century Gothic"/>
              </a:rPr>
              <a:t>Case</a:t>
            </a:r>
            <a:r>
              <a:rPr dirty="0" sz="2000" spc="-30">
                <a:latin typeface="Century Gothic"/>
                <a:cs typeface="Century Gothic"/>
              </a:rPr>
              <a:t> </a:t>
            </a:r>
            <a:r>
              <a:rPr dirty="0" sz="2000">
                <a:latin typeface="Century Gothic"/>
                <a:cs typeface="Century Gothic"/>
              </a:rPr>
              <a:t>8:</a:t>
            </a:r>
            <a:r>
              <a:rPr dirty="0" sz="2000" spc="-10">
                <a:latin typeface="Century Gothic"/>
                <a:cs typeface="Century Gothic"/>
              </a:rPr>
              <a:t> Lemonade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10202" y="2804541"/>
            <a:ext cx="286258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</a:t>
            </a:r>
            <a:r>
              <a:rPr dirty="0" spc="-20"/>
              <a:t> </a:t>
            </a:r>
            <a:r>
              <a:rPr dirty="0"/>
              <a:t>9:</a:t>
            </a:r>
            <a:r>
              <a:rPr dirty="0" spc="-20"/>
              <a:t> </a:t>
            </a:r>
            <a:r>
              <a:rPr dirty="0" spc="-25"/>
              <a:t>R3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38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R3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https://r3.com/company/</a:t>
            </a:r>
            <a:endParaRPr sz="2800"/>
          </a:p>
          <a:p>
            <a:pPr marL="12700" marR="5080">
              <a:lnSpc>
                <a:spcPct val="239500"/>
              </a:lnSpc>
              <a:spcBef>
                <a:spcPts val="5"/>
              </a:spcBef>
            </a:pPr>
            <a:r>
              <a:rPr dirty="0" u="sng" sz="2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https://www.youtube.com/watch?v=wZLf5C6P16I</a:t>
            </a:r>
            <a:r>
              <a:rPr dirty="0" u="none" sz="2800" spc="-10">
                <a:solidFill>
                  <a:srgbClr val="0462C1"/>
                </a:solidFill>
              </a:rPr>
              <a:t> </a:t>
            </a:r>
            <a:r>
              <a:rPr dirty="0" u="sng" sz="2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4"/>
              </a:rPr>
              <a:t>https://www.youtube.com/watch?v=K_2QhtTBN8U</a:t>
            </a:r>
            <a:r>
              <a:rPr dirty="0" u="none" sz="2800" spc="-10">
                <a:solidFill>
                  <a:srgbClr val="0462C1"/>
                </a:solidFill>
              </a:rPr>
              <a:t> </a:t>
            </a:r>
            <a:r>
              <a:rPr dirty="0" u="sng" sz="2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5"/>
              </a:rPr>
              <a:t>https://www.youtube.com/watch?v=zDX0TJuOWj0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25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68616" y="-13944"/>
            <a:ext cx="9309100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/>
              <a:t>Q1:</a:t>
            </a:r>
            <a:r>
              <a:rPr dirty="0" sz="2800" spc="-65"/>
              <a:t> </a:t>
            </a:r>
            <a:r>
              <a:rPr dirty="0" sz="2800"/>
              <a:t>How</a:t>
            </a:r>
            <a:r>
              <a:rPr dirty="0" sz="2800" spc="-60"/>
              <a:t> </a:t>
            </a:r>
            <a:r>
              <a:rPr dirty="0" sz="2800"/>
              <a:t>does</a:t>
            </a:r>
            <a:r>
              <a:rPr dirty="0" sz="2800" spc="-45"/>
              <a:t> </a:t>
            </a:r>
            <a:r>
              <a:rPr dirty="0" sz="2800"/>
              <a:t>R3’s</a:t>
            </a:r>
            <a:r>
              <a:rPr dirty="0" sz="2800" spc="-50"/>
              <a:t> </a:t>
            </a:r>
            <a:r>
              <a:rPr dirty="0" sz="2800"/>
              <a:t>distributed</a:t>
            </a:r>
            <a:r>
              <a:rPr dirty="0" sz="2800" spc="-75"/>
              <a:t> </a:t>
            </a:r>
            <a:r>
              <a:rPr dirty="0" sz="2800"/>
              <a:t>ledger</a:t>
            </a:r>
            <a:r>
              <a:rPr dirty="0" sz="2800" spc="-50"/>
              <a:t> </a:t>
            </a:r>
            <a:r>
              <a:rPr dirty="0" sz="2800"/>
              <a:t>technology</a:t>
            </a:r>
            <a:r>
              <a:rPr dirty="0" sz="2800" spc="-25"/>
              <a:t> </a:t>
            </a:r>
            <a:r>
              <a:rPr dirty="0" sz="2800" spc="-20"/>
              <a:t>help </a:t>
            </a:r>
            <a:r>
              <a:rPr dirty="0" sz="2800"/>
              <a:t>mitigate</a:t>
            </a:r>
            <a:r>
              <a:rPr dirty="0" sz="2800" spc="-75"/>
              <a:t> </a:t>
            </a:r>
            <a:r>
              <a:rPr dirty="0" sz="2800"/>
              <a:t>the</a:t>
            </a:r>
            <a:r>
              <a:rPr dirty="0" sz="2800" spc="-60"/>
              <a:t> </a:t>
            </a:r>
            <a:r>
              <a:rPr dirty="0" sz="2800"/>
              <a:t>gap</a:t>
            </a:r>
            <a:r>
              <a:rPr dirty="0" sz="2800" spc="-70"/>
              <a:t> </a:t>
            </a:r>
            <a:r>
              <a:rPr dirty="0" sz="2800"/>
              <a:t>between</a:t>
            </a:r>
            <a:r>
              <a:rPr dirty="0" sz="2800" spc="-35"/>
              <a:t> </a:t>
            </a:r>
            <a:r>
              <a:rPr dirty="0" sz="2800"/>
              <a:t>finance</a:t>
            </a:r>
            <a:r>
              <a:rPr dirty="0" sz="2800" spc="-65"/>
              <a:t> </a:t>
            </a:r>
            <a:r>
              <a:rPr dirty="0" sz="2800"/>
              <a:t>and</a:t>
            </a:r>
            <a:r>
              <a:rPr dirty="0" sz="2800" spc="-60"/>
              <a:t> </a:t>
            </a:r>
            <a:r>
              <a:rPr dirty="0" sz="2800" spc="-10"/>
              <a:t>technology?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22250" y="818946"/>
            <a:ext cx="11924665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5786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Industry-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design:Corda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customized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industry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unique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constraints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financial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institutions.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domain-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ensures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technology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aligned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needs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services.</a:t>
            </a:r>
            <a:endParaRPr sz="1500">
              <a:latin typeface="Arial"/>
              <a:cs typeface="Arial"/>
            </a:endParaRPr>
          </a:p>
          <a:p>
            <a:pPr marL="12700" marR="236854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Confidentiality:R3's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DLT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maintains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confidentiality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“need-to-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know”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data.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critical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handle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sensitive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information.</a:t>
            </a:r>
            <a:endParaRPr sz="1500">
              <a:latin typeface="Arial"/>
              <a:cs typeface="Arial"/>
            </a:endParaRPr>
          </a:p>
          <a:p>
            <a:pPr marL="12700" marR="11430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Interoperability:By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common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enables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interact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seamlessly,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regardless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internal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systems.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interoperability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helps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standardize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industry.</a:t>
            </a:r>
            <a:endParaRPr sz="1500">
              <a:latin typeface="Arial"/>
              <a:cs typeface="Arial"/>
            </a:endParaRPr>
          </a:p>
          <a:p>
            <a:pPr marL="12700" marR="9842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Contracts:Corda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integrates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self-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executing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protocols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terms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written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into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code.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feature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agreements,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manual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intervention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increasing efficiency.</a:t>
            </a:r>
            <a:endParaRPr sz="1500">
              <a:latin typeface="Arial"/>
              <a:cs typeface="Arial"/>
            </a:endParaRPr>
          </a:p>
          <a:p>
            <a:pPr marL="12700" marR="27749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Compliance:Built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compliance,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real-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time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monitoring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activities,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helps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financial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meet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efficiently.</a:t>
            </a:r>
            <a:endParaRPr sz="1500">
              <a:latin typeface="Arial"/>
              <a:cs typeface="Arial"/>
            </a:endParaRPr>
          </a:p>
          <a:p>
            <a:pPr marL="12700" marR="825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Reduction:By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having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shared,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tamper-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proof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ledger,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DLT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counterparty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risk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agreements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encoded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enforced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network,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fulfill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agreed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obligations.</a:t>
            </a:r>
            <a:endParaRPr sz="1500">
              <a:latin typeface="Arial"/>
              <a:cs typeface="Arial"/>
            </a:endParaRPr>
          </a:p>
          <a:p>
            <a:pPr marL="12700" marR="29845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Improve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efficiency:DLT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simplify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complex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clearing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settlement,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time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days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seconds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liquidity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capital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efficiency.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Reduce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fraud:DLT's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features,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including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cryptographic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signatures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mechanisms,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minimize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fraud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difficult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for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fraudulent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activity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escape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detection.</a:t>
            </a:r>
            <a:endParaRPr sz="1500">
              <a:latin typeface="Arial"/>
              <a:cs typeface="Arial"/>
            </a:endParaRPr>
          </a:p>
          <a:p>
            <a:pPr marL="12700" marR="39370">
              <a:lnSpc>
                <a:spcPct val="100000"/>
              </a:lnSpc>
            </a:pP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On-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demand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sharing:Corda's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shared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involved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FF2600"/>
                </a:solidFill>
                <a:latin typeface="Arial"/>
                <a:cs typeface="Arial"/>
              </a:rPr>
              <a:t>more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consistent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how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sensitive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data.</a:t>
            </a:r>
            <a:endParaRPr sz="1500">
              <a:latin typeface="Arial"/>
              <a:cs typeface="Arial"/>
            </a:endParaRPr>
          </a:p>
          <a:p>
            <a:pPr marL="12700" marR="817244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Permission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Chain:Unlike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blockchains,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operates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permission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chain,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meaning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limited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known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trusted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line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control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institutions.</a:t>
            </a:r>
            <a:endParaRPr sz="1500">
              <a:latin typeface="Arial"/>
              <a:cs typeface="Arial"/>
            </a:endParaRPr>
          </a:p>
          <a:p>
            <a:pPr marL="12700" marR="202565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Flexibility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customization:Financial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develop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deploy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customized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specific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scenario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requirements,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enabling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personalized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processes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customer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experiences.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source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platform:By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releasing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open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source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R3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encourages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collaboration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6305346"/>
            <a:ext cx="77743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industry,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banks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build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their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own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platform.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8456" y="1003"/>
            <a:ext cx="9424035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/>
              <a:t>Q2:</a:t>
            </a:r>
            <a:r>
              <a:rPr dirty="0" sz="2800" spc="-60"/>
              <a:t> </a:t>
            </a:r>
            <a:r>
              <a:rPr dirty="0" sz="2800"/>
              <a:t>What</a:t>
            </a:r>
            <a:r>
              <a:rPr dirty="0" sz="2800" spc="-15"/>
              <a:t> </a:t>
            </a:r>
            <a:r>
              <a:rPr dirty="0" sz="2800"/>
              <a:t>are</a:t>
            </a:r>
            <a:r>
              <a:rPr dirty="0" sz="2800" spc="-50"/>
              <a:t> </a:t>
            </a:r>
            <a:r>
              <a:rPr dirty="0" sz="2800"/>
              <a:t>the</a:t>
            </a:r>
            <a:r>
              <a:rPr dirty="0" sz="2800" spc="-35"/>
              <a:t> </a:t>
            </a:r>
            <a:r>
              <a:rPr dirty="0" sz="2800"/>
              <a:t>key</a:t>
            </a:r>
            <a:r>
              <a:rPr dirty="0" sz="2800" spc="-55"/>
              <a:t> </a:t>
            </a:r>
            <a:r>
              <a:rPr dirty="0" sz="2800"/>
              <a:t>differences</a:t>
            </a:r>
            <a:r>
              <a:rPr dirty="0" sz="2800" spc="-40"/>
              <a:t> </a:t>
            </a:r>
            <a:r>
              <a:rPr dirty="0" sz="2800"/>
              <a:t>between</a:t>
            </a:r>
            <a:r>
              <a:rPr dirty="0" sz="2800" spc="-25"/>
              <a:t> </a:t>
            </a:r>
            <a:r>
              <a:rPr dirty="0" sz="2800"/>
              <a:t>Corda</a:t>
            </a:r>
            <a:r>
              <a:rPr dirty="0" sz="2800" spc="-55"/>
              <a:t> </a:t>
            </a:r>
            <a:r>
              <a:rPr dirty="0" sz="2800" spc="-25"/>
              <a:t>and </a:t>
            </a:r>
            <a:r>
              <a:rPr dirty="0" sz="2800"/>
              <a:t>traditional</a:t>
            </a:r>
            <a:r>
              <a:rPr dirty="0" sz="2800" spc="-114"/>
              <a:t> </a:t>
            </a:r>
            <a:r>
              <a:rPr dirty="0" sz="2800"/>
              <a:t>blockchain</a:t>
            </a:r>
            <a:r>
              <a:rPr dirty="0" sz="2800" spc="-90"/>
              <a:t> </a:t>
            </a:r>
            <a:r>
              <a:rPr dirty="0" sz="2800" spc="-10"/>
              <a:t>platforms?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0631" y="825284"/>
            <a:ext cx="11885295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main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differences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reflected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following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aspects:</a:t>
            </a:r>
            <a:endParaRPr sz="1500">
              <a:latin typeface="Arial"/>
              <a:cs typeface="Arial"/>
            </a:endParaRPr>
          </a:p>
          <a:p>
            <a:pPr marL="12700" marR="109220">
              <a:lnSpc>
                <a:spcPct val="100000"/>
              </a:lnSpc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1.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andData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sharing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mechanism: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adopts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“need-to-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know”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principle,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associated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does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broadcast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global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network.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Bitcoin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where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network.</a:t>
            </a:r>
            <a:endParaRPr sz="1500">
              <a:latin typeface="Arial"/>
              <a:cs typeface="Arial"/>
            </a:endParaRPr>
          </a:p>
          <a:p>
            <a:pPr marL="12700" marR="5080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mechanism: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Instead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Work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(PoW)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mechanism,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refined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consensus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mechanisms,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Practical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Byzantine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Fault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Tolerance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(PBFT)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Raft,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interested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parties.Traditional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usually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nodes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network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reach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order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e.g.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Bitcoin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uses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PoW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mechanism.</a:t>
            </a:r>
            <a:endParaRPr sz="1500">
              <a:latin typeface="Arial"/>
              <a:cs typeface="Arial"/>
            </a:endParaRPr>
          </a:p>
          <a:p>
            <a:pPr marL="12700" marR="527050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supports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logic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embedded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automatic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execution. Traditional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supported,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Corda's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focuses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compatibility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enforcement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contracts.</a:t>
            </a:r>
            <a:endParaRPr sz="1500">
              <a:latin typeface="Arial"/>
              <a:cs typeface="Arial"/>
            </a:endParaRPr>
          </a:p>
          <a:p>
            <a:pPr marL="12700" marR="123189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500" spc="-6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Type: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Permissioned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Ledger,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meaning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authorized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nodes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participate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network.</a:t>
            </a:r>
            <a:r>
              <a:rPr dirty="0" sz="1500" spc="-6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Traditional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either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Permissioned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Permissionless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Ledger,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allows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any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node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join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network.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6.</a:t>
            </a:r>
            <a:endParaRPr sz="1500">
              <a:latin typeface="Arial"/>
              <a:cs typeface="Arial"/>
            </a:endParaRPr>
          </a:p>
          <a:p>
            <a:pPr marL="12700" marR="163830" indent="200025">
              <a:lnSpc>
                <a:spcPct val="100000"/>
              </a:lnSpc>
              <a:buAutoNum type="arabicPeriod" startAt="3"/>
              <a:tabLst>
                <a:tab pos="21272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Architectural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(DApps),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supporting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complex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logic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multiple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consensus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algorithms.</a:t>
            </a:r>
            <a:r>
              <a:rPr dirty="0" sz="1500" spc="-7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supporting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DApps,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Corda's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more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focused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contract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enforcement.</a:t>
            </a:r>
            <a:endParaRPr sz="1500">
              <a:latin typeface="Arial"/>
              <a:cs typeface="Arial"/>
            </a:endParaRPr>
          </a:p>
          <a:p>
            <a:pPr marL="12700" marR="311785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Performance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Scalability: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Corda: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better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performance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scalability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processed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only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500" spc="-5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relevant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nodes.</a:t>
            </a:r>
            <a:r>
              <a:rPr dirty="0" sz="1500" spc="-7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nodes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process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store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all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transactions,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affect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performance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scalability.</a:t>
            </a:r>
            <a:endParaRPr sz="1500">
              <a:latin typeface="Arial"/>
              <a:cs typeface="Arial"/>
            </a:endParaRPr>
          </a:p>
          <a:p>
            <a:pPr algn="just" marL="12700" marR="184150" indent="210185">
              <a:lnSpc>
                <a:spcPct val="100000"/>
              </a:lnSpc>
              <a:buAutoNum type="arabicPeriod" startAt="3"/>
              <a:tabLst>
                <a:tab pos="222885" algn="l"/>
              </a:tabLst>
            </a:pP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adaptations:Corda: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designed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mind,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making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easier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contracts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built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comply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requirements.</a:t>
            </a:r>
            <a:r>
              <a:rPr dirty="0" sz="1500" spc="-5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Traditional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Blockchain: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decentralized,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may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</a:t>
            </a:r>
            <a:r>
              <a:rPr dirty="0" sz="15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additional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work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adapt</a:t>
            </a:r>
            <a:r>
              <a:rPr dirty="0" sz="15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requirements</a:t>
            </a:r>
            <a:r>
              <a:rPr dirty="0" sz="15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5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2600"/>
                </a:solidFill>
                <a:latin typeface="Arial"/>
                <a:cs typeface="Arial"/>
              </a:rPr>
              <a:t>jurisdictions.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32613"/>
            <a:ext cx="8891905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Recall:</a:t>
            </a:r>
            <a:r>
              <a:rPr dirty="0" spc="-45"/>
              <a:t> </a:t>
            </a:r>
            <a:r>
              <a:rPr dirty="0"/>
              <a:t>Blockchain:</a:t>
            </a:r>
            <a:r>
              <a:rPr dirty="0" spc="-35"/>
              <a:t> </a:t>
            </a:r>
            <a:r>
              <a:rPr dirty="0"/>
              <a:t>structure</a:t>
            </a:r>
            <a:r>
              <a:rPr dirty="0" spc="-5"/>
              <a:t> </a:t>
            </a:r>
            <a:r>
              <a:rPr dirty="0" spc="-25"/>
              <a:t>and </a:t>
            </a:r>
            <a:r>
              <a:rPr dirty="0" spc="-10"/>
              <a:t>mechanics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ts val="21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Key</a:t>
            </a:r>
            <a:r>
              <a:rPr dirty="0" spc="-55"/>
              <a:t> </a:t>
            </a:r>
            <a:r>
              <a:rPr dirty="0" spc="-10"/>
              <a:t>components</a:t>
            </a:r>
          </a:p>
          <a:p>
            <a:pPr lvl="1" marL="698500" indent="-228600">
              <a:lnSpc>
                <a:spcPts val="1760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6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network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protocol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supports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communication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between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 spc="-10">
                <a:latin typeface="Century Gothic"/>
                <a:cs typeface="Century Gothic"/>
              </a:rPr>
              <a:t>participants</a:t>
            </a:r>
            <a:endParaRPr sz="1500">
              <a:latin typeface="Century Gothic"/>
              <a:cs typeface="Century Gothic"/>
            </a:endParaRPr>
          </a:p>
          <a:p>
            <a:pPr lvl="1" marL="698500" indent="-228600">
              <a:lnSpc>
                <a:spcPts val="1764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network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of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computers</a:t>
            </a:r>
            <a:r>
              <a:rPr dirty="0" sz="1500" spc="-2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store</a:t>
            </a:r>
            <a:r>
              <a:rPr dirty="0" sz="1500" spc="-5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and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manage</a:t>
            </a:r>
            <a:r>
              <a:rPr dirty="0" sz="1500" spc="-2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transaction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 spc="-20">
                <a:latin typeface="Century Gothic"/>
                <a:cs typeface="Century Gothic"/>
              </a:rPr>
              <a:t>data</a:t>
            </a:r>
            <a:endParaRPr sz="1500">
              <a:latin typeface="Century Gothic"/>
              <a:cs typeface="Century Gothic"/>
            </a:endParaRPr>
          </a:p>
          <a:p>
            <a:pPr lvl="1" marL="698500" indent="-228600">
              <a:lnSpc>
                <a:spcPts val="1785"/>
              </a:lnSpc>
              <a:buFont typeface="Arial"/>
              <a:buChar char="•"/>
              <a:tabLst>
                <a:tab pos="698500" algn="l"/>
              </a:tabLst>
            </a:pPr>
            <a:r>
              <a:rPr dirty="0" sz="1500">
                <a:latin typeface="Century Gothic"/>
                <a:cs typeface="Century Gothic"/>
              </a:rPr>
              <a:t>A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process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for</a:t>
            </a:r>
            <a:r>
              <a:rPr dirty="0" sz="1500" spc="-4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managing</a:t>
            </a:r>
            <a:r>
              <a:rPr dirty="0" sz="1500" spc="-3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records</a:t>
            </a:r>
            <a:r>
              <a:rPr dirty="0" sz="1500" spc="-6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that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is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based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on</a:t>
            </a:r>
            <a:r>
              <a:rPr dirty="0" sz="1500" spc="-50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achieving</a:t>
            </a:r>
            <a:r>
              <a:rPr dirty="0" sz="1500" spc="-6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consensus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>
                <a:latin typeface="Century Gothic"/>
                <a:cs typeface="Century Gothic"/>
              </a:rPr>
              <a:t>between</a:t>
            </a:r>
            <a:r>
              <a:rPr dirty="0" sz="1500" spc="-45">
                <a:latin typeface="Century Gothic"/>
                <a:cs typeface="Century Gothic"/>
              </a:rPr>
              <a:t> </a:t>
            </a:r>
            <a:r>
              <a:rPr dirty="0" sz="1500" spc="-10">
                <a:latin typeface="Century Gothic"/>
                <a:cs typeface="Century Gothic"/>
              </a:rPr>
              <a:t>participants</a:t>
            </a:r>
            <a:endParaRPr sz="15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1015"/>
              </a:spcBef>
              <a:buFont typeface="Arial"/>
              <a:buChar char="•"/>
            </a:pPr>
            <a:endParaRPr sz="1500"/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/>
              <a:t>Records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45"/>
              <a:t> </a:t>
            </a:r>
            <a:r>
              <a:rPr dirty="0"/>
              <a:t>maintained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55"/>
              <a:t> </a:t>
            </a:r>
            <a:r>
              <a:rPr dirty="0"/>
              <a:t>many</a:t>
            </a:r>
            <a:r>
              <a:rPr dirty="0" spc="-45"/>
              <a:t> </a:t>
            </a:r>
            <a:r>
              <a:rPr dirty="0"/>
              <a:t>different</a:t>
            </a:r>
            <a:r>
              <a:rPr dirty="0" spc="-45"/>
              <a:t> </a:t>
            </a:r>
            <a:r>
              <a:rPr dirty="0"/>
              <a:t>computers,</a:t>
            </a:r>
            <a:r>
              <a:rPr dirty="0" spc="-35"/>
              <a:t> </a:t>
            </a:r>
            <a:r>
              <a:rPr dirty="0"/>
              <a:t>“nodes”,</a:t>
            </a:r>
            <a:r>
              <a:rPr dirty="0" spc="-35"/>
              <a:t> </a:t>
            </a:r>
            <a:r>
              <a:rPr dirty="0"/>
              <a:t>within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network</a:t>
            </a:r>
          </a:p>
          <a:p>
            <a:pPr>
              <a:lnSpc>
                <a:spcPct val="100000"/>
              </a:lnSpc>
              <a:spcBef>
                <a:spcPts val="660"/>
              </a:spcBef>
              <a:buFont typeface="Arial"/>
              <a:buChar char="•"/>
            </a:p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/>
              <a:t>Nodes</a:t>
            </a:r>
            <a:r>
              <a:rPr dirty="0" spc="-50"/>
              <a:t> </a:t>
            </a:r>
            <a:r>
              <a:rPr dirty="0"/>
              <a:t>coordinate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one</a:t>
            </a:r>
            <a:r>
              <a:rPr dirty="0" spc="-50"/>
              <a:t> </a:t>
            </a:r>
            <a:r>
              <a:rPr dirty="0"/>
              <a:t>another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maintain</a:t>
            </a:r>
            <a:r>
              <a:rPr dirty="0" spc="-8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consistency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distributed</a:t>
            </a:r>
            <a:r>
              <a:rPr dirty="0" spc="-55"/>
              <a:t> </a:t>
            </a:r>
            <a:r>
              <a:rPr dirty="0" spc="-10"/>
              <a:t>ledger</a:t>
            </a:r>
          </a:p>
          <a:p>
            <a:pPr>
              <a:lnSpc>
                <a:spcPct val="100000"/>
              </a:lnSpc>
              <a:spcBef>
                <a:spcPts val="665"/>
              </a:spcBef>
              <a:buFont typeface="Arial"/>
              <a:buChar char="•"/>
            </a:p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i="1">
                <a:solidFill>
                  <a:srgbClr val="FF0000"/>
                </a:solidFill>
                <a:latin typeface="Century Gothic"/>
                <a:cs typeface="Century Gothic"/>
              </a:rPr>
              <a:t>Permissionless</a:t>
            </a:r>
            <a:r>
              <a:rPr dirty="0" spc="-60" i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/>
              <a:t>blockchain</a:t>
            </a:r>
            <a:r>
              <a:rPr dirty="0" spc="-85"/>
              <a:t> </a:t>
            </a:r>
            <a:r>
              <a:rPr dirty="0"/>
              <a:t>implementations</a:t>
            </a:r>
            <a:r>
              <a:rPr dirty="0" spc="-70"/>
              <a:t> </a:t>
            </a:r>
            <a:r>
              <a:rPr dirty="0"/>
              <a:t>allow</a:t>
            </a:r>
            <a:r>
              <a:rPr dirty="0" spc="-70"/>
              <a:t> </a:t>
            </a:r>
            <a:r>
              <a:rPr dirty="0"/>
              <a:t>open</a:t>
            </a:r>
            <a:r>
              <a:rPr dirty="0" spc="-55"/>
              <a:t> </a:t>
            </a:r>
            <a:r>
              <a:rPr dirty="0"/>
              <a:t>access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distributed</a:t>
            </a:r>
            <a:r>
              <a:rPr dirty="0" spc="-60"/>
              <a:t> </a:t>
            </a:r>
            <a:r>
              <a:rPr dirty="0" spc="-10"/>
              <a:t>ledger</a:t>
            </a:r>
          </a:p>
          <a:p>
            <a:pPr>
              <a:lnSpc>
                <a:spcPct val="100000"/>
              </a:lnSpc>
              <a:spcBef>
                <a:spcPts val="650"/>
              </a:spcBef>
              <a:buFont typeface="Arial"/>
              <a:buChar char="•"/>
            </a:p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i="1">
                <a:solidFill>
                  <a:srgbClr val="FF0000"/>
                </a:solidFill>
                <a:latin typeface="Century Gothic"/>
                <a:cs typeface="Century Gothic"/>
              </a:rPr>
              <a:t>Permissioned</a:t>
            </a:r>
            <a:r>
              <a:rPr dirty="0" spc="-30" i="1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dirty="0"/>
              <a:t>blockchain</a:t>
            </a:r>
            <a:r>
              <a:rPr dirty="0" spc="-50"/>
              <a:t> </a:t>
            </a:r>
            <a:r>
              <a:rPr dirty="0" spc="-10"/>
              <a:t>implementations</a:t>
            </a:r>
            <a:r>
              <a:rPr dirty="0" spc="-35"/>
              <a:t> </a:t>
            </a:r>
            <a:r>
              <a:rPr dirty="0"/>
              <a:t>limit</a:t>
            </a:r>
            <a:r>
              <a:rPr dirty="0" spc="-60"/>
              <a:t> </a:t>
            </a:r>
            <a:r>
              <a:rPr dirty="0"/>
              <a:t>who</a:t>
            </a:r>
            <a:r>
              <a:rPr dirty="0" spc="-5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participate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network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9094" y="27762"/>
            <a:ext cx="9804400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/>
              <a:t>Q3:</a:t>
            </a:r>
            <a:r>
              <a:rPr dirty="0" sz="2800" spc="-65"/>
              <a:t> </a:t>
            </a:r>
            <a:r>
              <a:rPr dirty="0" sz="2800"/>
              <a:t>Could</a:t>
            </a:r>
            <a:r>
              <a:rPr dirty="0" sz="2800" spc="-55"/>
              <a:t> </a:t>
            </a:r>
            <a:r>
              <a:rPr dirty="0" sz="2800"/>
              <a:t>R3</a:t>
            </a:r>
            <a:r>
              <a:rPr dirty="0" sz="2800" spc="-55"/>
              <a:t> </a:t>
            </a:r>
            <a:r>
              <a:rPr dirty="0" sz="2800"/>
              <a:t>gain</a:t>
            </a:r>
            <a:r>
              <a:rPr dirty="0" sz="2800" spc="-60"/>
              <a:t> </a:t>
            </a:r>
            <a:r>
              <a:rPr dirty="0" sz="2800"/>
              <a:t>recognition</a:t>
            </a:r>
            <a:r>
              <a:rPr dirty="0" sz="2800" spc="-55"/>
              <a:t> </a:t>
            </a:r>
            <a:r>
              <a:rPr dirty="0" sz="2800"/>
              <a:t>and</a:t>
            </a:r>
            <a:r>
              <a:rPr dirty="0" sz="2800" spc="-60"/>
              <a:t> </a:t>
            </a:r>
            <a:r>
              <a:rPr dirty="0" sz="2800"/>
              <a:t>expand</a:t>
            </a:r>
            <a:r>
              <a:rPr dirty="0" sz="2800" spc="-35"/>
              <a:t> </a:t>
            </a:r>
            <a:r>
              <a:rPr dirty="0" sz="2800"/>
              <a:t>its</a:t>
            </a:r>
            <a:r>
              <a:rPr dirty="0" sz="2800" spc="-65"/>
              <a:t> </a:t>
            </a:r>
            <a:r>
              <a:rPr dirty="0" sz="2800"/>
              <a:t>business</a:t>
            </a:r>
            <a:r>
              <a:rPr dirty="0" sz="2800" spc="-45"/>
              <a:t> </a:t>
            </a:r>
            <a:r>
              <a:rPr dirty="0" sz="2800" spc="-25"/>
              <a:t>in </a:t>
            </a:r>
            <a:r>
              <a:rPr dirty="0" sz="2800" spc="-10"/>
              <a:t>China?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14947" y="1039266"/>
            <a:ext cx="11776710" cy="50266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250825">
              <a:lnSpc>
                <a:spcPct val="101200"/>
              </a:lnSpc>
              <a:spcBef>
                <a:spcPts val="80"/>
              </a:spcBef>
            </a:pP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Yes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—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gain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recognition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it’s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guaranteed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friction-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free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path.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prospects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depend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how well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it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aligns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China’s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specific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regulatory,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technological,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ecosystem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priorities.</a:t>
            </a:r>
            <a:endParaRPr sz="1400">
              <a:latin typeface="Arial"/>
              <a:cs typeface="Arial"/>
            </a:endParaRPr>
          </a:p>
          <a:p>
            <a:pPr marL="12700" marR="15621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global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enterprise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consortium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known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technology,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already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seen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early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engagement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with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—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example,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Ping</a:t>
            </a:r>
            <a:r>
              <a:rPr dirty="0" sz="1400" spc="-8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Group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became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one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first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members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consortium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back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2016.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step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showed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significant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interest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from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major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domestic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player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exploring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shared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participants.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There’s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also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historical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precedent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systems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Foreign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Exchange</a:t>
            </a:r>
            <a:r>
              <a:rPr dirty="0" sz="1400" spc="-4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Trade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(CFETS)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joining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R3’s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efforts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develop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distributed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ledger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applications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finance.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LeapRate</a:t>
            </a:r>
            <a:endParaRPr sz="1400">
              <a:latin typeface="Arial"/>
              <a:cs typeface="Arial"/>
            </a:endParaRPr>
          </a:p>
          <a:p>
            <a:pPr marL="12700" marR="94615">
              <a:lnSpc>
                <a:spcPct val="105200"/>
              </a:lnSpc>
              <a:spcBef>
                <a:spcPts val="3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Those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matter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because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approaches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speculative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crypto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rails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“</a:t>
            </a:r>
            <a:r>
              <a:rPr dirty="0" sz="1400">
                <a:solidFill>
                  <a:srgbClr val="FF2600"/>
                </a:solidFill>
                <a:latin typeface="PMingLiU"/>
                <a:cs typeface="PMingLiU"/>
              </a:rPr>
              <a:t>联盟链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” (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permissioned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or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consortium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blockchains)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aligned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goals.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China’s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tended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favor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domestic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standards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platforms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FISCO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BCOS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(a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consortium)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Blockchain-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based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Service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Network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(BSN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),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infrastructure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tailored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local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compliance requirements.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R3’s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expansion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would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likely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succeed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most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competing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China’s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homegrown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networks,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by:</a:t>
            </a:r>
            <a:endParaRPr sz="1400">
              <a:latin typeface="Arial"/>
              <a:cs typeface="Arial"/>
            </a:endParaRPr>
          </a:p>
          <a:p>
            <a:pPr marL="12700" marR="46609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Collaborating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financial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institutions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want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interoperable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enterprise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DLT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(as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Ping</a:t>
            </a:r>
            <a:r>
              <a:rPr dirty="0" sz="14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CFETS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have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shown interest).</a:t>
            </a:r>
            <a:endParaRPr sz="1400">
              <a:latin typeface="Arial"/>
              <a:cs typeface="Arial"/>
            </a:endParaRPr>
          </a:p>
          <a:p>
            <a:pPr marL="12700" marR="4127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Adapting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solutions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comply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China’s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frameworks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emphasize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control,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sovereignty,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permissioned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blockchain ecosystems.</a:t>
            </a:r>
            <a:endParaRPr sz="1400">
              <a:latin typeface="Arial"/>
              <a:cs typeface="Arial"/>
            </a:endParaRPr>
          </a:p>
          <a:p>
            <a:pPr marL="12700" marR="17399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Aligning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national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blockchain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initiatives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like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BSN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hosts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multi-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development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environments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could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bridge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enterprise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projects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deployments.</a:t>
            </a:r>
            <a:endParaRPr sz="1400">
              <a:latin typeface="Arial"/>
              <a:cs typeface="Arial"/>
            </a:endParaRPr>
          </a:p>
          <a:p>
            <a:pPr marL="12700" marR="1143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China’s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policy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environment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favors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innovation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within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regulatory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guardrails,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especially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finance,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supply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chain,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identity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systems.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Foreign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tech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players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alliances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participate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if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align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those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priorities,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typically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cannot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operate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independently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outside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Chinese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infrastructure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norms.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This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means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R3’s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strategy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would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need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localize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—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partnerships,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governance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models,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technical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integrations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—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expand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recognition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business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there.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2019" y="6433210"/>
            <a:ext cx="193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entury Gothic"/>
                <a:cs typeface="Century Gothic"/>
              </a:rPr>
              <a:t>29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98626" y="61912"/>
            <a:ext cx="100082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Q4:</a:t>
            </a:r>
            <a:r>
              <a:rPr dirty="0" sz="2800" spc="-60"/>
              <a:t> </a:t>
            </a:r>
            <a:r>
              <a:rPr dirty="0" sz="2800"/>
              <a:t>What</a:t>
            </a:r>
            <a:r>
              <a:rPr dirty="0" sz="2800" spc="-10"/>
              <a:t> </a:t>
            </a:r>
            <a:r>
              <a:rPr dirty="0" sz="2800"/>
              <a:t>are</a:t>
            </a:r>
            <a:r>
              <a:rPr dirty="0" sz="2800" spc="-50"/>
              <a:t> </a:t>
            </a:r>
            <a:r>
              <a:rPr dirty="0" sz="2800"/>
              <a:t>the</a:t>
            </a:r>
            <a:r>
              <a:rPr dirty="0" sz="2800" spc="-30"/>
              <a:t> </a:t>
            </a:r>
            <a:r>
              <a:rPr dirty="0" sz="2800"/>
              <a:t>potential</a:t>
            </a:r>
            <a:r>
              <a:rPr dirty="0" sz="2800" spc="-35"/>
              <a:t> </a:t>
            </a:r>
            <a:r>
              <a:rPr dirty="0" sz="2800"/>
              <a:t>applications</a:t>
            </a:r>
            <a:r>
              <a:rPr dirty="0" sz="2800" spc="-50"/>
              <a:t> </a:t>
            </a:r>
            <a:r>
              <a:rPr dirty="0" sz="2800"/>
              <a:t>of</a:t>
            </a:r>
            <a:r>
              <a:rPr dirty="0" sz="2800" spc="-50"/>
              <a:t> </a:t>
            </a:r>
            <a:r>
              <a:rPr dirty="0" sz="2800"/>
              <a:t>Corda</a:t>
            </a:r>
            <a:r>
              <a:rPr dirty="0" sz="2800" spc="-55"/>
              <a:t> </a:t>
            </a:r>
            <a:r>
              <a:rPr dirty="0" sz="2800"/>
              <a:t>to</a:t>
            </a:r>
            <a:r>
              <a:rPr dirty="0" sz="2800" spc="-55"/>
              <a:t> </a:t>
            </a:r>
            <a:r>
              <a:rPr dirty="0" sz="2800" spc="-10"/>
              <a:t>other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898626" y="445655"/>
            <a:ext cx="179323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entury Gothic"/>
                <a:cs typeface="Century Gothic"/>
              </a:rPr>
              <a:t>industries?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15" y="775309"/>
            <a:ext cx="11816715" cy="56362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1650">
              <a:lnSpc>
                <a:spcPct val="101200"/>
              </a:lnSpc>
              <a:spcBef>
                <a:spcPts val="8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Supply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Management: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track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movement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goods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services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throughout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supply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chain,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transparency,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fraud,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efficiency.</a:t>
            </a:r>
            <a:endParaRPr sz="1400">
              <a:latin typeface="Arial"/>
              <a:cs typeface="Arial"/>
            </a:endParaRPr>
          </a:p>
          <a:p>
            <a:pPr marL="12700" marR="12382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Estate: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streamline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property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transactions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transparent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titles,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property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deeds,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other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documents.</a:t>
            </a:r>
            <a:endParaRPr sz="1400">
              <a:latin typeface="Arial"/>
              <a:cs typeface="Arial"/>
            </a:endParaRPr>
          </a:p>
          <a:p>
            <a:pPr marL="12700" marR="33147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Healthcare:Corda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help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patient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data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privacy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while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authorized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access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medical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history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across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400" spc="-3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healthcare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providers.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Intellectual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Property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Copyright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Management:Corda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register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track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intellectual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property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rights,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patents,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trademarks,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copyrights,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transparent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immutable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ownership.</a:t>
            </a:r>
            <a:endParaRPr sz="1400">
              <a:latin typeface="Arial"/>
              <a:cs typeface="Arial"/>
            </a:endParaRPr>
          </a:p>
          <a:p>
            <a:pPr marL="12700" marR="5384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Energy</a:t>
            </a:r>
            <a:r>
              <a:rPr dirty="0" sz="1400" spc="-4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Trading: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facilitate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peer-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to-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peer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energy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trading,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allowing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parties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transact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directly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without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intermediaries,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automating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settlement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process.</a:t>
            </a:r>
            <a:endParaRPr sz="1400">
              <a:latin typeface="Arial"/>
              <a:cs typeface="Arial"/>
            </a:endParaRPr>
          </a:p>
          <a:p>
            <a:pPr marL="12700" marR="13398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Insurance:Corda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automate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insurance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claim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processing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through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smart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contracts,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which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trigger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payouts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automatically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when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certain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conditions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met,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fraud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speeding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up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claim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resolution.</a:t>
            </a:r>
            <a:endParaRPr sz="1400">
              <a:latin typeface="Arial"/>
              <a:cs typeface="Arial"/>
            </a:endParaRPr>
          </a:p>
          <a:p>
            <a:pPr marL="12700" marR="79629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Government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Services: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government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such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birth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certificates,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marriage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licenses,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voting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systems,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increasing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integrity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public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Notary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Services: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platform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legal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documents,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contracts,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notarizations,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authenticity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non-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repudiation</a:t>
            </a:r>
            <a:r>
              <a:rPr dirty="0" sz="1400" spc="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documents.</a:t>
            </a:r>
            <a:endParaRPr sz="1400">
              <a:latin typeface="Arial"/>
              <a:cs typeface="Arial"/>
            </a:endParaRPr>
          </a:p>
          <a:p>
            <a:pPr marL="12700" marR="17272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Charity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Non-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Profit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Sector:Corda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enhance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transparency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charity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sector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tracking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donations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that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funds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their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intended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purposes.</a:t>
            </a:r>
            <a:endParaRPr sz="1400">
              <a:latin typeface="Arial"/>
              <a:cs typeface="Arial"/>
            </a:endParaRPr>
          </a:p>
          <a:p>
            <a:pPr marL="12700" marR="775335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Manufacturing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Quality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Control:In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manufacturing,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track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provenance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materials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products,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ensuring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quality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control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compliance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with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industry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standards.</a:t>
            </a:r>
            <a:endParaRPr sz="1400">
              <a:latin typeface="Arial"/>
              <a:cs typeface="Arial"/>
            </a:endParaRPr>
          </a:p>
          <a:p>
            <a:pPr marL="12700" marR="528320">
              <a:lnSpc>
                <a:spcPct val="101200"/>
              </a:lnSpc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Logistics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3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Transportation:Corda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used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to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coordinate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track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shipments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across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multiple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parties,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reducing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disputes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improving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the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efficiency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of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logistics</a:t>
            </a:r>
            <a:r>
              <a:rPr dirty="0" sz="1400" spc="-2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operations.</a:t>
            </a:r>
            <a:endParaRPr sz="1400">
              <a:latin typeface="Arial"/>
              <a:cs typeface="Arial"/>
            </a:endParaRPr>
          </a:p>
          <a:p>
            <a:pPr marL="12700" marR="401320">
              <a:lnSpc>
                <a:spcPct val="101200"/>
              </a:lnSpc>
            </a:pP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Telecommunications:In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telecom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industry,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manage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roaming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agreements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settlements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between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different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service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providers.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Identity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Verification:Corda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 can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provide a secure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privacy-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preserving system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verifying identities,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which is useful</a:t>
            </a:r>
            <a:r>
              <a:rPr dirty="0" sz="1400" spc="-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in various sectors,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including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finance,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healthcare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Education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9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Academic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Records:Corda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can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securely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store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verify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academic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records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qualifications,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preventing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fraud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simplifying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2600"/>
                </a:solidFill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815" y="6388709"/>
            <a:ext cx="49180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verification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process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employers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and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2600"/>
                </a:solidFill>
                <a:latin typeface="Arial"/>
                <a:cs typeface="Arial"/>
              </a:rPr>
              <a:t>educational</a:t>
            </a:r>
            <a:r>
              <a:rPr dirty="0" sz="1400" spc="-10">
                <a:solidFill>
                  <a:srgbClr val="FF2600"/>
                </a:solidFill>
                <a:latin typeface="Arial"/>
                <a:cs typeface="Arial"/>
              </a:rPr>
              <a:t> institutions.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Course</a:t>
            </a:r>
            <a:r>
              <a:rPr dirty="0" spc="-40"/>
              <a:t> </a:t>
            </a:r>
            <a:r>
              <a:rPr dirty="0" spc="-1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4634" y="1808733"/>
            <a:ext cx="5605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entury Gothic"/>
                <a:cs typeface="Century Gothic"/>
                <a:hlinkClick r:id="rId2"/>
              </a:rPr>
              <a:t>https://onlinesurvey.cityu.edu.hk</a:t>
            </a:r>
            <a:endParaRPr sz="28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6207" y="2665922"/>
            <a:ext cx="3854785" cy="36253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89785" y="2460701"/>
            <a:ext cx="792988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Consultations</a:t>
            </a:r>
            <a:r>
              <a:rPr dirty="0" spc="-70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/>
              <a:t>Final</a:t>
            </a:r>
            <a:r>
              <a:rPr dirty="0" spc="-70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25"/>
              <a:t>In-</a:t>
            </a:r>
            <a:r>
              <a:rPr dirty="0"/>
              <a:t>class</a:t>
            </a:r>
            <a:r>
              <a:rPr dirty="0" spc="-55"/>
              <a:t> </a:t>
            </a:r>
            <a:r>
              <a:rPr dirty="0"/>
              <a:t>Consultations</a:t>
            </a:r>
            <a:r>
              <a:rPr dirty="0" spc="-60"/>
              <a:t> </a:t>
            </a:r>
            <a:r>
              <a:rPr dirty="0"/>
              <a:t>(each</a:t>
            </a:r>
            <a:r>
              <a:rPr dirty="0" spc="-35"/>
              <a:t> </a:t>
            </a:r>
            <a:r>
              <a:rPr dirty="0" spc="-10"/>
              <a:t>group </a:t>
            </a:r>
            <a:r>
              <a:rPr dirty="0"/>
              <a:t>has</a:t>
            </a:r>
            <a:r>
              <a:rPr dirty="0" spc="-5"/>
              <a:t> </a:t>
            </a:r>
            <a:r>
              <a:rPr dirty="0" spc="-10"/>
              <a:t>6-</a:t>
            </a:r>
            <a:r>
              <a:rPr dirty="0"/>
              <a:t>8</a:t>
            </a:r>
            <a:r>
              <a:rPr dirty="0" spc="-15"/>
              <a:t> </a:t>
            </a:r>
            <a:r>
              <a:rPr dirty="0" spc="-10"/>
              <a:t>mins)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23" y="1561479"/>
            <a:ext cx="8754989" cy="5100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tianjianz@outlook.com</dc:creator>
  <dc:title>Week 4: Deposit and Lending</dc:title>
  <dcterms:created xsi:type="dcterms:W3CDTF">2025-12-17T17:40:45Z</dcterms:created>
  <dcterms:modified xsi:type="dcterms:W3CDTF">2025-12-17T17:40:45Z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2025-12-17T00:00:00Z</vt:filetime>
  </property>
  <property fmtid="{D5CDD505-2E9C-101B-9397-08002B2CF9AE}" pid="5" name="Producer">
    <vt:lpwstr>Microsoft® PowerPoint® 2019</vt:lpwstr>
  </property>
</Properties>
</file>