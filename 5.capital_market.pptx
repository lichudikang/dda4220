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6409" y="2605532"/>
            <a:ext cx="641032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4798" y="324612"/>
            <a:ext cx="10762311" cy="125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819147"/>
            <a:ext cx="10215245" cy="3569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54715" y="6432927"/>
            <a:ext cx="25717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hyperlink" Target="http://www.kahoot.it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E1xqSZy9_4I" TargetMode="External"/><Relationship Id="rId3" Type="http://schemas.openxmlformats.org/officeDocument/2006/relationships/image" Target="../media/image23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44.png"/><Relationship Id="rId23" Type="http://schemas.openxmlformats.org/officeDocument/2006/relationships/image" Target="../media/image45.png"/><Relationship Id="rId24" Type="http://schemas.openxmlformats.org/officeDocument/2006/relationships/image" Target="../media/image46.png"/><Relationship Id="rId25" Type="http://schemas.openxmlformats.org/officeDocument/2006/relationships/image" Target="../media/image47.png"/><Relationship Id="rId26" Type="http://schemas.openxmlformats.org/officeDocument/2006/relationships/image" Target="../media/image48.png"/><Relationship Id="rId27" Type="http://schemas.openxmlformats.org/officeDocument/2006/relationships/image" Target="../media/image49.png"/><Relationship Id="rId28" Type="http://schemas.openxmlformats.org/officeDocument/2006/relationships/image" Target="../media/image50.png"/><Relationship Id="rId29" Type="http://schemas.openxmlformats.org/officeDocument/2006/relationships/image" Target="../media/image51.png"/><Relationship Id="rId30" Type="http://schemas.openxmlformats.org/officeDocument/2006/relationships/image" Target="../media/image52.png"/><Relationship Id="rId31" Type="http://schemas.openxmlformats.org/officeDocument/2006/relationships/image" Target="../media/image53.png"/><Relationship Id="rId32" Type="http://schemas.openxmlformats.org/officeDocument/2006/relationships/image" Target="../media/image54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openxmlformats.org/officeDocument/2006/relationships/image" Target="../media/image63.png"/><Relationship Id="rId21" Type="http://schemas.openxmlformats.org/officeDocument/2006/relationships/image" Target="../media/image64.png"/><Relationship Id="rId22" Type="http://schemas.openxmlformats.org/officeDocument/2006/relationships/image" Target="../media/image65.png"/><Relationship Id="rId23" Type="http://schemas.openxmlformats.org/officeDocument/2006/relationships/image" Target="../media/image66.png"/><Relationship Id="rId24" Type="http://schemas.openxmlformats.org/officeDocument/2006/relationships/image" Target="../media/image67.png"/><Relationship Id="rId25" Type="http://schemas.openxmlformats.org/officeDocument/2006/relationships/image" Target="../media/image68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0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1.jpg"/><Relationship Id="rId3" Type="http://schemas.openxmlformats.org/officeDocument/2006/relationships/image" Target="../media/image72.jp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jp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jp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cademic.oup.com/qje/article/130/4/1547/1916146" TargetMode="External"/><Relationship Id="rId3" Type="http://schemas.openxmlformats.org/officeDocument/2006/relationships/hyperlink" Target="https://www.youtube.com/watch?v=tyW6NCpVykI" TargetMode="Externa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jp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qxWObfV0IZM" TargetMode="External"/><Relationship Id="rId3" Type="http://schemas.openxmlformats.org/officeDocument/2006/relationships/hyperlink" Target="https://www.youtube.com/watch?v=dk9fVo2bTbg" TargetMode="External"/><Relationship Id="rId4" Type="http://schemas.openxmlformats.org/officeDocument/2006/relationships/hyperlink" Target="https://www.youtube.com/watch?v=5daXfre6sxE" TargetMode="Externa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8.jpg"/><Relationship Id="rId3" Type="http://schemas.openxmlformats.org/officeDocument/2006/relationships/image" Target="../media/image79.jp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5.</a:t>
            </a:r>
            <a:r>
              <a:rPr dirty="0" sz="6000" spc="-75"/>
              <a:t> </a:t>
            </a:r>
            <a:r>
              <a:rPr dirty="0" sz="6000"/>
              <a:t>Capital</a:t>
            </a:r>
            <a:r>
              <a:rPr dirty="0" sz="6000" spc="-70"/>
              <a:t> </a:t>
            </a:r>
            <a:r>
              <a:rPr dirty="0" sz="6000" spc="-10"/>
              <a:t>Market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5433218" y="4053332"/>
            <a:ext cx="1325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entury Gothic"/>
                <a:cs typeface="Century Gothic"/>
              </a:rPr>
              <a:t>Qi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Wang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3644265" cy="35674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-10">
                <a:latin typeface="Century Gothic"/>
                <a:cs typeface="Century Gothic"/>
              </a:rPr>
              <a:t>Securities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participants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Retail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investors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Institutional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customers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 spc="-10">
                <a:latin typeface="Century Gothic"/>
                <a:cs typeface="Century Gothic"/>
              </a:rPr>
              <a:t>Exchanges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Liquidity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providers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5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Case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study: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Domeyard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06074" y="2863596"/>
            <a:ext cx="252857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Securities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Long</a:t>
            </a:r>
            <a:r>
              <a:rPr dirty="0" spc="-70"/>
              <a:t> </a:t>
            </a:r>
            <a:r>
              <a:rPr dirty="0"/>
              <a:t>vs</a:t>
            </a:r>
            <a:r>
              <a:rPr dirty="0" spc="-70"/>
              <a:t> </a:t>
            </a:r>
            <a:r>
              <a:rPr dirty="0" spc="-20"/>
              <a:t>short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3962400" cy="224155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41300" marR="5715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Long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position: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expect </a:t>
            </a:r>
            <a:r>
              <a:rPr dirty="0" sz="2800">
                <a:latin typeface="Century Gothic"/>
                <a:cs typeface="Century Gothic"/>
              </a:rPr>
              <a:t>increase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in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value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5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1300" marR="5080" indent="-228600">
              <a:lnSpc>
                <a:spcPts val="3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Short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position: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expect </a:t>
            </a:r>
            <a:r>
              <a:rPr dirty="0" sz="2800">
                <a:latin typeface="Century Gothic"/>
                <a:cs typeface="Century Gothic"/>
              </a:rPr>
              <a:t>decrease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in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value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1238" y="428848"/>
            <a:ext cx="3033697" cy="42215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2209" y="2603023"/>
            <a:ext cx="2858587" cy="423291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Securities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5577205" cy="326136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-20">
                <a:latin typeface="Century Gothic"/>
                <a:cs typeface="Century Gothic"/>
              </a:rPr>
              <a:t>Debt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Fixed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income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products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e.g.,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corporate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government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bonds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5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 spc="-10">
                <a:latin typeface="Century Gothic"/>
                <a:cs typeface="Century Gothic"/>
              </a:rPr>
              <a:t>Equity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Stocks,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shares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companies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5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-10">
                <a:latin typeface="Century Gothic"/>
                <a:cs typeface="Century Gothic"/>
              </a:rPr>
              <a:t>Derivatives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Derivatives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8454390" cy="298704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40029" marR="5080" indent="-227329">
              <a:lnSpc>
                <a:spcPts val="262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derivative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b="1">
                <a:latin typeface="Century Gothic"/>
                <a:cs typeface="Century Gothic"/>
              </a:rPr>
              <a:t>contract</a:t>
            </a:r>
            <a:r>
              <a:rPr dirty="0" sz="2400" spc="-40" b="1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derives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its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values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from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the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performance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from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its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underlying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entity.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3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Common</a:t>
            </a:r>
            <a:r>
              <a:rPr dirty="0" sz="2400" spc="-12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derivatives: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 spc="-10">
                <a:latin typeface="Century Gothic"/>
                <a:cs typeface="Century Gothic"/>
              </a:rPr>
              <a:t>Forward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 spc="-10">
                <a:latin typeface="Century Gothic"/>
                <a:cs typeface="Century Gothic"/>
              </a:rPr>
              <a:t>Future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 spc="-10">
                <a:latin typeface="Century Gothic"/>
                <a:cs typeface="Century Gothic"/>
              </a:rPr>
              <a:t>Option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 spc="-20">
                <a:latin typeface="Century Gothic"/>
                <a:cs typeface="Century Gothic"/>
              </a:rPr>
              <a:t>Swap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51936" y="2863596"/>
            <a:ext cx="52349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Market</a:t>
            </a:r>
            <a:r>
              <a:rPr dirty="0" spc="-90"/>
              <a:t> </a:t>
            </a:r>
            <a:r>
              <a:rPr dirty="0" spc="-10"/>
              <a:t>Participants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52349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Market</a:t>
            </a:r>
            <a:r>
              <a:rPr dirty="0" spc="-90"/>
              <a:t> </a:t>
            </a:r>
            <a:r>
              <a:rPr dirty="0" spc="-10"/>
              <a:t>Participants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64219" y="1429407"/>
            <a:ext cx="7794625" cy="5073015"/>
            <a:chOff x="2264219" y="1429407"/>
            <a:chExt cx="7794625" cy="50730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6101" y="2054450"/>
              <a:ext cx="1085226" cy="19912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3988" y="2046957"/>
              <a:ext cx="1085226" cy="19936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5967" y="5118004"/>
              <a:ext cx="1085226" cy="6807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5967" y="5693056"/>
              <a:ext cx="1085226" cy="6807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68925" y="3961607"/>
              <a:ext cx="1045763" cy="64126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6369" y="5118004"/>
              <a:ext cx="1085226" cy="6807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6369" y="5693056"/>
              <a:ext cx="1085226" cy="6807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269299" y="1434486"/>
              <a:ext cx="7784465" cy="5062855"/>
            </a:xfrm>
            <a:custGeom>
              <a:avLst/>
              <a:gdLst/>
              <a:ahLst/>
              <a:cxnLst/>
              <a:rect l="l" t="t" r="r" b="b"/>
              <a:pathLst>
                <a:path w="7784465" h="5062855">
                  <a:moveTo>
                    <a:pt x="7784031" y="0"/>
                  </a:moveTo>
                  <a:lnTo>
                    <a:pt x="0" y="0"/>
                  </a:lnTo>
                  <a:lnTo>
                    <a:pt x="0" y="5062599"/>
                  </a:lnTo>
                  <a:lnTo>
                    <a:pt x="7784031" y="5062599"/>
                  </a:lnTo>
                  <a:lnTo>
                    <a:pt x="7784031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69299" y="1434487"/>
              <a:ext cx="7784465" cy="5062855"/>
            </a:xfrm>
            <a:custGeom>
              <a:avLst/>
              <a:gdLst/>
              <a:ahLst/>
              <a:cxnLst/>
              <a:rect l="l" t="t" r="r" b="b"/>
              <a:pathLst>
                <a:path w="7784465" h="5062855">
                  <a:moveTo>
                    <a:pt x="0" y="0"/>
                  </a:moveTo>
                  <a:lnTo>
                    <a:pt x="7784031" y="0"/>
                  </a:lnTo>
                  <a:lnTo>
                    <a:pt x="7784031" y="5062598"/>
                  </a:lnTo>
                  <a:lnTo>
                    <a:pt x="0" y="5062598"/>
                  </a:lnTo>
                  <a:lnTo>
                    <a:pt x="0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129666" y="6168685"/>
            <a:ext cx="734695" cy="1917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050" spc="-10" b="1">
                <a:latin typeface="Arial"/>
                <a:cs typeface="Arial"/>
              </a:rPr>
              <a:t>Regulators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514283" y="1543761"/>
            <a:ext cx="1397635" cy="2540635"/>
          </a:xfrm>
          <a:custGeom>
            <a:avLst/>
            <a:gdLst/>
            <a:ahLst/>
            <a:cxnLst/>
            <a:rect l="l" t="t" r="r" b="b"/>
            <a:pathLst>
              <a:path w="1397634" h="2540635">
                <a:moveTo>
                  <a:pt x="1397228" y="0"/>
                </a:moveTo>
                <a:lnTo>
                  <a:pt x="0" y="0"/>
                </a:lnTo>
                <a:lnTo>
                  <a:pt x="0" y="2540603"/>
                </a:lnTo>
                <a:lnTo>
                  <a:pt x="1397228" y="2540603"/>
                </a:lnTo>
                <a:lnTo>
                  <a:pt x="1397228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514282" y="1543760"/>
            <a:ext cx="1397635" cy="2540635"/>
          </a:xfrm>
          <a:prstGeom prst="rect">
            <a:avLst/>
          </a:prstGeom>
          <a:ln w="9865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marL="374650" marR="377190" indent="30480">
              <a:lnSpc>
                <a:spcPct val="104800"/>
              </a:lnSpc>
              <a:spcBef>
                <a:spcPts val="405"/>
              </a:spcBef>
            </a:pPr>
            <a:r>
              <a:rPr dirty="0" sz="1050" spc="-10" b="1">
                <a:latin typeface="Arial"/>
                <a:cs typeface="Arial"/>
              </a:rPr>
              <a:t>Liquidity Providers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38518" y="1551993"/>
            <a:ext cx="1397635" cy="1877060"/>
          </a:xfrm>
          <a:prstGeom prst="rect">
            <a:avLst/>
          </a:prstGeom>
          <a:solidFill>
            <a:srgbClr val="D6D6D6"/>
          </a:solidFill>
          <a:ln w="9865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marL="220979" marR="223520" indent="172720">
              <a:lnSpc>
                <a:spcPct val="104800"/>
              </a:lnSpc>
              <a:spcBef>
                <a:spcPts val="405"/>
              </a:spcBef>
            </a:pPr>
            <a:r>
              <a:rPr dirty="0" sz="1050" spc="-10" b="1">
                <a:latin typeface="Arial"/>
                <a:cs typeface="Arial"/>
              </a:rPr>
              <a:t>Financial Intermediaries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76405" y="1543010"/>
            <a:ext cx="1397635" cy="2540635"/>
          </a:xfrm>
          <a:custGeom>
            <a:avLst/>
            <a:gdLst/>
            <a:ahLst/>
            <a:cxnLst/>
            <a:rect l="l" t="t" r="r" b="b"/>
            <a:pathLst>
              <a:path w="1397634" h="2540635">
                <a:moveTo>
                  <a:pt x="1397228" y="0"/>
                </a:moveTo>
                <a:lnTo>
                  <a:pt x="0" y="0"/>
                </a:lnTo>
                <a:lnTo>
                  <a:pt x="0" y="2540603"/>
                </a:lnTo>
                <a:lnTo>
                  <a:pt x="1397228" y="2540603"/>
                </a:lnTo>
                <a:lnTo>
                  <a:pt x="1397228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476405" y="1543010"/>
            <a:ext cx="1397635" cy="2540635"/>
          </a:xfrm>
          <a:prstGeom prst="rect">
            <a:avLst/>
          </a:prstGeom>
          <a:ln w="9865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marL="451484" marR="365760" indent="-88265">
              <a:lnSpc>
                <a:spcPct val="104800"/>
              </a:lnSpc>
              <a:spcBef>
                <a:spcPts val="405"/>
              </a:spcBef>
            </a:pPr>
            <a:r>
              <a:rPr dirty="0" sz="1050" spc="-10" b="1">
                <a:latin typeface="Arial"/>
                <a:cs typeface="Arial"/>
              </a:rPr>
              <a:t>Execution Venues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44623" y="2123511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Times New Roman"/>
              <a:cs typeface="Times New Roman"/>
            </a:endParaRPr>
          </a:p>
          <a:p>
            <a:pPr marL="112395">
              <a:lnSpc>
                <a:spcPct val="100000"/>
              </a:lnSpc>
            </a:pPr>
            <a:r>
              <a:rPr dirty="0" sz="900" spc="-10" b="1">
                <a:latin typeface="Arial"/>
                <a:cs typeface="Arial"/>
              </a:rPr>
              <a:t>Exchanges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908736" y="5465552"/>
            <a:ext cx="337820" cy="629920"/>
          </a:xfrm>
          <a:custGeom>
            <a:avLst/>
            <a:gdLst/>
            <a:ahLst/>
            <a:cxnLst/>
            <a:rect l="l" t="t" r="r" b="b"/>
            <a:pathLst>
              <a:path w="337819" h="629920">
                <a:moveTo>
                  <a:pt x="186846" y="300993"/>
                </a:moveTo>
                <a:lnTo>
                  <a:pt x="150914" y="300993"/>
                </a:lnTo>
                <a:lnTo>
                  <a:pt x="150848" y="469428"/>
                </a:lnTo>
                <a:lnTo>
                  <a:pt x="45297" y="587003"/>
                </a:lnTo>
                <a:lnTo>
                  <a:pt x="41203" y="593869"/>
                </a:lnTo>
                <a:lnTo>
                  <a:pt x="39839" y="601680"/>
                </a:lnTo>
                <a:lnTo>
                  <a:pt x="41203" y="609491"/>
                </a:lnTo>
                <a:lnTo>
                  <a:pt x="45297" y="616358"/>
                </a:lnTo>
                <a:lnTo>
                  <a:pt x="51885" y="623697"/>
                </a:lnTo>
                <a:lnTo>
                  <a:pt x="58050" y="628257"/>
                </a:lnTo>
                <a:lnTo>
                  <a:pt x="65062" y="629777"/>
                </a:lnTo>
                <a:lnTo>
                  <a:pt x="72075" y="628257"/>
                </a:lnTo>
                <a:lnTo>
                  <a:pt x="78239" y="623697"/>
                </a:lnTo>
                <a:lnTo>
                  <a:pt x="168879" y="522730"/>
                </a:lnTo>
                <a:lnTo>
                  <a:pt x="234763" y="522730"/>
                </a:lnTo>
                <a:lnTo>
                  <a:pt x="186913" y="469428"/>
                </a:lnTo>
                <a:lnTo>
                  <a:pt x="186846" y="300993"/>
                </a:lnTo>
                <a:close/>
              </a:path>
              <a:path w="337819" h="629920">
                <a:moveTo>
                  <a:pt x="234763" y="522730"/>
                </a:moveTo>
                <a:lnTo>
                  <a:pt x="168879" y="522730"/>
                </a:lnTo>
                <a:lnTo>
                  <a:pt x="259520" y="623697"/>
                </a:lnTo>
                <a:lnTo>
                  <a:pt x="265683" y="628257"/>
                </a:lnTo>
                <a:lnTo>
                  <a:pt x="272696" y="629777"/>
                </a:lnTo>
                <a:lnTo>
                  <a:pt x="279708" y="628257"/>
                </a:lnTo>
                <a:lnTo>
                  <a:pt x="285873" y="623697"/>
                </a:lnTo>
                <a:lnTo>
                  <a:pt x="292461" y="616358"/>
                </a:lnTo>
                <a:lnTo>
                  <a:pt x="296555" y="609491"/>
                </a:lnTo>
                <a:lnTo>
                  <a:pt x="297919" y="601680"/>
                </a:lnTo>
                <a:lnTo>
                  <a:pt x="296555" y="593869"/>
                </a:lnTo>
                <a:lnTo>
                  <a:pt x="292463" y="587003"/>
                </a:lnTo>
                <a:lnTo>
                  <a:pt x="234763" y="522730"/>
                </a:lnTo>
                <a:close/>
              </a:path>
              <a:path w="337819" h="629920">
                <a:moveTo>
                  <a:pt x="331323" y="249097"/>
                </a:moveTo>
                <a:lnTo>
                  <a:pt x="6435" y="249097"/>
                </a:lnTo>
                <a:lnTo>
                  <a:pt x="0" y="258391"/>
                </a:lnTo>
                <a:lnTo>
                  <a:pt x="0" y="291699"/>
                </a:lnTo>
                <a:lnTo>
                  <a:pt x="6435" y="300993"/>
                </a:lnTo>
                <a:lnTo>
                  <a:pt x="331323" y="300993"/>
                </a:lnTo>
                <a:lnTo>
                  <a:pt x="337759" y="291699"/>
                </a:lnTo>
                <a:lnTo>
                  <a:pt x="337759" y="258391"/>
                </a:lnTo>
                <a:lnTo>
                  <a:pt x="331323" y="249097"/>
                </a:lnTo>
                <a:close/>
              </a:path>
              <a:path w="337819" h="629920">
                <a:moveTo>
                  <a:pt x="168880" y="0"/>
                </a:moveTo>
                <a:lnTo>
                  <a:pt x="133818" y="7599"/>
                </a:lnTo>
                <a:lnTo>
                  <a:pt x="102995" y="30399"/>
                </a:lnTo>
                <a:lnTo>
                  <a:pt x="82527" y="64734"/>
                </a:lnTo>
                <a:lnTo>
                  <a:pt x="75704" y="103790"/>
                </a:lnTo>
                <a:lnTo>
                  <a:pt x="82527" y="142847"/>
                </a:lnTo>
                <a:lnTo>
                  <a:pt x="102995" y="177181"/>
                </a:lnTo>
                <a:lnTo>
                  <a:pt x="137932" y="201714"/>
                </a:lnTo>
                <a:lnTo>
                  <a:pt x="150914" y="205644"/>
                </a:lnTo>
                <a:lnTo>
                  <a:pt x="150914" y="249097"/>
                </a:lnTo>
                <a:lnTo>
                  <a:pt x="186846" y="249097"/>
                </a:lnTo>
                <a:lnTo>
                  <a:pt x="186846" y="205644"/>
                </a:lnTo>
                <a:lnTo>
                  <a:pt x="199827" y="201714"/>
                </a:lnTo>
                <a:lnTo>
                  <a:pt x="234764" y="177181"/>
                </a:lnTo>
                <a:lnTo>
                  <a:pt x="255232" y="142847"/>
                </a:lnTo>
                <a:lnTo>
                  <a:pt x="262054" y="103790"/>
                </a:lnTo>
                <a:lnTo>
                  <a:pt x="255232" y="64734"/>
                </a:lnTo>
                <a:lnTo>
                  <a:pt x="234764" y="30399"/>
                </a:lnTo>
                <a:lnTo>
                  <a:pt x="203941" y="7599"/>
                </a:lnTo>
                <a:lnTo>
                  <a:pt x="168880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768407" y="6089991"/>
            <a:ext cx="631190" cy="306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R="5080" indent="147955">
              <a:lnSpc>
                <a:spcPct val="100000"/>
              </a:lnSpc>
              <a:spcBef>
                <a:spcPts val="130"/>
              </a:spcBef>
            </a:pPr>
            <a:r>
              <a:rPr dirty="0" sz="900" spc="-10" b="1">
                <a:latin typeface="Arial"/>
                <a:cs typeface="Arial"/>
              </a:rPr>
              <a:t>Retail Customers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70221" y="1538680"/>
            <a:ext cx="2030095" cy="3256279"/>
            <a:chOff x="2370221" y="1538680"/>
            <a:chExt cx="2030095" cy="3256279"/>
          </a:xfrm>
        </p:grpSpPr>
        <p:sp>
          <p:nvSpPr>
            <p:cNvPr id="23" name="object 23"/>
            <p:cNvSpPr/>
            <p:nvPr/>
          </p:nvSpPr>
          <p:spPr>
            <a:xfrm>
              <a:off x="3784171" y="2791749"/>
              <a:ext cx="610870" cy="142240"/>
            </a:xfrm>
            <a:custGeom>
              <a:avLst/>
              <a:gdLst/>
              <a:ahLst/>
              <a:cxnLst/>
              <a:rect l="l" t="t" r="r" b="b"/>
              <a:pathLst>
                <a:path w="610870" h="142239">
                  <a:moveTo>
                    <a:pt x="195991" y="5618"/>
                  </a:moveTo>
                  <a:lnTo>
                    <a:pt x="0" y="78865"/>
                  </a:lnTo>
                  <a:lnTo>
                    <a:pt x="199550" y="141777"/>
                  </a:lnTo>
                  <a:lnTo>
                    <a:pt x="198672" y="108230"/>
                  </a:lnTo>
                  <a:lnTo>
                    <a:pt x="413696" y="102612"/>
                  </a:lnTo>
                  <a:lnTo>
                    <a:pt x="504334" y="102612"/>
                  </a:lnTo>
                  <a:lnTo>
                    <a:pt x="610563" y="62910"/>
                  </a:lnTo>
                  <a:lnTo>
                    <a:pt x="535241" y="39164"/>
                  </a:lnTo>
                  <a:lnTo>
                    <a:pt x="196867" y="39164"/>
                  </a:lnTo>
                  <a:lnTo>
                    <a:pt x="195991" y="5618"/>
                  </a:lnTo>
                  <a:close/>
                </a:path>
                <a:path w="610870" h="142239">
                  <a:moveTo>
                    <a:pt x="504334" y="102612"/>
                  </a:moveTo>
                  <a:lnTo>
                    <a:pt x="413696" y="102612"/>
                  </a:lnTo>
                  <a:lnTo>
                    <a:pt x="414572" y="136159"/>
                  </a:lnTo>
                  <a:lnTo>
                    <a:pt x="504334" y="102612"/>
                  </a:lnTo>
                  <a:close/>
                </a:path>
                <a:path w="610870" h="142239">
                  <a:moveTo>
                    <a:pt x="411013" y="0"/>
                  </a:moveTo>
                  <a:lnTo>
                    <a:pt x="411891" y="33545"/>
                  </a:lnTo>
                  <a:lnTo>
                    <a:pt x="196867" y="39164"/>
                  </a:lnTo>
                  <a:lnTo>
                    <a:pt x="535241" y="39164"/>
                  </a:lnTo>
                  <a:lnTo>
                    <a:pt x="411013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784172" y="2791749"/>
              <a:ext cx="610870" cy="142240"/>
            </a:xfrm>
            <a:custGeom>
              <a:avLst/>
              <a:gdLst/>
              <a:ahLst/>
              <a:cxnLst/>
              <a:rect l="l" t="t" r="r" b="b"/>
              <a:pathLst>
                <a:path w="610870" h="142239">
                  <a:moveTo>
                    <a:pt x="0" y="78866"/>
                  </a:moveTo>
                  <a:lnTo>
                    <a:pt x="195990" y="5618"/>
                  </a:lnTo>
                  <a:lnTo>
                    <a:pt x="196867" y="39164"/>
                  </a:lnTo>
                  <a:lnTo>
                    <a:pt x="411890" y="33546"/>
                  </a:lnTo>
                  <a:lnTo>
                    <a:pt x="411013" y="0"/>
                  </a:lnTo>
                  <a:lnTo>
                    <a:pt x="610563" y="62910"/>
                  </a:lnTo>
                  <a:lnTo>
                    <a:pt x="414572" y="136159"/>
                  </a:lnTo>
                  <a:lnTo>
                    <a:pt x="413695" y="102613"/>
                  </a:lnTo>
                  <a:lnTo>
                    <a:pt x="198672" y="108231"/>
                  </a:lnTo>
                  <a:lnTo>
                    <a:pt x="199549" y="141777"/>
                  </a:lnTo>
                  <a:lnTo>
                    <a:pt x="0" y="78866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375302" y="1543761"/>
              <a:ext cx="1397635" cy="3246120"/>
            </a:xfrm>
            <a:custGeom>
              <a:avLst/>
              <a:gdLst/>
              <a:ahLst/>
              <a:cxnLst/>
              <a:rect l="l" t="t" r="r" b="b"/>
              <a:pathLst>
                <a:path w="1397635" h="3246120">
                  <a:moveTo>
                    <a:pt x="1397228" y="0"/>
                  </a:moveTo>
                  <a:lnTo>
                    <a:pt x="0" y="0"/>
                  </a:lnTo>
                  <a:lnTo>
                    <a:pt x="0" y="3245812"/>
                  </a:lnTo>
                  <a:lnTo>
                    <a:pt x="1397228" y="3245812"/>
                  </a:lnTo>
                  <a:lnTo>
                    <a:pt x="1397228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75301" y="1543760"/>
              <a:ext cx="1397635" cy="3246120"/>
            </a:xfrm>
            <a:custGeom>
              <a:avLst/>
              <a:gdLst/>
              <a:ahLst/>
              <a:cxnLst/>
              <a:rect l="l" t="t" r="r" b="b"/>
              <a:pathLst>
                <a:path w="1397635" h="3246120">
                  <a:moveTo>
                    <a:pt x="0" y="0"/>
                  </a:moveTo>
                  <a:lnTo>
                    <a:pt x="1397228" y="0"/>
                  </a:lnTo>
                  <a:lnTo>
                    <a:pt x="1397228" y="3245812"/>
                  </a:lnTo>
                  <a:lnTo>
                    <a:pt x="0" y="3245812"/>
                  </a:lnTo>
                  <a:lnTo>
                    <a:pt x="0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744623" y="2783712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Times New Roman"/>
              <a:cs typeface="Times New Roman"/>
            </a:endParaRPr>
          </a:p>
          <a:p>
            <a:pPr marL="267335">
              <a:lnSpc>
                <a:spcPct val="100000"/>
              </a:lnSpc>
            </a:pPr>
            <a:r>
              <a:rPr dirty="0" sz="900" spc="-20" b="1">
                <a:latin typeface="Arial"/>
                <a:cs typeface="Arial"/>
              </a:rPr>
              <a:t>ECNs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44623" y="3434049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</a:pPr>
            <a:r>
              <a:rPr dirty="0" sz="900" b="1">
                <a:latin typeface="Arial"/>
                <a:cs typeface="Arial"/>
              </a:rPr>
              <a:t>Dark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Pools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77690" y="1585322"/>
            <a:ext cx="795655" cy="3594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0480" marR="5080" indent="-31115">
              <a:lnSpc>
                <a:spcPct val="104800"/>
              </a:lnSpc>
              <a:spcBef>
                <a:spcPts val="75"/>
              </a:spcBef>
            </a:pPr>
            <a:r>
              <a:rPr dirty="0" sz="1050" spc="-10" b="1">
                <a:latin typeface="Arial"/>
                <a:cs typeface="Arial"/>
              </a:rPr>
              <a:t>Institutional Customers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82511" y="2116017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220979" marR="223520" indent="12700">
              <a:lnSpc>
                <a:spcPct val="100000"/>
              </a:lnSpc>
              <a:spcBef>
                <a:spcPts val="650"/>
              </a:spcBef>
            </a:pPr>
            <a:r>
              <a:rPr dirty="0" sz="900" spc="-10" b="1">
                <a:latin typeface="Arial"/>
                <a:cs typeface="Arial"/>
              </a:rPr>
              <a:t>Market Makers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82511" y="2768726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</a:pPr>
            <a:r>
              <a:rPr dirty="0" sz="900" b="1">
                <a:latin typeface="Arial"/>
                <a:cs typeface="Arial"/>
              </a:rPr>
              <a:t>Hedge</a:t>
            </a:r>
            <a:r>
              <a:rPr dirty="0" sz="900" spc="8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Funds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82511" y="3428978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112395" marR="62230" indent="-52705">
              <a:lnSpc>
                <a:spcPct val="100000"/>
              </a:lnSpc>
              <a:spcBef>
                <a:spcPts val="650"/>
              </a:spcBef>
            </a:pPr>
            <a:r>
              <a:rPr dirty="0" sz="900" b="1">
                <a:latin typeface="Arial"/>
                <a:cs typeface="Arial"/>
              </a:rPr>
              <a:t>Prop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Trading Operations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43525" y="2140201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247650" marR="196850" indent="-52705">
              <a:lnSpc>
                <a:spcPct val="100000"/>
              </a:lnSpc>
              <a:spcBef>
                <a:spcPts val="650"/>
              </a:spcBef>
            </a:pPr>
            <a:r>
              <a:rPr dirty="0" sz="900" spc="-10" b="1">
                <a:latin typeface="Arial"/>
                <a:cs typeface="Arial"/>
              </a:rPr>
              <a:t>Pension Funds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43525" y="2800859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106045" marR="108585" indent="39370">
              <a:lnSpc>
                <a:spcPct val="100000"/>
              </a:lnSpc>
              <a:spcBef>
                <a:spcPts val="650"/>
              </a:spcBef>
            </a:pPr>
            <a:r>
              <a:rPr dirty="0" sz="900" spc="-10" b="1">
                <a:latin typeface="Arial"/>
                <a:cs typeface="Arial"/>
              </a:rPr>
              <a:t>Insurance Companies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638445" y="3446569"/>
            <a:ext cx="871219" cy="474345"/>
            <a:chOff x="2638445" y="3446569"/>
            <a:chExt cx="871219" cy="474345"/>
          </a:xfrm>
        </p:grpSpPr>
        <p:sp>
          <p:nvSpPr>
            <p:cNvPr id="36" name="object 36"/>
            <p:cNvSpPr/>
            <p:nvPr/>
          </p:nvSpPr>
          <p:spPr>
            <a:xfrm>
              <a:off x="2643525" y="3451649"/>
              <a:ext cx="861060" cy="464184"/>
            </a:xfrm>
            <a:custGeom>
              <a:avLst/>
              <a:gdLst/>
              <a:ahLst/>
              <a:cxnLst/>
              <a:rect l="l" t="t" r="r" b="b"/>
              <a:pathLst>
                <a:path w="861060" h="464185">
                  <a:moveTo>
                    <a:pt x="860781" y="0"/>
                  </a:moveTo>
                  <a:lnTo>
                    <a:pt x="0" y="0"/>
                  </a:lnTo>
                  <a:lnTo>
                    <a:pt x="0" y="463689"/>
                  </a:lnTo>
                  <a:lnTo>
                    <a:pt x="860781" y="463689"/>
                  </a:lnTo>
                  <a:lnTo>
                    <a:pt x="8607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643525" y="3451649"/>
              <a:ext cx="861060" cy="464184"/>
            </a:xfrm>
            <a:custGeom>
              <a:avLst/>
              <a:gdLst/>
              <a:ahLst/>
              <a:cxnLst/>
              <a:rect l="l" t="t" r="r" b="b"/>
              <a:pathLst>
                <a:path w="861060" h="464185">
                  <a:moveTo>
                    <a:pt x="0" y="0"/>
                  </a:moveTo>
                  <a:lnTo>
                    <a:pt x="860781" y="0"/>
                  </a:lnTo>
                  <a:lnTo>
                    <a:pt x="860781" y="463689"/>
                  </a:lnTo>
                  <a:lnTo>
                    <a:pt x="0" y="463689"/>
                  </a:lnTo>
                  <a:lnTo>
                    <a:pt x="0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2888077" y="3517875"/>
            <a:ext cx="374650" cy="306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175" marR="5715" indent="-3810">
              <a:lnSpc>
                <a:spcPct val="100000"/>
              </a:lnSpc>
              <a:spcBef>
                <a:spcPts val="130"/>
              </a:spcBef>
            </a:pPr>
            <a:r>
              <a:rPr dirty="0" sz="900" spc="-10" b="1">
                <a:latin typeface="Arial"/>
                <a:cs typeface="Arial"/>
              </a:rPr>
              <a:t>Hedge Funds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638445" y="4098395"/>
            <a:ext cx="871219" cy="474345"/>
            <a:chOff x="2638445" y="4098395"/>
            <a:chExt cx="871219" cy="474345"/>
          </a:xfrm>
        </p:grpSpPr>
        <p:sp>
          <p:nvSpPr>
            <p:cNvPr id="40" name="object 40"/>
            <p:cNvSpPr/>
            <p:nvPr/>
          </p:nvSpPr>
          <p:spPr>
            <a:xfrm>
              <a:off x="2643525" y="4103475"/>
              <a:ext cx="861060" cy="464184"/>
            </a:xfrm>
            <a:custGeom>
              <a:avLst/>
              <a:gdLst/>
              <a:ahLst/>
              <a:cxnLst/>
              <a:rect l="l" t="t" r="r" b="b"/>
              <a:pathLst>
                <a:path w="861060" h="464185">
                  <a:moveTo>
                    <a:pt x="860781" y="0"/>
                  </a:moveTo>
                  <a:lnTo>
                    <a:pt x="0" y="0"/>
                  </a:lnTo>
                  <a:lnTo>
                    <a:pt x="0" y="463689"/>
                  </a:lnTo>
                  <a:lnTo>
                    <a:pt x="860781" y="463689"/>
                  </a:lnTo>
                  <a:lnTo>
                    <a:pt x="8607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643525" y="4103475"/>
              <a:ext cx="861060" cy="464184"/>
            </a:xfrm>
            <a:custGeom>
              <a:avLst/>
              <a:gdLst/>
              <a:ahLst/>
              <a:cxnLst/>
              <a:rect l="l" t="t" r="r" b="b"/>
              <a:pathLst>
                <a:path w="861060" h="464185">
                  <a:moveTo>
                    <a:pt x="0" y="0"/>
                  </a:moveTo>
                  <a:lnTo>
                    <a:pt x="860781" y="0"/>
                  </a:lnTo>
                  <a:lnTo>
                    <a:pt x="860781" y="463689"/>
                  </a:lnTo>
                  <a:lnTo>
                    <a:pt x="0" y="463689"/>
                  </a:lnTo>
                  <a:lnTo>
                    <a:pt x="0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2684279" y="4169702"/>
            <a:ext cx="782320" cy="306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875" marR="5080" indent="-16510">
              <a:lnSpc>
                <a:spcPct val="100000"/>
              </a:lnSpc>
              <a:spcBef>
                <a:spcPts val="130"/>
              </a:spcBef>
            </a:pPr>
            <a:r>
              <a:rPr dirty="0" sz="900" b="1">
                <a:latin typeface="Arial"/>
                <a:cs typeface="Arial"/>
              </a:rPr>
              <a:t>Mutual</a:t>
            </a:r>
            <a:r>
              <a:rPr dirty="0" sz="900" spc="9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Funds </a:t>
            </a:r>
            <a:r>
              <a:rPr dirty="0" sz="900" b="1">
                <a:latin typeface="Arial"/>
                <a:cs typeface="Arial"/>
              </a:rPr>
              <a:t>&amp;</a:t>
            </a:r>
            <a:r>
              <a:rPr dirty="0" sz="900" spc="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Unit</a:t>
            </a:r>
            <a:r>
              <a:rPr dirty="0" sz="900" spc="4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Trusts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08591" y="2136454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201295" marR="190500" indent="-13335">
              <a:lnSpc>
                <a:spcPct val="100000"/>
              </a:lnSpc>
              <a:spcBef>
                <a:spcPts val="650"/>
              </a:spcBef>
            </a:pPr>
            <a:r>
              <a:rPr dirty="0" sz="900" spc="-10" b="1">
                <a:latin typeface="Arial"/>
                <a:cs typeface="Arial"/>
              </a:rPr>
              <a:t>Clearing Brokers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08591" y="2797455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201295" marR="65405" indent="-138430">
              <a:lnSpc>
                <a:spcPct val="100000"/>
              </a:lnSpc>
              <a:spcBef>
                <a:spcPts val="650"/>
              </a:spcBef>
            </a:pPr>
            <a:r>
              <a:rPr dirty="0" sz="900" b="1">
                <a:latin typeface="Arial"/>
                <a:cs typeface="Arial"/>
              </a:rPr>
              <a:t>Non-</a:t>
            </a:r>
            <a:r>
              <a:rPr dirty="0" sz="900" spc="-10" b="1">
                <a:latin typeface="Arial"/>
                <a:cs typeface="Arial"/>
              </a:rPr>
              <a:t>clearing Brokers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465784" y="2786669"/>
            <a:ext cx="3032760" cy="3631565"/>
            <a:chOff x="5465784" y="2786669"/>
            <a:chExt cx="3032760" cy="3631565"/>
          </a:xfrm>
        </p:grpSpPr>
        <p:sp>
          <p:nvSpPr>
            <p:cNvPr id="46" name="object 46"/>
            <p:cNvSpPr/>
            <p:nvPr/>
          </p:nvSpPr>
          <p:spPr>
            <a:xfrm>
              <a:off x="5856639" y="2791749"/>
              <a:ext cx="610870" cy="142240"/>
            </a:xfrm>
            <a:custGeom>
              <a:avLst/>
              <a:gdLst/>
              <a:ahLst/>
              <a:cxnLst/>
              <a:rect l="l" t="t" r="r" b="b"/>
              <a:pathLst>
                <a:path w="610870" h="142239">
                  <a:moveTo>
                    <a:pt x="195990" y="5618"/>
                  </a:moveTo>
                  <a:lnTo>
                    <a:pt x="0" y="78865"/>
                  </a:lnTo>
                  <a:lnTo>
                    <a:pt x="199548" y="141777"/>
                  </a:lnTo>
                  <a:lnTo>
                    <a:pt x="198672" y="108230"/>
                  </a:lnTo>
                  <a:lnTo>
                    <a:pt x="413694" y="102612"/>
                  </a:lnTo>
                  <a:lnTo>
                    <a:pt x="504333" y="102612"/>
                  </a:lnTo>
                  <a:lnTo>
                    <a:pt x="610562" y="62910"/>
                  </a:lnTo>
                  <a:lnTo>
                    <a:pt x="535239" y="39164"/>
                  </a:lnTo>
                  <a:lnTo>
                    <a:pt x="196867" y="39164"/>
                  </a:lnTo>
                  <a:lnTo>
                    <a:pt x="195990" y="5618"/>
                  </a:lnTo>
                  <a:close/>
                </a:path>
                <a:path w="610870" h="142239">
                  <a:moveTo>
                    <a:pt x="504333" y="102612"/>
                  </a:moveTo>
                  <a:lnTo>
                    <a:pt x="413694" y="102612"/>
                  </a:lnTo>
                  <a:lnTo>
                    <a:pt x="414571" y="136159"/>
                  </a:lnTo>
                  <a:lnTo>
                    <a:pt x="504333" y="102612"/>
                  </a:lnTo>
                  <a:close/>
                </a:path>
                <a:path w="610870" h="142239">
                  <a:moveTo>
                    <a:pt x="411012" y="0"/>
                  </a:moveTo>
                  <a:lnTo>
                    <a:pt x="411888" y="33545"/>
                  </a:lnTo>
                  <a:lnTo>
                    <a:pt x="196867" y="39164"/>
                  </a:lnTo>
                  <a:lnTo>
                    <a:pt x="535239" y="39164"/>
                  </a:lnTo>
                  <a:lnTo>
                    <a:pt x="411012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856638" y="2791749"/>
              <a:ext cx="610870" cy="142240"/>
            </a:xfrm>
            <a:custGeom>
              <a:avLst/>
              <a:gdLst/>
              <a:ahLst/>
              <a:cxnLst/>
              <a:rect l="l" t="t" r="r" b="b"/>
              <a:pathLst>
                <a:path w="610870" h="142239">
                  <a:moveTo>
                    <a:pt x="0" y="78866"/>
                  </a:moveTo>
                  <a:lnTo>
                    <a:pt x="195990" y="5618"/>
                  </a:lnTo>
                  <a:lnTo>
                    <a:pt x="196867" y="39164"/>
                  </a:lnTo>
                  <a:lnTo>
                    <a:pt x="411889" y="33546"/>
                  </a:lnTo>
                  <a:lnTo>
                    <a:pt x="411013" y="0"/>
                  </a:lnTo>
                  <a:lnTo>
                    <a:pt x="610563" y="62910"/>
                  </a:lnTo>
                  <a:lnTo>
                    <a:pt x="414572" y="136159"/>
                  </a:lnTo>
                  <a:lnTo>
                    <a:pt x="413695" y="102613"/>
                  </a:lnTo>
                  <a:lnTo>
                    <a:pt x="198672" y="108231"/>
                  </a:lnTo>
                  <a:lnTo>
                    <a:pt x="199549" y="141777"/>
                  </a:lnTo>
                  <a:lnTo>
                    <a:pt x="0" y="78866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882825" y="2791749"/>
              <a:ext cx="610870" cy="142240"/>
            </a:xfrm>
            <a:custGeom>
              <a:avLst/>
              <a:gdLst/>
              <a:ahLst/>
              <a:cxnLst/>
              <a:rect l="l" t="t" r="r" b="b"/>
              <a:pathLst>
                <a:path w="610870" h="142239">
                  <a:moveTo>
                    <a:pt x="195990" y="5618"/>
                  </a:moveTo>
                  <a:lnTo>
                    <a:pt x="0" y="78865"/>
                  </a:lnTo>
                  <a:lnTo>
                    <a:pt x="199548" y="141777"/>
                  </a:lnTo>
                  <a:lnTo>
                    <a:pt x="198673" y="108230"/>
                  </a:lnTo>
                  <a:lnTo>
                    <a:pt x="413694" y="102612"/>
                  </a:lnTo>
                  <a:lnTo>
                    <a:pt x="504333" y="102612"/>
                  </a:lnTo>
                  <a:lnTo>
                    <a:pt x="610562" y="62910"/>
                  </a:lnTo>
                  <a:lnTo>
                    <a:pt x="535240" y="39164"/>
                  </a:lnTo>
                  <a:lnTo>
                    <a:pt x="196867" y="39164"/>
                  </a:lnTo>
                  <a:lnTo>
                    <a:pt x="195990" y="5618"/>
                  </a:lnTo>
                  <a:close/>
                </a:path>
                <a:path w="610870" h="142239">
                  <a:moveTo>
                    <a:pt x="504333" y="102612"/>
                  </a:moveTo>
                  <a:lnTo>
                    <a:pt x="413694" y="102612"/>
                  </a:lnTo>
                  <a:lnTo>
                    <a:pt x="414572" y="136159"/>
                  </a:lnTo>
                  <a:lnTo>
                    <a:pt x="504333" y="102612"/>
                  </a:lnTo>
                  <a:close/>
                </a:path>
                <a:path w="610870" h="142239">
                  <a:moveTo>
                    <a:pt x="411013" y="0"/>
                  </a:moveTo>
                  <a:lnTo>
                    <a:pt x="411890" y="33545"/>
                  </a:lnTo>
                  <a:lnTo>
                    <a:pt x="196867" y="39164"/>
                  </a:lnTo>
                  <a:lnTo>
                    <a:pt x="535240" y="39164"/>
                  </a:lnTo>
                  <a:lnTo>
                    <a:pt x="411013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882825" y="2791749"/>
              <a:ext cx="610870" cy="142240"/>
            </a:xfrm>
            <a:custGeom>
              <a:avLst/>
              <a:gdLst/>
              <a:ahLst/>
              <a:cxnLst/>
              <a:rect l="l" t="t" r="r" b="b"/>
              <a:pathLst>
                <a:path w="610870" h="142239">
                  <a:moveTo>
                    <a:pt x="0" y="78866"/>
                  </a:moveTo>
                  <a:lnTo>
                    <a:pt x="195990" y="5618"/>
                  </a:lnTo>
                  <a:lnTo>
                    <a:pt x="196867" y="39164"/>
                  </a:lnTo>
                  <a:lnTo>
                    <a:pt x="411890" y="33546"/>
                  </a:lnTo>
                  <a:lnTo>
                    <a:pt x="411013" y="0"/>
                  </a:lnTo>
                  <a:lnTo>
                    <a:pt x="610563" y="62910"/>
                  </a:lnTo>
                  <a:lnTo>
                    <a:pt x="414572" y="136159"/>
                  </a:lnTo>
                  <a:lnTo>
                    <a:pt x="413695" y="102613"/>
                  </a:lnTo>
                  <a:lnTo>
                    <a:pt x="198673" y="108231"/>
                  </a:lnTo>
                  <a:lnTo>
                    <a:pt x="199549" y="141777"/>
                  </a:lnTo>
                  <a:lnTo>
                    <a:pt x="0" y="78866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465784" y="4662071"/>
              <a:ext cx="2407920" cy="1756410"/>
            </a:xfrm>
            <a:custGeom>
              <a:avLst/>
              <a:gdLst/>
              <a:ahLst/>
              <a:cxnLst/>
              <a:rect l="l" t="t" r="r" b="b"/>
              <a:pathLst>
                <a:path w="2407920" h="1756410">
                  <a:moveTo>
                    <a:pt x="2407850" y="0"/>
                  </a:moveTo>
                  <a:lnTo>
                    <a:pt x="0" y="0"/>
                  </a:lnTo>
                  <a:lnTo>
                    <a:pt x="0" y="1756093"/>
                  </a:lnTo>
                  <a:lnTo>
                    <a:pt x="2407850" y="1756093"/>
                  </a:lnTo>
                  <a:lnTo>
                    <a:pt x="240785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5465783" y="4662071"/>
            <a:ext cx="2407920" cy="1756410"/>
          </a:xfrm>
          <a:prstGeom prst="rect">
            <a:avLst/>
          </a:prstGeom>
          <a:ln w="9865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algn="ctr" marL="803275" marR="805815">
              <a:lnSpc>
                <a:spcPct val="104800"/>
              </a:lnSpc>
              <a:spcBef>
                <a:spcPts val="405"/>
              </a:spcBef>
            </a:pPr>
            <a:r>
              <a:rPr dirty="0" sz="1050" spc="-10" b="1">
                <a:latin typeface="Arial"/>
                <a:cs typeface="Arial"/>
              </a:rPr>
              <a:t>Other Participants</a:t>
            </a:r>
            <a:endParaRPr sz="10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54489" y="5187064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13970" rIns="0" bIns="0" rtlCol="0" vert="horz">
            <a:spAutoFit/>
          </a:bodyPr>
          <a:lstStyle/>
          <a:p>
            <a:pPr algn="ctr" marL="178435" marR="180975">
              <a:lnSpc>
                <a:spcPct val="100000"/>
              </a:lnSpc>
              <a:spcBef>
                <a:spcPts val="110"/>
              </a:spcBef>
            </a:pPr>
            <a:r>
              <a:rPr dirty="0" sz="900" spc="-10" b="1">
                <a:latin typeface="Arial"/>
                <a:cs typeface="Arial"/>
              </a:rPr>
              <a:t>Central Counter-parties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754489" y="5762116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13970" rIns="0" bIns="0" rtlCol="0" vert="horz">
            <a:spAutoFit/>
          </a:bodyPr>
          <a:lstStyle/>
          <a:p>
            <a:pPr algn="ctr" marL="66675" marR="68580" indent="-635">
              <a:lnSpc>
                <a:spcPct val="100000"/>
              </a:lnSpc>
              <a:spcBef>
                <a:spcPts val="110"/>
              </a:spcBef>
            </a:pPr>
            <a:r>
              <a:rPr dirty="0" sz="900" spc="-10" b="1">
                <a:latin typeface="Arial"/>
                <a:cs typeface="Arial"/>
              </a:rPr>
              <a:t>Central Securities Depositories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004146" y="3410785"/>
            <a:ext cx="4241800" cy="2055495"/>
            <a:chOff x="3004146" y="3410785"/>
            <a:chExt cx="4241800" cy="2055495"/>
          </a:xfrm>
        </p:grpSpPr>
        <p:sp>
          <p:nvSpPr>
            <p:cNvPr id="55" name="object 55"/>
            <p:cNvSpPr/>
            <p:nvPr/>
          </p:nvSpPr>
          <p:spPr>
            <a:xfrm>
              <a:off x="3009226" y="4824645"/>
              <a:ext cx="136525" cy="610870"/>
            </a:xfrm>
            <a:custGeom>
              <a:avLst/>
              <a:gdLst/>
              <a:ahLst/>
              <a:cxnLst/>
              <a:rect l="l" t="t" r="r" b="b"/>
              <a:pathLst>
                <a:path w="136525" h="610870">
                  <a:moveTo>
                    <a:pt x="136204" y="412932"/>
                  </a:moveTo>
                  <a:lnTo>
                    <a:pt x="0" y="412932"/>
                  </a:lnTo>
                  <a:lnTo>
                    <a:pt x="68102" y="610770"/>
                  </a:lnTo>
                  <a:lnTo>
                    <a:pt x="136204" y="412932"/>
                  </a:lnTo>
                  <a:close/>
                </a:path>
                <a:path w="136525" h="610870">
                  <a:moveTo>
                    <a:pt x="102647" y="197839"/>
                  </a:moveTo>
                  <a:lnTo>
                    <a:pt x="33557" y="197839"/>
                  </a:lnTo>
                  <a:lnTo>
                    <a:pt x="33557" y="412932"/>
                  </a:lnTo>
                  <a:lnTo>
                    <a:pt x="102647" y="412932"/>
                  </a:lnTo>
                  <a:lnTo>
                    <a:pt x="102647" y="197839"/>
                  </a:lnTo>
                  <a:close/>
                </a:path>
                <a:path w="136525" h="610870">
                  <a:moveTo>
                    <a:pt x="68102" y="0"/>
                  </a:moveTo>
                  <a:lnTo>
                    <a:pt x="0" y="197839"/>
                  </a:lnTo>
                  <a:lnTo>
                    <a:pt x="136204" y="197839"/>
                  </a:lnTo>
                  <a:lnTo>
                    <a:pt x="68102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009226" y="4824645"/>
              <a:ext cx="136525" cy="610870"/>
            </a:xfrm>
            <a:custGeom>
              <a:avLst/>
              <a:gdLst/>
              <a:ahLst/>
              <a:cxnLst/>
              <a:rect l="l" t="t" r="r" b="b"/>
              <a:pathLst>
                <a:path w="136525" h="610870">
                  <a:moveTo>
                    <a:pt x="68102" y="0"/>
                  </a:moveTo>
                  <a:lnTo>
                    <a:pt x="136205" y="197838"/>
                  </a:lnTo>
                  <a:lnTo>
                    <a:pt x="102647" y="197838"/>
                  </a:lnTo>
                  <a:lnTo>
                    <a:pt x="102647" y="412932"/>
                  </a:lnTo>
                  <a:lnTo>
                    <a:pt x="136205" y="412932"/>
                  </a:lnTo>
                  <a:lnTo>
                    <a:pt x="68102" y="610771"/>
                  </a:lnTo>
                  <a:lnTo>
                    <a:pt x="0" y="412932"/>
                  </a:lnTo>
                  <a:lnTo>
                    <a:pt x="33557" y="412932"/>
                  </a:lnTo>
                  <a:lnTo>
                    <a:pt x="33557" y="197838"/>
                  </a:lnTo>
                  <a:lnTo>
                    <a:pt x="0" y="197838"/>
                  </a:lnTo>
                  <a:lnTo>
                    <a:pt x="68102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236137" y="3428862"/>
              <a:ext cx="1913889" cy="2032635"/>
            </a:xfrm>
            <a:custGeom>
              <a:avLst/>
              <a:gdLst/>
              <a:ahLst/>
              <a:cxnLst/>
              <a:rect l="l" t="t" r="r" b="b"/>
              <a:pathLst>
                <a:path w="1913889" h="2032635">
                  <a:moveTo>
                    <a:pt x="86047" y="1841613"/>
                  </a:moveTo>
                  <a:lnTo>
                    <a:pt x="0" y="2032332"/>
                  </a:lnTo>
                  <a:lnTo>
                    <a:pt x="185209" y="1934988"/>
                  </a:lnTo>
                  <a:lnTo>
                    <a:pt x="160778" y="1911982"/>
                  </a:lnTo>
                  <a:lnTo>
                    <a:pt x="205377" y="1864619"/>
                  </a:lnTo>
                  <a:lnTo>
                    <a:pt x="110478" y="1864619"/>
                  </a:lnTo>
                  <a:lnTo>
                    <a:pt x="86047" y="1841613"/>
                  </a:lnTo>
                  <a:close/>
                </a:path>
                <a:path w="1913889" h="2032635">
                  <a:moveTo>
                    <a:pt x="1913750" y="0"/>
                  </a:moveTo>
                  <a:lnTo>
                    <a:pt x="1728541" y="97344"/>
                  </a:lnTo>
                  <a:lnTo>
                    <a:pt x="1752973" y="120349"/>
                  </a:lnTo>
                  <a:lnTo>
                    <a:pt x="110478" y="1864619"/>
                  </a:lnTo>
                  <a:lnTo>
                    <a:pt x="205377" y="1864619"/>
                  </a:lnTo>
                  <a:lnTo>
                    <a:pt x="1803271" y="167713"/>
                  </a:lnTo>
                  <a:lnTo>
                    <a:pt x="1838083" y="167713"/>
                  </a:lnTo>
                  <a:lnTo>
                    <a:pt x="1913750" y="0"/>
                  </a:lnTo>
                  <a:close/>
                </a:path>
                <a:path w="1913889" h="2032635">
                  <a:moveTo>
                    <a:pt x="1838083" y="167713"/>
                  </a:moveTo>
                  <a:lnTo>
                    <a:pt x="1803271" y="167713"/>
                  </a:lnTo>
                  <a:lnTo>
                    <a:pt x="1827703" y="190719"/>
                  </a:lnTo>
                  <a:lnTo>
                    <a:pt x="1838083" y="167713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236137" y="3428863"/>
              <a:ext cx="1913889" cy="2032635"/>
            </a:xfrm>
            <a:custGeom>
              <a:avLst/>
              <a:gdLst/>
              <a:ahLst/>
              <a:cxnLst/>
              <a:rect l="l" t="t" r="r" b="b"/>
              <a:pathLst>
                <a:path w="1913889" h="2032635">
                  <a:moveTo>
                    <a:pt x="1913750" y="0"/>
                  </a:moveTo>
                  <a:lnTo>
                    <a:pt x="1827703" y="190719"/>
                  </a:lnTo>
                  <a:lnTo>
                    <a:pt x="1803272" y="167713"/>
                  </a:lnTo>
                  <a:lnTo>
                    <a:pt x="160778" y="1911983"/>
                  </a:lnTo>
                  <a:lnTo>
                    <a:pt x="185208" y="1934988"/>
                  </a:lnTo>
                  <a:lnTo>
                    <a:pt x="0" y="2032332"/>
                  </a:lnTo>
                  <a:lnTo>
                    <a:pt x="86047" y="1841613"/>
                  </a:lnTo>
                  <a:lnTo>
                    <a:pt x="110478" y="1864618"/>
                  </a:lnTo>
                  <a:lnTo>
                    <a:pt x="1752972" y="120349"/>
                  </a:lnTo>
                  <a:lnTo>
                    <a:pt x="1728541" y="97343"/>
                  </a:lnTo>
                  <a:lnTo>
                    <a:pt x="1913750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829325" y="3415865"/>
              <a:ext cx="398145" cy="1242060"/>
            </a:xfrm>
            <a:custGeom>
              <a:avLst/>
              <a:gdLst/>
              <a:ahLst/>
              <a:cxnLst/>
              <a:rect l="l" t="t" r="r" b="b"/>
              <a:pathLst>
                <a:path w="398145" h="1242060">
                  <a:moveTo>
                    <a:pt x="104390" y="199189"/>
                  </a:moveTo>
                  <a:lnTo>
                    <a:pt x="32050" y="199189"/>
                  </a:lnTo>
                  <a:lnTo>
                    <a:pt x="299977" y="1062777"/>
                  </a:lnTo>
                  <a:lnTo>
                    <a:pt x="267926" y="1072722"/>
                  </a:lnTo>
                  <a:lnTo>
                    <a:pt x="391594" y="1241494"/>
                  </a:lnTo>
                  <a:lnTo>
                    <a:pt x="397710" y="1042304"/>
                  </a:lnTo>
                  <a:lnTo>
                    <a:pt x="365964" y="1042304"/>
                  </a:lnTo>
                  <a:lnTo>
                    <a:pt x="104390" y="199189"/>
                  </a:lnTo>
                  <a:close/>
                </a:path>
                <a:path w="398145" h="1242060">
                  <a:moveTo>
                    <a:pt x="398015" y="1032361"/>
                  </a:moveTo>
                  <a:lnTo>
                    <a:pt x="365964" y="1042304"/>
                  </a:lnTo>
                  <a:lnTo>
                    <a:pt x="397710" y="1042304"/>
                  </a:lnTo>
                  <a:lnTo>
                    <a:pt x="398015" y="1032361"/>
                  </a:lnTo>
                  <a:close/>
                </a:path>
                <a:path w="398145" h="1242060">
                  <a:moveTo>
                    <a:pt x="6422" y="0"/>
                  </a:moveTo>
                  <a:lnTo>
                    <a:pt x="0" y="209133"/>
                  </a:lnTo>
                  <a:lnTo>
                    <a:pt x="32050" y="199189"/>
                  </a:lnTo>
                  <a:lnTo>
                    <a:pt x="104390" y="199189"/>
                  </a:lnTo>
                  <a:lnTo>
                    <a:pt x="98038" y="178716"/>
                  </a:lnTo>
                  <a:lnTo>
                    <a:pt x="130088" y="168772"/>
                  </a:lnTo>
                  <a:lnTo>
                    <a:pt x="6422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829325" y="3415865"/>
              <a:ext cx="398145" cy="1242060"/>
            </a:xfrm>
            <a:custGeom>
              <a:avLst/>
              <a:gdLst/>
              <a:ahLst/>
              <a:cxnLst/>
              <a:rect l="l" t="t" r="r" b="b"/>
              <a:pathLst>
                <a:path w="398145" h="1242060">
                  <a:moveTo>
                    <a:pt x="391594" y="1241494"/>
                  </a:moveTo>
                  <a:lnTo>
                    <a:pt x="267926" y="1072721"/>
                  </a:lnTo>
                  <a:lnTo>
                    <a:pt x="299977" y="1062777"/>
                  </a:lnTo>
                  <a:lnTo>
                    <a:pt x="32050" y="199189"/>
                  </a:lnTo>
                  <a:lnTo>
                    <a:pt x="0" y="209132"/>
                  </a:lnTo>
                  <a:lnTo>
                    <a:pt x="6421" y="0"/>
                  </a:lnTo>
                  <a:lnTo>
                    <a:pt x="130089" y="168773"/>
                  </a:lnTo>
                  <a:lnTo>
                    <a:pt x="98038" y="178717"/>
                  </a:lnTo>
                  <a:lnTo>
                    <a:pt x="365964" y="1042304"/>
                  </a:lnTo>
                  <a:lnTo>
                    <a:pt x="398015" y="1032360"/>
                  </a:lnTo>
                  <a:lnTo>
                    <a:pt x="391594" y="1241494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103821" y="4099723"/>
              <a:ext cx="136525" cy="557530"/>
            </a:xfrm>
            <a:custGeom>
              <a:avLst/>
              <a:gdLst/>
              <a:ahLst/>
              <a:cxnLst/>
              <a:rect l="l" t="t" r="r" b="b"/>
              <a:pathLst>
                <a:path w="136525" h="557529">
                  <a:moveTo>
                    <a:pt x="136397" y="359690"/>
                  </a:moveTo>
                  <a:lnTo>
                    <a:pt x="270" y="359690"/>
                  </a:lnTo>
                  <a:lnTo>
                    <a:pt x="68703" y="557414"/>
                  </a:lnTo>
                  <a:lnTo>
                    <a:pt x="136397" y="359690"/>
                  </a:lnTo>
                  <a:close/>
                </a:path>
                <a:path w="136525" h="557529">
                  <a:moveTo>
                    <a:pt x="102648" y="197952"/>
                  </a:moveTo>
                  <a:lnTo>
                    <a:pt x="33558" y="197952"/>
                  </a:lnTo>
                  <a:lnTo>
                    <a:pt x="33827" y="359690"/>
                  </a:lnTo>
                  <a:lnTo>
                    <a:pt x="102918" y="359690"/>
                  </a:lnTo>
                  <a:lnTo>
                    <a:pt x="102648" y="197952"/>
                  </a:lnTo>
                  <a:close/>
                </a:path>
                <a:path w="136525" h="557529">
                  <a:moveTo>
                    <a:pt x="67773" y="0"/>
                  </a:moveTo>
                  <a:lnTo>
                    <a:pt x="0" y="197952"/>
                  </a:lnTo>
                  <a:lnTo>
                    <a:pt x="136284" y="197952"/>
                  </a:lnTo>
                  <a:lnTo>
                    <a:pt x="67773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103821" y="4099724"/>
              <a:ext cx="136525" cy="557530"/>
            </a:xfrm>
            <a:custGeom>
              <a:avLst/>
              <a:gdLst/>
              <a:ahLst/>
              <a:cxnLst/>
              <a:rect l="l" t="t" r="r" b="b"/>
              <a:pathLst>
                <a:path w="136525" h="557529">
                  <a:moveTo>
                    <a:pt x="67773" y="0"/>
                  </a:moveTo>
                  <a:lnTo>
                    <a:pt x="136205" y="197724"/>
                  </a:lnTo>
                  <a:lnTo>
                    <a:pt x="102647" y="197780"/>
                  </a:lnTo>
                  <a:lnTo>
                    <a:pt x="102917" y="359518"/>
                  </a:lnTo>
                  <a:lnTo>
                    <a:pt x="136475" y="359463"/>
                  </a:lnTo>
                  <a:lnTo>
                    <a:pt x="68702" y="557414"/>
                  </a:lnTo>
                  <a:lnTo>
                    <a:pt x="270" y="359690"/>
                  </a:lnTo>
                  <a:lnTo>
                    <a:pt x="33827" y="359634"/>
                  </a:lnTo>
                  <a:lnTo>
                    <a:pt x="33558" y="197895"/>
                  </a:lnTo>
                  <a:lnTo>
                    <a:pt x="0" y="197952"/>
                  </a:lnTo>
                  <a:lnTo>
                    <a:pt x="67773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7811418" y="4008101"/>
            <a:ext cx="756285" cy="443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54305" marR="159385">
              <a:lnSpc>
                <a:spcPct val="100000"/>
              </a:lnSpc>
              <a:spcBef>
                <a:spcPts val="130"/>
              </a:spcBef>
            </a:pPr>
            <a:r>
              <a:rPr dirty="0" sz="900" spc="-25">
                <a:latin typeface="Arial"/>
                <a:cs typeface="Arial"/>
              </a:rPr>
              <a:t>via </a:t>
            </a:r>
            <a:r>
              <a:rPr dirty="0" sz="900" spc="-10">
                <a:latin typeface="Arial"/>
                <a:cs typeface="Arial"/>
              </a:rPr>
              <a:t>financial</a:t>
            </a:r>
            <a:endParaRPr sz="900">
              <a:latin typeface="Arial"/>
              <a:cs typeface="Arial"/>
            </a:endParaRPr>
          </a:p>
          <a:p>
            <a:pPr algn="ctr" marR="5080">
              <a:lnSpc>
                <a:spcPct val="100000"/>
              </a:lnSpc>
              <a:spcBef>
                <a:spcPts val="15"/>
              </a:spcBef>
            </a:pPr>
            <a:r>
              <a:rPr dirty="0" sz="900" spc="-10">
                <a:latin typeface="Arial"/>
                <a:cs typeface="Arial"/>
              </a:rPr>
              <a:t>intermediaries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772791" y="2902127"/>
            <a:ext cx="4420870" cy="1765300"/>
            <a:chOff x="3772791" y="2902127"/>
            <a:chExt cx="4420870" cy="1765300"/>
          </a:xfrm>
        </p:grpSpPr>
        <p:sp>
          <p:nvSpPr>
            <p:cNvPr id="65" name="object 65"/>
            <p:cNvSpPr/>
            <p:nvPr/>
          </p:nvSpPr>
          <p:spPr>
            <a:xfrm>
              <a:off x="8188106" y="2902127"/>
              <a:ext cx="0" cy="1109345"/>
            </a:xfrm>
            <a:custGeom>
              <a:avLst/>
              <a:gdLst/>
              <a:ahLst/>
              <a:cxnLst/>
              <a:rect l="l" t="t" r="r" b="b"/>
              <a:pathLst>
                <a:path w="0" h="1109345">
                  <a:moveTo>
                    <a:pt x="0" y="0"/>
                  </a:moveTo>
                  <a:lnTo>
                    <a:pt x="0" y="1108808"/>
                  </a:lnTo>
                </a:path>
              </a:pathLst>
            </a:custGeom>
            <a:ln w="986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777724" y="3873621"/>
              <a:ext cx="1896745" cy="788670"/>
            </a:xfrm>
            <a:custGeom>
              <a:avLst/>
              <a:gdLst/>
              <a:ahLst/>
              <a:cxnLst/>
              <a:rect l="l" t="t" r="r" b="b"/>
              <a:pathLst>
                <a:path w="1896745" h="788670">
                  <a:moveTo>
                    <a:pt x="349401" y="107844"/>
                  </a:moveTo>
                  <a:lnTo>
                    <a:pt x="169419" y="107844"/>
                  </a:lnTo>
                  <a:lnTo>
                    <a:pt x="1700616" y="744402"/>
                  </a:lnTo>
                  <a:lnTo>
                    <a:pt x="1687733" y="775389"/>
                  </a:lnTo>
                  <a:lnTo>
                    <a:pt x="1896558" y="788449"/>
                  </a:lnTo>
                  <a:lnTo>
                    <a:pt x="1774959" y="680605"/>
                  </a:lnTo>
                  <a:lnTo>
                    <a:pt x="1727139" y="680605"/>
                  </a:lnTo>
                  <a:lnTo>
                    <a:pt x="349401" y="107844"/>
                  </a:lnTo>
                  <a:close/>
                </a:path>
                <a:path w="1896745" h="788670">
                  <a:moveTo>
                    <a:pt x="1740020" y="649618"/>
                  </a:moveTo>
                  <a:lnTo>
                    <a:pt x="1727139" y="680605"/>
                  </a:lnTo>
                  <a:lnTo>
                    <a:pt x="1774959" y="680605"/>
                  </a:lnTo>
                  <a:lnTo>
                    <a:pt x="1740020" y="649618"/>
                  </a:lnTo>
                  <a:close/>
                </a:path>
                <a:path w="1896745" h="788670">
                  <a:moveTo>
                    <a:pt x="0" y="0"/>
                  </a:moveTo>
                  <a:lnTo>
                    <a:pt x="156537" y="138831"/>
                  </a:lnTo>
                  <a:lnTo>
                    <a:pt x="169419" y="107844"/>
                  </a:lnTo>
                  <a:lnTo>
                    <a:pt x="349401" y="107844"/>
                  </a:lnTo>
                  <a:lnTo>
                    <a:pt x="195941" y="44047"/>
                  </a:lnTo>
                  <a:lnTo>
                    <a:pt x="208823" y="13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777723" y="3873622"/>
              <a:ext cx="1896745" cy="788670"/>
            </a:xfrm>
            <a:custGeom>
              <a:avLst/>
              <a:gdLst/>
              <a:ahLst/>
              <a:cxnLst/>
              <a:rect l="l" t="t" r="r" b="b"/>
              <a:pathLst>
                <a:path w="1896745" h="788670">
                  <a:moveTo>
                    <a:pt x="1896558" y="788449"/>
                  </a:moveTo>
                  <a:lnTo>
                    <a:pt x="1687733" y="775389"/>
                  </a:lnTo>
                  <a:lnTo>
                    <a:pt x="1700616" y="744403"/>
                  </a:lnTo>
                  <a:lnTo>
                    <a:pt x="169419" y="107843"/>
                  </a:lnTo>
                  <a:lnTo>
                    <a:pt x="156537" y="138831"/>
                  </a:lnTo>
                  <a:lnTo>
                    <a:pt x="0" y="0"/>
                  </a:lnTo>
                  <a:lnTo>
                    <a:pt x="208824" y="13060"/>
                  </a:lnTo>
                  <a:lnTo>
                    <a:pt x="195941" y="44047"/>
                  </a:lnTo>
                  <a:lnTo>
                    <a:pt x="1727138" y="680605"/>
                  </a:lnTo>
                  <a:lnTo>
                    <a:pt x="1740020" y="649619"/>
                  </a:lnTo>
                  <a:lnTo>
                    <a:pt x="1896558" y="788449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5714892" y="5187064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211454" marR="190500" indent="-23495">
              <a:lnSpc>
                <a:spcPct val="100000"/>
              </a:lnSpc>
              <a:spcBef>
                <a:spcPts val="650"/>
              </a:spcBef>
            </a:pPr>
            <a:r>
              <a:rPr dirty="0" sz="900" spc="-10" b="1">
                <a:latin typeface="Arial"/>
                <a:cs typeface="Arial"/>
              </a:rPr>
              <a:t>Clearing Houses</a:t>
            </a:r>
            <a:endParaRPr sz="900">
              <a:latin typeface="Arial"/>
              <a:cs typeface="Arial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9" name="object 69"/>
          <p:cNvSpPr txBox="1"/>
          <p:nvPr/>
        </p:nvSpPr>
        <p:spPr>
          <a:xfrm>
            <a:off x="5714892" y="5762116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dirty="0" sz="900" spc="-10" b="1">
                <a:latin typeface="Arial"/>
                <a:cs typeface="Arial"/>
              </a:rPr>
              <a:t>Custodians</a:t>
            </a:r>
            <a:endParaRPr sz="9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479754" y="5305440"/>
            <a:ext cx="1438275" cy="443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30"/>
              </a:spcBef>
            </a:pPr>
            <a:r>
              <a:rPr dirty="0" sz="900">
                <a:solidFill>
                  <a:srgbClr val="DFE0DF"/>
                </a:solidFill>
                <a:latin typeface="Calibri"/>
                <a:cs typeface="Calibri"/>
              </a:rPr>
              <a:t>Source:</a:t>
            </a:r>
            <a:r>
              <a:rPr dirty="0" sz="900" spc="6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FE0DF"/>
                </a:solidFill>
                <a:latin typeface="Calibri"/>
                <a:cs typeface="Calibri"/>
              </a:rPr>
              <a:t>Duran,</a:t>
            </a:r>
            <a:r>
              <a:rPr dirty="0" sz="900" spc="6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FE0DF"/>
                </a:solidFill>
                <a:latin typeface="Calibri"/>
                <a:cs typeface="Calibri"/>
              </a:rPr>
              <a:t>R.</a:t>
            </a:r>
            <a:r>
              <a:rPr dirty="0" sz="900" spc="6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DFE0DF"/>
                </a:solidFill>
                <a:latin typeface="Calibri"/>
                <a:cs typeface="Calibri"/>
              </a:rPr>
              <a:t>E.,</a:t>
            </a:r>
            <a:r>
              <a:rPr dirty="0" sz="900" spc="50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DFE0DF"/>
                </a:solidFill>
                <a:latin typeface="Calibri"/>
                <a:cs typeface="Calibri"/>
              </a:rPr>
              <a:t>Financial</a:t>
            </a:r>
            <a:r>
              <a:rPr dirty="0" sz="900" spc="80" i="1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DFE0DF"/>
                </a:solidFill>
                <a:latin typeface="Calibri"/>
                <a:cs typeface="Calibri"/>
              </a:rPr>
              <a:t>Services</a:t>
            </a:r>
            <a:r>
              <a:rPr dirty="0" sz="900" spc="80" i="1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DFE0DF"/>
                </a:solidFill>
                <a:latin typeface="Calibri"/>
                <a:cs typeface="Calibri"/>
              </a:rPr>
              <a:t>Technology,</a:t>
            </a:r>
            <a:r>
              <a:rPr dirty="0" sz="900" spc="500" i="1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FE0DF"/>
                </a:solidFill>
                <a:latin typeface="Calibri"/>
                <a:cs typeface="Calibri"/>
              </a:rPr>
              <a:t>Cengage</a:t>
            </a:r>
            <a:r>
              <a:rPr dirty="0" sz="900" spc="8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FE0DF"/>
                </a:solidFill>
                <a:latin typeface="Calibri"/>
                <a:cs typeface="Calibri"/>
              </a:rPr>
              <a:t>Learning</a:t>
            </a:r>
            <a:r>
              <a:rPr dirty="0" sz="900" spc="8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FE0DF"/>
                </a:solidFill>
                <a:latin typeface="Calibri"/>
                <a:cs typeface="Calibri"/>
              </a:rPr>
              <a:t>Asia,</a:t>
            </a:r>
            <a:r>
              <a:rPr dirty="0" sz="900" spc="8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DFE0DF"/>
                </a:solidFill>
                <a:latin typeface="Calibri"/>
                <a:cs typeface="Calibri"/>
              </a:rPr>
              <a:t>2018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Investors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3428" y="1170985"/>
            <a:ext cx="7231136" cy="567875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50533" y="398484"/>
            <a:ext cx="5243195" cy="6459855"/>
            <a:chOff x="6450533" y="398484"/>
            <a:chExt cx="5243195" cy="64598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0533" y="3391186"/>
              <a:ext cx="4414316" cy="34668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7412" y="398484"/>
              <a:ext cx="2746019" cy="20948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443999" y="2491713"/>
              <a:ext cx="942975" cy="1623695"/>
            </a:xfrm>
            <a:custGeom>
              <a:avLst/>
              <a:gdLst/>
              <a:ahLst/>
              <a:cxnLst/>
              <a:rect l="l" t="t" r="r" b="b"/>
              <a:pathLst>
                <a:path w="942975" h="1623695">
                  <a:moveTo>
                    <a:pt x="5246" y="1538053"/>
                  </a:moveTo>
                  <a:lnTo>
                    <a:pt x="0" y="1623086"/>
                  </a:lnTo>
                  <a:lnTo>
                    <a:pt x="71173" y="1576264"/>
                  </a:lnTo>
                  <a:lnTo>
                    <a:pt x="59914" y="1569739"/>
                  </a:lnTo>
                  <a:lnTo>
                    <a:pt x="34588" y="1569739"/>
                  </a:lnTo>
                  <a:lnTo>
                    <a:pt x="29095" y="1566555"/>
                  </a:lnTo>
                  <a:lnTo>
                    <a:pt x="35463" y="1555567"/>
                  </a:lnTo>
                  <a:lnTo>
                    <a:pt x="5246" y="1538053"/>
                  </a:lnTo>
                  <a:close/>
                </a:path>
                <a:path w="942975" h="1623695">
                  <a:moveTo>
                    <a:pt x="35463" y="1555567"/>
                  </a:moveTo>
                  <a:lnTo>
                    <a:pt x="29095" y="1566555"/>
                  </a:lnTo>
                  <a:lnTo>
                    <a:pt x="34588" y="1569739"/>
                  </a:lnTo>
                  <a:lnTo>
                    <a:pt x="40956" y="1558751"/>
                  </a:lnTo>
                  <a:lnTo>
                    <a:pt x="35463" y="1555567"/>
                  </a:lnTo>
                  <a:close/>
                </a:path>
                <a:path w="942975" h="1623695">
                  <a:moveTo>
                    <a:pt x="40956" y="1558751"/>
                  </a:moveTo>
                  <a:lnTo>
                    <a:pt x="34588" y="1569739"/>
                  </a:lnTo>
                  <a:lnTo>
                    <a:pt x="59914" y="1569739"/>
                  </a:lnTo>
                  <a:lnTo>
                    <a:pt x="40956" y="1558751"/>
                  </a:lnTo>
                  <a:close/>
                </a:path>
                <a:path w="942975" h="1623695">
                  <a:moveTo>
                    <a:pt x="937052" y="0"/>
                  </a:moveTo>
                  <a:lnTo>
                    <a:pt x="35463" y="1555567"/>
                  </a:lnTo>
                  <a:lnTo>
                    <a:pt x="40956" y="1558751"/>
                  </a:lnTo>
                  <a:lnTo>
                    <a:pt x="942547" y="3183"/>
                  </a:lnTo>
                  <a:lnTo>
                    <a:pt x="937052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80439" y="586739"/>
            <a:ext cx="3957954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Retail</a:t>
            </a:r>
            <a:r>
              <a:rPr dirty="0" spc="-100"/>
              <a:t> </a:t>
            </a:r>
            <a:r>
              <a:rPr dirty="0" spc="-10"/>
              <a:t>investors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400684" y="1474723"/>
            <a:ext cx="5918200" cy="4189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Retail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investors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individual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investors.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6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5080" indent="-227329">
              <a:lnSpc>
                <a:spcPct val="903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Retail</a:t>
            </a:r>
            <a:r>
              <a:rPr dirty="0" sz="2400" spc="-9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investors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collectively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bought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around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$3.4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trillion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worth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equities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over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first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half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2025,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according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to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data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from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Nasdaq.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Also,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sold </a:t>
            </a:r>
            <a:r>
              <a:rPr dirty="0" sz="2400" spc="-2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about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$3.2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trillion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worth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—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bringing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the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total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traded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over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$6.6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trillion.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0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140970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Retail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investors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often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labelled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as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noise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traders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-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do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not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trade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rationally.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Poll</a:t>
            </a:r>
            <a:r>
              <a:rPr dirty="0" spc="-50"/>
              <a:t> </a:t>
            </a:r>
            <a:r>
              <a:rPr dirty="0" spc="-10"/>
              <a:t>Question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6964" y="2702980"/>
            <a:ext cx="7287535" cy="33905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807971"/>
            <a:ext cx="6942455" cy="41548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1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621665" algn="l"/>
              </a:tabLst>
            </a:pPr>
            <a:r>
              <a:rPr dirty="0" sz="2800">
                <a:latin typeface="Century Gothic"/>
                <a:cs typeface="Century Gothic"/>
              </a:rPr>
              <a:t>Which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asset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will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you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invest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 spc="-25">
                <a:latin typeface="Century Gothic"/>
                <a:cs typeface="Century Gothic"/>
              </a:rPr>
              <a:t>in?</a:t>
            </a:r>
            <a:endParaRPr sz="2800">
              <a:latin typeface="Century Gothic"/>
              <a:cs typeface="Century Gothic"/>
            </a:endParaRPr>
          </a:p>
          <a:p>
            <a:pPr algn="r" marR="5080">
              <a:lnSpc>
                <a:spcPct val="100000"/>
              </a:lnSpc>
              <a:spcBef>
                <a:spcPts val="1330"/>
              </a:spcBef>
            </a:pPr>
            <a:r>
              <a:rPr dirty="0" sz="850" spc="-10">
                <a:solidFill>
                  <a:srgbClr val="FF2600"/>
                </a:solidFill>
                <a:latin typeface="Arial"/>
                <a:cs typeface="Arial"/>
              </a:rPr>
              <a:t>fairfield(black)</a:t>
            </a:r>
            <a:r>
              <a:rPr dirty="0" sz="85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invest</a:t>
            </a:r>
            <a:r>
              <a:rPr dirty="0" sz="85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85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85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ponzi</a:t>
            </a:r>
            <a:r>
              <a:rPr dirty="0" sz="85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FF2600"/>
                </a:solidFill>
                <a:latin typeface="Arial"/>
                <a:cs typeface="Arial"/>
              </a:rPr>
              <a:t>scheme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800" spc="-10" b="1">
                <a:solidFill>
                  <a:srgbClr val="FF0000"/>
                </a:solidFill>
                <a:latin typeface="Century Gothic"/>
                <a:cs typeface="Century Gothic"/>
              </a:rPr>
              <a:t>Kahoot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entury Gothic"/>
              <a:cs typeface="Century Gothic"/>
            </a:endParaRPr>
          </a:p>
          <a:p>
            <a:pPr marL="298450" marR="3230880" indent="-285750">
              <a:lnSpc>
                <a:spcPts val="211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Century Gothic"/>
                <a:cs typeface="Century Gothic"/>
              </a:rPr>
              <a:t>Please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go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u="sng" sz="180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entury Gothic"/>
                <a:cs typeface="Century Gothic"/>
                <a:hlinkClick r:id="rId3"/>
              </a:rPr>
              <a:t>www.kahoot.it</a:t>
            </a:r>
            <a:r>
              <a:rPr dirty="0" u="none" sz="1800" spc="-40">
                <a:solidFill>
                  <a:srgbClr val="0563C1"/>
                </a:solidFill>
                <a:latin typeface="Century Gothic"/>
                <a:cs typeface="Century Gothic"/>
              </a:rPr>
              <a:t> </a:t>
            </a:r>
            <a:r>
              <a:rPr dirty="0" u="none" sz="1800" spc="-25">
                <a:latin typeface="Century Gothic"/>
                <a:cs typeface="Century Gothic"/>
              </a:rPr>
              <a:t>on </a:t>
            </a:r>
            <a:r>
              <a:rPr dirty="0" u="none" sz="1800">
                <a:latin typeface="Century Gothic"/>
                <a:cs typeface="Century Gothic"/>
              </a:rPr>
              <a:t>your</a:t>
            </a:r>
            <a:r>
              <a:rPr dirty="0" u="none" sz="1800" spc="-25">
                <a:latin typeface="Century Gothic"/>
                <a:cs typeface="Century Gothic"/>
              </a:rPr>
              <a:t> </a:t>
            </a:r>
            <a:r>
              <a:rPr dirty="0" u="none" sz="1800">
                <a:latin typeface="Century Gothic"/>
                <a:cs typeface="Century Gothic"/>
              </a:rPr>
              <a:t>phone</a:t>
            </a:r>
            <a:r>
              <a:rPr dirty="0" u="none" sz="1800" spc="-15">
                <a:latin typeface="Century Gothic"/>
                <a:cs typeface="Century Gothic"/>
              </a:rPr>
              <a:t> </a:t>
            </a:r>
            <a:r>
              <a:rPr dirty="0" u="none" sz="1800">
                <a:latin typeface="Century Gothic"/>
                <a:cs typeface="Century Gothic"/>
              </a:rPr>
              <a:t>or</a:t>
            </a:r>
            <a:r>
              <a:rPr dirty="0" u="none" sz="1800" spc="-20">
                <a:latin typeface="Century Gothic"/>
                <a:cs typeface="Century Gothic"/>
              </a:rPr>
              <a:t> </a:t>
            </a:r>
            <a:r>
              <a:rPr dirty="0" u="none" sz="1800" spc="-10">
                <a:latin typeface="Century Gothic"/>
                <a:cs typeface="Century Gothic"/>
              </a:rPr>
              <a:t>computer.</a:t>
            </a:r>
            <a:endParaRPr sz="1800">
              <a:latin typeface="Century Gothic"/>
              <a:cs typeface="Century Gothic"/>
            </a:endParaRPr>
          </a:p>
          <a:p>
            <a:pPr marL="297815" indent="-285115">
              <a:lnSpc>
                <a:spcPts val="2125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800">
                <a:latin typeface="Century Gothic"/>
                <a:cs typeface="Century Gothic"/>
              </a:rPr>
              <a:t>Enter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FF0000"/>
                </a:solidFill>
                <a:latin typeface="Century Gothic"/>
                <a:cs typeface="Century Gothic"/>
              </a:rPr>
              <a:t>game</a:t>
            </a:r>
            <a:r>
              <a:rPr dirty="0" sz="1800" spc="-2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FF0000"/>
                </a:solidFill>
                <a:latin typeface="Century Gothic"/>
                <a:cs typeface="Century Gothic"/>
              </a:rPr>
              <a:t>pin</a:t>
            </a:r>
            <a:r>
              <a:rPr dirty="0" sz="1800" spc="-2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(see</a:t>
            </a:r>
            <a:endParaRPr sz="1800">
              <a:latin typeface="Century Gothic"/>
              <a:cs typeface="Century Gothic"/>
            </a:endParaRPr>
          </a:p>
          <a:p>
            <a:pPr marL="298450">
              <a:lnSpc>
                <a:spcPts val="2135"/>
              </a:lnSpc>
              <a:spcBef>
                <a:spcPts val="50"/>
              </a:spcBef>
            </a:pPr>
            <a:r>
              <a:rPr dirty="0" sz="1800">
                <a:latin typeface="Century Gothic"/>
                <a:cs typeface="Century Gothic"/>
              </a:rPr>
              <a:t>projector)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on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your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device.</a:t>
            </a:r>
            <a:endParaRPr sz="1800">
              <a:latin typeface="Century Gothic"/>
              <a:cs typeface="Century Gothic"/>
            </a:endParaRPr>
          </a:p>
          <a:p>
            <a:pPr marL="297815" indent="-285115">
              <a:lnSpc>
                <a:spcPts val="2135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800">
                <a:latin typeface="Century Gothic"/>
                <a:cs typeface="Century Gothic"/>
              </a:rPr>
              <a:t>When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asked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for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your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nickname,</a:t>
            </a:r>
            <a:endParaRPr sz="1800">
              <a:latin typeface="Century Gothic"/>
              <a:cs typeface="Century Gothic"/>
            </a:endParaRPr>
          </a:p>
          <a:p>
            <a:pPr marL="298450" marR="3122295">
              <a:lnSpc>
                <a:spcPts val="2110"/>
              </a:lnSpc>
              <a:spcBef>
                <a:spcPts val="135"/>
              </a:spcBef>
            </a:pPr>
            <a:r>
              <a:rPr dirty="0" sz="1800">
                <a:latin typeface="Century Gothic"/>
                <a:cs typeface="Century Gothic"/>
              </a:rPr>
              <a:t>enter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your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20" b="1">
                <a:solidFill>
                  <a:srgbClr val="FF0000"/>
                </a:solidFill>
                <a:latin typeface="Century Gothic"/>
                <a:cs typeface="Century Gothic"/>
              </a:rPr>
              <a:t>8-</a:t>
            </a:r>
            <a:r>
              <a:rPr dirty="0" sz="1800" b="1">
                <a:solidFill>
                  <a:srgbClr val="FF0000"/>
                </a:solidFill>
                <a:latin typeface="Century Gothic"/>
                <a:cs typeface="Century Gothic"/>
              </a:rPr>
              <a:t>digit</a:t>
            </a:r>
            <a:r>
              <a:rPr dirty="0" sz="1800" spc="-35" b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entury Gothic"/>
                <a:cs typeface="Century Gothic"/>
              </a:rPr>
              <a:t>student</a:t>
            </a:r>
            <a:r>
              <a:rPr dirty="0" sz="1800" spc="-35" b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1800" spc="-25" b="1">
                <a:solidFill>
                  <a:srgbClr val="FF0000"/>
                </a:solidFill>
                <a:latin typeface="Century Gothic"/>
                <a:cs typeface="Century Gothic"/>
              </a:rPr>
              <a:t>ID </a:t>
            </a:r>
            <a:r>
              <a:rPr dirty="0" sz="1800">
                <a:latin typeface="Century Gothic"/>
                <a:cs typeface="Century Gothic"/>
              </a:rPr>
              <a:t>(E.g.,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55123456)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on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your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device.</a:t>
            </a:r>
            <a:endParaRPr sz="1800">
              <a:latin typeface="Century Gothic"/>
              <a:cs typeface="Century Gothic"/>
            </a:endParaRPr>
          </a:p>
          <a:p>
            <a:pPr marL="297815" indent="-285115">
              <a:lnSpc>
                <a:spcPts val="2125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800">
                <a:latin typeface="Century Gothic"/>
                <a:cs typeface="Century Gothic"/>
              </a:rPr>
              <a:t>Kahoot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engagement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(not</a:t>
            </a:r>
            <a:endParaRPr sz="1800">
              <a:latin typeface="Century Gothic"/>
              <a:cs typeface="Century Gothic"/>
            </a:endParaRPr>
          </a:p>
          <a:p>
            <a:pPr marL="298450" marR="3453129">
              <a:lnSpc>
                <a:spcPts val="2110"/>
              </a:lnSpc>
              <a:spcBef>
                <a:spcPts val="160"/>
              </a:spcBef>
            </a:pPr>
            <a:r>
              <a:rPr dirty="0" sz="1800">
                <a:latin typeface="Century Gothic"/>
                <a:cs typeface="Century Gothic"/>
              </a:rPr>
              <a:t>merit)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will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partially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determine </a:t>
            </a:r>
            <a:r>
              <a:rPr dirty="0" sz="1800" b="1" i="1">
                <a:solidFill>
                  <a:srgbClr val="FF0000"/>
                </a:solidFill>
                <a:latin typeface="Century Gothic"/>
                <a:cs typeface="Century Gothic"/>
              </a:rPr>
              <a:t>class</a:t>
            </a:r>
            <a:r>
              <a:rPr dirty="0" sz="1800" spc="-55" b="1" i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1800" b="1" i="1">
                <a:solidFill>
                  <a:srgbClr val="FF0000"/>
                </a:solidFill>
                <a:latin typeface="Century Gothic"/>
                <a:cs typeface="Century Gothic"/>
              </a:rPr>
              <a:t>participation</a:t>
            </a:r>
            <a:r>
              <a:rPr dirty="0" sz="1800" spc="-60" b="1" i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scores.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Poll</a:t>
            </a:r>
            <a:r>
              <a:rPr dirty="0" spc="-110"/>
              <a:t> </a:t>
            </a:r>
            <a:r>
              <a:rPr dirty="0"/>
              <a:t>Question:</a:t>
            </a:r>
            <a:r>
              <a:rPr dirty="0" spc="-105"/>
              <a:t> </a:t>
            </a:r>
            <a:r>
              <a:rPr dirty="0"/>
              <a:t>Sharpe</a:t>
            </a:r>
            <a:r>
              <a:rPr dirty="0" spc="-100"/>
              <a:t> </a:t>
            </a:r>
            <a:r>
              <a:rPr dirty="0" spc="-10"/>
              <a:t>Ratio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07971"/>
            <a:ext cx="9286875" cy="358902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79400" marR="612775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79400" algn="l"/>
              </a:tabLst>
            </a:pPr>
            <a:r>
              <a:rPr dirty="0" sz="2800">
                <a:latin typeface="Century Gothic"/>
                <a:cs typeface="Century Gothic"/>
              </a:rPr>
              <a:t>Sharpe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ratio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helps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us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understand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return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of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 spc="-25">
                <a:latin typeface="Century Gothic"/>
                <a:cs typeface="Century Gothic"/>
              </a:rPr>
              <a:t>an </a:t>
            </a:r>
            <a:r>
              <a:rPr dirty="0" sz="2800">
                <a:latin typeface="Century Gothic"/>
                <a:cs typeface="Century Gothic"/>
              </a:rPr>
              <a:t>investment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relative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to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its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risk.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377825" marR="1316990" indent="-327025">
              <a:lnSpc>
                <a:spcPts val="3260"/>
              </a:lnSpc>
              <a:buFont typeface="Arial"/>
              <a:buChar char="•"/>
              <a:tabLst>
                <a:tab pos="377825" algn="l"/>
                <a:tab pos="379730" algn="l"/>
                <a:tab pos="1548765" algn="l"/>
                <a:tab pos="7962265" algn="l"/>
              </a:tabLst>
            </a:pPr>
            <a:r>
              <a:rPr dirty="0" u="heavy" baseline="-32738" sz="42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r>
              <a:rPr dirty="0" u="heavy" sz="2800" spc="-1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Porforlio</a:t>
            </a:r>
            <a:r>
              <a:rPr dirty="0" u="heavy" sz="2800" spc="-9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heavy" sz="2800" spc="-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return</a:t>
            </a:r>
            <a:r>
              <a:rPr dirty="0" u="heavy" sz="2800" spc="-16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heavy" sz="2000" spc="66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"</a:t>
            </a:r>
            <a:r>
              <a:rPr dirty="0" u="heavy" sz="2000" spc="15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risk−free</a:t>
            </a:r>
            <a:r>
              <a:rPr dirty="0" u="heavy" sz="2800" spc="-5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heavy" sz="2800" spc="-1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return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r>
              <a:rPr dirty="0" u="none" sz="2800">
                <a:latin typeface="Cambria Math"/>
                <a:cs typeface="Cambria Math"/>
              </a:rPr>
              <a:t> Standard</a:t>
            </a:r>
            <a:r>
              <a:rPr dirty="0" u="none" sz="2800" spc="-95">
                <a:latin typeface="Cambria Math"/>
                <a:cs typeface="Cambria Math"/>
              </a:rPr>
              <a:t> </a:t>
            </a:r>
            <a:r>
              <a:rPr dirty="0" u="none" sz="2800">
                <a:latin typeface="Cambria Math"/>
                <a:cs typeface="Cambria Math"/>
              </a:rPr>
              <a:t>deviation</a:t>
            </a:r>
            <a:r>
              <a:rPr dirty="0" u="none" sz="2800" spc="-85">
                <a:latin typeface="Cambria Math"/>
                <a:cs typeface="Cambria Math"/>
              </a:rPr>
              <a:t> </a:t>
            </a:r>
            <a:r>
              <a:rPr dirty="0" u="none" sz="2800">
                <a:latin typeface="Cambria Math"/>
                <a:cs typeface="Cambria Math"/>
              </a:rPr>
              <a:t>of</a:t>
            </a:r>
            <a:r>
              <a:rPr dirty="0" u="none" sz="2800" spc="-85">
                <a:latin typeface="Cambria Math"/>
                <a:cs typeface="Cambria Math"/>
              </a:rPr>
              <a:t> </a:t>
            </a:r>
            <a:r>
              <a:rPr dirty="0" u="none" sz="2800">
                <a:latin typeface="Cambria Math"/>
                <a:cs typeface="Cambria Math"/>
              </a:rPr>
              <a:t>the</a:t>
            </a:r>
            <a:r>
              <a:rPr dirty="0" u="none" sz="2800" spc="-90">
                <a:latin typeface="Cambria Math"/>
                <a:cs typeface="Cambria Math"/>
              </a:rPr>
              <a:t> </a:t>
            </a:r>
            <a:r>
              <a:rPr dirty="0" u="none" sz="2800">
                <a:latin typeface="Cambria Math"/>
                <a:cs typeface="Cambria Math"/>
              </a:rPr>
              <a:t>portfolio′s</a:t>
            </a:r>
            <a:r>
              <a:rPr dirty="0" u="none" sz="2800" spc="-85">
                <a:latin typeface="Cambria Math"/>
                <a:cs typeface="Cambria Math"/>
              </a:rPr>
              <a:t> </a:t>
            </a:r>
            <a:r>
              <a:rPr dirty="0" u="none" sz="2800">
                <a:latin typeface="Cambria Math"/>
                <a:cs typeface="Cambria Math"/>
              </a:rPr>
              <a:t>excess</a:t>
            </a:r>
            <a:r>
              <a:rPr dirty="0" u="none" sz="2800" spc="-90">
                <a:latin typeface="Cambria Math"/>
                <a:cs typeface="Cambria Math"/>
              </a:rPr>
              <a:t> </a:t>
            </a:r>
            <a:r>
              <a:rPr dirty="0" u="none" sz="2800" spc="-10">
                <a:latin typeface="Cambria Math"/>
                <a:cs typeface="Cambria Math"/>
              </a:rPr>
              <a:t>return</a:t>
            </a:r>
            <a:endParaRPr sz="2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45"/>
              </a:spcBef>
              <a:buFont typeface="Arial"/>
              <a:buChar char="•"/>
            </a:pPr>
            <a:endParaRPr sz="2800">
              <a:latin typeface="Cambria Math"/>
              <a:cs typeface="Cambria Math"/>
            </a:endParaRPr>
          </a:p>
          <a:p>
            <a:pPr marL="279400" marR="17780" indent="-228600">
              <a:lnSpc>
                <a:spcPts val="3000"/>
              </a:lnSpc>
              <a:buFont typeface="Arial"/>
              <a:buChar char="•"/>
              <a:tabLst>
                <a:tab pos="279400" algn="l"/>
              </a:tabLst>
            </a:pPr>
            <a:r>
              <a:rPr dirty="0" sz="2800">
                <a:latin typeface="Century Gothic"/>
                <a:cs typeface="Century Gothic"/>
              </a:rPr>
              <a:t>It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is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human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nature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to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prefer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higher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Sharpe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ratio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 spc="-50">
                <a:latin typeface="Century Gothic"/>
                <a:cs typeface="Century Gothic"/>
              </a:rPr>
              <a:t>– </a:t>
            </a:r>
            <a:r>
              <a:rPr dirty="0" sz="2800">
                <a:latin typeface="Century Gothic"/>
                <a:cs typeface="Century Gothic"/>
              </a:rPr>
              <a:t>higher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return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with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less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variation.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Institutional</a:t>
            </a:r>
            <a:r>
              <a:rPr dirty="0" spc="-150"/>
              <a:t> </a:t>
            </a:r>
            <a:r>
              <a:rPr dirty="0" spc="-10"/>
              <a:t>Investors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297795" cy="2207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Institutional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securities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behalf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their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clients.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64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201930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Institutional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typically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more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informed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retail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because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of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superior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knowledge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finance,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more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resources,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more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information.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9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2024,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institutional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account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over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90%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volumes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US.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Institutional</a:t>
            </a:r>
            <a:r>
              <a:rPr dirty="0" spc="-150"/>
              <a:t> </a:t>
            </a:r>
            <a:r>
              <a:rPr dirty="0" spc="-10"/>
              <a:t>investors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12350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0">
                <a:latin typeface="Century Gothic"/>
                <a:cs typeface="Century Gothic"/>
              </a:rPr>
              <a:t>Banks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316987"/>
            <a:ext cx="39757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Insurance</a:t>
            </a:r>
            <a:r>
              <a:rPr dirty="0" sz="2800" spc="-114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companies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752851"/>
            <a:ext cx="2472055" cy="205867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0">
                <a:latin typeface="Century Gothic"/>
                <a:cs typeface="Century Gothic"/>
              </a:rPr>
              <a:t>Pensions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20">
                <a:latin typeface="Century Gothic"/>
                <a:cs typeface="Century Gothic"/>
              </a:rPr>
              <a:t>ETFs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Mutual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funds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Hedge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funds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0710" y="2020346"/>
            <a:ext cx="532130" cy="2362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50" spc="-10">
                <a:solidFill>
                  <a:srgbClr val="FF2600"/>
                </a:solidFill>
                <a:latin typeface="Arial"/>
                <a:cs typeface="Arial"/>
              </a:rPr>
              <a:t>week2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88700" y="3056616"/>
            <a:ext cx="551180" cy="2362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50" spc="-20" b="1">
                <a:solidFill>
                  <a:srgbClr val="FF2600"/>
                </a:solidFill>
                <a:latin typeface="Microsoft JhengHei UI"/>
                <a:cs typeface="Microsoft JhengHei UI"/>
              </a:rPr>
              <a:t>退休⾦</a:t>
            </a:r>
            <a:endParaRPr sz="135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6978650" cy="374396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40029" marR="459740" indent="-227329">
              <a:lnSpc>
                <a:spcPts val="262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Pensions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funds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collect,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invest,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and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distribute</a:t>
            </a:r>
            <a:r>
              <a:rPr dirty="0" sz="2400" spc="-10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retirement</a:t>
            </a:r>
            <a:r>
              <a:rPr dirty="0" sz="2400" spc="-10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income.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6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5080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Largest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pension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world: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Federal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Old-</a:t>
            </a:r>
            <a:r>
              <a:rPr dirty="0" sz="2400" spc="-25">
                <a:latin typeface="Century Gothic"/>
                <a:cs typeface="Century Gothic"/>
              </a:rPr>
              <a:t>age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Survivors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Insurance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Trust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Fund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(Social 	Security)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US$2.57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trillion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1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marR="7810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worldwide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pension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total: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US$58.5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trillion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in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 spc="-10">
                <a:latin typeface="Century Gothic"/>
                <a:cs typeface="Century Gothic"/>
              </a:rPr>
              <a:t>assets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1668" y="2642280"/>
            <a:ext cx="3205751" cy="19234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599224"/>
            <a:ext cx="3924935" cy="958215"/>
          </a:xfrm>
          <a:prstGeom prst="rect"/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/>
              <a:t>Mutual</a:t>
            </a:r>
            <a:r>
              <a:rPr dirty="0" spc="-45"/>
              <a:t> </a:t>
            </a:r>
            <a:r>
              <a:rPr dirty="0" spc="-20"/>
              <a:t>fund</a:t>
            </a:r>
          </a:p>
          <a:p>
            <a:pPr algn="r" marR="5080">
              <a:lnSpc>
                <a:spcPct val="100000"/>
              </a:lnSpc>
              <a:spcBef>
                <a:spcPts val="125"/>
              </a:spcBef>
            </a:pPr>
            <a:r>
              <a:rPr dirty="0" sz="1350" spc="-15" b="1">
                <a:solidFill>
                  <a:srgbClr val="FF2600"/>
                </a:solidFill>
                <a:latin typeface="Microsoft JhengHei UI"/>
                <a:cs typeface="Microsoft JhengHei UI"/>
              </a:rPr>
              <a:t>共同基⾦</a:t>
            </a:r>
            <a:endParaRPr sz="1350">
              <a:latin typeface="Microsoft JhengHei UI"/>
              <a:cs typeface="Microsoft JhengHei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7071995" cy="380301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39395" marR="5080" indent="-226695">
              <a:lnSpc>
                <a:spcPts val="218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Mutual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funds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pool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funds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from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many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in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 spc="-10">
                <a:latin typeface="Century Gothic"/>
                <a:cs typeface="Century Gothic"/>
              </a:rPr>
              <a:t>securities.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Professionally</a:t>
            </a:r>
            <a:r>
              <a:rPr dirty="0" sz="1800" spc="-8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managed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Economy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scale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34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Diversified</a:t>
            </a:r>
            <a:r>
              <a:rPr dirty="0" sz="1800" spc="-8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investment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10">
                <a:latin typeface="Century Gothic"/>
                <a:cs typeface="Century Gothic"/>
              </a:rPr>
              <a:t>Liquidity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02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Investments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mutual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funds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Money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market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20">
                <a:latin typeface="Century Gothic"/>
                <a:cs typeface="Century Gothic"/>
              </a:rPr>
              <a:t>Bond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Stock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market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10">
                <a:latin typeface="Century Gothic"/>
                <a:cs typeface="Century Gothic"/>
              </a:rPr>
              <a:t>Hybrid</a:t>
            </a:r>
            <a:endParaRPr sz="18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5045" y="2519771"/>
            <a:ext cx="4063754" cy="39884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ETF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7091045" cy="365252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41300" marR="5080" indent="-228600">
              <a:lnSpc>
                <a:spcPct val="907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An</a:t>
            </a:r>
            <a:r>
              <a:rPr dirty="0" sz="2800" spc="-20">
                <a:latin typeface="Century Gothic"/>
                <a:cs typeface="Century Gothic"/>
              </a:rPr>
              <a:t> </a:t>
            </a:r>
            <a:r>
              <a:rPr dirty="0" sz="2800" spc="-25">
                <a:latin typeface="Century Gothic"/>
                <a:cs typeface="Century Gothic"/>
              </a:rPr>
              <a:t>exchange-</a:t>
            </a:r>
            <a:r>
              <a:rPr dirty="0" sz="2800">
                <a:latin typeface="Century Gothic"/>
                <a:cs typeface="Century Gothic"/>
              </a:rPr>
              <a:t>traded</a:t>
            </a:r>
            <a:r>
              <a:rPr dirty="0" sz="2800" spc="-3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fund</a:t>
            </a:r>
            <a:r>
              <a:rPr dirty="0" sz="2800" spc="-3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(ETF)</a:t>
            </a:r>
            <a:r>
              <a:rPr dirty="0" sz="2800" spc="-2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is</a:t>
            </a:r>
            <a:r>
              <a:rPr dirty="0" sz="2800" spc="-2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like</a:t>
            </a:r>
            <a:r>
              <a:rPr dirty="0" sz="2800" spc="-15">
                <a:latin typeface="Century Gothic"/>
                <a:cs typeface="Century Gothic"/>
              </a:rPr>
              <a:t> </a:t>
            </a:r>
            <a:r>
              <a:rPr dirty="0" sz="2800" spc="-50">
                <a:latin typeface="Century Gothic"/>
                <a:cs typeface="Century Gothic"/>
              </a:rPr>
              <a:t>a </a:t>
            </a:r>
            <a:r>
              <a:rPr dirty="0" sz="2800">
                <a:latin typeface="Century Gothic"/>
                <a:cs typeface="Century Gothic"/>
              </a:rPr>
              <a:t>mutual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fund,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except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it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can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be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traded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 spc="-25">
                <a:latin typeface="Century Gothic"/>
                <a:cs typeface="Century Gothic"/>
              </a:rPr>
              <a:t>in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stock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market.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ETF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is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relatively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new.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Started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out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1990s.</a:t>
            </a:r>
            <a:endParaRPr sz="24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67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Most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ETFs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are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index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funds.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176" y="2932610"/>
            <a:ext cx="6502548" cy="37600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24801" y="479857"/>
            <a:ext cx="1612649" cy="5480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59536" y="464503"/>
            <a:ext cx="1994263" cy="56340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Hedge</a:t>
            </a:r>
            <a:r>
              <a:rPr dirty="0" spc="-110"/>
              <a:t> </a:t>
            </a:r>
            <a:r>
              <a:rPr dirty="0" spc="-20"/>
              <a:t>fund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5664835" cy="37846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Hedge</a:t>
            </a:r>
            <a:r>
              <a:rPr dirty="0" sz="2400" spc="-9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funds</a:t>
            </a:r>
            <a:endParaRPr sz="2400">
              <a:latin typeface="Century Gothic"/>
              <a:cs typeface="Century Gothic"/>
            </a:endParaRPr>
          </a:p>
          <a:p>
            <a:pPr lvl="1" marL="696595" marR="687070" indent="-226695">
              <a:lnSpc>
                <a:spcPts val="2210"/>
              </a:lnSpc>
              <a:spcBef>
                <a:spcPts val="46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Use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more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sophisticated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investment 	strategies</a:t>
            </a:r>
            <a:endParaRPr sz="2000">
              <a:latin typeface="Century Gothic"/>
              <a:cs typeface="Century Gothic"/>
            </a:endParaRPr>
          </a:p>
          <a:p>
            <a:pPr lvl="1" marL="696595" marR="5080" indent="-226695">
              <a:lnSpc>
                <a:spcPts val="2210"/>
              </a:lnSpc>
              <a:spcBef>
                <a:spcPts val="38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Serve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institutional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high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net-</a:t>
            </a:r>
            <a:r>
              <a:rPr dirty="0" sz="2000" spc="-2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worth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individuals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Not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open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small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retail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investors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24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marR="1001394" indent="-227329">
              <a:lnSpc>
                <a:spcPts val="262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Some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well-</a:t>
            </a:r>
            <a:r>
              <a:rPr dirty="0" sz="2400">
                <a:latin typeface="Century Gothic"/>
                <a:cs typeface="Century Gothic"/>
              </a:rPr>
              <a:t>known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hedge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fund </a:t>
            </a:r>
            <a:r>
              <a:rPr dirty="0" sz="2400" spc="-20">
                <a:latin typeface="Century Gothic"/>
                <a:cs typeface="Century Gothic"/>
              </a:rPr>
              <a:t>	</a:t>
            </a:r>
            <a:r>
              <a:rPr dirty="0" sz="2400" spc="-10">
                <a:latin typeface="Century Gothic"/>
                <a:cs typeface="Century Gothic"/>
              </a:rPr>
              <a:t>managers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George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Soros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Jim</a:t>
            </a:r>
            <a:r>
              <a:rPr dirty="0" sz="2000" spc="-10">
                <a:latin typeface="Century Gothic"/>
                <a:cs typeface="Century Gothic"/>
              </a:rPr>
              <a:t> Simons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693" y="464009"/>
            <a:ext cx="1808498" cy="6131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49832" y="5746225"/>
            <a:ext cx="2431552" cy="5487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90576" y="4180114"/>
            <a:ext cx="3047545" cy="21332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08736" y="572292"/>
            <a:ext cx="2153284" cy="269836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131635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AUM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4093845" cy="115633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239395" marR="5080" indent="-226695">
              <a:lnSpc>
                <a:spcPct val="90300"/>
              </a:lnSpc>
              <a:spcBef>
                <a:spcPts val="33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2023,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total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asset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under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management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(AUM)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the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world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US$118.7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trillion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(Statista 	2025).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68606" y="673100"/>
            <a:ext cx="5934075" cy="5803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50"/>
              </a:spcBef>
            </a:pPr>
            <a:r>
              <a:rPr dirty="0" sz="1800">
                <a:solidFill>
                  <a:srgbClr val="0F2741"/>
                </a:solidFill>
                <a:latin typeface="Open Sans"/>
                <a:cs typeface="Open Sans"/>
              </a:rPr>
              <a:t>Value</a:t>
            </a:r>
            <a:r>
              <a:rPr dirty="0" sz="1800" spc="-60">
                <a:solidFill>
                  <a:srgbClr val="0F2741"/>
                </a:solidFill>
                <a:latin typeface="Open Sans"/>
                <a:cs typeface="Open Sans"/>
              </a:rPr>
              <a:t> </a:t>
            </a:r>
            <a:r>
              <a:rPr dirty="0" sz="1800">
                <a:solidFill>
                  <a:srgbClr val="0F2741"/>
                </a:solidFill>
                <a:latin typeface="Open Sans"/>
                <a:cs typeface="Open Sans"/>
              </a:rPr>
              <a:t>of</a:t>
            </a:r>
            <a:r>
              <a:rPr dirty="0" sz="1800" spc="-55">
                <a:solidFill>
                  <a:srgbClr val="0F2741"/>
                </a:solidFill>
                <a:latin typeface="Open Sans"/>
                <a:cs typeface="Open Sans"/>
              </a:rPr>
              <a:t> </a:t>
            </a:r>
            <a:r>
              <a:rPr dirty="0" sz="1800">
                <a:solidFill>
                  <a:srgbClr val="0F2741"/>
                </a:solidFill>
                <a:latin typeface="Open Sans"/>
                <a:cs typeface="Open Sans"/>
              </a:rPr>
              <a:t>assets</a:t>
            </a:r>
            <a:r>
              <a:rPr dirty="0" sz="1800" spc="-55">
                <a:solidFill>
                  <a:srgbClr val="0F2741"/>
                </a:solidFill>
                <a:latin typeface="Open Sans"/>
                <a:cs typeface="Open Sans"/>
              </a:rPr>
              <a:t> </a:t>
            </a:r>
            <a:r>
              <a:rPr dirty="0" sz="1800">
                <a:solidFill>
                  <a:srgbClr val="0F2741"/>
                </a:solidFill>
                <a:latin typeface="Open Sans"/>
                <a:cs typeface="Open Sans"/>
              </a:rPr>
              <a:t>under</a:t>
            </a:r>
            <a:r>
              <a:rPr dirty="0" sz="1800" spc="-55">
                <a:solidFill>
                  <a:srgbClr val="0F2741"/>
                </a:solidFill>
                <a:latin typeface="Open Sans"/>
                <a:cs typeface="Open Sans"/>
              </a:rPr>
              <a:t> </a:t>
            </a:r>
            <a:r>
              <a:rPr dirty="0" sz="1800">
                <a:solidFill>
                  <a:srgbClr val="0F2741"/>
                </a:solidFill>
                <a:latin typeface="Open Sans"/>
                <a:cs typeface="Open Sans"/>
              </a:rPr>
              <a:t>management</a:t>
            </a:r>
            <a:r>
              <a:rPr dirty="0" sz="1800" spc="-55">
                <a:solidFill>
                  <a:srgbClr val="0F2741"/>
                </a:solidFill>
                <a:latin typeface="Open Sans"/>
                <a:cs typeface="Open Sans"/>
              </a:rPr>
              <a:t> </a:t>
            </a:r>
            <a:r>
              <a:rPr dirty="0" sz="1800">
                <a:solidFill>
                  <a:srgbClr val="0F2741"/>
                </a:solidFill>
                <a:latin typeface="Open Sans"/>
                <a:cs typeface="Open Sans"/>
              </a:rPr>
              <a:t>worldwide</a:t>
            </a:r>
            <a:r>
              <a:rPr dirty="0" sz="1800" spc="-55">
                <a:solidFill>
                  <a:srgbClr val="0F2741"/>
                </a:solidFill>
                <a:latin typeface="Open Sans"/>
                <a:cs typeface="Open Sans"/>
              </a:rPr>
              <a:t> </a:t>
            </a:r>
            <a:r>
              <a:rPr dirty="0" sz="1800" spc="-25">
                <a:solidFill>
                  <a:srgbClr val="0F2741"/>
                </a:solidFill>
                <a:latin typeface="Open Sans"/>
                <a:cs typeface="Open Sans"/>
              </a:rPr>
              <a:t>in </a:t>
            </a:r>
            <a:r>
              <a:rPr dirty="0" sz="1800">
                <a:solidFill>
                  <a:srgbClr val="0F2741"/>
                </a:solidFill>
                <a:latin typeface="Open Sans"/>
                <a:cs typeface="Open Sans"/>
              </a:rPr>
              <a:t>selected</a:t>
            </a:r>
            <a:r>
              <a:rPr dirty="0" sz="1800" spc="-50">
                <a:solidFill>
                  <a:srgbClr val="0F2741"/>
                </a:solidFill>
                <a:latin typeface="Open Sans"/>
                <a:cs typeface="Open Sans"/>
              </a:rPr>
              <a:t> </a:t>
            </a:r>
            <a:r>
              <a:rPr dirty="0" sz="1800">
                <a:solidFill>
                  <a:srgbClr val="0F2741"/>
                </a:solidFill>
                <a:latin typeface="Open Sans"/>
                <a:cs typeface="Open Sans"/>
              </a:rPr>
              <a:t>years</a:t>
            </a:r>
            <a:r>
              <a:rPr dirty="0" sz="1800" spc="-40">
                <a:solidFill>
                  <a:srgbClr val="0F2741"/>
                </a:solidFill>
                <a:latin typeface="Open Sans"/>
                <a:cs typeface="Open Sans"/>
              </a:rPr>
              <a:t> </a:t>
            </a:r>
            <a:r>
              <a:rPr dirty="0" sz="1800">
                <a:solidFill>
                  <a:srgbClr val="0F2741"/>
                </a:solidFill>
                <a:latin typeface="Open Sans"/>
                <a:cs typeface="Open Sans"/>
              </a:rPr>
              <a:t>from</a:t>
            </a:r>
            <a:r>
              <a:rPr dirty="0" sz="1800" spc="-40">
                <a:solidFill>
                  <a:srgbClr val="0F2741"/>
                </a:solidFill>
                <a:latin typeface="Open Sans"/>
                <a:cs typeface="Open Sans"/>
              </a:rPr>
              <a:t> </a:t>
            </a:r>
            <a:r>
              <a:rPr dirty="0" sz="1800">
                <a:solidFill>
                  <a:srgbClr val="0F2741"/>
                </a:solidFill>
                <a:latin typeface="Open Sans"/>
                <a:cs typeface="Open Sans"/>
              </a:rPr>
              <a:t>2005</a:t>
            </a:r>
            <a:r>
              <a:rPr dirty="0" sz="1800" spc="-45">
                <a:solidFill>
                  <a:srgbClr val="0F2741"/>
                </a:solidFill>
                <a:latin typeface="Open Sans"/>
                <a:cs typeface="Open Sans"/>
              </a:rPr>
              <a:t> </a:t>
            </a:r>
            <a:r>
              <a:rPr dirty="0" sz="1800">
                <a:solidFill>
                  <a:srgbClr val="0F2741"/>
                </a:solidFill>
                <a:latin typeface="Open Sans"/>
                <a:cs typeface="Open Sans"/>
              </a:rPr>
              <a:t>to</a:t>
            </a:r>
            <a:r>
              <a:rPr dirty="0" sz="1800" spc="-45">
                <a:solidFill>
                  <a:srgbClr val="0F2741"/>
                </a:solidFill>
                <a:latin typeface="Open Sans"/>
                <a:cs typeface="Open Sans"/>
              </a:rPr>
              <a:t> </a:t>
            </a:r>
            <a:r>
              <a:rPr dirty="0" sz="1800">
                <a:solidFill>
                  <a:srgbClr val="0F2741"/>
                </a:solidFill>
                <a:latin typeface="Open Sans"/>
                <a:cs typeface="Open Sans"/>
              </a:rPr>
              <a:t>2023</a:t>
            </a:r>
            <a:r>
              <a:rPr dirty="0" sz="1800" spc="-40">
                <a:solidFill>
                  <a:srgbClr val="0F2741"/>
                </a:solidFill>
                <a:latin typeface="Open Sans"/>
                <a:cs typeface="Open Sans"/>
              </a:rPr>
              <a:t> </a:t>
            </a:r>
            <a:r>
              <a:rPr dirty="0" sz="1800">
                <a:latin typeface="Open Sans"/>
                <a:cs typeface="Open Sans"/>
              </a:rPr>
              <a:t>(in</a:t>
            </a:r>
            <a:r>
              <a:rPr dirty="0" sz="1800" spc="-50">
                <a:latin typeface="Open Sans"/>
                <a:cs typeface="Open Sans"/>
              </a:rPr>
              <a:t> </a:t>
            </a:r>
            <a:r>
              <a:rPr dirty="0" sz="1800">
                <a:latin typeface="Open Sans"/>
                <a:cs typeface="Open Sans"/>
              </a:rPr>
              <a:t>trillion</a:t>
            </a:r>
            <a:r>
              <a:rPr dirty="0" sz="1800" spc="-50">
                <a:latin typeface="Open Sans"/>
                <a:cs typeface="Open Sans"/>
              </a:rPr>
              <a:t> </a:t>
            </a:r>
            <a:r>
              <a:rPr dirty="0" sz="1800">
                <a:latin typeface="Open Sans"/>
                <a:cs typeface="Open Sans"/>
              </a:rPr>
              <a:t>U.S.</a:t>
            </a:r>
            <a:r>
              <a:rPr dirty="0" sz="1800" spc="-50">
                <a:latin typeface="Open Sans"/>
                <a:cs typeface="Open Sans"/>
              </a:rPr>
              <a:t> </a:t>
            </a:r>
            <a:r>
              <a:rPr dirty="0" sz="1800" spc="-10">
                <a:latin typeface="Open Sans"/>
                <a:cs typeface="Open Sans"/>
              </a:rPr>
              <a:t>dollars)</a:t>
            </a:r>
            <a:endParaRPr sz="1800">
              <a:latin typeface="Open Sans"/>
              <a:cs typeface="Open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1521" y="1370910"/>
            <a:ext cx="6771923" cy="498543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0584" y="76686"/>
            <a:ext cx="7788896" cy="66827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Performance</a:t>
            </a:r>
            <a:r>
              <a:rPr dirty="0" spc="-120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/>
              <a:t>institutional</a:t>
            </a:r>
            <a:r>
              <a:rPr dirty="0" spc="-125"/>
              <a:t> </a:t>
            </a:r>
            <a:r>
              <a:rPr dirty="0" spc="-10"/>
              <a:t>investors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5425" y="1523750"/>
            <a:ext cx="6079253" cy="53342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45586" y="2863596"/>
            <a:ext cx="52501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Algorithmic</a:t>
            </a:r>
            <a:r>
              <a:rPr dirty="0" spc="-80"/>
              <a:t> </a:t>
            </a:r>
            <a:r>
              <a:rPr dirty="0" spc="-10"/>
              <a:t>Trading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Algorithmic</a:t>
            </a:r>
            <a:r>
              <a:rPr dirty="0" spc="-135"/>
              <a:t> </a:t>
            </a:r>
            <a:r>
              <a:rPr dirty="0"/>
              <a:t>Order</a:t>
            </a:r>
            <a:r>
              <a:rPr dirty="0" spc="-130"/>
              <a:t> </a:t>
            </a:r>
            <a:r>
              <a:rPr dirty="0" spc="-10"/>
              <a:t>Execution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pc="-10"/>
              <a:t>Concepts</a:t>
            </a:r>
          </a:p>
          <a:p>
            <a:pPr lvl="1" marL="696595" marR="306070" indent="-226695">
              <a:lnSpc>
                <a:spcPts val="2210"/>
              </a:lnSpc>
              <a:spcBef>
                <a:spcPts val="46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Large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intuitional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take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up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available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liquidity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near </a:t>
            </a:r>
            <a:r>
              <a:rPr dirty="0" sz="2000" spc="-2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current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price</a:t>
            </a:r>
            <a:endParaRPr sz="2000">
              <a:latin typeface="Century Gothic"/>
              <a:cs typeface="Century Gothic"/>
            </a:endParaRPr>
          </a:p>
          <a:p>
            <a:pPr lvl="1" marL="696595" marR="520700" indent="-226695">
              <a:lnSpc>
                <a:spcPts val="2210"/>
              </a:lnSpc>
              <a:spcBef>
                <a:spcPts val="38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Therefore,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large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sliced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smaller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executed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over</a:t>
            </a:r>
            <a:r>
              <a:rPr dirty="0" sz="2000" spc="-50">
                <a:latin typeface="Century Gothic"/>
                <a:cs typeface="Century Gothic"/>
              </a:rPr>
              <a:t> a </a:t>
            </a:r>
            <a:r>
              <a:rPr dirty="0" sz="2000" spc="-5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period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time</a:t>
            </a:r>
            <a:endParaRPr sz="2000">
              <a:latin typeface="Century Gothic"/>
              <a:cs typeface="Century Gothic"/>
            </a:endParaRPr>
          </a:p>
          <a:p>
            <a:pPr lvl="1" marL="696595" marR="5080" indent="-226695">
              <a:lnSpc>
                <a:spcPts val="2210"/>
              </a:lnSpc>
              <a:spcBef>
                <a:spcPts val="38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Historically,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people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(brokers)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were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“work”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over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a </a:t>
            </a:r>
            <a:r>
              <a:rPr dirty="0" sz="2000" spc="-5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period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time</a:t>
            </a:r>
            <a:endParaRPr sz="2000">
              <a:latin typeface="Century Gothic"/>
              <a:cs typeface="Century Gothic"/>
            </a:endParaRPr>
          </a:p>
          <a:p>
            <a:pPr lvl="1" marL="696595" marR="136525" indent="-226695">
              <a:lnSpc>
                <a:spcPts val="2110"/>
              </a:lnSpc>
              <a:spcBef>
                <a:spcPts val="55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Their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price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execution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performance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would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measured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against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benchmarks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such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Volume-</a:t>
            </a:r>
            <a:r>
              <a:rPr dirty="0" sz="2000">
                <a:latin typeface="Century Gothic"/>
                <a:cs typeface="Century Gothic"/>
              </a:rPr>
              <a:t>weighted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average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(VWAP)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pricing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algorithms</a:t>
            </a:r>
            <a:endParaRPr sz="2000">
              <a:latin typeface="Century Gothic"/>
              <a:cs typeface="Century Gothic"/>
            </a:endParaRPr>
          </a:p>
          <a:p>
            <a:pPr lvl="1" marL="696595" marR="334010" indent="-226695">
              <a:lnSpc>
                <a:spcPts val="211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Gradually,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computer-</a:t>
            </a:r>
            <a:r>
              <a:rPr dirty="0" sz="2000">
                <a:latin typeface="Century Gothic"/>
                <a:cs typeface="Century Gothic"/>
              </a:rPr>
              <a:t>driven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execution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algorithms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(algos)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taken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over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this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function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Institutional</a:t>
            </a:r>
            <a:r>
              <a:rPr dirty="0" spc="-170"/>
              <a:t> </a:t>
            </a:r>
            <a:r>
              <a:rPr dirty="0"/>
              <a:t>customers’</a:t>
            </a:r>
            <a:r>
              <a:rPr dirty="0" spc="-155"/>
              <a:t> </a:t>
            </a:r>
            <a:r>
              <a:rPr dirty="0" spc="-10"/>
              <a:t>needs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7907655" cy="2882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Get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good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price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for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execution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of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large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orders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9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Avoiding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price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slippage</a:t>
            </a:r>
            <a:endParaRPr sz="2800">
              <a:latin typeface="Century Gothic"/>
              <a:cs typeface="Century Gothic"/>
            </a:endParaRPr>
          </a:p>
          <a:p>
            <a:pPr algn="r" lvl="1" marL="227329" marR="4392930" indent="-227329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227329" algn="l"/>
              </a:tabLst>
            </a:pPr>
            <a:r>
              <a:rPr dirty="0" sz="2400">
                <a:latin typeface="Century Gothic"/>
                <a:cs typeface="Century Gothic"/>
              </a:rPr>
              <a:t>Causes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slippage</a:t>
            </a:r>
            <a:endParaRPr sz="2400">
              <a:latin typeface="Century Gothic"/>
              <a:cs typeface="Century Gothic"/>
            </a:endParaRPr>
          </a:p>
          <a:p>
            <a:pPr algn="r" lvl="2" marL="226695" marR="4450080" indent="-22669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226695" algn="l"/>
              </a:tabLst>
            </a:pPr>
            <a:r>
              <a:rPr dirty="0" sz="2000">
                <a:latin typeface="Century Gothic"/>
                <a:cs typeface="Century Gothic"/>
              </a:rPr>
              <a:t>Insufficient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liquidity</a:t>
            </a:r>
            <a:endParaRPr sz="20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Front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running</a:t>
            </a:r>
            <a:endParaRPr sz="20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Information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leakage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Algorithmic</a:t>
            </a:r>
            <a:r>
              <a:rPr dirty="0" spc="-135"/>
              <a:t> </a:t>
            </a:r>
            <a:r>
              <a:rPr dirty="0"/>
              <a:t>Order</a:t>
            </a:r>
            <a:r>
              <a:rPr dirty="0" spc="-130"/>
              <a:t> </a:t>
            </a:r>
            <a:r>
              <a:rPr dirty="0" spc="-1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8347"/>
            <a:ext cx="8649335" cy="402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3329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0">
                <a:latin typeface="Century Gothic"/>
                <a:cs typeface="Century Gothic"/>
              </a:rPr>
              <a:t>Concepts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850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Order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execution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algorithms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address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tactical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concerns</a:t>
            </a:r>
            <a:endParaRPr sz="24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When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should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placed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market</a:t>
            </a:r>
            <a:endParaRPr sz="2000">
              <a:latin typeface="Century Gothic"/>
              <a:cs typeface="Century Gothic"/>
            </a:endParaRPr>
          </a:p>
          <a:p>
            <a:pPr lvl="2" marL="1153160" indent="-226695">
              <a:lnSpc>
                <a:spcPts val="2355"/>
              </a:lnSpc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How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large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should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be</a:t>
            </a:r>
            <a:endParaRPr sz="20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835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entury Gothic"/>
                <a:cs typeface="Century Gothic"/>
              </a:rPr>
              <a:t>Objectives</a:t>
            </a:r>
            <a:endParaRPr sz="24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Reduce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orders’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impact</a:t>
            </a:r>
            <a:endParaRPr sz="2000">
              <a:latin typeface="Century Gothic"/>
              <a:cs typeface="Century Gothic"/>
            </a:endParaRPr>
          </a:p>
          <a:p>
            <a:pPr lvl="2" marL="1153160" indent="-226695">
              <a:lnSpc>
                <a:spcPts val="2355"/>
              </a:lnSpc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Achieve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best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execution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price</a:t>
            </a:r>
            <a:endParaRPr sz="20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835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Algorithms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usually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parameterized</a:t>
            </a:r>
            <a:endParaRPr sz="2400">
              <a:latin typeface="Century Gothic"/>
              <a:cs typeface="Century Gothic"/>
            </a:endParaRPr>
          </a:p>
          <a:p>
            <a:pPr lvl="2" marL="1153160" indent="-226695">
              <a:lnSpc>
                <a:spcPts val="2345"/>
              </a:lnSpc>
              <a:spcBef>
                <a:spcPts val="115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Enables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them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tuned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different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conditions</a:t>
            </a:r>
            <a:endParaRPr sz="20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825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Different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algorithms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will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used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address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different</a:t>
            </a:r>
            <a:endParaRPr sz="24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Customer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requirements</a:t>
            </a:r>
            <a:endParaRPr sz="20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conditions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Algorithmic</a:t>
            </a:r>
            <a:r>
              <a:rPr dirty="0" spc="-135"/>
              <a:t> </a:t>
            </a:r>
            <a:r>
              <a:rPr dirty="0"/>
              <a:t>Order</a:t>
            </a:r>
            <a:r>
              <a:rPr dirty="0" spc="-130"/>
              <a:t> </a:t>
            </a:r>
            <a:r>
              <a:rPr dirty="0" spc="-1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3596"/>
            <a:ext cx="10354945" cy="334962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0">
                <a:latin typeface="Century Gothic"/>
                <a:cs typeface="Century Gothic"/>
              </a:rPr>
              <a:t>Time-</a:t>
            </a:r>
            <a:r>
              <a:rPr dirty="0" sz="2800">
                <a:latin typeface="Century Gothic"/>
                <a:cs typeface="Century Gothic"/>
              </a:rPr>
              <a:t>weighted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average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pricing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(TWAP)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algorithms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20">
                <a:latin typeface="Century Gothic"/>
                <a:cs typeface="Century Gothic"/>
              </a:rPr>
              <a:t>Schedule-</a:t>
            </a:r>
            <a:r>
              <a:rPr dirty="0" sz="2400">
                <a:latin typeface="Century Gothic"/>
                <a:cs typeface="Century Gothic"/>
              </a:rPr>
              <a:t>driven</a:t>
            </a:r>
            <a:r>
              <a:rPr dirty="0" sz="2400" spc="2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algorithm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Slices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up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order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evenly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over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fixed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period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time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Easy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understand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implement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entury Gothic"/>
                <a:cs typeface="Century Gothic"/>
              </a:rPr>
              <a:t>Issues</a:t>
            </a:r>
            <a:endParaRPr sz="24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Does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not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take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account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pattern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volume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during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day</a:t>
            </a:r>
            <a:endParaRPr sz="20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E.g.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heaviest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volume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will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open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close</a:t>
            </a:r>
            <a:endParaRPr sz="2000">
              <a:latin typeface="Century Gothic"/>
              <a:cs typeface="Century Gothic"/>
            </a:endParaRPr>
          </a:p>
          <a:p>
            <a:pPr lvl="2" marL="1153160" marR="5080" indent="-226695">
              <a:lnSpc>
                <a:spcPts val="2210"/>
              </a:lnSpc>
              <a:spcBef>
                <a:spcPts val="420"/>
              </a:spcBef>
              <a:buFont typeface="Arial"/>
              <a:buChar char="•"/>
              <a:tabLst>
                <a:tab pos="1155065" algn="l"/>
              </a:tabLst>
            </a:pPr>
            <a:r>
              <a:rPr dirty="0" sz="2000">
                <a:latin typeface="Century Gothic"/>
                <a:cs typeface="Century Gothic"/>
              </a:rPr>
              <a:t>Orders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placed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during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middle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more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significant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market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impact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due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their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relative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size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761365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Algorithmic</a:t>
            </a:r>
            <a:r>
              <a:rPr dirty="0" spc="-135"/>
              <a:t> </a:t>
            </a:r>
            <a:r>
              <a:rPr dirty="0"/>
              <a:t>Order</a:t>
            </a:r>
            <a:r>
              <a:rPr dirty="0" spc="-130"/>
              <a:t> </a:t>
            </a:r>
            <a:r>
              <a:rPr dirty="0" spc="-1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39" y="1390396"/>
            <a:ext cx="56864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TWAP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order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execution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example</a:t>
            </a:r>
            <a:endParaRPr sz="28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5129" y="2597904"/>
            <a:ext cx="6443345" cy="2347595"/>
            <a:chOff x="3275129" y="2597904"/>
            <a:chExt cx="6443345" cy="2347595"/>
          </a:xfrm>
        </p:grpSpPr>
        <p:sp>
          <p:nvSpPr>
            <p:cNvPr id="5" name="object 5"/>
            <p:cNvSpPr/>
            <p:nvPr/>
          </p:nvSpPr>
          <p:spPr>
            <a:xfrm>
              <a:off x="3459670" y="4545660"/>
              <a:ext cx="5197475" cy="351155"/>
            </a:xfrm>
            <a:custGeom>
              <a:avLst/>
              <a:gdLst/>
              <a:ahLst/>
              <a:cxnLst/>
              <a:rect l="l" t="t" r="r" b="b"/>
              <a:pathLst>
                <a:path w="5197475" h="351154">
                  <a:moveTo>
                    <a:pt x="186817" y="0"/>
                  </a:moveTo>
                  <a:lnTo>
                    <a:pt x="0" y="0"/>
                  </a:lnTo>
                  <a:lnTo>
                    <a:pt x="0" y="350939"/>
                  </a:lnTo>
                  <a:lnTo>
                    <a:pt x="186817" y="350939"/>
                  </a:lnTo>
                  <a:lnTo>
                    <a:pt x="186817" y="0"/>
                  </a:lnTo>
                  <a:close/>
                </a:path>
                <a:path w="5197475" h="351154">
                  <a:moveTo>
                    <a:pt x="645375" y="0"/>
                  </a:moveTo>
                  <a:lnTo>
                    <a:pt x="458558" y="0"/>
                  </a:lnTo>
                  <a:lnTo>
                    <a:pt x="458558" y="350939"/>
                  </a:lnTo>
                  <a:lnTo>
                    <a:pt x="645375" y="350939"/>
                  </a:lnTo>
                  <a:lnTo>
                    <a:pt x="645375" y="0"/>
                  </a:lnTo>
                  <a:close/>
                </a:path>
                <a:path w="5197475" h="351154">
                  <a:moveTo>
                    <a:pt x="1103922" y="0"/>
                  </a:moveTo>
                  <a:lnTo>
                    <a:pt x="917105" y="0"/>
                  </a:lnTo>
                  <a:lnTo>
                    <a:pt x="917105" y="350939"/>
                  </a:lnTo>
                  <a:lnTo>
                    <a:pt x="1103922" y="350939"/>
                  </a:lnTo>
                  <a:lnTo>
                    <a:pt x="1103922" y="0"/>
                  </a:lnTo>
                  <a:close/>
                </a:path>
                <a:path w="5197475" h="351154">
                  <a:moveTo>
                    <a:pt x="1545488" y="0"/>
                  </a:moveTo>
                  <a:lnTo>
                    <a:pt x="1375651" y="0"/>
                  </a:lnTo>
                  <a:lnTo>
                    <a:pt x="1375651" y="350939"/>
                  </a:lnTo>
                  <a:lnTo>
                    <a:pt x="1545488" y="350939"/>
                  </a:lnTo>
                  <a:lnTo>
                    <a:pt x="1545488" y="0"/>
                  </a:lnTo>
                  <a:close/>
                </a:path>
                <a:path w="5197475" h="351154">
                  <a:moveTo>
                    <a:pt x="2004034" y="0"/>
                  </a:moveTo>
                  <a:lnTo>
                    <a:pt x="1817217" y="0"/>
                  </a:lnTo>
                  <a:lnTo>
                    <a:pt x="1817217" y="350939"/>
                  </a:lnTo>
                  <a:lnTo>
                    <a:pt x="2004034" y="350939"/>
                  </a:lnTo>
                  <a:lnTo>
                    <a:pt x="2004034" y="0"/>
                  </a:lnTo>
                  <a:close/>
                </a:path>
                <a:path w="5197475" h="351154">
                  <a:moveTo>
                    <a:pt x="2462593" y="0"/>
                  </a:moveTo>
                  <a:lnTo>
                    <a:pt x="2275776" y="0"/>
                  </a:lnTo>
                  <a:lnTo>
                    <a:pt x="2275776" y="350939"/>
                  </a:lnTo>
                  <a:lnTo>
                    <a:pt x="2462593" y="350939"/>
                  </a:lnTo>
                  <a:lnTo>
                    <a:pt x="2462593" y="0"/>
                  </a:lnTo>
                  <a:close/>
                </a:path>
                <a:path w="5197475" h="351154">
                  <a:moveTo>
                    <a:pt x="2921139" y="0"/>
                  </a:moveTo>
                  <a:lnTo>
                    <a:pt x="2734322" y="0"/>
                  </a:lnTo>
                  <a:lnTo>
                    <a:pt x="2734322" y="350939"/>
                  </a:lnTo>
                  <a:lnTo>
                    <a:pt x="2921139" y="350939"/>
                  </a:lnTo>
                  <a:lnTo>
                    <a:pt x="2921139" y="0"/>
                  </a:lnTo>
                  <a:close/>
                </a:path>
                <a:path w="5197475" h="351154">
                  <a:moveTo>
                    <a:pt x="3379686" y="0"/>
                  </a:moveTo>
                  <a:lnTo>
                    <a:pt x="3192881" y="0"/>
                  </a:lnTo>
                  <a:lnTo>
                    <a:pt x="3192881" y="350939"/>
                  </a:lnTo>
                  <a:lnTo>
                    <a:pt x="3379686" y="350939"/>
                  </a:lnTo>
                  <a:lnTo>
                    <a:pt x="3379686" y="0"/>
                  </a:lnTo>
                  <a:close/>
                </a:path>
                <a:path w="5197475" h="351154">
                  <a:moveTo>
                    <a:pt x="3838244" y="0"/>
                  </a:moveTo>
                  <a:lnTo>
                    <a:pt x="3651427" y="0"/>
                  </a:lnTo>
                  <a:lnTo>
                    <a:pt x="3651427" y="350939"/>
                  </a:lnTo>
                  <a:lnTo>
                    <a:pt x="3838244" y="350939"/>
                  </a:lnTo>
                  <a:lnTo>
                    <a:pt x="3838244" y="0"/>
                  </a:lnTo>
                  <a:close/>
                </a:path>
                <a:path w="5197475" h="351154">
                  <a:moveTo>
                    <a:pt x="4296791" y="0"/>
                  </a:moveTo>
                  <a:lnTo>
                    <a:pt x="4109974" y="0"/>
                  </a:lnTo>
                  <a:lnTo>
                    <a:pt x="4109974" y="350939"/>
                  </a:lnTo>
                  <a:lnTo>
                    <a:pt x="4296791" y="350939"/>
                  </a:lnTo>
                  <a:lnTo>
                    <a:pt x="4296791" y="0"/>
                  </a:lnTo>
                  <a:close/>
                </a:path>
                <a:path w="5197475" h="351154">
                  <a:moveTo>
                    <a:pt x="4738357" y="0"/>
                  </a:moveTo>
                  <a:lnTo>
                    <a:pt x="4568533" y="0"/>
                  </a:lnTo>
                  <a:lnTo>
                    <a:pt x="4568533" y="350939"/>
                  </a:lnTo>
                  <a:lnTo>
                    <a:pt x="4738357" y="350939"/>
                  </a:lnTo>
                  <a:lnTo>
                    <a:pt x="4738357" y="0"/>
                  </a:lnTo>
                  <a:close/>
                </a:path>
                <a:path w="5197475" h="351154">
                  <a:moveTo>
                    <a:pt x="5196916" y="0"/>
                  </a:moveTo>
                  <a:lnTo>
                    <a:pt x="5010099" y="0"/>
                  </a:lnTo>
                  <a:lnTo>
                    <a:pt x="5010099" y="350939"/>
                  </a:lnTo>
                  <a:lnTo>
                    <a:pt x="5196916" y="350939"/>
                  </a:lnTo>
                  <a:lnTo>
                    <a:pt x="5196916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459680" y="4545650"/>
              <a:ext cx="5197475" cy="351155"/>
            </a:xfrm>
            <a:custGeom>
              <a:avLst/>
              <a:gdLst/>
              <a:ahLst/>
              <a:cxnLst/>
              <a:rect l="l" t="t" r="r" b="b"/>
              <a:pathLst>
                <a:path w="5197475" h="351154">
                  <a:moveTo>
                    <a:pt x="0" y="0"/>
                  </a:moveTo>
                  <a:lnTo>
                    <a:pt x="186816" y="0"/>
                  </a:lnTo>
                  <a:lnTo>
                    <a:pt x="186816" y="350947"/>
                  </a:lnTo>
                  <a:lnTo>
                    <a:pt x="0" y="350947"/>
                  </a:lnTo>
                  <a:lnTo>
                    <a:pt x="0" y="0"/>
                  </a:lnTo>
                  <a:close/>
                </a:path>
                <a:path w="5197475" h="351154">
                  <a:moveTo>
                    <a:pt x="458550" y="0"/>
                  </a:moveTo>
                  <a:lnTo>
                    <a:pt x="645367" y="0"/>
                  </a:lnTo>
                  <a:lnTo>
                    <a:pt x="645367" y="350947"/>
                  </a:lnTo>
                  <a:lnTo>
                    <a:pt x="458550" y="350947"/>
                  </a:lnTo>
                  <a:lnTo>
                    <a:pt x="458550" y="0"/>
                  </a:lnTo>
                  <a:close/>
                </a:path>
                <a:path w="5197475" h="351154">
                  <a:moveTo>
                    <a:pt x="917101" y="0"/>
                  </a:moveTo>
                  <a:lnTo>
                    <a:pt x="1103917" y="0"/>
                  </a:lnTo>
                  <a:lnTo>
                    <a:pt x="1103917" y="350947"/>
                  </a:lnTo>
                  <a:lnTo>
                    <a:pt x="917101" y="350947"/>
                  </a:lnTo>
                  <a:lnTo>
                    <a:pt x="917101" y="0"/>
                  </a:lnTo>
                  <a:close/>
                </a:path>
                <a:path w="5197475" h="351154">
                  <a:moveTo>
                    <a:pt x="1375651" y="0"/>
                  </a:moveTo>
                  <a:lnTo>
                    <a:pt x="1545485" y="0"/>
                  </a:lnTo>
                  <a:lnTo>
                    <a:pt x="1545485" y="350947"/>
                  </a:lnTo>
                  <a:lnTo>
                    <a:pt x="1375651" y="350947"/>
                  </a:lnTo>
                  <a:lnTo>
                    <a:pt x="1375651" y="0"/>
                  </a:lnTo>
                  <a:close/>
                </a:path>
                <a:path w="5197475" h="351154">
                  <a:moveTo>
                    <a:pt x="1817218" y="0"/>
                  </a:moveTo>
                  <a:lnTo>
                    <a:pt x="2004035" y="0"/>
                  </a:lnTo>
                  <a:lnTo>
                    <a:pt x="2004035" y="350947"/>
                  </a:lnTo>
                  <a:lnTo>
                    <a:pt x="1817218" y="350947"/>
                  </a:lnTo>
                  <a:lnTo>
                    <a:pt x="1817218" y="0"/>
                  </a:lnTo>
                  <a:close/>
                </a:path>
                <a:path w="5197475" h="351154">
                  <a:moveTo>
                    <a:pt x="2275769" y="0"/>
                  </a:moveTo>
                  <a:lnTo>
                    <a:pt x="2462586" y="0"/>
                  </a:lnTo>
                  <a:lnTo>
                    <a:pt x="2462586" y="350947"/>
                  </a:lnTo>
                  <a:lnTo>
                    <a:pt x="2275769" y="350947"/>
                  </a:lnTo>
                  <a:lnTo>
                    <a:pt x="2275769" y="0"/>
                  </a:lnTo>
                  <a:close/>
                </a:path>
                <a:path w="5197475" h="351154">
                  <a:moveTo>
                    <a:pt x="2734319" y="0"/>
                  </a:moveTo>
                  <a:lnTo>
                    <a:pt x="2921136" y="0"/>
                  </a:lnTo>
                  <a:lnTo>
                    <a:pt x="2921136" y="350947"/>
                  </a:lnTo>
                  <a:lnTo>
                    <a:pt x="2734319" y="350947"/>
                  </a:lnTo>
                  <a:lnTo>
                    <a:pt x="2734319" y="0"/>
                  </a:lnTo>
                  <a:close/>
                </a:path>
                <a:path w="5197475" h="351154">
                  <a:moveTo>
                    <a:pt x="3192870" y="0"/>
                  </a:moveTo>
                  <a:lnTo>
                    <a:pt x="3379687" y="0"/>
                  </a:lnTo>
                  <a:lnTo>
                    <a:pt x="3379687" y="350947"/>
                  </a:lnTo>
                  <a:lnTo>
                    <a:pt x="3192870" y="350947"/>
                  </a:lnTo>
                  <a:lnTo>
                    <a:pt x="3192870" y="0"/>
                  </a:lnTo>
                  <a:close/>
                </a:path>
                <a:path w="5197475" h="351154">
                  <a:moveTo>
                    <a:pt x="3651420" y="0"/>
                  </a:moveTo>
                  <a:lnTo>
                    <a:pt x="3838237" y="0"/>
                  </a:lnTo>
                  <a:lnTo>
                    <a:pt x="3838237" y="350947"/>
                  </a:lnTo>
                  <a:lnTo>
                    <a:pt x="3651420" y="350947"/>
                  </a:lnTo>
                  <a:lnTo>
                    <a:pt x="3651420" y="0"/>
                  </a:lnTo>
                  <a:close/>
                </a:path>
                <a:path w="5197475" h="351154">
                  <a:moveTo>
                    <a:pt x="4109971" y="0"/>
                  </a:moveTo>
                  <a:lnTo>
                    <a:pt x="4296788" y="0"/>
                  </a:lnTo>
                  <a:lnTo>
                    <a:pt x="4296788" y="350947"/>
                  </a:lnTo>
                  <a:lnTo>
                    <a:pt x="4109971" y="350947"/>
                  </a:lnTo>
                  <a:lnTo>
                    <a:pt x="4109971" y="0"/>
                  </a:lnTo>
                  <a:close/>
                </a:path>
                <a:path w="5197475" h="351154">
                  <a:moveTo>
                    <a:pt x="4568521" y="0"/>
                  </a:moveTo>
                  <a:lnTo>
                    <a:pt x="4738355" y="0"/>
                  </a:lnTo>
                  <a:lnTo>
                    <a:pt x="4738355" y="350947"/>
                  </a:lnTo>
                  <a:lnTo>
                    <a:pt x="4568521" y="350947"/>
                  </a:lnTo>
                  <a:lnTo>
                    <a:pt x="4568521" y="0"/>
                  </a:lnTo>
                  <a:close/>
                </a:path>
                <a:path w="5197475" h="351154">
                  <a:moveTo>
                    <a:pt x="5010089" y="0"/>
                  </a:moveTo>
                  <a:lnTo>
                    <a:pt x="5196905" y="0"/>
                  </a:lnTo>
                  <a:lnTo>
                    <a:pt x="5196905" y="350947"/>
                  </a:lnTo>
                  <a:lnTo>
                    <a:pt x="5010089" y="350947"/>
                  </a:lnTo>
                  <a:lnTo>
                    <a:pt x="5010089" y="0"/>
                  </a:lnTo>
                  <a:close/>
                </a:path>
              </a:pathLst>
            </a:custGeom>
            <a:ln w="1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459670" y="2698800"/>
              <a:ext cx="6114415" cy="2198370"/>
            </a:xfrm>
            <a:custGeom>
              <a:avLst/>
              <a:gdLst/>
              <a:ahLst/>
              <a:cxnLst/>
              <a:rect l="l" t="t" r="r" b="b"/>
              <a:pathLst>
                <a:path w="6114415" h="2198370">
                  <a:moveTo>
                    <a:pt x="186817" y="474421"/>
                  </a:moveTo>
                  <a:lnTo>
                    <a:pt x="0" y="474421"/>
                  </a:lnTo>
                  <a:lnTo>
                    <a:pt x="0" y="1846859"/>
                  </a:lnTo>
                  <a:lnTo>
                    <a:pt x="186817" y="1846859"/>
                  </a:lnTo>
                  <a:lnTo>
                    <a:pt x="186817" y="474421"/>
                  </a:lnTo>
                  <a:close/>
                </a:path>
                <a:path w="6114415" h="2198370">
                  <a:moveTo>
                    <a:pt x="645375" y="1050505"/>
                  </a:moveTo>
                  <a:lnTo>
                    <a:pt x="458558" y="1050505"/>
                  </a:lnTo>
                  <a:lnTo>
                    <a:pt x="458558" y="1846859"/>
                  </a:lnTo>
                  <a:lnTo>
                    <a:pt x="645375" y="1846859"/>
                  </a:lnTo>
                  <a:lnTo>
                    <a:pt x="645375" y="1050505"/>
                  </a:lnTo>
                  <a:close/>
                </a:path>
                <a:path w="6114415" h="2198370">
                  <a:moveTo>
                    <a:pt x="1103922" y="1338541"/>
                  </a:moveTo>
                  <a:lnTo>
                    <a:pt x="917105" y="1338541"/>
                  </a:lnTo>
                  <a:lnTo>
                    <a:pt x="917105" y="1846859"/>
                  </a:lnTo>
                  <a:lnTo>
                    <a:pt x="1103922" y="1846859"/>
                  </a:lnTo>
                  <a:lnTo>
                    <a:pt x="1103922" y="1338541"/>
                  </a:lnTo>
                  <a:close/>
                </a:path>
                <a:path w="6114415" h="2198370">
                  <a:moveTo>
                    <a:pt x="1545488" y="1474101"/>
                  </a:moveTo>
                  <a:lnTo>
                    <a:pt x="1375651" y="1474101"/>
                  </a:lnTo>
                  <a:lnTo>
                    <a:pt x="1375651" y="1846859"/>
                  </a:lnTo>
                  <a:lnTo>
                    <a:pt x="1545488" y="1846859"/>
                  </a:lnTo>
                  <a:lnTo>
                    <a:pt x="1545488" y="1474101"/>
                  </a:lnTo>
                  <a:close/>
                </a:path>
                <a:path w="6114415" h="2198370">
                  <a:moveTo>
                    <a:pt x="2004034" y="1389380"/>
                  </a:moveTo>
                  <a:lnTo>
                    <a:pt x="1817217" y="1389380"/>
                  </a:lnTo>
                  <a:lnTo>
                    <a:pt x="1817217" y="1846859"/>
                  </a:lnTo>
                  <a:lnTo>
                    <a:pt x="2004034" y="1846859"/>
                  </a:lnTo>
                  <a:lnTo>
                    <a:pt x="2004034" y="1389380"/>
                  </a:lnTo>
                  <a:close/>
                </a:path>
                <a:path w="6114415" h="2198370">
                  <a:moveTo>
                    <a:pt x="2462593" y="1575752"/>
                  </a:moveTo>
                  <a:lnTo>
                    <a:pt x="2275776" y="1575752"/>
                  </a:lnTo>
                  <a:lnTo>
                    <a:pt x="2275776" y="1846859"/>
                  </a:lnTo>
                  <a:lnTo>
                    <a:pt x="2462593" y="1846859"/>
                  </a:lnTo>
                  <a:lnTo>
                    <a:pt x="2462593" y="1575752"/>
                  </a:lnTo>
                  <a:close/>
                </a:path>
                <a:path w="6114415" h="2198370">
                  <a:moveTo>
                    <a:pt x="2921139" y="1474101"/>
                  </a:moveTo>
                  <a:lnTo>
                    <a:pt x="2734322" y="1474101"/>
                  </a:lnTo>
                  <a:lnTo>
                    <a:pt x="2734322" y="1846859"/>
                  </a:lnTo>
                  <a:lnTo>
                    <a:pt x="2921139" y="1846859"/>
                  </a:lnTo>
                  <a:lnTo>
                    <a:pt x="2921139" y="1474101"/>
                  </a:lnTo>
                  <a:close/>
                </a:path>
                <a:path w="6114415" h="2198370">
                  <a:moveTo>
                    <a:pt x="3379686" y="1389380"/>
                  </a:moveTo>
                  <a:lnTo>
                    <a:pt x="3192881" y="1389380"/>
                  </a:lnTo>
                  <a:lnTo>
                    <a:pt x="3192881" y="1846859"/>
                  </a:lnTo>
                  <a:lnTo>
                    <a:pt x="3379686" y="1846859"/>
                  </a:lnTo>
                  <a:lnTo>
                    <a:pt x="3379686" y="1389380"/>
                  </a:lnTo>
                  <a:close/>
                </a:path>
                <a:path w="6114415" h="2198370">
                  <a:moveTo>
                    <a:pt x="3838244" y="1287716"/>
                  </a:moveTo>
                  <a:lnTo>
                    <a:pt x="3651427" y="1287716"/>
                  </a:lnTo>
                  <a:lnTo>
                    <a:pt x="3651427" y="1846859"/>
                  </a:lnTo>
                  <a:lnTo>
                    <a:pt x="3838244" y="1846859"/>
                  </a:lnTo>
                  <a:lnTo>
                    <a:pt x="3838244" y="1287716"/>
                  </a:lnTo>
                  <a:close/>
                </a:path>
                <a:path w="6114415" h="2198370">
                  <a:moveTo>
                    <a:pt x="4296791" y="1423263"/>
                  </a:moveTo>
                  <a:lnTo>
                    <a:pt x="4109974" y="1423263"/>
                  </a:lnTo>
                  <a:lnTo>
                    <a:pt x="4109974" y="1846859"/>
                  </a:lnTo>
                  <a:lnTo>
                    <a:pt x="4296791" y="1846859"/>
                  </a:lnTo>
                  <a:lnTo>
                    <a:pt x="4296791" y="1423263"/>
                  </a:lnTo>
                  <a:close/>
                </a:path>
                <a:path w="6114415" h="2198370">
                  <a:moveTo>
                    <a:pt x="4738357" y="1372438"/>
                  </a:moveTo>
                  <a:lnTo>
                    <a:pt x="4568533" y="1372438"/>
                  </a:lnTo>
                  <a:lnTo>
                    <a:pt x="4568533" y="1846859"/>
                  </a:lnTo>
                  <a:lnTo>
                    <a:pt x="4738357" y="1846859"/>
                  </a:lnTo>
                  <a:lnTo>
                    <a:pt x="4738357" y="1372438"/>
                  </a:lnTo>
                  <a:close/>
                </a:path>
                <a:path w="6114415" h="2198370">
                  <a:moveTo>
                    <a:pt x="5196916" y="1253832"/>
                  </a:moveTo>
                  <a:lnTo>
                    <a:pt x="5010099" y="1253832"/>
                  </a:lnTo>
                  <a:lnTo>
                    <a:pt x="5010099" y="1846859"/>
                  </a:lnTo>
                  <a:lnTo>
                    <a:pt x="5196916" y="1846859"/>
                  </a:lnTo>
                  <a:lnTo>
                    <a:pt x="5196916" y="1253832"/>
                  </a:lnTo>
                  <a:close/>
                </a:path>
                <a:path w="6114415" h="2198370">
                  <a:moveTo>
                    <a:pt x="5655462" y="914958"/>
                  </a:moveTo>
                  <a:lnTo>
                    <a:pt x="5468645" y="914958"/>
                  </a:lnTo>
                  <a:lnTo>
                    <a:pt x="5468645" y="2197798"/>
                  </a:lnTo>
                  <a:lnTo>
                    <a:pt x="5655462" y="2197798"/>
                  </a:lnTo>
                  <a:lnTo>
                    <a:pt x="5655462" y="914958"/>
                  </a:lnTo>
                  <a:close/>
                </a:path>
                <a:path w="6114415" h="2198370">
                  <a:moveTo>
                    <a:pt x="6114008" y="0"/>
                  </a:moveTo>
                  <a:lnTo>
                    <a:pt x="5927191" y="0"/>
                  </a:lnTo>
                  <a:lnTo>
                    <a:pt x="5927191" y="2197798"/>
                  </a:lnTo>
                  <a:lnTo>
                    <a:pt x="6114008" y="2197798"/>
                  </a:lnTo>
                  <a:lnTo>
                    <a:pt x="611400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459680" y="2698796"/>
              <a:ext cx="6114415" cy="2198370"/>
            </a:xfrm>
            <a:custGeom>
              <a:avLst/>
              <a:gdLst/>
              <a:ahLst/>
              <a:cxnLst/>
              <a:rect l="l" t="t" r="r" b="b"/>
              <a:pathLst>
                <a:path w="6114415" h="2198370">
                  <a:moveTo>
                    <a:pt x="0" y="474421"/>
                  </a:moveTo>
                  <a:lnTo>
                    <a:pt x="186816" y="474421"/>
                  </a:lnTo>
                  <a:lnTo>
                    <a:pt x="186816" y="1846853"/>
                  </a:lnTo>
                  <a:lnTo>
                    <a:pt x="0" y="1846853"/>
                  </a:lnTo>
                  <a:lnTo>
                    <a:pt x="0" y="474421"/>
                  </a:lnTo>
                  <a:close/>
                </a:path>
                <a:path w="6114415" h="2198370">
                  <a:moveTo>
                    <a:pt x="458550" y="1050503"/>
                  </a:moveTo>
                  <a:lnTo>
                    <a:pt x="645367" y="1050503"/>
                  </a:lnTo>
                  <a:lnTo>
                    <a:pt x="645367" y="1846853"/>
                  </a:lnTo>
                  <a:lnTo>
                    <a:pt x="458550" y="1846853"/>
                  </a:lnTo>
                  <a:lnTo>
                    <a:pt x="458550" y="1050503"/>
                  </a:lnTo>
                  <a:close/>
                </a:path>
                <a:path w="6114415" h="2198370">
                  <a:moveTo>
                    <a:pt x="917101" y="1338545"/>
                  </a:moveTo>
                  <a:lnTo>
                    <a:pt x="1103917" y="1338545"/>
                  </a:lnTo>
                  <a:lnTo>
                    <a:pt x="1103917" y="1846853"/>
                  </a:lnTo>
                  <a:lnTo>
                    <a:pt x="917101" y="1846853"/>
                  </a:lnTo>
                  <a:lnTo>
                    <a:pt x="917101" y="1338545"/>
                  </a:lnTo>
                  <a:close/>
                </a:path>
                <a:path w="6114415" h="2198370">
                  <a:moveTo>
                    <a:pt x="1375651" y="1474094"/>
                  </a:moveTo>
                  <a:lnTo>
                    <a:pt x="1545485" y="1474094"/>
                  </a:lnTo>
                  <a:lnTo>
                    <a:pt x="1545485" y="1846853"/>
                  </a:lnTo>
                  <a:lnTo>
                    <a:pt x="1375651" y="1846853"/>
                  </a:lnTo>
                  <a:lnTo>
                    <a:pt x="1375651" y="1474094"/>
                  </a:lnTo>
                  <a:close/>
                </a:path>
                <a:path w="6114415" h="2198370">
                  <a:moveTo>
                    <a:pt x="1817218" y="1389376"/>
                  </a:moveTo>
                  <a:lnTo>
                    <a:pt x="2004035" y="1389376"/>
                  </a:lnTo>
                  <a:lnTo>
                    <a:pt x="2004035" y="1846853"/>
                  </a:lnTo>
                  <a:lnTo>
                    <a:pt x="1817218" y="1846853"/>
                  </a:lnTo>
                  <a:lnTo>
                    <a:pt x="1817218" y="1389376"/>
                  </a:lnTo>
                  <a:close/>
                </a:path>
                <a:path w="6114415" h="2198370">
                  <a:moveTo>
                    <a:pt x="2275769" y="1575755"/>
                  </a:moveTo>
                  <a:lnTo>
                    <a:pt x="2462586" y="1575755"/>
                  </a:lnTo>
                  <a:lnTo>
                    <a:pt x="2462586" y="1846853"/>
                  </a:lnTo>
                  <a:lnTo>
                    <a:pt x="2275769" y="1846853"/>
                  </a:lnTo>
                  <a:lnTo>
                    <a:pt x="2275769" y="1575755"/>
                  </a:lnTo>
                  <a:close/>
                </a:path>
                <a:path w="6114415" h="2198370">
                  <a:moveTo>
                    <a:pt x="2734319" y="1474094"/>
                  </a:moveTo>
                  <a:lnTo>
                    <a:pt x="2921136" y="1474094"/>
                  </a:lnTo>
                  <a:lnTo>
                    <a:pt x="2921136" y="1846853"/>
                  </a:lnTo>
                  <a:lnTo>
                    <a:pt x="2734319" y="1846853"/>
                  </a:lnTo>
                  <a:lnTo>
                    <a:pt x="2734319" y="1474094"/>
                  </a:lnTo>
                  <a:close/>
                </a:path>
                <a:path w="6114415" h="2198370">
                  <a:moveTo>
                    <a:pt x="3192870" y="1389376"/>
                  </a:moveTo>
                  <a:lnTo>
                    <a:pt x="3379687" y="1389376"/>
                  </a:lnTo>
                  <a:lnTo>
                    <a:pt x="3379687" y="1846853"/>
                  </a:lnTo>
                  <a:lnTo>
                    <a:pt x="3192870" y="1846853"/>
                  </a:lnTo>
                  <a:lnTo>
                    <a:pt x="3192870" y="1389376"/>
                  </a:lnTo>
                  <a:close/>
                </a:path>
                <a:path w="6114415" h="2198370">
                  <a:moveTo>
                    <a:pt x="3651420" y="1287714"/>
                  </a:moveTo>
                  <a:lnTo>
                    <a:pt x="3838237" y="1287714"/>
                  </a:lnTo>
                  <a:lnTo>
                    <a:pt x="3838237" y="1846853"/>
                  </a:lnTo>
                  <a:lnTo>
                    <a:pt x="3651420" y="1846853"/>
                  </a:lnTo>
                  <a:lnTo>
                    <a:pt x="3651420" y="1287714"/>
                  </a:lnTo>
                  <a:close/>
                </a:path>
                <a:path w="6114415" h="2198370">
                  <a:moveTo>
                    <a:pt x="4109971" y="1423263"/>
                  </a:moveTo>
                  <a:lnTo>
                    <a:pt x="4296788" y="1423263"/>
                  </a:lnTo>
                  <a:lnTo>
                    <a:pt x="4296788" y="1846853"/>
                  </a:lnTo>
                  <a:lnTo>
                    <a:pt x="4109971" y="1846853"/>
                  </a:lnTo>
                  <a:lnTo>
                    <a:pt x="4109971" y="1423263"/>
                  </a:lnTo>
                  <a:close/>
                </a:path>
                <a:path w="6114415" h="2198370">
                  <a:moveTo>
                    <a:pt x="4568521" y="1372432"/>
                  </a:moveTo>
                  <a:lnTo>
                    <a:pt x="4738355" y="1372432"/>
                  </a:lnTo>
                  <a:lnTo>
                    <a:pt x="4738355" y="1846853"/>
                  </a:lnTo>
                  <a:lnTo>
                    <a:pt x="4568521" y="1846853"/>
                  </a:lnTo>
                  <a:lnTo>
                    <a:pt x="4568521" y="1372432"/>
                  </a:lnTo>
                  <a:close/>
                </a:path>
                <a:path w="6114415" h="2198370">
                  <a:moveTo>
                    <a:pt x="5010089" y="1253827"/>
                  </a:moveTo>
                  <a:lnTo>
                    <a:pt x="5196905" y="1253827"/>
                  </a:lnTo>
                  <a:lnTo>
                    <a:pt x="5196905" y="1846853"/>
                  </a:lnTo>
                  <a:lnTo>
                    <a:pt x="5010089" y="1846853"/>
                  </a:lnTo>
                  <a:lnTo>
                    <a:pt x="5010089" y="1253827"/>
                  </a:lnTo>
                  <a:close/>
                </a:path>
                <a:path w="6114415" h="2198370">
                  <a:moveTo>
                    <a:pt x="5468639" y="914955"/>
                  </a:moveTo>
                  <a:lnTo>
                    <a:pt x="5655456" y="914955"/>
                  </a:lnTo>
                  <a:lnTo>
                    <a:pt x="5655456" y="2197801"/>
                  </a:lnTo>
                  <a:lnTo>
                    <a:pt x="5468639" y="2197801"/>
                  </a:lnTo>
                  <a:lnTo>
                    <a:pt x="5468639" y="914955"/>
                  </a:lnTo>
                  <a:close/>
                </a:path>
                <a:path w="6114415" h="2198370">
                  <a:moveTo>
                    <a:pt x="5927190" y="0"/>
                  </a:moveTo>
                  <a:lnTo>
                    <a:pt x="6114006" y="0"/>
                  </a:lnTo>
                  <a:lnTo>
                    <a:pt x="6114006" y="2197801"/>
                  </a:lnTo>
                  <a:lnTo>
                    <a:pt x="5927190" y="2197801"/>
                  </a:lnTo>
                  <a:lnTo>
                    <a:pt x="5927190" y="0"/>
                  </a:lnTo>
                  <a:close/>
                </a:path>
              </a:pathLst>
            </a:custGeom>
            <a:ln w="1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23813" y="2606378"/>
              <a:ext cx="0" cy="2290445"/>
            </a:xfrm>
            <a:custGeom>
              <a:avLst/>
              <a:gdLst/>
              <a:ahLst/>
              <a:cxnLst/>
              <a:rect l="l" t="t" r="r" b="b"/>
              <a:pathLst>
                <a:path w="0" h="2290445">
                  <a:moveTo>
                    <a:pt x="0" y="2290221"/>
                  </a:moveTo>
                  <a:lnTo>
                    <a:pt x="1" y="0"/>
                  </a:lnTo>
                </a:path>
              </a:pathLst>
            </a:custGeom>
            <a:ln w="169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75129" y="2606376"/>
              <a:ext cx="48895" cy="2290445"/>
            </a:xfrm>
            <a:custGeom>
              <a:avLst/>
              <a:gdLst/>
              <a:ahLst/>
              <a:cxnLst/>
              <a:rect l="l" t="t" r="r" b="b"/>
              <a:pathLst>
                <a:path w="48895" h="2290445">
                  <a:moveTo>
                    <a:pt x="0" y="2290221"/>
                  </a:moveTo>
                  <a:lnTo>
                    <a:pt x="48684" y="2290221"/>
                  </a:lnTo>
                </a:path>
                <a:path w="48895" h="2290445">
                  <a:moveTo>
                    <a:pt x="0" y="2007048"/>
                  </a:moveTo>
                  <a:lnTo>
                    <a:pt x="48684" y="2007048"/>
                  </a:lnTo>
                </a:path>
                <a:path w="48895" h="2290445">
                  <a:moveTo>
                    <a:pt x="0" y="1719006"/>
                  </a:moveTo>
                  <a:lnTo>
                    <a:pt x="48684" y="1719006"/>
                  </a:lnTo>
                </a:path>
                <a:path w="48895" h="2290445">
                  <a:moveTo>
                    <a:pt x="0" y="1430965"/>
                  </a:moveTo>
                  <a:lnTo>
                    <a:pt x="48684" y="1430965"/>
                  </a:lnTo>
                </a:path>
                <a:path w="48895" h="2290445">
                  <a:moveTo>
                    <a:pt x="0" y="1142923"/>
                  </a:moveTo>
                  <a:lnTo>
                    <a:pt x="48684" y="1142923"/>
                  </a:lnTo>
                </a:path>
                <a:path w="48895" h="2290445">
                  <a:moveTo>
                    <a:pt x="0" y="854882"/>
                  </a:moveTo>
                  <a:lnTo>
                    <a:pt x="48684" y="854882"/>
                  </a:lnTo>
                </a:path>
                <a:path w="48895" h="2290445">
                  <a:moveTo>
                    <a:pt x="0" y="566841"/>
                  </a:moveTo>
                  <a:lnTo>
                    <a:pt x="48684" y="566841"/>
                  </a:lnTo>
                </a:path>
                <a:path w="48895" h="2290445">
                  <a:moveTo>
                    <a:pt x="0" y="278799"/>
                  </a:moveTo>
                  <a:lnTo>
                    <a:pt x="48684" y="278799"/>
                  </a:lnTo>
                </a:path>
                <a:path w="48895" h="2290445">
                  <a:moveTo>
                    <a:pt x="0" y="0"/>
                  </a:moveTo>
                  <a:lnTo>
                    <a:pt x="48684" y="0"/>
                  </a:lnTo>
                </a:path>
              </a:pathLst>
            </a:custGeom>
            <a:ln w="1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23813" y="4896599"/>
              <a:ext cx="6386195" cy="48895"/>
            </a:xfrm>
            <a:custGeom>
              <a:avLst/>
              <a:gdLst/>
              <a:ahLst/>
              <a:cxnLst/>
              <a:rect l="l" t="t" r="r" b="b"/>
              <a:pathLst>
                <a:path w="6386195" h="48895">
                  <a:moveTo>
                    <a:pt x="0" y="0"/>
                  </a:moveTo>
                  <a:lnTo>
                    <a:pt x="6385741" y="1"/>
                  </a:lnTo>
                </a:path>
                <a:path w="6386195" h="48895">
                  <a:moveTo>
                    <a:pt x="0" y="0"/>
                  </a:moveTo>
                  <a:lnTo>
                    <a:pt x="0" y="48570"/>
                  </a:lnTo>
                </a:path>
                <a:path w="6386195" h="48895">
                  <a:moveTo>
                    <a:pt x="458550" y="0"/>
                  </a:moveTo>
                  <a:lnTo>
                    <a:pt x="458550" y="48570"/>
                  </a:lnTo>
                </a:path>
                <a:path w="6386195" h="48895">
                  <a:moveTo>
                    <a:pt x="917101" y="0"/>
                  </a:moveTo>
                  <a:lnTo>
                    <a:pt x="917101" y="48570"/>
                  </a:lnTo>
                </a:path>
                <a:path w="6386195" h="48895">
                  <a:moveTo>
                    <a:pt x="1375651" y="0"/>
                  </a:moveTo>
                  <a:lnTo>
                    <a:pt x="1375651" y="48570"/>
                  </a:lnTo>
                </a:path>
                <a:path w="6386195" h="48895">
                  <a:moveTo>
                    <a:pt x="1817218" y="0"/>
                  </a:moveTo>
                  <a:lnTo>
                    <a:pt x="1817218" y="48570"/>
                  </a:lnTo>
                </a:path>
                <a:path w="6386195" h="48895">
                  <a:moveTo>
                    <a:pt x="2275769" y="0"/>
                  </a:moveTo>
                  <a:lnTo>
                    <a:pt x="2275769" y="48570"/>
                  </a:lnTo>
                </a:path>
                <a:path w="6386195" h="48895">
                  <a:moveTo>
                    <a:pt x="2734319" y="0"/>
                  </a:moveTo>
                  <a:lnTo>
                    <a:pt x="2734319" y="48570"/>
                  </a:lnTo>
                </a:path>
                <a:path w="6386195" h="48895">
                  <a:moveTo>
                    <a:pt x="3192870" y="0"/>
                  </a:moveTo>
                  <a:lnTo>
                    <a:pt x="3192870" y="48570"/>
                  </a:lnTo>
                </a:path>
                <a:path w="6386195" h="48895">
                  <a:moveTo>
                    <a:pt x="3651420" y="0"/>
                  </a:moveTo>
                  <a:lnTo>
                    <a:pt x="3651420" y="48570"/>
                  </a:lnTo>
                </a:path>
                <a:path w="6386195" h="48895">
                  <a:moveTo>
                    <a:pt x="4109971" y="0"/>
                  </a:moveTo>
                  <a:lnTo>
                    <a:pt x="4109971" y="48570"/>
                  </a:lnTo>
                </a:path>
                <a:path w="6386195" h="48895">
                  <a:moveTo>
                    <a:pt x="4568521" y="0"/>
                  </a:moveTo>
                  <a:lnTo>
                    <a:pt x="4568521" y="48570"/>
                  </a:lnTo>
                </a:path>
                <a:path w="6386195" h="48895">
                  <a:moveTo>
                    <a:pt x="5010089" y="0"/>
                  </a:moveTo>
                  <a:lnTo>
                    <a:pt x="5010089" y="48570"/>
                  </a:lnTo>
                </a:path>
                <a:path w="6386195" h="48895">
                  <a:moveTo>
                    <a:pt x="5468639" y="0"/>
                  </a:moveTo>
                  <a:lnTo>
                    <a:pt x="5468639" y="48570"/>
                  </a:lnTo>
                </a:path>
                <a:path w="6386195" h="48895">
                  <a:moveTo>
                    <a:pt x="5927190" y="0"/>
                  </a:moveTo>
                  <a:lnTo>
                    <a:pt x="5927190" y="48570"/>
                  </a:lnTo>
                </a:path>
                <a:path w="6386195" h="48895">
                  <a:moveTo>
                    <a:pt x="6385741" y="0"/>
                  </a:moveTo>
                  <a:lnTo>
                    <a:pt x="6385741" y="48570"/>
                  </a:lnTo>
                </a:path>
              </a:pathLst>
            </a:custGeom>
            <a:ln w="1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 rot="2640000">
            <a:off x="9398039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16</a:t>
            </a:r>
            <a:r>
              <a:rPr dirty="0" sz="1300" spc="-50">
                <a:latin typeface="Arial"/>
                <a:cs typeface="Arial"/>
              </a:rPr>
              <a:t>:00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 rot="2640000">
            <a:off x="8941915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15</a:t>
            </a:r>
            <a:r>
              <a:rPr dirty="0" sz="1300" spc="-50">
                <a:latin typeface="Arial"/>
                <a:cs typeface="Arial"/>
              </a:rPr>
              <a:t>:30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2640000">
            <a:off x="8485791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15</a:t>
            </a:r>
            <a:r>
              <a:rPr dirty="0" sz="1300" spc="-50">
                <a:latin typeface="Arial"/>
                <a:cs typeface="Arial"/>
              </a:rPr>
              <a:t>:00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 rot="2640000">
            <a:off x="8029668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14</a:t>
            </a:r>
            <a:r>
              <a:rPr dirty="0" sz="1300" spc="-50">
                <a:latin typeface="Arial"/>
                <a:cs typeface="Arial"/>
              </a:rPr>
              <a:t>:30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 rot="2640000">
            <a:off x="7573542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14</a:t>
            </a:r>
            <a:r>
              <a:rPr dirty="0" sz="1300" spc="-50">
                <a:latin typeface="Arial"/>
                <a:cs typeface="Arial"/>
              </a:rPr>
              <a:t>:00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 rot="2640000">
            <a:off x="7117417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13</a:t>
            </a:r>
            <a:r>
              <a:rPr dirty="0" sz="1300" spc="-50">
                <a:latin typeface="Arial"/>
                <a:cs typeface="Arial"/>
              </a:rPr>
              <a:t>:30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 rot="2640000">
            <a:off x="6661292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13</a:t>
            </a:r>
            <a:r>
              <a:rPr dirty="0" sz="1300" spc="-50">
                <a:latin typeface="Arial"/>
                <a:cs typeface="Arial"/>
              </a:rPr>
              <a:t>:00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2640000">
            <a:off x="6205168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12</a:t>
            </a:r>
            <a:r>
              <a:rPr dirty="0" sz="1300" spc="-50">
                <a:latin typeface="Arial"/>
                <a:cs typeface="Arial"/>
              </a:rPr>
              <a:t>:30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2640000">
            <a:off x="5749043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12</a:t>
            </a:r>
            <a:r>
              <a:rPr dirty="0" sz="1300" spc="-50">
                <a:latin typeface="Arial"/>
                <a:cs typeface="Arial"/>
              </a:rPr>
              <a:t>:00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2640000">
            <a:off x="5292919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11</a:t>
            </a:r>
            <a:r>
              <a:rPr dirty="0" sz="1300" spc="-50">
                <a:latin typeface="Arial"/>
                <a:cs typeface="Arial"/>
              </a:rPr>
              <a:t>:30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 rot="2640000">
            <a:off x="4836794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11</a:t>
            </a:r>
            <a:r>
              <a:rPr dirty="0" sz="1300" spc="-50">
                <a:latin typeface="Arial"/>
                <a:cs typeface="Arial"/>
              </a:rPr>
              <a:t>:00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 rot="2640000">
            <a:off x="4380670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10</a:t>
            </a:r>
            <a:r>
              <a:rPr dirty="0" sz="1300" spc="-50">
                <a:latin typeface="Arial"/>
                <a:cs typeface="Arial"/>
              </a:rPr>
              <a:t>:30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 rot="2640000">
            <a:off x="3924546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10</a:t>
            </a:r>
            <a:r>
              <a:rPr dirty="0" sz="1300" spc="-50">
                <a:latin typeface="Arial"/>
                <a:cs typeface="Arial"/>
              </a:rPr>
              <a:t>:00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 rot="2640000">
            <a:off x="3468421" y="5121151"/>
            <a:ext cx="428906" cy="169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2136" sz="1950" spc="-75">
                <a:latin typeface="Arial"/>
                <a:cs typeface="Arial"/>
              </a:rPr>
              <a:t>09</a:t>
            </a:r>
            <a:r>
              <a:rPr dirty="0" sz="1300" spc="-50">
                <a:latin typeface="Arial"/>
                <a:cs typeface="Arial"/>
              </a:rPr>
              <a:t>:30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565075" y="5806784"/>
            <a:ext cx="85725" cy="85090"/>
            <a:chOff x="5565075" y="5806784"/>
            <a:chExt cx="85725" cy="85090"/>
          </a:xfrm>
        </p:grpSpPr>
        <p:sp>
          <p:nvSpPr>
            <p:cNvPr id="27" name="object 27"/>
            <p:cNvSpPr/>
            <p:nvPr/>
          </p:nvSpPr>
          <p:spPr>
            <a:xfrm>
              <a:off x="5573557" y="5815265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79" h="68579">
                  <a:moveTo>
                    <a:pt x="68286" y="0"/>
                  </a:moveTo>
                  <a:lnTo>
                    <a:pt x="0" y="0"/>
                  </a:lnTo>
                  <a:lnTo>
                    <a:pt x="0" y="68126"/>
                  </a:lnTo>
                  <a:lnTo>
                    <a:pt x="68286" y="68126"/>
                  </a:lnTo>
                  <a:lnTo>
                    <a:pt x="68286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573557" y="5815266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79" h="68579">
                  <a:moveTo>
                    <a:pt x="0" y="0"/>
                  </a:moveTo>
                  <a:lnTo>
                    <a:pt x="68286" y="0"/>
                  </a:lnTo>
                  <a:lnTo>
                    <a:pt x="68286" y="68126"/>
                  </a:lnTo>
                  <a:lnTo>
                    <a:pt x="0" y="68126"/>
                  </a:lnTo>
                  <a:lnTo>
                    <a:pt x="0" y="0"/>
                  </a:lnTo>
                  <a:close/>
                </a:path>
              </a:pathLst>
            </a:custGeom>
            <a:ln w="1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6537183" y="5806784"/>
            <a:ext cx="85725" cy="85090"/>
            <a:chOff x="6537183" y="5806784"/>
            <a:chExt cx="85725" cy="85090"/>
          </a:xfrm>
        </p:grpSpPr>
        <p:sp>
          <p:nvSpPr>
            <p:cNvPr id="30" name="object 30"/>
            <p:cNvSpPr/>
            <p:nvPr/>
          </p:nvSpPr>
          <p:spPr>
            <a:xfrm>
              <a:off x="6545664" y="5815265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79" h="68579">
                  <a:moveTo>
                    <a:pt x="68286" y="0"/>
                  </a:moveTo>
                  <a:lnTo>
                    <a:pt x="0" y="0"/>
                  </a:lnTo>
                  <a:lnTo>
                    <a:pt x="0" y="68126"/>
                  </a:lnTo>
                  <a:lnTo>
                    <a:pt x="68286" y="68126"/>
                  </a:lnTo>
                  <a:lnTo>
                    <a:pt x="6828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545664" y="5815266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79" h="68579">
                  <a:moveTo>
                    <a:pt x="0" y="0"/>
                  </a:moveTo>
                  <a:lnTo>
                    <a:pt x="68286" y="0"/>
                  </a:lnTo>
                  <a:lnTo>
                    <a:pt x="68286" y="68126"/>
                  </a:lnTo>
                  <a:lnTo>
                    <a:pt x="0" y="68126"/>
                  </a:lnTo>
                  <a:lnTo>
                    <a:pt x="0" y="0"/>
                  </a:lnTo>
                  <a:close/>
                </a:path>
              </a:pathLst>
            </a:custGeom>
            <a:ln w="1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340588" y="5702756"/>
            <a:ext cx="2395220" cy="293370"/>
          </a:xfrm>
          <a:prstGeom prst="rect">
            <a:avLst/>
          </a:prstGeom>
          <a:ln w="16944">
            <a:solidFill>
              <a:srgbClr val="0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375"/>
              </a:spcBef>
              <a:tabLst>
                <a:tab pos="1300480" algn="l"/>
              </a:tabLst>
            </a:pPr>
            <a:r>
              <a:rPr dirty="0" sz="1050">
                <a:latin typeface="Arial"/>
                <a:cs typeface="Arial"/>
              </a:rPr>
              <a:t>Order</a:t>
            </a:r>
            <a:r>
              <a:rPr dirty="0" sz="1050" spc="6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Size</a:t>
            </a:r>
            <a:r>
              <a:rPr dirty="0" sz="1050">
                <a:latin typeface="Arial"/>
                <a:cs typeface="Arial"/>
              </a:rPr>
              <a:t>	Market</a:t>
            </a:r>
            <a:r>
              <a:rPr dirty="0" sz="1050" spc="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Volume</a:t>
            </a:r>
            <a:endParaRPr sz="105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3" name="object 33"/>
          <p:cNvSpPr txBox="1"/>
          <p:nvPr/>
        </p:nvSpPr>
        <p:spPr>
          <a:xfrm>
            <a:off x="1795311" y="2258263"/>
            <a:ext cx="8627745" cy="3829685"/>
          </a:xfrm>
          <a:prstGeom prst="rect">
            <a:avLst/>
          </a:prstGeom>
          <a:ln w="16950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300">
              <a:latin typeface="Times New Roman"/>
              <a:cs typeface="Times New Roman"/>
            </a:endParaRPr>
          </a:p>
          <a:p>
            <a:pPr marL="895985">
              <a:lnSpc>
                <a:spcPct val="100000"/>
              </a:lnSpc>
            </a:pPr>
            <a:r>
              <a:rPr dirty="0" sz="1300" spc="-10">
                <a:latin typeface="Arial"/>
                <a:cs typeface="Arial"/>
              </a:rPr>
              <a:t>80,000</a:t>
            </a:r>
            <a:endParaRPr sz="1300">
              <a:latin typeface="Arial"/>
              <a:cs typeface="Arial"/>
            </a:endParaRPr>
          </a:p>
          <a:p>
            <a:pPr marL="895985">
              <a:lnSpc>
                <a:spcPct val="100000"/>
              </a:lnSpc>
              <a:spcBef>
                <a:spcPts val="710"/>
              </a:spcBef>
            </a:pPr>
            <a:r>
              <a:rPr dirty="0" sz="1300" spc="-10">
                <a:latin typeface="Arial"/>
                <a:cs typeface="Arial"/>
              </a:rPr>
              <a:t>70,000</a:t>
            </a:r>
            <a:endParaRPr sz="1300">
              <a:latin typeface="Arial"/>
              <a:cs typeface="Arial"/>
            </a:endParaRPr>
          </a:p>
          <a:p>
            <a:pPr marL="895985">
              <a:lnSpc>
                <a:spcPct val="100000"/>
              </a:lnSpc>
              <a:spcBef>
                <a:spcPts val="705"/>
              </a:spcBef>
            </a:pPr>
            <a:r>
              <a:rPr dirty="0" sz="1300" spc="-10">
                <a:latin typeface="Arial"/>
                <a:cs typeface="Arial"/>
              </a:rPr>
              <a:t>60,000</a:t>
            </a:r>
            <a:endParaRPr sz="1300">
              <a:latin typeface="Arial"/>
              <a:cs typeface="Arial"/>
            </a:endParaRPr>
          </a:p>
          <a:p>
            <a:pPr marL="207645">
              <a:lnSpc>
                <a:spcPct val="100000"/>
              </a:lnSpc>
              <a:spcBef>
                <a:spcPts val="575"/>
              </a:spcBef>
              <a:tabLst>
                <a:tab pos="895985" algn="l"/>
              </a:tabLst>
            </a:pPr>
            <a:r>
              <a:rPr dirty="0" baseline="-34188" sz="1950" spc="-15">
                <a:latin typeface="Arial"/>
                <a:cs typeface="Arial"/>
              </a:rPr>
              <a:t>Shares</a:t>
            </a:r>
            <a:r>
              <a:rPr dirty="0" baseline="-34188" sz="1950">
                <a:latin typeface="Arial"/>
                <a:cs typeface="Arial"/>
              </a:rPr>
              <a:t>	</a:t>
            </a:r>
            <a:r>
              <a:rPr dirty="0" sz="1300" spc="-10">
                <a:latin typeface="Arial"/>
                <a:cs typeface="Arial"/>
              </a:rPr>
              <a:t>50,000</a:t>
            </a:r>
            <a:endParaRPr sz="1300">
              <a:latin typeface="Arial"/>
              <a:cs typeface="Arial"/>
            </a:endParaRPr>
          </a:p>
          <a:p>
            <a:pPr algn="r" marR="7221220">
              <a:lnSpc>
                <a:spcPct val="100000"/>
              </a:lnSpc>
              <a:spcBef>
                <a:spcPts val="710"/>
              </a:spcBef>
              <a:tabLst>
                <a:tab pos="687705" algn="l"/>
              </a:tabLst>
            </a:pPr>
            <a:r>
              <a:rPr dirty="0" sz="1300" spc="-10">
                <a:latin typeface="Arial"/>
                <a:cs typeface="Arial"/>
              </a:rPr>
              <a:t>Traded</a:t>
            </a:r>
            <a:r>
              <a:rPr dirty="0" sz="1300">
                <a:latin typeface="Arial"/>
                <a:cs typeface="Arial"/>
              </a:rPr>
              <a:t>	</a:t>
            </a:r>
            <a:r>
              <a:rPr dirty="0" sz="1300" spc="-10">
                <a:latin typeface="Arial"/>
                <a:cs typeface="Arial"/>
              </a:rPr>
              <a:t>40,000</a:t>
            </a:r>
            <a:endParaRPr sz="1300">
              <a:latin typeface="Arial"/>
              <a:cs typeface="Arial"/>
            </a:endParaRPr>
          </a:p>
          <a:p>
            <a:pPr algn="r" marR="7221220">
              <a:lnSpc>
                <a:spcPct val="100000"/>
              </a:lnSpc>
              <a:spcBef>
                <a:spcPts val="705"/>
              </a:spcBef>
            </a:pPr>
            <a:r>
              <a:rPr dirty="0" sz="1300" spc="-10">
                <a:latin typeface="Arial"/>
                <a:cs typeface="Arial"/>
              </a:rPr>
              <a:t>30,000</a:t>
            </a:r>
            <a:endParaRPr sz="1300">
              <a:latin typeface="Arial"/>
              <a:cs typeface="Arial"/>
            </a:endParaRPr>
          </a:p>
          <a:p>
            <a:pPr algn="r" marR="7221220">
              <a:lnSpc>
                <a:spcPct val="100000"/>
              </a:lnSpc>
              <a:spcBef>
                <a:spcPts val="710"/>
              </a:spcBef>
            </a:pPr>
            <a:r>
              <a:rPr dirty="0" sz="1300" spc="-10">
                <a:latin typeface="Arial"/>
                <a:cs typeface="Arial"/>
              </a:rPr>
              <a:t>20,000</a:t>
            </a:r>
            <a:endParaRPr sz="1300">
              <a:latin typeface="Arial"/>
              <a:cs typeface="Arial"/>
            </a:endParaRPr>
          </a:p>
          <a:p>
            <a:pPr algn="r" marR="7221220">
              <a:lnSpc>
                <a:spcPct val="100000"/>
              </a:lnSpc>
              <a:spcBef>
                <a:spcPts val="710"/>
              </a:spcBef>
            </a:pPr>
            <a:r>
              <a:rPr dirty="0" sz="1300" spc="-10">
                <a:latin typeface="Arial"/>
                <a:cs typeface="Arial"/>
              </a:rPr>
              <a:t>10,000</a:t>
            </a:r>
            <a:endParaRPr sz="1300">
              <a:latin typeface="Arial"/>
              <a:cs typeface="Arial"/>
            </a:endParaRPr>
          </a:p>
          <a:p>
            <a:pPr algn="r" marR="7225030">
              <a:lnSpc>
                <a:spcPct val="100000"/>
              </a:lnSpc>
              <a:spcBef>
                <a:spcPts val="705"/>
              </a:spcBef>
            </a:pPr>
            <a:r>
              <a:rPr dirty="0" sz="1300" spc="-5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  <a:p>
            <a:pPr marL="733425" marR="6892290">
              <a:lnSpc>
                <a:spcPct val="101899"/>
              </a:lnSpc>
              <a:spcBef>
                <a:spcPts val="915"/>
              </a:spcBef>
            </a:pPr>
            <a:r>
              <a:rPr dirty="0" sz="1200" spc="-10">
                <a:latin typeface="Arial"/>
                <a:cs typeface="Arial"/>
              </a:rPr>
              <a:t>30-minute </a:t>
            </a:r>
            <a:r>
              <a:rPr dirty="0" sz="1200">
                <a:latin typeface="Arial"/>
                <a:cs typeface="Arial"/>
              </a:rPr>
              <a:t>Time</a:t>
            </a:r>
            <a:r>
              <a:rPr dirty="0" sz="1200" spc="6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Intervals</a:t>
            </a:r>
            <a:endParaRPr sz="1200">
              <a:latin typeface="Arial"/>
              <a:cs typeface="Arial"/>
            </a:endParaRPr>
          </a:p>
          <a:p>
            <a:pPr marL="7000875">
              <a:lnSpc>
                <a:spcPts val="1075"/>
              </a:lnSpc>
              <a:spcBef>
                <a:spcPts val="459"/>
              </a:spcBef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Source:</a:t>
            </a:r>
            <a:r>
              <a:rPr dirty="0" sz="900" spc="114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Duran,</a:t>
            </a:r>
            <a:r>
              <a:rPr dirty="0" sz="900" spc="1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R.</a:t>
            </a:r>
            <a:r>
              <a:rPr dirty="0" sz="900" spc="12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95959"/>
                </a:solidFill>
                <a:latin typeface="Calibri"/>
                <a:cs typeface="Calibri"/>
              </a:rPr>
              <a:t>E.,</a:t>
            </a:r>
            <a:endParaRPr sz="900">
              <a:latin typeface="Calibri"/>
              <a:cs typeface="Calibri"/>
            </a:endParaRPr>
          </a:p>
          <a:p>
            <a:pPr marL="7000875">
              <a:lnSpc>
                <a:spcPts val="1075"/>
              </a:lnSpc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Financial</a:t>
            </a:r>
            <a:r>
              <a:rPr dirty="0" sz="900" spc="1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Services</a:t>
            </a:r>
            <a:r>
              <a:rPr dirty="0" sz="900" spc="13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95959"/>
                </a:solidFill>
                <a:latin typeface="Calibri"/>
                <a:cs typeface="Calibri"/>
              </a:rPr>
              <a:t>Technology,</a:t>
            </a:r>
            <a:endParaRPr sz="900">
              <a:latin typeface="Calibri"/>
              <a:cs typeface="Calibri"/>
            </a:endParaRPr>
          </a:p>
          <a:p>
            <a:pPr marL="7000875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Cengage</a:t>
            </a:r>
            <a:r>
              <a:rPr dirty="0" sz="900" spc="17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Learning</a:t>
            </a:r>
            <a:r>
              <a:rPr dirty="0" sz="900" spc="5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Asia,</a:t>
            </a:r>
            <a:r>
              <a:rPr dirty="0" sz="900" spc="1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 spc="45">
                <a:solidFill>
                  <a:srgbClr val="595959"/>
                </a:solidFill>
                <a:latin typeface="Calibri"/>
                <a:cs typeface="Calibri"/>
              </a:rPr>
              <a:t>2018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Algorithmic</a:t>
            </a:r>
            <a:r>
              <a:rPr dirty="0" spc="-135"/>
              <a:t> </a:t>
            </a:r>
            <a:r>
              <a:rPr dirty="0"/>
              <a:t>Order</a:t>
            </a:r>
            <a:r>
              <a:rPr dirty="0" spc="-130"/>
              <a:t> </a:t>
            </a:r>
            <a:r>
              <a:rPr dirty="0" spc="-1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3596"/>
            <a:ext cx="10280015" cy="4094479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20">
                <a:latin typeface="Century Gothic"/>
                <a:cs typeface="Century Gothic"/>
              </a:rPr>
              <a:t>Volume-</a:t>
            </a:r>
            <a:r>
              <a:rPr dirty="0" sz="2800">
                <a:latin typeface="Century Gothic"/>
                <a:cs typeface="Century Gothic"/>
              </a:rPr>
              <a:t>weighted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average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(VWAP)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pricing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algorithms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type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volume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participation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algorithm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Incorporates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trading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volumes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into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order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size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calculations</a:t>
            </a:r>
            <a:endParaRPr sz="2400">
              <a:latin typeface="Century Gothic"/>
              <a:cs typeface="Century Gothic"/>
            </a:endParaRPr>
          </a:p>
          <a:p>
            <a:pPr lvl="1" marL="697230" marR="961390" indent="-227329">
              <a:lnSpc>
                <a:spcPts val="2590"/>
              </a:lnSpc>
              <a:spcBef>
                <a:spcPts val="57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entury Gothic"/>
                <a:cs typeface="Century Gothic"/>
              </a:rPr>
              <a:t>VWAP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b="1">
                <a:latin typeface="Century Gothic"/>
                <a:cs typeface="Century Gothic"/>
              </a:rPr>
              <a:t>order</a:t>
            </a:r>
            <a:r>
              <a:rPr dirty="0" sz="2400" spc="-50" b="1">
                <a:latin typeface="Century Gothic"/>
                <a:cs typeface="Century Gothic"/>
              </a:rPr>
              <a:t> </a:t>
            </a:r>
            <a:r>
              <a:rPr dirty="0" sz="2400" b="1">
                <a:latin typeface="Century Gothic"/>
                <a:cs typeface="Century Gothic"/>
              </a:rPr>
              <a:t>sizes</a:t>
            </a:r>
            <a:r>
              <a:rPr dirty="0" sz="2400" spc="-50" b="1">
                <a:latin typeface="Century Gothic"/>
                <a:cs typeface="Century Gothic"/>
              </a:rPr>
              <a:t> </a:t>
            </a:r>
            <a:r>
              <a:rPr dirty="0" sz="2400" b="1">
                <a:latin typeface="Century Gothic"/>
                <a:cs typeface="Century Gothic"/>
              </a:rPr>
              <a:t>are</a:t>
            </a:r>
            <a:r>
              <a:rPr dirty="0" sz="2400" spc="-35" b="1">
                <a:latin typeface="Century Gothic"/>
                <a:cs typeface="Century Gothic"/>
              </a:rPr>
              <a:t> </a:t>
            </a:r>
            <a:r>
              <a:rPr dirty="0" sz="2400" b="1">
                <a:latin typeface="Century Gothic"/>
                <a:cs typeface="Century Gothic"/>
              </a:rPr>
              <a:t>proportional</a:t>
            </a:r>
            <a:r>
              <a:rPr dirty="0" sz="2400" spc="-45" b="1">
                <a:latin typeface="Century Gothic"/>
                <a:cs typeface="Century Gothic"/>
              </a:rPr>
              <a:t> </a:t>
            </a:r>
            <a:r>
              <a:rPr dirty="0" sz="2400" b="1">
                <a:latin typeface="Century Gothic"/>
                <a:cs typeface="Century Gothic"/>
              </a:rPr>
              <a:t>to</a:t>
            </a:r>
            <a:r>
              <a:rPr dirty="0" sz="2400" spc="-40" b="1">
                <a:latin typeface="Century Gothic"/>
                <a:cs typeface="Century Gothic"/>
              </a:rPr>
              <a:t> </a:t>
            </a:r>
            <a:r>
              <a:rPr dirty="0" sz="2400" b="1">
                <a:latin typeface="Century Gothic"/>
                <a:cs typeface="Century Gothic"/>
              </a:rPr>
              <a:t>the</a:t>
            </a:r>
            <a:r>
              <a:rPr dirty="0" sz="2400" spc="-40" b="1">
                <a:latin typeface="Century Gothic"/>
                <a:cs typeface="Century Gothic"/>
              </a:rPr>
              <a:t> </a:t>
            </a:r>
            <a:r>
              <a:rPr dirty="0" sz="2400" b="1">
                <a:latin typeface="Century Gothic"/>
                <a:cs typeface="Century Gothic"/>
              </a:rPr>
              <a:t>expected</a:t>
            </a:r>
            <a:r>
              <a:rPr dirty="0" sz="2400" spc="-40" b="1">
                <a:latin typeface="Century Gothic"/>
                <a:cs typeface="Century Gothic"/>
              </a:rPr>
              <a:t> </a:t>
            </a:r>
            <a:r>
              <a:rPr dirty="0" sz="2400" spc="-10" b="1">
                <a:latin typeface="Century Gothic"/>
                <a:cs typeface="Century Gothic"/>
              </a:rPr>
              <a:t>trading </a:t>
            </a:r>
            <a:r>
              <a:rPr dirty="0" sz="2400" spc="-10" b="1">
                <a:latin typeface="Century Gothic"/>
                <a:cs typeface="Century Gothic"/>
              </a:rPr>
              <a:t>	</a:t>
            </a:r>
            <a:r>
              <a:rPr dirty="0" sz="2400" b="1">
                <a:latin typeface="Century Gothic"/>
                <a:cs typeface="Century Gothic"/>
              </a:rPr>
              <a:t>volume</a:t>
            </a:r>
            <a:r>
              <a:rPr dirty="0" sz="2400" spc="-50" b="1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during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given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time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period</a:t>
            </a:r>
            <a:endParaRPr sz="2400">
              <a:latin typeface="Century Gothic"/>
              <a:cs typeface="Century Gothic"/>
            </a:endParaRPr>
          </a:p>
          <a:p>
            <a:pPr lvl="1" marL="697230" marR="5080" indent="-227329">
              <a:lnSpc>
                <a:spcPts val="25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entury Gothic"/>
                <a:cs typeface="Century Gothic"/>
              </a:rPr>
              <a:t>Larger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orders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will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placed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during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time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periods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have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higher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volumes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traded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entury Gothic"/>
                <a:cs typeface="Century Gothic"/>
              </a:rPr>
              <a:t>Issues</a:t>
            </a:r>
            <a:endParaRPr sz="24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Estimating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current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day’s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trading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volumes</a:t>
            </a:r>
            <a:endParaRPr sz="20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Selling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high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volume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selloffs</a:t>
            </a:r>
            <a:endParaRPr sz="2000">
              <a:latin typeface="Century Gothic"/>
              <a:cs typeface="Century Gothic"/>
            </a:endParaRPr>
          </a:p>
          <a:p>
            <a:pPr lvl="3" marL="1611630" indent="-2279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611630" algn="l"/>
              </a:tabLst>
            </a:pPr>
            <a:r>
              <a:rPr dirty="0" sz="1800">
                <a:latin typeface="Century Gothic"/>
                <a:cs typeface="Century Gothic"/>
              </a:rPr>
              <a:t>E.g.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Flash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Crash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761365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Algorithmic</a:t>
            </a:r>
            <a:r>
              <a:rPr dirty="0" spc="-135"/>
              <a:t> </a:t>
            </a:r>
            <a:r>
              <a:rPr dirty="0"/>
              <a:t>Order</a:t>
            </a:r>
            <a:r>
              <a:rPr dirty="0" spc="-130"/>
              <a:t> </a:t>
            </a:r>
            <a:r>
              <a:rPr dirty="0" spc="-1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39" y="1390396"/>
            <a:ext cx="57842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VWAP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order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execution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example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068" y="2537331"/>
            <a:ext cx="7685346" cy="324732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Mini</a:t>
            </a:r>
            <a:r>
              <a:rPr dirty="0" spc="-45"/>
              <a:t> </a:t>
            </a:r>
            <a:r>
              <a:rPr dirty="0"/>
              <a:t>Case:</a:t>
            </a:r>
            <a:r>
              <a:rPr dirty="0" spc="-40"/>
              <a:t> </a:t>
            </a:r>
            <a:r>
              <a:rPr dirty="0"/>
              <a:t>Alg</a:t>
            </a:r>
            <a:r>
              <a:rPr dirty="0" spc="-35"/>
              <a:t> </a:t>
            </a:r>
            <a:r>
              <a:rPr dirty="0"/>
              <a:t>trading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flash</a:t>
            </a:r>
            <a:r>
              <a:rPr dirty="0" spc="-25"/>
              <a:t> </a:t>
            </a:r>
            <a:r>
              <a:rPr dirty="0" spc="-10"/>
              <a:t>crash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9364"/>
            <a:ext cx="6972300" cy="403987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41300" marR="367665" indent="-2286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>
                <a:latin typeface="Century Gothic"/>
                <a:cs typeface="Century Gothic"/>
              </a:rPr>
              <a:t>On</a:t>
            </a:r>
            <a:r>
              <a:rPr dirty="0" sz="2600" spc="-15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6</a:t>
            </a:r>
            <a:r>
              <a:rPr dirty="0" sz="2600" spc="-20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May</a:t>
            </a:r>
            <a:r>
              <a:rPr dirty="0" sz="2600" spc="-10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2010,</a:t>
            </a:r>
            <a:r>
              <a:rPr dirty="0" sz="2600" spc="-10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the</a:t>
            </a:r>
            <a:r>
              <a:rPr dirty="0" sz="2600" spc="-15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S&amp;P</a:t>
            </a:r>
            <a:r>
              <a:rPr dirty="0" sz="2600" spc="-20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fell</a:t>
            </a:r>
            <a:r>
              <a:rPr dirty="0" sz="2600" spc="-10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over</a:t>
            </a:r>
            <a:r>
              <a:rPr dirty="0" sz="2600" spc="-10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5%</a:t>
            </a:r>
            <a:r>
              <a:rPr dirty="0" sz="2600" spc="-15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in</a:t>
            </a:r>
            <a:r>
              <a:rPr dirty="0" sz="2600" spc="-15">
                <a:latin typeface="Century Gothic"/>
                <a:cs typeface="Century Gothic"/>
              </a:rPr>
              <a:t> </a:t>
            </a:r>
            <a:r>
              <a:rPr dirty="0" sz="2600" spc="-50">
                <a:latin typeface="Century Gothic"/>
                <a:cs typeface="Century Gothic"/>
              </a:rPr>
              <a:t>a </a:t>
            </a:r>
            <a:r>
              <a:rPr dirty="0" sz="2600">
                <a:latin typeface="Century Gothic"/>
                <a:cs typeface="Century Gothic"/>
              </a:rPr>
              <a:t>few</a:t>
            </a:r>
            <a:r>
              <a:rPr dirty="0" sz="2600" spc="-30">
                <a:latin typeface="Century Gothic"/>
                <a:cs typeface="Century Gothic"/>
              </a:rPr>
              <a:t> </a:t>
            </a:r>
            <a:r>
              <a:rPr dirty="0" sz="2600" spc="-10">
                <a:latin typeface="Century Gothic"/>
                <a:cs typeface="Century Gothic"/>
              </a:rPr>
              <a:t>minutes.</a:t>
            </a:r>
            <a:endParaRPr sz="2600">
              <a:latin typeface="Century Gothic"/>
              <a:cs typeface="Century Gothic"/>
            </a:endParaRPr>
          </a:p>
          <a:p>
            <a:pPr lvl="1" marL="698500" indent="-228600">
              <a:lnSpc>
                <a:spcPts val="2630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2200">
                <a:latin typeface="Century Gothic"/>
                <a:cs typeface="Century Gothic"/>
              </a:rPr>
              <a:t>Hundreds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stocks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dropped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more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than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 spc="-25">
                <a:latin typeface="Century Gothic"/>
                <a:cs typeface="Century Gothic"/>
              </a:rPr>
              <a:t>60%</a:t>
            </a:r>
            <a:endParaRPr sz="22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15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ts val="3115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>
                <a:latin typeface="Century Gothic"/>
                <a:cs typeface="Century Gothic"/>
              </a:rPr>
              <a:t>Algo</a:t>
            </a:r>
            <a:r>
              <a:rPr dirty="0" sz="2600" spc="-30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trading</a:t>
            </a:r>
            <a:r>
              <a:rPr dirty="0" sz="2600" spc="-25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gone</a:t>
            </a:r>
            <a:r>
              <a:rPr dirty="0" sz="2600" spc="-30">
                <a:latin typeface="Century Gothic"/>
                <a:cs typeface="Century Gothic"/>
              </a:rPr>
              <a:t> </a:t>
            </a:r>
            <a:r>
              <a:rPr dirty="0" sz="2600" spc="-10">
                <a:latin typeface="Century Gothic"/>
                <a:cs typeface="Century Gothic"/>
              </a:rPr>
              <a:t>wild?</a:t>
            </a:r>
            <a:endParaRPr sz="2600">
              <a:latin typeface="Century Gothic"/>
              <a:cs typeface="Century Gothic"/>
            </a:endParaRPr>
          </a:p>
          <a:p>
            <a:pPr lvl="1" marL="698500" marR="5080" indent="-228600">
              <a:lnSpc>
                <a:spcPct val="7910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200">
                <a:latin typeface="Century Gothic"/>
                <a:cs typeface="Century Gothic"/>
              </a:rPr>
              <a:t>Orders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were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set</a:t>
            </a:r>
            <a:r>
              <a:rPr dirty="0" sz="2200" spc="-1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proportionate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market </a:t>
            </a:r>
            <a:r>
              <a:rPr dirty="0" sz="2200">
                <a:latin typeface="Century Gothic"/>
                <a:cs typeface="Century Gothic"/>
              </a:rPr>
              <a:t>trading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volume.</a:t>
            </a:r>
            <a:endParaRPr sz="2200">
              <a:latin typeface="Century Gothic"/>
              <a:cs typeface="Century Gothic"/>
            </a:endParaRPr>
          </a:p>
          <a:p>
            <a:pPr lvl="1" marL="698500" indent="-228600">
              <a:lnSpc>
                <a:spcPts val="2615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2200">
                <a:latin typeface="Century Gothic"/>
                <a:cs typeface="Century Gothic"/>
              </a:rPr>
              <a:t>More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volatility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-</a:t>
            </a:r>
            <a:r>
              <a:rPr dirty="0" sz="2200">
                <a:latin typeface="Century Gothic"/>
                <a:cs typeface="Century Gothic"/>
              </a:rPr>
              <a:t>&gt;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more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market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volume</a:t>
            </a:r>
            <a:endParaRPr sz="2200">
              <a:latin typeface="Century Gothic"/>
              <a:cs typeface="Century Gothic"/>
            </a:endParaRPr>
          </a:p>
          <a:p>
            <a:pPr lvl="1" marL="698500" indent="-228600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alg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aggravated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problem.</a:t>
            </a:r>
            <a:endParaRPr sz="22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27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39395" algn="l"/>
              </a:tabLst>
            </a:pPr>
            <a:r>
              <a:rPr dirty="0" u="sng" sz="2000" spc="-10">
                <a:solidFill>
                  <a:srgbClr val="954F72"/>
                </a:solidFill>
                <a:uFill>
                  <a:solidFill>
                    <a:srgbClr val="954F72"/>
                  </a:solidFill>
                </a:uFill>
                <a:latin typeface="Century Gothic"/>
                <a:cs typeface="Century Gothic"/>
                <a:hlinkClick r:id="rId2"/>
              </a:rPr>
              <a:t>https://www.youtube.com/watch?v=E1xqSZy9_4I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4526" y="3871912"/>
            <a:ext cx="3552825" cy="21907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Algorithmic</a:t>
            </a:r>
            <a:r>
              <a:rPr dirty="0" spc="-135"/>
              <a:t> </a:t>
            </a:r>
            <a:r>
              <a:rPr dirty="0"/>
              <a:t>Order</a:t>
            </a:r>
            <a:r>
              <a:rPr dirty="0" spc="-130"/>
              <a:t> </a:t>
            </a:r>
            <a:r>
              <a:rPr dirty="0" spc="-1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10297160" cy="363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-10">
                <a:latin typeface="Century Gothic"/>
                <a:cs typeface="Century Gothic"/>
              </a:rPr>
              <a:t>Liquidity-</a:t>
            </a:r>
            <a:r>
              <a:rPr dirty="0" sz="2400">
                <a:latin typeface="Century Gothic"/>
                <a:cs typeface="Century Gothic"/>
              </a:rPr>
              <a:t>seeking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algorithms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92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TWAP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VWAP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algorithm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good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flat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markets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lvl="1" marL="696595" marR="94615" indent="-226695">
              <a:lnSpc>
                <a:spcPts val="2110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2000" spc="-10">
                <a:latin typeface="Century Gothic"/>
                <a:cs typeface="Century Gothic"/>
              </a:rPr>
              <a:t>Liquidity-</a:t>
            </a:r>
            <a:r>
              <a:rPr dirty="0" sz="2000">
                <a:latin typeface="Century Gothic"/>
                <a:cs typeface="Century Gothic"/>
              </a:rPr>
              <a:t>seeking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algos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better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conditions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when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price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trending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negative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direction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53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More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executed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earlier,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better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price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78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lvl="1" marL="696595" marR="5080" indent="-226695">
              <a:lnSpc>
                <a:spcPts val="2090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Use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depth-of-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information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try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capture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much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liquidity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possible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at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decent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price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points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Algorithmic</a:t>
            </a:r>
            <a:r>
              <a:rPr dirty="0" spc="-135"/>
              <a:t> </a:t>
            </a:r>
            <a:r>
              <a:rPr dirty="0"/>
              <a:t>Order</a:t>
            </a:r>
            <a:r>
              <a:rPr dirty="0" spc="-130"/>
              <a:t> </a:t>
            </a:r>
            <a:r>
              <a:rPr dirty="0" spc="-1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9801225" cy="35642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Smart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order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routing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lvl="1" marL="696595" marR="5080" indent="-226695">
              <a:lnSpc>
                <a:spcPts val="2110"/>
              </a:lnSpc>
              <a:spcBef>
                <a:spcPts val="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Applicable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when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executed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more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execution 	venue</a:t>
            </a:r>
            <a:endParaRPr sz="2000">
              <a:latin typeface="Century Gothic"/>
              <a:cs typeface="Century Gothic"/>
            </a:endParaRPr>
          </a:p>
          <a:p>
            <a:pPr lvl="2" marL="1154430" indent="-227965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154430" algn="l"/>
              </a:tabLst>
            </a:pPr>
            <a:r>
              <a:rPr dirty="0" sz="1800">
                <a:latin typeface="Century Gothic"/>
                <a:cs typeface="Century Gothic"/>
              </a:rPr>
              <a:t>E.g.,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North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American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European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markets</a:t>
            </a:r>
            <a:endParaRPr sz="1800">
              <a:latin typeface="Century Gothic"/>
              <a:cs typeface="Century Gothic"/>
            </a:endParaRPr>
          </a:p>
          <a:p>
            <a:pPr lvl="2" marL="1154430" indent="-2279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1154430" algn="l"/>
              </a:tabLst>
            </a:pPr>
            <a:r>
              <a:rPr dirty="0" sz="1800">
                <a:latin typeface="Century Gothic"/>
                <a:cs typeface="Century Gothic"/>
              </a:rPr>
              <a:t>Multiple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exchanges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dark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pools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are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available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trade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highly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liquid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stocks</a:t>
            </a:r>
            <a:endParaRPr sz="180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spcBef>
                <a:spcPts val="64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Factors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determine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where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route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orders</a:t>
            </a:r>
            <a:endParaRPr sz="2000">
              <a:latin typeface="Century Gothic"/>
              <a:cs typeface="Century Gothic"/>
            </a:endParaRPr>
          </a:p>
          <a:p>
            <a:pPr lvl="2" marL="1154430" indent="-2279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1154430" algn="l"/>
              </a:tabLst>
            </a:pPr>
            <a:r>
              <a:rPr dirty="0" sz="1800" spc="-10">
                <a:latin typeface="Century Gothic"/>
                <a:cs typeface="Century Gothic"/>
              </a:rPr>
              <a:t>Price</a:t>
            </a:r>
            <a:endParaRPr sz="1800">
              <a:latin typeface="Century Gothic"/>
              <a:cs typeface="Century Gothic"/>
            </a:endParaRPr>
          </a:p>
          <a:p>
            <a:pPr lvl="2" marL="1154430" indent="-2279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1154430" algn="l"/>
              </a:tabLst>
            </a:pPr>
            <a:r>
              <a:rPr dirty="0" sz="1800">
                <a:latin typeface="Century Gothic"/>
                <a:cs typeface="Century Gothic"/>
              </a:rPr>
              <a:t>Liquidity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–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available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tradable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volume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at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price</a:t>
            </a:r>
            <a:endParaRPr sz="1800">
              <a:latin typeface="Century Gothic"/>
              <a:cs typeface="Century Gothic"/>
            </a:endParaRPr>
          </a:p>
          <a:p>
            <a:pPr lvl="2" marL="1154430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154430" algn="l"/>
              </a:tabLst>
            </a:pPr>
            <a:r>
              <a:rPr dirty="0" sz="1800">
                <a:latin typeface="Century Gothic"/>
                <a:cs typeface="Century Gothic"/>
              </a:rPr>
              <a:t>Likelihood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execution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at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current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price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52712" y="2902203"/>
            <a:ext cx="6887209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Trading</a:t>
            </a:r>
            <a:r>
              <a:rPr dirty="0" sz="4000" spc="-40"/>
              <a:t> </a:t>
            </a:r>
            <a:r>
              <a:rPr dirty="0" sz="4000"/>
              <a:t>System</a:t>
            </a:r>
            <a:r>
              <a:rPr dirty="0" sz="4000" spc="-40"/>
              <a:t> </a:t>
            </a:r>
            <a:r>
              <a:rPr dirty="0" sz="4000" spc="-10"/>
              <a:t>Architecture</a:t>
            </a:r>
            <a:endParaRPr sz="4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Trading</a:t>
            </a:r>
            <a:r>
              <a:rPr dirty="0" spc="-105"/>
              <a:t> </a:t>
            </a:r>
            <a:r>
              <a:rPr dirty="0"/>
              <a:t>System</a:t>
            </a:r>
            <a:r>
              <a:rPr dirty="0" spc="-105"/>
              <a:t> </a:t>
            </a:r>
            <a:r>
              <a:rPr dirty="0" spc="-1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8065770" cy="36912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Order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routing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system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components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332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Originally,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high-</a:t>
            </a:r>
            <a:r>
              <a:rPr dirty="0" sz="2400">
                <a:latin typeface="Century Gothic"/>
                <a:cs typeface="Century Gothic"/>
              </a:rPr>
              <a:t>touch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order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management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systems</a:t>
            </a:r>
            <a:endParaRPr sz="24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Built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support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manual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execution</a:t>
            </a:r>
            <a:endParaRPr sz="20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Days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past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when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brokers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“worked”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customer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orders</a:t>
            </a:r>
            <a:endParaRPr sz="200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spcBef>
                <a:spcPts val="869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Now,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low-</a:t>
            </a:r>
            <a:r>
              <a:rPr dirty="0" sz="2400">
                <a:latin typeface="Century Gothic"/>
                <a:cs typeface="Century Gothic"/>
              </a:rPr>
              <a:t>touch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has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become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more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popular</a:t>
            </a:r>
            <a:endParaRPr sz="24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Direct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access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(DMA)</a:t>
            </a:r>
            <a:endParaRPr sz="20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Electronic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management</a:t>
            </a:r>
            <a:endParaRPr sz="2000">
              <a:latin typeface="Century Gothic"/>
              <a:cs typeface="Century Gothic"/>
            </a:endParaRPr>
          </a:p>
          <a:p>
            <a:pPr lvl="3" marL="1611630" indent="-2279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1611630" algn="l"/>
              </a:tabLst>
            </a:pPr>
            <a:r>
              <a:rPr dirty="0" sz="1800">
                <a:latin typeface="Century Gothic"/>
                <a:cs typeface="Century Gothic"/>
              </a:rPr>
              <a:t>No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human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intervention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for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most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transactions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Trading</a:t>
            </a:r>
            <a:r>
              <a:rPr dirty="0" spc="-105"/>
              <a:t> </a:t>
            </a:r>
            <a:r>
              <a:rPr dirty="0"/>
              <a:t>System</a:t>
            </a:r>
            <a:r>
              <a:rPr dirty="0" spc="-105"/>
              <a:t> </a:t>
            </a:r>
            <a:r>
              <a:rPr dirty="0" spc="-10"/>
              <a:t>Architectures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06865" y="2491642"/>
            <a:ext cx="6802120" cy="3933190"/>
            <a:chOff x="2706865" y="2491642"/>
            <a:chExt cx="6802120" cy="39331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39355" y="4560306"/>
              <a:ext cx="966652" cy="7038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3160" y="2491642"/>
              <a:ext cx="966652" cy="7038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6221" y="2549190"/>
              <a:ext cx="966652" cy="7038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7229" y="5321511"/>
              <a:ext cx="1154351" cy="7601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4610" y="3107090"/>
              <a:ext cx="1163736" cy="76018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9912" y="2605500"/>
              <a:ext cx="966652" cy="7038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4336" y="5668492"/>
              <a:ext cx="1154351" cy="75575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2589" y="2683090"/>
              <a:ext cx="919727" cy="4223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3160" y="3491911"/>
              <a:ext cx="966652" cy="7038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6221" y="3549459"/>
              <a:ext cx="966652" cy="7038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9912" y="3605769"/>
              <a:ext cx="966652" cy="7038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2589" y="3683369"/>
              <a:ext cx="919727" cy="42232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0072" y="4620003"/>
              <a:ext cx="966652" cy="70387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88898" y="4735133"/>
              <a:ext cx="919727" cy="42232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3160" y="5494833"/>
              <a:ext cx="966652" cy="7038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6221" y="5552382"/>
              <a:ext cx="966652" cy="70387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9912" y="5608692"/>
              <a:ext cx="966652" cy="7038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2589" y="5686282"/>
              <a:ext cx="919727" cy="42232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3524" y="4167160"/>
              <a:ext cx="1163736" cy="76018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85677" y="3683759"/>
              <a:ext cx="1266971" cy="10041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5238" y="3107090"/>
              <a:ext cx="1154351" cy="76018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11782" y="2608308"/>
              <a:ext cx="947882" cy="7414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06865" y="5307952"/>
              <a:ext cx="675717" cy="60063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8754" y="4167160"/>
              <a:ext cx="1163736" cy="76018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73301" y="2724608"/>
              <a:ext cx="384783" cy="59125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98841" y="4655513"/>
              <a:ext cx="675717" cy="7132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87850" y="4667325"/>
              <a:ext cx="572483" cy="70387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942590" y="4626001"/>
              <a:ext cx="759460" cy="492125"/>
            </a:xfrm>
            <a:custGeom>
              <a:avLst/>
              <a:gdLst/>
              <a:ahLst/>
              <a:cxnLst/>
              <a:rect l="l" t="t" r="r" b="b"/>
              <a:pathLst>
                <a:path w="759459" h="492125">
                  <a:moveTo>
                    <a:pt x="758927" y="0"/>
                  </a:moveTo>
                  <a:lnTo>
                    <a:pt x="0" y="0"/>
                  </a:lnTo>
                  <a:lnTo>
                    <a:pt x="0" y="491772"/>
                  </a:lnTo>
                  <a:lnTo>
                    <a:pt x="758927" y="491772"/>
                  </a:lnTo>
                  <a:lnTo>
                    <a:pt x="758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942589" y="4626000"/>
              <a:ext cx="759460" cy="492125"/>
            </a:xfrm>
            <a:custGeom>
              <a:avLst/>
              <a:gdLst/>
              <a:ahLst/>
              <a:cxnLst/>
              <a:rect l="l" t="t" r="r" b="b"/>
              <a:pathLst>
                <a:path w="759459" h="492125">
                  <a:moveTo>
                    <a:pt x="0" y="0"/>
                  </a:moveTo>
                  <a:lnTo>
                    <a:pt x="758928" y="0"/>
                  </a:lnTo>
                  <a:lnTo>
                    <a:pt x="758928" y="491772"/>
                  </a:lnTo>
                  <a:lnTo>
                    <a:pt x="0" y="491772"/>
                  </a:lnTo>
                  <a:lnTo>
                    <a:pt x="0" y="0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846395" y="2557337"/>
              <a:ext cx="759460" cy="492125"/>
            </a:xfrm>
            <a:custGeom>
              <a:avLst/>
              <a:gdLst/>
              <a:ahLst/>
              <a:cxnLst/>
              <a:rect l="l" t="t" r="r" b="b"/>
              <a:pathLst>
                <a:path w="759459" h="492125">
                  <a:moveTo>
                    <a:pt x="758927" y="0"/>
                  </a:moveTo>
                  <a:lnTo>
                    <a:pt x="0" y="0"/>
                  </a:lnTo>
                  <a:lnTo>
                    <a:pt x="0" y="491772"/>
                  </a:lnTo>
                  <a:lnTo>
                    <a:pt x="758927" y="491772"/>
                  </a:lnTo>
                  <a:lnTo>
                    <a:pt x="758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789455" y="2557336"/>
              <a:ext cx="815975" cy="549910"/>
            </a:xfrm>
            <a:custGeom>
              <a:avLst/>
              <a:gdLst/>
              <a:ahLst/>
              <a:cxnLst/>
              <a:rect l="l" t="t" r="r" b="b"/>
              <a:pathLst>
                <a:path w="815975" h="549910">
                  <a:moveTo>
                    <a:pt x="56938" y="0"/>
                  </a:moveTo>
                  <a:lnTo>
                    <a:pt x="815866" y="0"/>
                  </a:lnTo>
                  <a:lnTo>
                    <a:pt x="815866" y="491772"/>
                  </a:lnTo>
                  <a:lnTo>
                    <a:pt x="56938" y="491772"/>
                  </a:lnTo>
                  <a:lnTo>
                    <a:pt x="56938" y="0"/>
                  </a:lnTo>
                  <a:close/>
                </a:path>
                <a:path w="815975" h="549910">
                  <a:moveTo>
                    <a:pt x="0" y="57548"/>
                  </a:moveTo>
                  <a:lnTo>
                    <a:pt x="758928" y="57548"/>
                  </a:lnTo>
                  <a:lnTo>
                    <a:pt x="758928" y="549321"/>
                  </a:lnTo>
                  <a:lnTo>
                    <a:pt x="0" y="549321"/>
                  </a:lnTo>
                  <a:lnTo>
                    <a:pt x="0" y="57548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950465" y="5387206"/>
              <a:ext cx="948055" cy="548640"/>
            </a:xfrm>
            <a:custGeom>
              <a:avLst/>
              <a:gdLst/>
              <a:ahLst/>
              <a:cxnLst/>
              <a:rect l="l" t="t" r="r" b="b"/>
              <a:pathLst>
                <a:path w="948054" h="548639">
                  <a:moveTo>
                    <a:pt x="947882" y="0"/>
                  </a:moveTo>
                  <a:lnTo>
                    <a:pt x="0" y="0"/>
                  </a:lnTo>
                  <a:lnTo>
                    <a:pt x="0" y="548082"/>
                  </a:lnTo>
                  <a:lnTo>
                    <a:pt x="947882" y="548082"/>
                  </a:lnTo>
                  <a:lnTo>
                    <a:pt x="9478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950464" y="5387206"/>
              <a:ext cx="948055" cy="548640"/>
            </a:xfrm>
            <a:custGeom>
              <a:avLst/>
              <a:gdLst/>
              <a:ahLst/>
              <a:cxnLst/>
              <a:rect l="l" t="t" r="r" b="b"/>
              <a:pathLst>
                <a:path w="948054" h="548639">
                  <a:moveTo>
                    <a:pt x="0" y="0"/>
                  </a:moveTo>
                  <a:lnTo>
                    <a:pt x="947882" y="0"/>
                  </a:lnTo>
                  <a:lnTo>
                    <a:pt x="947882" y="548082"/>
                  </a:lnTo>
                  <a:lnTo>
                    <a:pt x="0" y="548082"/>
                  </a:lnTo>
                  <a:lnTo>
                    <a:pt x="0" y="0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069099" y="5503080"/>
            <a:ext cx="701675" cy="2921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8745" marR="5080" indent="-106680">
              <a:lnSpc>
                <a:spcPct val="101400"/>
              </a:lnSpc>
              <a:spcBef>
                <a:spcPts val="120"/>
              </a:spcBef>
            </a:pPr>
            <a:r>
              <a:rPr dirty="0" sz="850" spc="-10" b="1">
                <a:latin typeface="Arial"/>
                <a:cs typeface="Arial"/>
              </a:rPr>
              <a:t>Connectivity Gateway</a:t>
            </a:r>
            <a:endParaRPr sz="8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37844" y="3172784"/>
            <a:ext cx="948055" cy="548640"/>
          </a:xfrm>
          <a:prstGeom prst="rect">
            <a:avLst/>
          </a:prstGeom>
          <a:solidFill>
            <a:srgbClr val="FFFFFF"/>
          </a:solidFill>
          <a:ln w="9384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algn="ctr" marL="124460" marR="126364" indent="-635">
              <a:lnSpc>
                <a:spcPct val="101400"/>
              </a:lnSpc>
              <a:spcBef>
                <a:spcPts val="515"/>
              </a:spcBef>
            </a:pPr>
            <a:r>
              <a:rPr dirty="0" sz="850" spc="-10" b="1">
                <a:latin typeface="Arial"/>
                <a:cs typeface="Arial"/>
              </a:rPr>
              <a:t>Order Management System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225747" y="2707420"/>
            <a:ext cx="595630" cy="736600"/>
            <a:chOff x="3225747" y="2707420"/>
            <a:chExt cx="595630" cy="736600"/>
          </a:xfrm>
        </p:grpSpPr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66581" y="2947723"/>
              <a:ext cx="63479" cy="39099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33050" y="2714722"/>
              <a:ext cx="497004" cy="26691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233049" y="2714722"/>
              <a:ext cx="497205" cy="267335"/>
            </a:xfrm>
            <a:custGeom>
              <a:avLst/>
              <a:gdLst/>
              <a:ahLst/>
              <a:cxnLst/>
              <a:rect l="l" t="t" r="r" b="b"/>
              <a:pathLst>
                <a:path w="497204" h="267335">
                  <a:moveTo>
                    <a:pt x="0" y="33905"/>
                  </a:moveTo>
                  <a:lnTo>
                    <a:pt x="48936" y="49932"/>
                  </a:lnTo>
                  <a:lnTo>
                    <a:pt x="96820" y="67678"/>
                  </a:lnTo>
                  <a:lnTo>
                    <a:pt x="143581" y="87103"/>
                  </a:lnTo>
                  <a:lnTo>
                    <a:pt x="189149" y="108169"/>
                  </a:lnTo>
                  <a:lnTo>
                    <a:pt x="233452" y="130840"/>
                  </a:lnTo>
                  <a:lnTo>
                    <a:pt x="276419" y="155075"/>
                  </a:lnTo>
                  <a:lnTo>
                    <a:pt x="317981" y="180838"/>
                  </a:lnTo>
                  <a:lnTo>
                    <a:pt x="358067" y="208091"/>
                  </a:lnTo>
                  <a:lnTo>
                    <a:pt x="396604" y="236795"/>
                  </a:lnTo>
                  <a:lnTo>
                    <a:pt x="433524" y="266913"/>
                  </a:lnTo>
                  <a:lnTo>
                    <a:pt x="497004" y="233008"/>
                  </a:lnTo>
                  <a:lnTo>
                    <a:pt x="459802" y="203160"/>
                  </a:lnTo>
                  <a:lnTo>
                    <a:pt x="421059" y="174673"/>
                  </a:lnTo>
                  <a:lnTo>
                    <a:pt x="380841" y="147584"/>
                  </a:lnTo>
                  <a:lnTo>
                    <a:pt x="339213" y="121925"/>
                  </a:lnTo>
                  <a:lnTo>
                    <a:pt x="296240" y="97734"/>
                  </a:lnTo>
                  <a:lnTo>
                    <a:pt x="251988" y="75044"/>
                  </a:lnTo>
                  <a:lnTo>
                    <a:pt x="206520" y="53890"/>
                  </a:lnTo>
                  <a:lnTo>
                    <a:pt x="159903" y="34308"/>
                  </a:lnTo>
                  <a:lnTo>
                    <a:pt x="112201" y="16333"/>
                  </a:lnTo>
                  <a:lnTo>
                    <a:pt x="63480" y="0"/>
                  </a:lnTo>
                  <a:lnTo>
                    <a:pt x="0" y="33905"/>
                  </a:lnTo>
                  <a:close/>
                </a:path>
              </a:pathLst>
            </a:custGeom>
            <a:ln w="67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10464" y="3205266"/>
              <a:ext cx="503199" cy="23084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310464" y="3205265"/>
              <a:ext cx="503555" cy="231140"/>
            </a:xfrm>
            <a:custGeom>
              <a:avLst/>
              <a:gdLst/>
              <a:ahLst/>
              <a:cxnLst/>
              <a:rect l="l" t="t" r="r" b="b"/>
              <a:pathLst>
                <a:path w="503554" h="231139">
                  <a:moveTo>
                    <a:pt x="0" y="53382"/>
                  </a:moveTo>
                  <a:lnTo>
                    <a:pt x="329788" y="230844"/>
                  </a:lnTo>
                  <a:lnTo>
                    <a:pt x="503198" y="137063"/>
                  </a:lnTo>
                  <a:lnTo>
                    <a:pt x="503198" y="104601"/>
                  </a:lnTo>
                  <a:lnTo>
                    <a:pt x="419589" y="50496"/>
                  </a:lnTo>
                  <a:lnTo>
                    <a:pt x="419589" y="99551"/>
                  </a:lnTo>
                  <a:lnTo>
                    <a:pt x="356109" y="133457"/>
                  </a:lnTo>
                  <a:lnTo>
                    <a:pt x="304666" y="115659"/>
                  </a:lnTo>
                  <a:lnTo>
                    <a:pt x="254340" y="96036"/>
                  </a:lnTo>
                  <a:lnTo>
                    <a:pt x="205213" y="74621"/>
                  </a:lnTo>
                  <a:lnTo>
                    <a:pt x="157361" y="51453"/>
                  </a:lnTo>
                  <a:lnTo>
                    <a:pt x="110865" y="26567"/>
                  </a:lnTo>
                  <a:lnTo>
                    <a:pt x="65802" y="0"/>
                  </a:lnTo>
                  <a:lnTo>
                    <a:pt x="0" y="36069"/>
                  </a:lnTo>
                  <a:lnTo>
                    <a:pt x="0" y="53382"/>
                  </a:lnTo>
                  <a:close/>
                </a:path>
              </a:pathLst>
            </a:custGeom>
            <a:ln w="67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33050" y="2748621"/>
              <a:ext cx="433524" cy="59009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233049" y="2748621"/>
              <a:ext cx="433705" cy="590550"/>
            </a:xfrm>
            <a:custGeom>
              <a:avLst/>
              <a:gdLst/>
              <a:ahLst/>
              <a:cxnLst/>
              <a:rect l="l" t="t" r="r" b="b"/>
              <a:pathLst>
                <a:path w="433704" h="590550">
                  <a:moveTo>
                    <a:pt x="0" y="355643"/>
                  </a:moveTo>
                  <a:lnTo>
                    <a:pt x="37718" y="385105"/>
                  </a:lnTo>
                  <a:lnTo>
                    <a:pt x="76836" y="413310"/>
                  </a:lnTo>
                  <a:lnTo>
                    <a:pt x="117296" y="440226"/>
                  </a:lnTo>
                  <a:lnTo>
                    <a:pt x="159045" y="465826"/>
                  </a:lnTo>
                  <a:lnTo>
                    <a:pt x="202027" y="490078"/>
                  </a:lnTo>
                  <a:lnTo>
                    <a:pt x="246189" y="512953"/>
                  </a:lnTo>
                  <a:lnTo>
                    <a:pt x="291474" y="534422"/>
                  </a:lnTo>
                  <a:lnTo>
                    <a:pt x="337828" y="554455"/>
                  </a:lnTo>
                  <a:lnTo>
                    <a:pt x="385196" y="573022"/>
                  </a:lnTo>
                  <a:lnTo>
                    <a:pt x="433524" y="590094"/>
                  </a:lnTo>
                  <a:lnTo>
                    <a:pt x="433524" y="233008"/>
                  </a:lnTo>
                  <a:lnTo>
                    <a:pt x="396197" y="203284"/>
                  </a:lnTo>
                  <a:lnTo>
                    <a:pt x="357364" y="174898"/>
                  </a:lnTo>
                  <a:lnTo>
                    <a:pt x="317087" y="147884"/>
                  </a:lnTo>
                  <a:lnTo>
                    <a:pt x="275430" y="122274"/>
                  </a:lnTo>
                  <a:lnTo>
                    <a:pt x="232456" y="98102"/>
                  </a:lnTo>
                  <a:lnTo>
                    <a:pt x="188225" y="75403"/>
                  </a:lnTo>
                  <a:lnTo>
                    <a:pt x="142802" y="54209"/>
                  </a:lnTo>
                  <a:lnTo>
                    <a:pt x="96248" y="34555"/>
                  </a:lnTo>
                  <a:lnTo>
                    <a:pt x="48626" y="16474"/>
                  </a:lnTo>
                  <a:lnTo>
                    <a:pt x="0" y="0"/>
                  </a:lnTo>
                  <a:lnTo>
                    <a:pt x="0" y="355643"/>
                  </a:lnTo>
                  <a:close/>
                </a:path>
              </a:pathLst>
            </a:custGeom>
            <a:ln w="6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233049" y="2714722"/>
              <a:ext cx="581025" cy="721995"/>
            </a:xfrm>
            <a:custGeom>
              <a:avLst/>
              <a:gdLst/>
              <a:ahLst/>
              <a:cxnLst/>
              <a:rect l="l" t="t" r="r" b="b"/>
              <a:pathLst>
                <a:path w="581025" h="721995">
                  <a:moveTo>
                    <a:pt x="0" y="389548"/>
                  </a:moveTo>
                  <a:lnTo>
                    <a:pt x="34486" y="415948"/>
                  </a:lnTo>
                  <a:lnTo>
                    <a:pt x="69865" y="441590"/>
                  </a:lnTo>
                  <a:lnTo>
                    <a:pt x="106117" y="466460"/>
                  </a:lnTo>
                  <a:lnTo>
                    <a:pt x="143218" y="490543"/>
                  </a:lnTo>
                  <a:lnTo>
                    <a:pt x="77415" y="526612"/>
                  </a:lnTo>
                  <a:lnTo>
                    <a:pt x="77415" y="543924"/>
                  </a:lnTo>
                  <a:lnTo>
                    <a:pt x="407203" y="721386"/>
                  </a:lnTo>
                  <a:lnTo>
                    <a:pt x="580613" y="627605"/>
                  </a:lnTo>
                  <a:lnTo>
                    <a:pt x="580613" y="595143"/>
                  </a:lnTo>
                  <a:lnTo>
                    <a:pt x="497005" y="550162"/>
                  </a:lnTo>
                  <a:lnTo>
                    <a:pt x="497005" y="233008"/>
                  </a:lnTo>
                  <a:lnTo>
                    <a:pt x="458632" y="204313"/>
                  </a:lnTo>
                  <a:lnTo>
                    <a:pt x="419036" y="176755"/>
                  </a:lnTo>
                  <a:lnTo>
                    <a:pt x="378261" y="150356"/>
                  </a:lnTo>
                  <a:lnTo>
                    <a:pt x="336349" y="125140"/>
                  </a:lnTo>
                  <a:lnTo>
                    <a:pt x="293346" y="101130"/>
                  </a:lnTo>
                  <a:lnTo>
                    <a:pt x="249295" y="78350"/>
                  </a:lnTo>
                  <a:lnTo>
                    <a:pt x="204239" y="56824"/>
                  </a:lnTo>
                  <a:lnTo>
                    <a:pt x="158222" y="36574"/>
                  </a:lnTo>
                  <a:lnTo>
                    <a:pt x="111288" y="17625"/>
                  </a:lnTo>
                  <a:lnTo>
                    <a:pt x="63480" y="0"/>
                  </a:lnTo>
                  <a:lnTo>
                    <a:pt x="0" y="33905"/>
                  </a:lnTo>
                  <a:lnTo>
                    <a:pt x="0" y="389548"/>
                  </a:lnTo>
                  <a:close/>
                </a:path>
              </a:pathLst>
            </a:custGeom>
            <a:ln w="140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271762" y="2796230"/>
              <a:ext cx="503555" cy="621665"/>
            </a:xfrm>
            <a:custGeom>
              <a:avLst/>
              <a:gdLst/>
              <a:ahLst/>
              <a:cxnLst/>
              <a:rect l="l" t="t" r="r" b="b"/>
              <a:pathLst>
                <a:path w="503554" h="621664">
                  <a:moveTo>
                    <a:pt x="0" y="0"/>
                  </a:moveTo>
                  <a:lnTo>
                    <a:pt x="0" y="305875"/>
                  </a:lnTo>
                  <a:lnTo>
                    <a:pt x="356105" y="498482"/>
                  </a:lnTo>
                </a:path>
                <a:path w="503554" h="621664">
                  <a:moveTo>
                    <a:pt x="108374" y="481167"/>
                  </a:moveTo>
                  <a:lnTo>
                    <a:pt x="366944" y="621116"/>
                  </a:lnTo>
                  <a:lnTo>
                    <a:pt x="503195" y="546092"/>
                  </a:lnTo>
                </a:path>
              </a:pathLst>
            </a:custGeom>
            <a:ln w="67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71763" y="2796231"/>
              <a:ext cx="356109" cy="48837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271762" y="2796230"/>
              <a:ext cx="356235" cy="498475"/>
            </a:xfrm>
            <a:custGeom>
              <a:avLst/>
              <a:gdLst/>
              <a:ahLst/>
              <a:cxnLst/>
              <a:rect l="l" t="t" r="r" b="b"/>
              <a:pathLst>
                <a:path w="356235" h="498475">
                  <a:moveTo>
                    <a:pt x="7741" y="300818"/>
                  </a:moveTo>
                  <a:lnTo>
                    <a:pt x="356109" y="488378"/>
                  </a:lnTo>
                  <a:lnTo>
                    <a:pt x="356109" y="498478"/>
                  </a:lnTo>
                  <a:lnTo>
                    <a:pt x="356109" y="191168"/>
                  </a:lnTo>
                  <a:lnTo>
                    <a:pt x="0" y="0"/>
                  </a:lnTo>
                  <a:lnTo>
                    <a:pt x="7741" y="3606"/>
                  </a:lnTo>
                  <a:lnTo>
                    <a:pt x="7741" y="300818"/>
                  </a:lnTo>
                  <a:close/>
                </a:path>
              </a:pathLst>
            </a:custGeom>
            <a:ln w="6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2955166" y="2415781"/>
            <a:ext cx="1033144" cy="2921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26670">
              <a:lnSpc>
                <a:spcPct val="101400"/>
              </a:lnSpc>
              <a:spcBef>
                <a:spcPts val="120"/>
              </a:spcBef>
            </a:pPr>
            <a:r>
              <a:rPr dirty="0" sz="850">
                <a:latin typeface="Arial"/>
                <a:cs typeface="Arial"/>
              </a:rPr>
              <a:t>Trading</a:t>
            </a:r>
            <a:r>
              <a:rPr dirty="0" sz="850" spc="10">
                <a:latin typeface="Arial"/>
                <a:cs typeface="Arial"/>
              </a:rPr>
              <a:t> </a:t>
            </a:r>
            <a:r>
              <a:rPr dirty="0" sz="850" spc="-10">
                <a:latin typeface="Arial"/>
                <a:cs typeface="Arial"/>
              </a:rPr>
              <a:t>Application </a:t>
            </a:r>
            <a:r>
              <a:rPr dirty="0" sz="850">
                <a:latin typeface="Arial"/>
                <a:cs typeface="Arial"/>
              </a:rPr>
              <a:t>(provided</a:t>
            </a:r>
            <a:r>
              <a:rPr dirty="0" sz="850" spc="70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by</a:t>
            </a:r>
            <a:r>
              <a:rPr dirty="0" sz="850" spc="75">
                <a:latin typeface="Arial"/>
                <a:cs typeface="Arial"/>
              </a:rPr>
              <a:t> </a:t>
            </a:r>
            <a:r>
              <a:rPr dirty="0" sz="850" spc="-10">
                <a:latin typeface="Arial"/>
                <a:cs typeface="Arial"/>
              </a:rPr>
              <a:t>broker)</a:t>
            </a:r>
            <a:endParaRPr sz="8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733145" y="2671194"/>
            <a:ext cx="759460" cy="492125"/>
          </a:xfrm>
          <a:prstGeom prst="rect">
            <a:avLst/>
          </a:prstGeom>
          <a:solidFill>
            <a:srgbClr val="FFFFFF"/>
          </a:solidFill>
          <a:ln w="9384">
            <a:solidFill>
              <a:srgbClr val="000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algn="ctr" marL="111760" marR="113030">
              <a:lnSpc>
                <a:spcPct val="101400"/>
              </a:lnSpc>
              <a:spcBef>
                <a:spcPts val="295"/>
              </a:spcBef>
            </a:pPr>
            <a:r>
              <a:rPr dirty="0" sz="850" spc="-10" b="1">
                <a:latin typeface="Arial"/>
                <a:cs typeface="Arial"/>
              </a:rPr>
              <a:t>Market Access Gateways</a:t>
            </a:r>
            <a:endParaRPr sz="8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077570" y="5734187"/>
            <a:ext cx="948055" cy="548640"/>
          </a:xfrm>
          <a:prstGeom prst="rect">
            <a:avLst/>
          </a:prstGeom>
          <a:solidFill>
            <a:srgbClr val="FFFFFF"/>
          </a:solidFill>
          <a:ln w="9384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algn="ctr" marL="124460" marR="126364" indent="-635">
              <a:lnSpc>
                <a:spcPct val="101400"/>
              </a:lnSpc>
              <a:spcBef>
                <a:spcPts val="515"/>
              </a:spcBef>
            </a:pPr>
            <a:r>
              <a:rPr dirty="0" sz="850" spc="-10" b="1">
                <a:latin typeface="Arial"/>
                <a:cs typeface="Arial"/>
              </a:rPr>
              <a:t>Order Management System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632216" y="2767386"/>
            <a:ext cx="719455" cy="212725"/>
            <a:chOff x="8632216" y="2767386"/>
            <a:chExt cx="719455" cy="212725"/>
          </a:xfrm>
        </p:grpSpPr>
        <p:sp>
          <p:nvSpPr>
            <p:cNvPr id="55" name="object 55"/>
            <p:cNvSpPr/>
            <p:nvPr/>
          </p:nvSpPr>
          <p:spPr>
            <a:xfrm>
              <a:off x="8636979" y="2772149"/>
              <a:ext cx="709930" cy="203200"/>
            </a:xfrm>
            <a:custGeom>
              <a:avLst/>
              <a:gdLst/>
              <a:ahLst/>
              <a:cxnLst/>
              <a:rect l="l" t="t" r="r" b="b"/>
              <a:pathLst>
                <a:path w="709929" h="203200">
                  <a:moveTo>
                    <a:pt x="0" y="97473"/>
                  </a:moveTo>
                  <a:lnTo>
                    <a:pt x="271947" y="202638"/>
                  </a:lnTo>
                  <a:lnTo>
                    <a:pt x="263965" y="130529"/>
                  </a:lnTo>
                  <a:lnTo>
                    <a:pt x="195870" y="130529"/>
                  </a:lnTo>
                  <a:lnTo>
                    <a:pt x="0" y="97473"/>
                  </a:lnTo>
                  <a:close/>
                </a:path>
                <a:path w="709929" h="203200">
                  <a:moveTo>
                    <a:pt x="484300" y="97872"/>
                  </a:moveTo>
                  <a:lnTo>
                    <a:pt x="260351" y="97872"/>
                  </a:lnTo>
                  <a:lnTo>
                    <a:pt x="497278" y="170595"/>
                  </a:lnTo>
                  <a:lnTo>
                    <a:pt x="484300" y="97872"/>
                  </a:lnTo>
                  <a:close/>
                </a:path>
                <a:path w="709929" h="203200">
                  <a:moveTo>
                    <a:pt x="183215" y="20425"/>
                  </a:moveTo>
                  <a:lnTo>
                    <a:pt x="195870" y="130529"/>
                  </a:lnTo>
                  <a:lnTo>
                    <a:pt x="263965" y="130529"/>
                  </a:lnTo>
                  <a:lnTo>
                    <a:pt x="260351" y="97872"/>
                  </a:lnTo>
                  <a:lnTo>
                    <a:pt x="484300" y="97872"/>
                  </a:lnTo>
                  <a:lnTo>
                    <a:pt x="482800" y="89471"/>
                  </a:lnTo>
                  <a:lnTo>
                    <a:pt x="420185" y="89471"/>
                  </a:lnTo>
                  <a:lnTo>
                    <a:pt x="183215" y="20425"/>
                  </a:lnTo>
                  <a:close/>
                </a:path>
                <a:path w="709929" h="203200">
                  <a:moveTo>
                    <a:pt x="626404" y="76480"/>
                  </a:moveTo>
                  <a:lnTo>
                    <a:pt x="480481" y="76480"/>
                  </a:lnTo>
                  <a:lnTo>
                    <a:pt x="709753" y="105511"/>
                  </a:lnTo>
                  <a:lnTo>
                    <a:pt x="626404" y="76480"/>
                  </a:lnTo>
                  <a:close/>
                </a:path>
                <a:path w="709929" h="203200">
                  <a:moveTo>
                    <a:pt x="406824" y="0"/>
                  </a:moveTo>
                  <a:lnTo>
                    <a:pt x="420185" y="89471"/>
                  </a:lnTo>
                  <a:lnTo>
                    <a:pt x="482800" y="89471"/>
                  </a:lnTo>
                  <a:lnTo>
                    <a:pt x="480481" y="76480"/>
                  </a:lnTo>
                  <a:lnTo>
                    <a:pt x="626404" y="76480"/>
                  </a:lnTo>
                  <a:lnTo>
                    <a:pt x="40682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636979" y="2772149"/>
              <a:ext cx="709930" cy="203200"/>
            </a:xfrm>
            <a:custGeom>
              <a:avLst/>
              <a:gdLst/>
              <a:ahLst/>
              <a:cxnLst/>
              <a:rect l="l" t="t" r="r" b="b"/>
              <a:pathLst>
                <a:path w="709929" h="203200">
                  <a:moveTo>
                    <a:pt x="497280" y="170595"/>
                  </a:moveTo>
                  <a:lnTo>
                    <a:pt x="480481" y="76480"/>
                  </a:lnTo>
                  <a:lnTo>
                    <a:pt x="709752" y="105511"/>
                  </a:lnTo>
                  <a:lnTo>
                    <a:pt x="406823" y="0"/>
                  </a:lnTo>
                  <a:lnTo>
                    <a:pt x="420185" y="89471"/>
                  </a:lnTo>
                  <a:lnTo>
                    <a:pt x="183215" y="20425"/>
                  </a:lnTo>
                  <a:lnTo>
                    <a:pt x="195870" y="130529"/>
                  </a:lnTo>
                  <a:lnTo>
                    <a:pt x="0" y="97474"/>
                  </a:lnTo>
                  <a:lnTo>
                    <a:pt x="271947" y="202638"/>
                  </a:lnTo>
                  <a:lnTo>
                    <a:pt x="260350" y="97872"/>
                  </a:lnTo>
                  <a:lnTo>
                    <a:pt x="497277" y="170595"/>
                  </a:lnTo>
                  <a:close/>
                </a:path>
              </a:pathLst>
            </a:custGeom>
            <a:ln w="938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9431383" y="2740782"/>
            <a:ext cx="526415" cy="2921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20"/>
              </a:spcBef>
            </a:pPr>
            <a:r>
              <a:rPr dirty="0" sz="850" spc="-10" i="1">
                <a:latin typeface="Arial"/>
                <a:cs typeface="Arial"/>
              </a:rPr>
              <a:t>Stock</a:t>
            </a:r>
            <a:r>
              <a:rPr dirty="0" sz="850" spc="-10" i="1">
                <a:latin typeface="Arial"/>
                <a:cs typeface="Arial"/>
              </a:rPr>
              <a:t> Exchange</a:t>
            </a:r>
            <a:endParaRPr sz="8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431384" y="3636559"/>
            <a:ext cx="557530" cy="4235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20"/>
              </a:spcBef>
            </a:pPr>
            <a:r>
              <a:rPr dirty="0" sz="850" spc="-10" i="1">
                <a:latin typeface="Arial"/>
                <a:cs typeface="Arial"/>
              </a:rPr>
              <a:t>Alternative</a:t>
            </a:r>
            <a:r>
              <a:rPr dirty="0" sz="850" spc="-10" i="1">
                <a:latin typeface="Arial"/>
                <a:cs typeface="Arial"/>
              </a:rPr>
              <a:t> Trading Network</a:t>
            </a:r>
            <a:endParaRPr sz="8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445460" y="4736515"/>
            <a:ext cx="263525" cy="2921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20"/>
              </a:spcBef>
            </a:pPr>
            <a:r>
              <a:rPr dirty="0" sz="850" spc="-20" i="1">
                <a:latin typeface="Arial"/>
                <a:cs typeface="Arial"/>
              </a:rPr>
              <a:t>Dark</a:t>
            </a:r>
            <a:r>
              <a:rPr dirty="0" sz="850" spc="-20" i="1">
                <a:latin typeface="Arial"/>
                <a:cs typeface="Arial"/>
              </a:rPr>
              <a:t> Pool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7728383" y="3552843"/>
            <a:ext cx="882015" cy="615315"/>
            <a:chOff x="7728383" y="3552843"/>
            <a:chExt cx="882015" cy="615315"/>
          </a:xfrm>
        </p:grpSpPr>
        <p:sp>
          <p:nvSpPr>
            <p:cNvPr id="61" name="object 61"/>
            <p:cNvSpPr/>
            <p:nvPr/>
          </p:nvSpPr>
          <p:spPr>
            <a:xfrm>
              <a:off x="7846395" y="3557606"/>
              <a:ext cx="759460" cy="492125"/>
            </a:xfrm>
            <a:custGeom>
              <a:avLst/>
              <a:gdLst/>
              <a:ahLst/>
              <a:cxnLst/>
              <a:rect l="l" t="t" r="r" b="b"/>
              <a:pathLst>
                <a:path w="759459" h="492125">
                  <a:moveTo>
                    <a:pt x="758927" y="0"/>
                  </a:moveTo>
                  <a:lnTo>
                    <a:pt x="0" y="0"/>
                  </a:lnTo>
                  <a:lnTo>
                    <a:pt x="0" y="491772"/>
                  </a:lnTo>
                  <a:lnTo>
                    <a:pt x="758927" y="491772"/>
                  </a:lnTo>
                  <a:lnTo>
                    <a:pt x="758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846394" y="3557605"/>
              <a:ext cx="759460" cy="492125"/>
            </a:xfrm>
            <a:custGeom>
              <a:avLst/>
              <a:gdLst/>
              <a:ahLst/>
              <a:cxnLst/>
              <a:rect l="l" t="t" r="r" b="b"/>
              <a:pathLst>
                <a:path w="759459" h="492125">
                  <a:moveTo>
                    <a:pt x="0" y="0"/>
                  </a:moveTo>
                  <a:lnTo>
                    <a:pt x="758928" y="0"/>
                  </a:lnTo>
                  <a:lnTo>
                    <a:pt x="758928" y="491772"/>
                  </a:lnTo>
                  <a:lnTo>
                    <a:pt x="0" y="491772"/>
                  </a:lnTo>
                  <a:lnTo>
                    <a:pt x="0" y="0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7789455" y="3615154"/>
              <a:ext cx="759460" cy="492125"/>
            </a:xfrm>
            <a:custGeom>
              <a:avLst/>
              <a:gdLst/>
              <a:ahLst/>
              <a:cxnLst/>
              <a:rect l="l" t="t" r="r" b="b"/>
              <a:pathLst>
                <a:path w="759459" h="492125">
                  <a:moveTo>
                    <a:pt x="758927" y="0"/>
                  </a:moveTo>
                  <a:lnTo>
                    <a:pt x="0" y="0"/>
                  </a:lnTo>
                  <a:lnTo>
                    <a:pt x="0" y="491772"/>
                  </a:lnTo>
                  <a:lnTo>
                    <a:pt x="758927" y="491772"/>
                  </a:lnTo>
                  <a:lnTo>
                    <a:pt x="758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7789455" y="3615154"/>
              <a:ext cx="759460" cy="492125"/>
            </a:xfrm>
            <a:custGeom>
              <a:avLst/>
              <a:gdLst/>
              <a:ahLst/>
              <a:cxnLst/>
              <a:rect l="l" t="t" r="r" b="b"/>
              <a:pathLst>
                <a:path w="759459" h="492125">
                  <a:moveTo>
                    <a:pt x="0" y="0"/>
                  </a:moveTo>
                  <a:lnTo>
                    <a:pt x="758928" y="0"/>
                  </a:lnTo>
                  <a:lnTo>
                    <a:pt x="758928" y="491772"/>
                  </a:lnTo>
                  <a:lnTo>
                    <a:pt x="0" y="491772"/>
                  </a:lnTo>
                  <a:lnTo>
                    <a:pt x="0" y="0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733146" y="3671464"/>
              <a:ext cx="759460" cy="492125"/>
            </a:xfrm>
            <a:custGeom>
              <a:avLst/>
              <a:gdLst/>
              <a:ahLst/>
              <a:cxnLst/>
              <a:rect l="l" t="t" r="r" b="b"/>
              <a:pathLst>
                <a:path w="759459" h="492125">
                  <a:moveTo>
                    <a:pt x="758927" y="0"/>
                  </a:moveTo>
                  <a:lnTo>
                    <a:pt x="0" y="0"/>
                  </a:lnTo>
                  <a:lnTo>
                    <a:pt x="0" y="491772"/>
                  </a:lnTo>
                  <a:lnTo>
                    <a:pt x="758927" y="491772"/>
                  </a:lnTo>
                  <a:lnTo>
                    <a:pt x="758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7733145" y="3671464"/>
              <a:ext cx="759460" cy="492125"/>
            </a:xfrm>
            <a:custGeom>
              <a:avLst/>
              <a:gdLst/>
              <a:ahLst/>
              <a:cxnLst/>
              <a:rect l="l" t="t" r="r" b="b"/>
              <a:pathLst>
                <a:path w="759459" h="492125">
                  <a:moveTo>
                    <a:pt x="0" y="0"/>
                  </a:moveTo>
                  <a:lnTo>
                    <a:pt x="758928" y="0"/>
                  </a:lnTo>
                  <a:lnTo>
                    <a:pt x="758928" y="491772"/>
                  </a:lnTo>
                  <a:lnTo>
                    <a:pt x="0" y="491772"/>
                  </a:lnTo>
                  <a:lnTo>
                    <a:pt x="0" y="0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7737838" y="3693488"/>
            <a:ext cx="749935" cy="4235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106680" marR="108585">
              <a:lnSpc>
                <a:spcPct val="101400"/>
              </a:lnSpc>
              <a:spcBef>
                <a:spcPts val="120"/>
              </a:spcBef>
            </a:pPr>
            <a:r>
              <a:rPr dirty="0" sz="850" spc="-10" b="1">
                <a:latin typeface="Arial"/>
                <a:cs typeface="Arial"/>
              </a:rPr>
              <a:t>Market Access Gateways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7878543" y="3767664"/>
            <a:ext cx="1473200" cy="1414780"/>
            <a:chOff x="7878543" y="3767664"/>
            <a:chExt cx="1473200" cy="1414780"/>
          </a:xfrm>
        </p:grpSpPr>
        <p:sp>
          <p:nvSpPr>
            <p:cNvPr id="69" name="object 69"/>
            <p:cNvSpPr/>
            <p:nvPr/>
          </p:nvSpPr>
          <p:spPr>
            <a:xfrm>
              <a:off x="8636979" y="3772428"/>
              <a:ext cx="709930" cy="203200"/>
            </a:xfrm>
            <a:custGeom>
              <a:avLst/>
              <a:gdLst/>
              <a:ahLst/>
              <a:cxnLst/>
              <a:rect l="l" t="t" r="r" b="b"/>
              <a:pathLst>
                <a:path w="709929" h="203200">
                  <a:moveTo>
                    <a:pt x="0" y="97473"/>
                  </a:moveTo>
                  <a:lnTo>
                    <a:pt x="271947" y="202638"/>
                  </a:lnTo>
                  <a:lnTo>
                    <a:pt x="263966" y="130529"/>
                  </a:lnTo>
                  <a:lnTo>
                    <a:pt x="195870" y="130529"/>
                  </a:lnTo>
                  <a:lnTo>
                    <a:pt x="0" y="97473"/>
                  </a:lnTo>
                  <a:close/>
                </a:path>
                <a:path w="709929" h="203200">
                  <a:moveTo>
                    <a:pt x="484299" y="97871"/>
                  </a:moveTo>
                  <a:lnTo>
                    <a:pt x="260351" y="97871"/>
                  </a:lnTo>
                  <a:lnTo>
                    <a:pt x="497278" y="170595"/>
                  </a:lnTo>
                  <a:lnTo>
                    <a:pt x="484299" y="97871"/>
                  </a:lnTo>
                  <a:close/>
                </a:path>
                <a:path w="709929" h="203200">
                  <a:moveTo>
                    <a:pt x="183215" y="20425"/>
                  </a:moveTo>
                  <a:lnTo>
                    <a:pt x="195870" y="130529"/>
                  </a:lnTo>
                  <a:lnTo>
                    <a:pt x="263966" y="130529"/>
                  </a:lnTo>
                  <a:lnTo>
                    <a:pt x="260351" y="97871"/>
                  </a:lnTo>
                  <a:lnTo>
                    <a:pt x="484299" y="97871"/>
                  </a:lnTo>
                  <a:lnTo>
                    <a:pt x="482800" y="89471"/>
                  </a:lnTo>
                  <a:lnTo>
                    <a:pt x="420185" y="89471"/>
                  </a:lnTo>
                  <a:lnTo>
                    <a:pt x="183215" y="20425"/>
                  </a:lnTo>
                  <a:close/>
                </a:path>
                <a:path w="709929" h="203200">
                  <a:moveTo>
                    <a:pt x="626404" y="76480"/>
                  </a:moveTo>
                  <a:lnTo>
                    <a:pt x="480481" y="76480"/>
                  </a:lnTo>
                  <a:lnTo>
                    <a:pt x="709753" y="105511"/>
                  </a:lnTo>
                  <a:lnTo>
                    <a:pt x="626404" y="76480"/>
                  </a:lnTo>
                  <a:close/>
                </a:path>
                <a:path w="709929" h="203200">
                  <a:moveTo>
                    <a:pt x="406824" y="0"/>
                  </a:moveTo>
                  <a:lnTo>
                    <a:pt x="420185" y="89471"/>
                  </a:lnTo>
                  <a:lnTo>
                    <a:pt x="482800" y="89471"/>
                  </a:lnTo>
                  <a:lnTo>
                    <a:pt x="480481" y="76480"/>
                  </a:lnTo>
                  <a:lnTo>
                    <a:pt x="626404" y="76480"/>
                  </a:lnTo>
                  <a:lnTo>
                    <a:pt x="40682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8636979" y="3772427"/>
              <a:ext cx="709930" cy="203200"/>
            </a:xfrm>
            <a:custGeom>
              <a:avLst/>
              <a:gdLst/>
              <a:ahLst/>
              <a:cxnLst/>
              <a:rect l="l" t="t" r="r" b="b"/>
              <a:pathLst>
                <a:path w="709929" h="203200">
                  <a:moveTo>
                    <a:pt x="497280" y="170595"/>
                  </a:moveTo>
                  <a:lnTo>
                    <a:pt x="480481" y="76480"/>
                  </a:lnTo>
                  <a:lnTo>
                    <a:pt x="709752" y="105511"/>
                  </a:lnTo>
                  <a:lnTo>
                    <a:pt x="406823" y="0"/>
                  </a:lnTo>
                  <a:lnTo>
                    <a:pt x="420185" y="89471"/>
                  </a:lnTo>
                  <a:lnTo>
                    <a:pt x="183215" y="20425"/>
                  </a:lnTo>
                  <a:lnTo>
                    <a:pt x="195870" y="130529"/>
                  </a:lnTo>
                  <a:lnTo>
                    <a:pt x="0" y="97474"/>
                  </a:lnTo>
                  <a:lnTo>
                    <a:pt x="271947" y="202638"/>
                  </a:lnTo>
                  <a:lnTo>
                    <a:pt x="260350" y="97872"/>
                  </a:lnTo>
                  <a:lnTo>
                    <a:pt x="497277" y="170595"/>
                  </a:lnTo>
                  <a:close/>
                </a:path>
              </a:pathLst>
            </a:custGeom>
            <a:ln w="938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7883306" y="4685698"/>
              <a:ext cx="759460" cy="492125"/>
            </a:xfrm>
            <a:custGeom>
              <a:avLst/>
              <a:gdLst/>
              <a:ahLst/>
              <a:cxnLst/>
              <a:rect l="l" t="t" r="r" b="b"/>
              <a:pathLst>
                <a:path w="759459" h="492125">
                  <a:moveTo>
                    <a:pt x="758927" y="0"/>
                  </a:moveTo>
                  <a:lnTo>
                    <a:pt x="0" y="0"/>
                  </a:lnTo>
                  <a:lnTo>
                    <a:pt x="0" y="491772"/>
                  </a:lnTo>
                  <a:lnTo>
                    <a:pt x="758927" y="491772"/>
                  </a:lnTo>
                  <a:lnTo>
                    <a:pt x="758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7883305" y="4685697"/>
              <a:ext cx="759460" cy="492125"/>
            </a:xfrm>
            <a:custGeom>
              <a:avLst/>
              <a:gdLst/>
              <a:ahLst/>
              <a:cxnLst/>
              <a:rect l="l" t="t" r="r" b="b"/>
              <a:pathLst>
                <a:path w="759459" h="492125">
                  <a:moveTo>
                    <a:pt x="0" y="0"/>
                  </a:moveTo>
                  <a:lnTo>
                    <a:pt x="758928" y="0"/>
                  </a:lnTo>
                  <a:lnTo>
                    <a:pt x="758928" y="491772"/>
                  </a:lnTo>
                  <a:lnTo>
                    <a:pt x="0" y="491772"/>
                  </a:lnTo>
                  <a:lnTo>
                    <a:pt x="0" y="0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8013760" y="4707723"/>
            <a:ext cx="488950" cy="4235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49530">
              <a:lnSpc>
                <a:spcPct val="101400"/>
              </a:lnSpc>
              <a:spcBef>
                <a:spcPts val="120"/>
              </a:spcBef>
            </a:pPr>
            <a:r>
              <a:rPr dirty="0" sz="850" spc="-10" b="1">
                <a:latin typeface="Arial"/>
                <a:cs typeface="Arial"/>
              </a:rPr>
              <a:t>Market Access Gateway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7784693" y="4819429"/>
            <a:ext cx="1623695" cy="1295400"/>
            <a:chOff x="7784693" y="4819429"/>
            <a:chExt cx="1623695" cy="1295400"/>
          </a:xfrm>
        </p:grpSpPr>
        <p:sp>
          <p:nvSpPr>
            <p:cNvPr id="75" name="object 75"/>
            <p:cNvSpPr/>
            <p:nvPr/>
          </p:nvSpPr>
          <p:spPr>
            <a:xfrm>
              <a:off x="8693289" y="4824192"/>
              <a:ext cx="709930" cy="203200"/>
            </a:xfrm>
            <a:custGeom>
              <a:avLst/>
              <a:gdLst/>
              <a:ahLst/>
              <a:cxnLst/>
              <a:rect l="l" t="t" r="r" b="b"/>
              <a:pathLst>
                <a:path w="709929" h="203200">
                  <a:moveTo>
                    <a:pt x="0" y="97473"/>
                  </a:moveTo>
                  <a:lnTo>
                    <a:pt x="271947" y="202638"/>
                  </a:lnTo>
                  <a:lnTo>
                    <a:pt x="263965" y="130528"/>
                  </a:lnTo>
                  <a:lnTo>
                    <a:pt x="195869" y="130528"/>
                  </a:lnTo>
                  <a:lnTo>
                    <a:pt x="0" y="97473"/>
                  </a:lnTo>
                  <a:close/>
                </a:path>
                <a:path w="709929" h="203200">
                  <a:moveTo>
                    <a:pt x="484299" y="97871"/>
                  </a:moveTo>
                  <a:lnTo>
                    <a:pt x="260350" y="97871"/>
                  </a:lnTo>
                  <a:lnTo>
                    <a:pt x="497277" y="170595"/>
                  </a:lnTo>
                  <a:lnTo>
                    <a:pt x="484299" y="97871"/>
                  </a:lnTo>
                  <a:close/>
                </a:path>
                <a:path w="709929" h="203200">
                  <a:moveTo>
                    <a:pt x="183215" y="20425"/>
                  </a:moveTo>
                  <a:lnTo>
                    <a:pt x="195869" y="130528"/>
                  </a:lnTo>
                  <a:lnTo>
                    <a:pt x="263965" y="130528"/>
                  </a:lnTo>
                  <a:lnTo>
                    <a:pt x="260350" y="97871"/>
                  </a:lnTo>
                  <a:lnTo>
                    <a:pt x="484299" y="97871"/>
                  </a:lnTo>
                  <a:lnTo>
                    <a:pt x="482800" y="89470"/>
                  </a:lnTo>
                  <a:lnTo>
                    <a:pt x="420185" y="89470"/>
                  </a:lnTo>
                  <a:lnTo>
                    <a:pt x="183215" y="20425"/>
                  </a:lnTo>
                  <a:close/>
                </a:path>
                <a:path w="709929" h="203200">
                  <a:moveTo>
                    <a:pt x="626402" y="76480"/>
                  </a:moveTo>
                  <a:lnTo>
                    <a:pt x="480481" y="76480"/>
                  </a:lnTo>
                  <a:lnTo>
                    <a:pt x="709752" y="105511"/>
                  </a:lnTo>
                  <a:lnTo>
                    <a:pt x="626402" y="76480"/>
                  </a:lnTo>
                  <a:close/>
                </a:path>
                <a:path w="709929" h="203200">
                  <a:moveTo>
                    <a:pt x="406822" y="0"/>
                  </a:moveTo>
                  <a:lnTo>
                    <a:pt x="420185" y="89470"/>
                  </a:lnTo>
                  <a:lnTo>
                    <a:pt x="482800" y="89470"/>
                  </a:lnTo>
                  <a:lnTo>
                    <a:pt x="480481" y="76480"/>
                  </a:lnTo>
                  <a:lnTo>
                    <a:pt x="626402" y="76480"/>
                  </a:lnTo>
                  <a:lnTo>
                    <a:pt x="406822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693288" y="4824191"/>
              <a:ext cx="709930" cy="203200"/>
            </a:xfrm>
            <a:custGeom>
              <a:avLst/>
              <a:gdLst/>
              <a:ahLst/>
              <a:cxnLst/>
              <a:rect l="l" t="t" r="r" b="b"/>
              <a:pathLst>
                <a:path w="709929" h="203200">
                  <a:moveTo>
                    <a:pt x="497280" y="170595"/>
                  </a:moveTo>
                  <a:lnTo>
                    <a:pt x="480481" y="76480"/>
                  </a:lnTo>
                  <a:lnTo>
                    <a:pt x="709752" y="105511"/>
                  </a:lnTo>
                  <a:lnTo>
                    <a:pt x="406823" y="0"/>
                  </a:lnTo>
                  <a:lnTo>
                    <a:pt x="420185" y="89470"/>
                  </a:lnTo>
                  <a:lnTo>
                    <a:pt x="183215" y="20425"/>
                  </a:lnTo>
                  <a:lnTo>
                    <a:pt x="195870" y="130528"/>
                  </a:lnTo>
                  <a:lnTo>
                    <a:pt x="0" y="97474"/>
                  </a:lnTo>
                  <a:lnTo>
                    <a:pt x="271947" y="202638"/>
                  </a:lnTo>
                  <a:lnTo>
                    <a:pt x="260350" y="97871"/>
                  </a:lnTo>
                  <a:lnTo>
                    <a:pt x="497277" y="170595"/>
                  </a:lnTo>
                  <a:close/>
                </a:path>
              </a:pathLst>
            </a:custGeom>
            <a:ln w="938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7846395" y="5560527"/>
              <a:ext cx="759460" cy="492125"/>
            </a:xfrm>
            <a:custGeom>
              <a:avLst/>
              <a:gdLst/>
              <a:ahLst/>
              <a:cxnLst/>
              <a:rect l="l" t="t" r="r" b="b"/>
              <a:pathLst>
                <a:path w="759459" h="492125">
                  <a:moveTo>
                    <a:pt x="758927" y="0"/>
                  </a:moveTo>
                  <a:lnTo>
                    <a:pt x="0" y="0"/>
                  </a:lnTo>
                  <a:lnTo>
                    <a:pt x="0" y="491772"/>
                  </a:lnTo>
                  <a:lnTo>
                    <a:pt x="758927" y="491772"/>
                  </a:lnTo>
                  <a:lnTo>
                    <a:pt x="758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7789455" y="5560527"/>
              <a:ext cx="815975" cy="549910"/>
            </a:xfrm>
            <a:custGeom>
              <a:avLst/>
              <a:gdLst/>
              <a:ahLst/>
              <a:cxnLst/>
              <a:rect l="l" t="t" r="r" b="b"/>
              <a:pathLst>
                <a:path w="815975" h="549910">
                  <a:moveTo>
                    <a:pt x="56938" y="0"/>
                  </a:moveTo>
                  <a:lnTo>
                    <a:pt x="815866" y="0"/>
                  </a:lnTo>
                  <a:lnTo>
                    <a:pt x="815866" y="491772"/>
                  </a:lnTo>
                  <a:lnTo>
                    <a:pt x="56938" y="491772"/>
                  </a:lnTo>
                  <a:lnTo>
                    <a:pt x="56938" y="0"/>
                  </a:lnTo>
                  <a:close/>
                </a:path>
                <a:path w="815975" h="549910">
                  <a:moveTo>
                    <a:pt x="0" y="57548"/>
                  </a:moveTo>
                  <a:lnTo>
                    <a:pt x="758928" y="57548"/>
                  </a:lnTo>
                  <a:lnTo>
                    <a:pt x="758928" y="549321"/>
                  </a:lnTo>
                  <a:lnTo>
                    <a:pt x="0" y="549321"/>
                  </a:lnTo>
                  <a:lnTo>
                    <a:pt x="0" y="57548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7733145" y="5674386"/>
            <a:ext cx="759460" cy="492125"/>
          </a:xfrm>
          <a:prstGeom prst="rect">
            <a:avLst/>
          </a:prstGeom>
          <a:solidFill>
            <a:srgbClr val="FFFFFF"/>
          </a:solidFill>
          <a:ln w="9384">
            <a:solidFill>
              <a:srgbClr val="000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algn="ctr" marL="111760" marR="113030">
              <a:lnSpc>
                <a:spcPct val="101400"/>
              </a:lnSpc>
              <a:spcBef>
                <a:spcPts val="295"/>
              </a:spcBef>
            </a:pPr>
            <a:r>
              <a:rPr dirty="0" sz="850" spc="-10" b="1">
                <a:latin typeface="Arial"/>
                <a:cs typeface="Arial"/>
              </a:rPr>
              <a:t>Market Access Gateways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4405474" y="1658920"/>
            <a:ext cx="4946015" cy="4700270"/>
            <a:chOff x="4405474" y="1658920"/>
            <a:chExt cx="4946015" cy="4700270"/>
          </a:xfrm>
        </p:grpSpPr>
        <p:sp>
          <p:nvSpPr>
            <p:cNvPr id="81" name="object 81"/>
            <p:cNvSpPr/>
            <p:nvPr/>
          </p:nvSpPr>
          <p:spPr>
            <a:xfrm>
              <a:off x="8636979" y="5775340"/>
              <a:ext cx="709930" cy="203200"/>
            </a:xfrm>
            <a:custGeom>
              <a:avLst/>
              <a:gdLst/>
              <a:ahLst/>
              <a:cxnLst/>
              <a:rect l="l" t="t" r="r" b="b"/>
              <a:pathLst>
                <a:path w="709929" h="203200">
                  <a:moveTo>
                    <a:pt x="0" y="97474"/>
                  </a:moveTo>
                  <a:lnTo>
                    <a:pt x="271947" y="202638"/>
                  </a:lnTo>
                  <a:lnTo>
                    <a:pt x="263965" y="130528"/>
                  </a:lnTo>
                  <a:lnTo>
                    <a:pt x="195870" y="130528"/>
                  </a:lnTo>
                  <a:lnTo>
                    <a:pt x="0" y="97474"/>
                  </a:lnTo>
                  <a:close/>
                </a:path>
                <a:path w="709929" h="203200">
                  <a:moveTo>
                    <a:pt x="484299" y="97871"/>
                  </a:moveTo>
                  <a:lnTo>
                    <a:pt x="260351" y="97871"/>
                  </a:lnTo>
                  <a:lnTo>
                    <a:pt x="497278" y="170595"/>
                  </a:lnTo>
                  <a:lnTo>
                    <a:pt x="484299" y="97871"/>
                  </a:lnTo>
                  <a:close/>
                </a:path>
                <a:path w="709929" h="203200">
                  <a:moveTo>
                    <a:pt x="183215" y="20425"/>
                  </a:moveTo>
                  <a:lnTo>
                    <a:pt x="195870" y="130528"/>
                  </a:lnTo>
                  <a:lnTo>
                    <a:pt x="263965" y="130528"/>
                  </a:lnTo>
                  <a:lnTo>
                    <a:pt x="260351" y="97871"/>
                  </a:lnTo>
                  <a:lnTo>
                    <a:pt x="484299" y="97871"/>
                  </a:lnTo>
                  <a:lnTo>
                    <a:pt x="482800" y="89471"/>
                  </a:lnTo>
                  <a:lnTo>
                    <a:pt x="420185" y="89471"/>
                  </a:lnTo>
                  <a:lnTo>
                    <a:pt x="183215" y="20425"/>
                  </a:lnTo>
                  <a:close/>
                </a:path>
                <a:path w="709929" h="203200">
                  <a:moveTo>
                    <a:pt x="626403" y="76480"/>
                  </a:moveTo>
                  <a:lnTo>
                    <a:pt x="480481" y="76480"/>
                  </a:lnTo>
                  <a:lnTo>
                    <a:pt x="709753" y="105511"/>
                  </a:lnTo>
                  <a:lnTo>
                    <a:pt x="626403" y="76480"/>
                  </a:lnTo>
                  <a:close/>
                </a:path>
                <a:path w="709929" h="203200">
                  <a:moveTo>
                    <a:pt x="406824" y="0"/>
                  </a:moveTo>
                  <a:lnTo>
                    <a:pt x="420185" y="89471"/>
                  </a:lnTo>
                  <a:lnTo>
                    <a:pt x="482800" y="89471"/>
                  </a:lnTo>
                  <a:lnTo>
                    <a:pt x="480481" y="76480"/>
                  </a:lnTo>
                  <a:lnTo>
                    <a:pt x="626403" y="76480"/>
                  </a:lnTo>
                  <a:lnTo>
                    <a:pt x="40682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636979" y="5775340"/>
              <a:ext cx="709930" cy="203200"/>
            </a:xfrm>
            <a:custGeom>
              <a:avLst/>
              <a:gdLst/>
              <a:ahLst/>
              <a:cxnLst/>
              <a:rect l="l" t="t" r="r" b="b"/>
              <a:pathLst>
                <a:path w="709929" h="203200">
                  <a:moveTo>
                    <a:pt x="497280" y="170595"/>
                  </a:moveTo>
                  <a:lnTo>
                    <a:pt x="480481" y="76480"/>
                  </a:lnTo>
                  <a:lnTo>
                    <a:pt x="709752" y="105511"/>
                  </a:lnTo>
                  <a:lnTo>
                    <a:pt x="406823" y="0"/>
                  </a:lnTo>
                  <a:lnTo>
                    <a:pt x="420185" y="89471"/>
                  </a:lnTo>
                  <a:lnTo>
                    <a:pt x="183215" y="20425"/>
                  </a:lnTo>
                  <a:lnTo>
                    <a:pt x="195870" y="130529"/>
                  </a:lnTo>
                  <a:lnTo>
                    <a:pt x="0" y="97474"/>
                  </a:lnTo>
                  <a:lnTo>
                    <a:pt x="271947" y="202638"/>
                  </a:lnTo>
                  <a:lnTo>
                    <a:pt x="260350" y="97872"/>
                  </a:lnTo>
                  <a:lnTo>
                    <a:pt x="497277" y="170595"/>
                  </a:lnTo>
                  <a:close/>
                </a:path>
              </a:pathLst>
            </a:custGeom>
            <a:ln w="938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410237" y="1663682"/>
              <a:ext cx="4586605" cy="4690745"/>
            </a:xfrm>
            <a:custGeom>
              <a:avLst/>
              <a:gdLst/>
              <a:ahLst/>
              <a:cxnLst/>
              <a:rect l="l" t="t" r="r" b="b"/>
              <a:pathLst>
                <a:path w="4586605" h="4690745">
                  <a:moveTo>
                    <a:pt x="18769" y="44614"/>
                  </a:moveTo>
                  <a:lnTo>
                    <a:pt x="0" y="4690175"/>
                  </a:lnTo>
                </a:path>
                <a:path w="4586605" h="4690745">
                  <a:moveTo>
                    <a:pt x="4585994" y="0"/>
                  </a:moveTo>
                  <a:lnTo>
                    <a:pt x="4567225" y="4645559"/>
                  </a:lnTo>
                </a:path>
              </a:pathLst>
            </a:custGeom>
            <a:ln w="9384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 txBox="1"/>
          <p:nvPr/>
        </p:nvSpPr>
        <p:spPr>
          <a:xfrm>
            <a:off x="9431383" y="5743974"/>
            <a:ext cx="526415" cy="2921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20"/>
              </a:spcBef>
            </a:pPr>
            <a:r>
              <a:rPr dirty="0" sz="850" spc="-10" i="1">
                <a:latin typeface="Arial"/>
                <a:cs typeface="Arial"/>
              </a:rPr>
              <a:t>Stock</a:t>
            </a:r>
            <a:r>
              <a:rPr dirty="0" sz="850" spc="-10" i="1">
                <a:latin typeface="Arial"/>
                <a:cs typeface="Arial"/>
              </a:rPr>
              <a:t> Exchange</a:t>
            </a:r>
            <a:endParaRPr sz="85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9158939" y="1620745"/>
            <a:ext cx="861694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10">
                <a:latin typeface="Arial"/>
                <a:cs typeface="Arial"/>
              </a:rPr>
              <a:t>Exchanges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017850" y="1620745"/>
            <a:ext cx="393382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423285" algn="l"/>
              </a:tabLst>
            </a:pPr>
            <a:r>
              <a:rPr dirty="0" sz="1300" spc="-10">
                <a:latin typeface="Arial"/>
                <a:cs typeface="Arial"/>
              </a:rPr>
              <a:t>Customers</a:t>
            </a:r>
            <a:r>
              <a:rPr dirty="0" sz="1300">
                <a:latin typeface="Arial"/>
                <a:cs typeface="Arial"/>
              </a:rPr>
              <a:t>	</a:t>
            </a:r>
            <a:r>
              <a:rPr dirty="0" sz="1300" spc="-10">
                <a:latin typeface="Arial"/>
                <a:cs typeface="Arial"/>
              </a:rPr>
              <a:t>Broker</a:t>
            </a:r>
            <a:endParaRPr sz="130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2810099" y="4111712"/>
            <a:ext cx="1051560" cy="8890"/>
          </a:xfrm>
          <a:custGeom>
            <a:avLst/>
            <a:gdLst/>
            <a:ahLst/>
            <a:cxnLst/>
            <a:rect l="l" t="t" r="r" b="b"/>
            <a:pathLst>
              <a:path w="1051560" h="8889">
                <a:moveTo>
                  <a:pt x="1051116" y="0"/>
                </a:moveTo>
                <a:lnTo>
                  <a:pt x="0" y="8474"/>
                </a:lnTo>
              </a:path>
            </a:pathLst>
          </a:custGeom>
          <a:ln w="938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5236758" y="4232854"/>
            <a:ext cx="948055" cy="548640"/>
          </a:xfrm>
          <a:prstGeom prst="rect">
            <a:avLst/>
          </a:prstGeom>
          <a:solidFill>
            <a:srgbClr val="FFFFFF"/>
          </a:solidFill>
          <a:ln w="9384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algn="ctr" marL="124460" marR="126364">
              <a:lnSpc>
                <a:spcPct val="101400"/>
              </a:lnSpc>
              <a:spcBef>
                <a:spcPts val="515"/>
              </a:spcBef>
            </a:pPr>
            <a:r>
              <a:rPr dirty="0" sz="850" spc="-10" b="1">
                <a:latin typeface="Arial"/>
                <a:cs typeface="Arial"/>
              </a:rPr>
              <a:t>Execution Management System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767241" y="3409542"/>
            <a:ext cx="1426845" cy="2305050"/>
            <a:chOff x="3767241" y="3409542"/>
            <a:chExt cx="1426845" cy="2305050"/>
          </a:xfrm>
        </p:grpSpPr>
        <p:sp>
          <p:nvSpPr>
            <p:cNvPr id="90" name="object 90"/>
            <p:cNvSpPr/>
            <p:nvPr/>
          </p:nvSpPr>
          <p:spPr>
            <a:xfrm>
              <a:off x="3942070" y="4398413"/>
              <a:ext cx="1189355" cy="1222375"/>
            </a:xfrm>
            <a:custGeom>
              <a:avLst/>
              <a:gdLst/>
              <a:ahLst/>
              <a:cxnLst/>
              <a:rect l="l" t="t" r="r" b="b"/>
              <a:pathLst>
                <a:path w="1189354" h="1222375">
                  <a:moveTo>
                    <a:pt x="0" y="1221822"/>
                  </a:moveTo>
                  <a:lnTo>
                    <a:pt x="16308" y="1171785"/>
                  </a:lnTo>
                  <a:lnTo>
                    <a:pt x="32427" y="1120099"/>
                  </a:lnTo>
                  <a:lnTo>
                    <a:pt x="48387" y="1067010"/>
                  </a:lnTo>
                  <a:lnTo>
                    <a:pt x="64214" y="1012764"/>
                  </a:lnTo>
                  <a:lnTo>
                    <a:pt x="79937" y="957607"/>
                  </a:lnTo>
                  <a:lnTo>
                    <a:pt x="95585" y="901785"/>
                  </a:lnTo>
                  <a:lnTo>
                    <a:pt x="111185" y="845544"/>
                  </a:lnTo>
                  <a:lnTo>
                    <a:pt x="126765" y="789131"/>
                  </a:lnTo>
                  <a:lnTo>
                    <a:pt x="142354" y="732790"/>
                  </a:lnTo>
                  <a:lnTo>
                    <a:pt x="157979" y="676768"/>
                  </a:lnTo>
                  <a:lnTo>
                    <a:pt x="173669" y="621311"/>
                  </a:lnTo>
                  <a:lnTo>
                    <a:pt x="189452" y="566666"/>
                  </a:lnTo>
                  <a:lnTo>
                    <a:pt x="205355" y="513077"/>
                  </a:lnTo>
                  <a:lnTo>
                    <a:pt x="221408" y="460791"/>
                  </a:lnTo>
                  <a:lnTo>
                    <a:pt x="237638" y="410055"/>
                  </a:lnTo>
                  <a:lnTo>
                    <a:pt x="254074" y="361113"/>
                  </a:lnTo>
                  <a:lnTo>
                    <a:pt x="270743" y="314213"/>
                  </a:lnTo>
                  <a:lnTo>
                    <a:pt x="287673" y="269599"/>
                  </a:lnTo>
                  <a:lnTo>
                    <a:pt x="304893" y="227519"/>
                  </a:lnTo>
                  <a:lnTo>
                    <a:pt x="322431" y="188217"/>
                  </a:lnTo>
                  <a:lnTo>
                    <a:pt x="340315" y="151941"/>
                  </a:lnTo>
                  <a:lnTo>
                    <a:pt x="377233" y="89447"/>
                  </a:lnTo>
                  <a:lnTo>
                    <a:pt x="415873" y="42005"/>
                  </a:lnTo>
                  <a:lnTo>
                    <a:pt x="456458" y="11583"/>
                  </a:lnTo>
                  <a:lnTo>
                    <a:pt x="501571" y="0"/>
                  </a:lnTo>
                  <a:lnTo>
                    <a:pt x="526254" y="2421"/>
                  </a:lnTo>
                  <a:lnTo>
                    <a:pt x="577456" y="23301"/>
                  </a:lnTo>
                  <a:lnTo>
                    <a:pt x="630852" y="63336"/>
                  </a:lnTo>
                  <a:lnTo>
                    <a:pt x="686135" y="119852"/>
                  </a:lnTo>
                  <a:lnTo>
                    <a:pt x="714388" y="153455"/>
                  </a:lnTo>
                  <a:lnTo>
                    <a:pt x="742998" y="190174"/>
                  </a:lnTo>
                  <a:lnTo>
                    <a:pt x="771927" y="229676"/>
                  </a:lnTo>
                  <a:lnTo>
                    <a:pt x="801136" y="271627"/>
                  </a:lnTo>
                  <a:lnTo>
                    <a:pt x="830587" y="315692"/>
                  </a:lnTo>
                  <a:lnTo>
                    <a:pt x="860242" y="361537"/>
                  </a:lnTo>
                  <a:lnTo>
                    <a:pt x="890062" y="408828"/>
                  </a:lnTo>
                  <a:lnTo>
                    <a:pt x="920009" y="457230"/>
                  </a:lnTo>
                  <a:lnTo>
                    <a:pt x="950045" y="506408"/>
                  </a:lnTo>
                  <a:lnTo>
                    <a:pt x="980132" y="556030"/>
                  </a:lnTo>
                  <a:lnTo>
                    <a:pt x="1010231" y="605759"/>
                  </a:lnTo>
                  <a:lnTo>
                    <a:pt x="1040303" y="655263"/>
                  </a:lnTo>
                  <a:lnTo>
                    <a:pt x="1070312" y="704206"/>
                  </a:lnTo>
                  <a:lnTo>
                    <a:pt x="1100217" y="752255"/>
                  </a:lnTo>
                  <a:lnTo>
                    <a:pt x="1129982" y="799074"/>
                  </a:lnTo>
                  <a:lnTo>
                    <a:pt x="1159568" y="844330"/>
                  </a:lnTo>
                  <a:lnTo>
                    <a:pt x="1188936" y="887689"/>
                  </a:lnTo>
                </a:path>
              </a:pathLst>
            </a:custGeom>
            <a:ln w="18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94424" y="5256661"/>
              <a:ext cx="99431" cy="111334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00885" y="5599437"/>
              <a:ext cx="82372" cy="11498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3844518" y="3478158"/>
              <a:ext cx="881380" cy="375920"/>
            </a:xfrm>
            <a:custGeom>
              <a:avLst/>
              <a:gdLst/>
              <a:ahLst/>
              <a:cxnLst/>
              <a:rect l="l" t="t" r="r" b="b"/>
              <a:pathLst>
                <a:path w="881379" h="375920">
                  <a:moveTo>
                    <a:pt x="0" y="0"/>
                  </a:moveTo>
                  <a:lnTo>
                    <a:pt x="39806" y="37759"/>
                  </a:lnTo>
                  <a:lnTo>
                    <a:pt x="79682" y="76506"/>
                  </a:lnTo>
                  <a:lnTo>
                    <a:pt x="119581" y="115567"/>
                  </a:lnTo>
                  <a:lnTo>
                    <a:pt x="159455" y="154265"/>
                  </a:lnTo>
                  <a:lnTo>
                    <a:pt x="199257" y="191928"/>
                  </a:lnTo>
                  <a:lnTo>
                    <a:pt x="238939" y="227880"/>
                  </a:lnTo>
                  <a:lnTo>
                    <a:pt x="278454" y="261448"/>
                  </a:lnTo>
                  <a:lnTo>
                    <a:pt x="317755" y="291957"/>
                  </a:lnTo>
                  <a:lnTo>
                    <a:pt x="356794" y="318732"/>
                  </a:lnTo>
                  <a:lnTo>
                    <a:pt x="395524" y="341099"/>
                  </a:lnTo>
                  <a:lnTo>
                    <a:pt x="433898" y="358384"/>
                  </a:lnTo>
                  <a:lnTo>
                    <a:pt x="471868" y="369912"/>
                  </a:lnTo>
                  <a:lnTo>
                    <a:pt x="518937" y="375644"/>
                  </a:lnTo>
                  <a:lnTo>
                    <a:pt x="565393" y="372571"/>
                  </a:lnTo>
                  <a:lnTo>
                    <a:pt x="611328" y="362029"/>
                  </a:lnTo>
                  <a:lnTo>
                    <a:pt x="656835" y="345352"/>
                  </a:lnTo>
                  <a:lnTo>
                    <a:pt x="702007" y="323877"/>
                  </a:lnTo>
                  <a:lnTo>
                    <a:pt x="746938" y="298937"/>
                  </a:lnTo>
                  <a:lnTo>
                    <a:pt x="791719" y="271869"/>
                  </a:lnTo>
                  <a:lnTo>
                    <a:pt x="836445" y="244007"/>
                  </a:lnTo>
                  <a:lnTo>
                    <a:pt x="881207" y="216686"/>
                  </a:lnTo>
                </a:path>
              </a:pathLst>
            </a:custGeom>
            <a:ln w="18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00955" y="3644364"/>
              <a:ext cx="114359" cy="89923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67241" y="3409542"/>
              <a:ext cx="108871" cy="103458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3933660" y="3766358"/>
              <a:ext cx="973455" cy="756285"/>
            </a:xfrm>
            <a:custGeom>
              <a:avLst/>
              <a:gdLst/>
              <a:ahLst/>
              <a:cxnLst/>
              <a:rect l="l" t="t" r="r" b="b"/>
              <a:pathLst>
                <a:path w="973454" h="756285">
                  <a:moveTo>
                    <a:pt x="717485" y="674532"/>
                  </a:moveTo>
                  <a:lnTo>
                    <a:pt x="376758" y="674532"/>
                  </a:lnTo>
                  <a:lnTo>
                    <a:pt x="392352" y="707411"/>
                  </a:lnTo>
                  <a:lnTo>
                    <a:pt x="421041" y="731427"/>
                  </a:lnTo>
                  <a:lnTo>
                    <a:pt x="459455" y="747165"/>
                  </a:lnTo>
                  <a:lnTo>
                    <a:pt x="504223" y="755208"/>
                  </a:lnTo>
                  <a:lnTo>
                    <a:pt x="551973" y="756139"/>
                  </a:lnTo>
                  <a:lnTo>
                    <a:pt x="599336" y="750541"/>
                  </a:lnTo>
                  <a:lnTo>
                    <a:pt x="642939" y="738999"/>
                  </a:lnTo>
                  <a:lnTo>
                    <a:pt x="679413" y="722094"/>
                  </a:lnTo>
                  <a:lnTo>
                    <a:pt x="705385" y="700411"/>
                  </a:lnTo>
                  <a:lnTo>
                    <a:pt x="717485" y="674532"/>
                  </a:lnTo>
                  <a:close/>
                </a:path>
                <a:path w="973454" h="756285">
                  <a:moveTo>
                    <a:pt x="215024" y="75163"/>
                  </a:moveTo>
                  <a:lnTo>
                    <a:pt x="171026" y="77184"/>
                  </a:lnTo>
                  <a:lnTo>
                    <a:pt x="131937" y="86860"/>
                  </a:lnTo>
                  <a:lnTo>
                    <a:pt x="68685" y="124881"/>
                  </a:lnTo>
                  <a:lnTo>
                    <a:pt x="25674" y="180637"/>
                  </a:lnTo>
                  <a:lnTo>
                    <a:pt x="3311" y="245535"/>
                  </a:lnTo>
                  <a:lnTo>
                    <a:pt x="0" y="278728"/>
                  </a:lnTo>
                  <a:lnTo>
                    <a:pt x="1974" y="310527"/>
                  </a:lnTo>
                  <a:lnTo>
                    <a:pt x="22153" y="368396"/>
                  </a:lnTo>
                  <a:lnTo>
                    <a:pt x="64172" y="409176"/>
                  </a:lnTo>
                  <a:lnTo>
                    <a:pt x="93508" y="420644"/>
                  </a:lnTo>
                  <a:lnTo>
                    <a:pt x="58517" y="451150"/>
                  </a:lnTo>
                  <a:lnTo>
                    <a:pt x="33788" y="481712"/>
                  </a:lnTo>
                  <a:lnTo>
                    <a:pt x="18515" y="511959"/>
                  </a:lnTo>
                  <a:lnTo>
                    <a:pt x="11892" y="541517"/>
                  </a:lnTo>
                  <a:lnTo>
                    <a:pt x="13116" y="570014"/>
                  </a:lnTo>
                  <a:lnTo>
                    <a:pt x="35882" y="622337"/>
                  </a:lnTo>
                  <a:lnTo>
                    <a:pt x="80373" y="665949"/>
                  </a:lnTo>
                  <a:lnTo>
                    <a:pt x="140148" y="697871"/>
                  </a:lnTo>
                  <a:lnTo>
                    <a:pt x="208769" y="715125"/>
                  </a:lnTo>
                  <a:lnTo>
                    <a:pt x="244384" y="717319"/>
                  </a:lnTo>
                  <a:lnTo>
                    <a:pt x="279795" y="714730"/>
                  </a:lnTo>
                  <a:lnTo>
                    <a:pt x="314198" y="706984"/>
                  </a:lnTo>
                  <a:lnTo>
                    <a:pt x="346788" y="693709"/>
                  </a:lnTo>
                  <a:lnTo>
                    <a:pt x="376758" y="674532"/>
                  </a:lnTo>
                  <a:lnTo>
                    <a:pt x="795241" y="674532"/>
                  </a:lnTo>
                  <a:lnTo>
                    <a:pt x="851942" y="648670"/>
                  </a:lnTo>
                  <a:lnTo>
                    <a:pt x="882152" y="625114"/>
                  </a:lnTo>
                  <a:lnTo>
                    <a:pt x="909380" y="597078"/>
                  </a:lnTo>
                  <a:lnTo>
                    <a:pt x="932863" y="565695"/>
                  </a:lnTo>
                  <a:lnTo>
                    <a:pt x="951755" y="532175"/>
                  </a:lnTo>
                  <a:lnTo>
                    <a:pt x="972598" y="463372"/>
                  </a:lnTo>
                  <a:lnTo>
                    <a:pt x="972940" y="430433"/>
                  </a:lnTo>
                  <a:lnTo>
                    <a:pt x="965492" y="400031"/>
                  </a:lnTo>
                  <a:lnTo>
                    <a:pt x="949449" y="373337"/>
                  </a:lnTo>
                  <a:lnTo>
                    <a:pt x="924008" y="351522"/>
                  </a:lnTo>
                  <a:lnTo>
                    <a:pt x="888365" y="335760"/>
                  </a:lnTo>
                  <a:lnTo>
                    <a:pt x="915536" y="310527"/>
                  </a:lnTo>
                  <a:lnTo>
                    <a:pt x="933435" y="283071"/>
                  </a:lnTo>
                  <a:lnTo>
                    <a:pt x="942767" y="254137"/>
                  </a:lnTo>
                  <a:lnTo>
                    <a:pt x="944237" y="224468"/>
                  </a:lnTo>
                  <a:lnTo>
                    <a:pt x="938549" y="194808"/>
                  </a:lnTo>
                  <a:lnTo>
                    <a:pt x="908518" y="138490"/>
                  </a:lnTo>
                  <a:lnTo>
                    <a:pt x="858313" y="91134"/>
                  </a:lnTo>
                  <a:lnTo>
                    <a:pt x="842804" y="81872"/>
                  </a:lnTo>
                  <a:lnTo>
                    <a:pt x="263878" y="81872"/>
                  </a:lnTo>
                  <a:lnTo>
                    <a:pt x="215024" y="75163"/>
                  </a:lnTo>
                  <a:close/>
                </a:path>
                <a:path w="973454" h="756285">
                  <a:moveTo>
                    <a:pt x="795241" y="674532"/>
                  </a:moveTo>
                  <a:lnTo>
                    <a:pt x="717485" y="674532"/>
                  </a:lnTo>
                  <a:lnTo>
                    <a:pt x="751534" y="680664"/>
                  </a:lnTo>
                  <a:lnTo>
                    <a:pt x="785829" y="677617"/>
                  </a:lnTo>
                  <a:lnTo>
                    <a:pt x="795241" y="674532"/>
                  </a:lnTo>
                  <a:close/>
                </a:path>
                <a:path w="973454" h="756285">
                  <a:moveTo>
                    <a:pt x="422289" y="0"/>
                  </a:moveTo>
                  <a:lnTo>
                    <a:pt x="378160" y="4240"/>
                  </a:lnTo>
                  <a:lnTo>
                    <a:pt x="337493" y="14287"/>
                  </a:lnTo>
                  <a:lnTo>
                    <a:pt x="277590" y="52842"/>
                  </a:lnTo>
                  <a:lnTo>
                    <a:pt x="263878" y="81872"/>
                  </a:lnTo>
                  <a:lnTo>
                    <a:pt x="605116" y="81872"/>
                  </a:lnTo>
                  <a:lnTo>
                    <a:pt x="578193" y="35879"/>
                  </a:lnTo>
                  <a:lnTo>
                    <a:pt x="509887" y="7892"/>
                  </a:lnTo>
                  <a:lnTo>
                    <a:pt x="467118" y="1304"/>
                  </a:lnTo>
                  <a:lnTo>
                    <a:pt x="422289" y="0"/>
                  </a:lnTo>
                  <a:close/>
                </a:path>
                <a:path w="973454" h="756285">
                  <a:moveTo>
                    <a:pt x="719931" y="47109"/>
                  </a:moveTo>
                  <a:lnTo>
                    <a:pt x="681535" y="51002"/>
                  </a:lnTo>
                  <a:lnTo>
                    <a:pt x="643028" y="62341"/>
                  </a:lnTo>
                  <a:lnTo>
                    <a:pt x="605116" y="81872"/>
                  </a:lnTo>
                  <a:lnTo>
                    <a:pt x="842804" y="81872"/>
                  </a:lnTo>
                  <a:lnTo>
                    <a:pt x="827407" y="72676"/>
                  </a:lnTo>
                  <a:lnTo>
                    <a:pt x="793572" y="58690"/>
                  </a:lnTo>
                  <a:lnTo>
                    <a:pt x="757511" y="49920"/>
                  </a:lnTo>
                  <a:lnTo>
                    <a:pt x="719931" y="47109"/>
                  </a:lnTo>
                  <a:close/>
                </a:path>
              </a:pathLst>
            </a:custGeom>
            <a:solidFill>
              <a:srgbClr val="D6D6D6">
                <a:alpha val="7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933660" y="3766358"/>
              <a:ext cx="973455" cy="756285"/>
            </a:xfrm>
            <a:custGeom>
              <a:avLst/>
              <a:gdLst/>
              <a:ahLst/>
              <a:cxnLst/>
              <a:rect l="l" t="t" r="r" b="b"/>
              <a:pathLst>
                <a:path w="973454" h="756285">
                  <a:moveTo>
                    <a:pt x="93508" y="420645"/>
                  </a:moveTo>
                  <a:lnTo>
                    <a:pt x="40404" y="391402"/>
                  </a:lnTo>
                  <a:lnTo>
                    <a:pt x="9370" y="341233"/>
                  </a:lnTo>
                  <a:lnTo>
                    <a:pt x="0" y="278728"/>
                  </a:lnTo>
                  <a:lnTo>
                    <a:pt x="3311" y="245535"/>
                  </a:lnTo>
                  <a:lnTo>
                    <a:pt x="25674" y="180637"/>
                  </a:lnTo>
                  <a:lnTo>
                    <a:pt x="68685" y="124881"/>
                  </a:lnTo>
                  <a:lnTo>
                    <a:pt x="131937" y="86860"/>
                  </a:lnTo>
                  <a:lnTo>
                    <a:pt x="171026" y="77184"/>
                  </a:lnTo>
                  <a:lnTo>
                    <a:pt x="215024" y="75163"/>
                  </a:lnTo>
                  <a:lnTo>
                    <a:pt x="263878" y="81871"/>
                  </a:lnTo>
                  <a:lnTo>
                    <a:pt x="277590" y="52842"/>
                  </a:lnTo>
                  <a:lnTo>
                    <a:pt x="303049" y="30401"/>
                  </a:lnTo>
                  <a:lnTo>
                    <a:pt x="337492" y="14287"/>
                  </a:lnTo>
                  <a:lnTo>
                    <a:pt x="378160" y="4240"/>
                  </a:lnTo>
                  <a:lnTo>
                    <a:pt x="422289" y="0"/>
                  </a:lnTo>
                  <a:lnTo>
                    <a:pt x="467118" y="1304"/>
                  </a:lnTo>
                  <a:lnTo>
                    <a:pt x="509886" y="7892"/>
                  </a:lnTo>
                  <a:lnTo>
                    <a:pt x="547832" y="19504"/>
                  </a:lnTo>
                  <a:lnTo>
                    <a:pt x="598208" y="56755"/>
                  </a:lnTo>
                  <a:lnTo>
                    <a:pt x="605116" y="81871"/>
                  </a:lnTo>
                  <a:lnTo>
                    <a:pt x="643028" y="62341"/>
                  </a:lnTo>
                  <a:lnTo>
                    <a:pt x="681535" y="51002"/>
                  </a:lnTo>
                  <a:lnTo>
                    <a:pt x="719930" y="47109"/>
                  </a:lnTo>
                  <a:lnTo>
                    <a:pt x="757511" y="49920"/>
                  </a:lnTo>
                  <a:lnTo>
                    <a:pt x="827407" y="72677"/>
                  </a:lnTo>
                  <a:lnTo>
                    <a:pt x="885585" y="113320"/>
                  </a:lnTo>
                  <a:lnTo>
                    <a:pt x="926407" y="165901"/>
                  </a:lnTo>
                  <a:lnTo>
                    <a:pt x="944236" y="224468"/>
                  </a:lnTo>
                  <a:lnTo>
                    <a:pt x="942767" y="254137"/>
                  </a:lnTo>
                  <a:lnTo>
                    <a:pt x="933435" y="283071"/>
                  </a:lnTo>
                  <a:lnTo>
                    <a:pt x="915535" y="310526"/>
                  </a:lnTo>
                  <a:lnTo>
                    <a:pt x="888364" y="335759"/>
                  </a:lnTo>
                  <a:lnTo>
                    <a:pt x="924007" y="351522"/>
                  </a:lnTo>
                  <a:lnTo>
                    <a:pt x="949449" y="373336"/>
                  </a:lnTo>
                  <a:lnTo>
                    <a:pt x="965492" y="400030"/>
                  </a:lnTo>
                  <a:lnTo>
                    <a:pt x="972940" y="430433"/>
                  </a:lnTo>
                  <a:lnTo>
                    <a:pt x="972598" y="463372"/>
                  </a:lnTo>
                  <a:lnTo>
                    <a:pt x="951755" y="532175"/>
                  </a:lnTo>
                  <a:lnTo>
                    <a:pt x="932863" y="565695"/>
                  </a:lnTo>
                  <a:lnTo>
                    <a:pt x="909394" y="597065"/>
                  </a:lnTo>
                  <a:lnTo>
                    <a:pt x="882152" y="625114"/>
                  </a:lnTo>
                  <a:lnTo>
                    <a:pt x="851942" y="648670"/>
                  </a:lnTo>
                  <a:lnTo>
                    <a:pt x="785830" y="677617"/>
                  </a:lnTo>
                  <a:lnTo>
                    <a:pt x="751535" y="680664"/>
                  </a:lnTo>
                  <a:lnTo>
                    <a:pt x="717486" y="674532"/>
                  </a:lnTo>
                  <a:lnTo>
                    <a:pt x="705385" y="700411"/>
                  </a:lnTo>
                  <a:lnTo>
                    <a:pt x="679413" y="722094"/>
                  </a:lnTo>
                  <a:lnTo>
                    <a:pt x="642940" y="738999"/>
                  </a:lnTo>
                  <a:lnTo>
                    <a:pt x="599336" y="750541"/>
                  </a:lnTo>
                  <a:lnTo>
                    <a:pt x="551973" y="756139"/>
                  </a:lnTo>
                  <a:lnTo>
                    <a:pt x="504223" y="755208"/>
                  </a:lnTo>
                  <a:lnTo>
                    <a:pt x="459455" y="747165"/>
                  </a:lnTo>
                  <a:lnTo>
                    <a:pt x="421040" y="731427"/>
                  </a:lnTo>
                  <a:lnTo>
                    <a:pt x="392351" y="707411"/>
                  </a:lnTo>
                  <a:lnTo>
                    <a:pt x="376758" y="674532"/>
                  </a:lnTo>
                  <a:lnTo>
                    <a:pt x="346787" y="693709"/>
                  </a:lnTo>
                  <a:lnTo>
                    <a:pt x="314198" y="706984"/>
                  </a:lnTo>
                  <a:lnTo>
                    <a:pt x="279795" y="714730"/>
                  </a:lnTo>
                  <a:lnTo>
                    <a:pt x="244384" y="717319"/>
                  </a:lnTo>
                  <a:lnTo>
                    <a:pt x="208769" y="715124"/>
                  </a:lnTo>
                  <a:lnTo>
                    <a:pt x="140148" y="697871"/>
                  </a:lnTo>
                  <a:lnTo>
                    <a:pt x="80373" y="665949"/>
                  </a:lnTo>
                  <a:lnTo>
                    <a:pt x="35882" y="622337"/>
                  </a:lnTo>
                  <a:lnTo>
                    <a:pt x="13116" y="570014"/>
                  </a:lnTo>
                  <a:lnTo>
                    <a:pt x="11892" y="541517"/>
                  </a:lnTo>
                  <a:lnTo>
                    <a:pt x="18515" y="511959"/>
                  </a:lnTo>
                  <a:lnTo>
                    <a:pt x="33788" y="481713"/>
                  </a:lnTo>
                  <a:lnTo>
                    <a:pt x="58518" y="451150"/>
                  </a:lnTo>
                  <a:lnTo>
                    <a:pt x="93508" y="420645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/>
          <p:cNvSpPr txBox="1"/>
          <p:nvPr/>
        </p:nvSpPr>
        <p:spPr>
          <a:xfrm>
            <a:off x="4145104" y="3920699"/>
            <a:ext cx="539115" cy="4235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12700" marR="5080">
              <a:lnSpc>
                <a:spcPct val="101400"/>
              </a:lnSpc>
              <a:spcBef>
                <a:spcPts val="120"/>
              </a:spcBef>
            </a:pPr>
            <a:r>
              <a:rPr dirty="0" sz="850">
                <a:latin typeface="Arial"/>
                <a:cs typeface="Arial"/>
              </a:rPr>
              <a:t>Internet</a:t>
            </a:r>
            <a:r>
              <a:rPr dirty="0" sz="850" spc="90">
                <a:latin typeface="Arial"/>
                <a:cs typeface="Arial"/>
              </a:rPr>
              <a:t> </a:t>
            </a:r>
            <a:r>
              <a:rPr dirty="0" sz="850" spc="-25">
                <a:latin typeface="Arial"/>
                <a:cs typeface="Arial"/>
              </a:rPr>
              <a:t>or </a:t>
            </a:r>
            <a:r>
              <a:rPr dirty="0" sz="850" spc="-10">
                <a:latin typeface="Arial"/>
                <a:cs typeface="Arial"/>
              </a:rPr>
              <a:t>Leased Lines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3225747" y="2893318"/>
            <a:ext cx="2137410" cy="2604770"/>
            <a:chOff x="3225747" y="2893318"/>
            <a:chExt cx="2137410" cy="2604770"/>
          </a:xfrm>
        </p:grpSpPr>
        <p:pic>
          <p:nvPicPr>
            <p:cNvPr id="100" name="object 10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97116" y="2893318"/>
              <a:ext cx="65694" cy="282187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66581" y="5001803"/>
              <a:ext cx="63479" cy="390991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33050" y="4768803"/>
              <a:ext cx="497004" cy="266913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3233049" y="4768802"/>
              <a:ext cx="497205" cy="267335"/>
            </a:xfrm>
            <a:custGeom>
              <a:avLst/>
              <a:gdLst/>
              <a:ahLst/>
              <a:cxnLst/>
              <a:rect l="l" t="t" r="r" b="b"/>
              <a:pathLst>
                <a:path w="497204" h="267335">
                  <a:moveTo>
                    <a:pt x="0" y="33905"/>
                  </a:moveTo>
                  <a:lnTo>
                    <a:pt x="48936" y="49932"/>
                  </a:lnTo>
                  <a:lnTo>
                    <a:pt x="96820" y="67678"/>
                  </a:lnTo>
                  <a:lnTo>
                    <a:pt x="143581" y="87103"/>
                  </a:lnTo>
                  <a:lnTo>
                    <a:pt x="189149" y="108169"/>
                  </a:lnTo>
                  <a:lnTo>
                    <a:pt x="233452" y="130840"/>
                  </a:lnTo>
                  <a:lnTo>
                    <a:pt x="276419" y="155075"/>
                  </a:lnTo>
                  <a:lnTo>
                    <a:pt x="317981" y="180838"/>
                  </a:lnTo>
                  <a:lnTo>
                    <a:pt x="358067" y="208091"/>
                  </a:lnTo>
                  <a:lnTo>
                    <a:pt x="396604" y="236795"/>
                  </a:lnTo>
                  <a:lnTo>
                    <a:pt x="433524" y="266913"/>
                  </a:lnTo>
                  <a:lnTo>
                    <a:pt x="497004" y="233008"/>
                  </a:lnTo>
                  <a:lnTo>
                    <a:pt x="459802" y="203160"/>
                  </a:lnTo>
                  <a:lnTo>
                    <a:pt x="421059" y="174673"/>
                  </a:lnTo>
                  <a:lnTo>
                    <a:pt x="380841" y="147584"/>
                  </a:lnTo>
                  <a:lnTo>
                    <a:pt x="339213" y="121925"/>
                  </a:lnTo>
                  <a:lnTo>
                    <a:pt x="296240" y="97734"/>
                  </a:lnTo>
                  <a:lnTo>
                    <a:pt x="251988" y="75044"/>
                  </a:lnTo>
                  <a:lnTo>
                    <a:pt x="206520" y="53890"/>
                  </a:lnTo>
                  <a:lnTo>
                    <a:pt x="159903" y="34308"/>
                  </a:lnTo>
                  <a:lnTo>
                    <a:pt x="112201" y="16333"/>
                  </a:lnTo>
                  <a:lnTo>
                    <a:pt x="63480" y="0"/>
                  </a:lnTo>
                  <a:lnTo>
                    <a:pt x="0" y="33905"/>
                  </a:lnTo>
                  <a:close/>
                </a:path>
              </a:pathLst>
            </a:custGeom>
            <a:ln w="67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10464" y="5259345"/>
              <a:ext cx="503199" cy="230844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3310464" y="5259345"/>
              <a:ext cx="503555" cy="231140"/>
            </a:xfrm>
            <a:custGeom>
              <a:avLst/>
              <a:gdLst/>
              <a:ahLst/>
              <a:cxnLst/>
              <a:rect l="l" t="t" r="r" b="b"/>
              <a:pathLst>
                <a:path w="503554" h="231139">
                  <a:moveTo>
                    <a:pt x="0" y="53382"/>
                  </a:moveTo>
                  <a:lnTo>
                    <a:pt x="329788" y="230844"/>
                  </a:lnTo>
                  <a:lnTo>
                    <a:pt x="503198" y="137063"/>
                  </a:lnTo>
                  <a:lnTo>
                    <a:pt x="503198" y="104601"/>
                  </a:lnTo>
                  <a:lnTo>
                    <a:pt x="419589" y="50496"/>
                  </a:lnTo>
                  <a:lnTo>
                    <a:pt x="419589" y="99552"/>
                  </a:lnTo>
                  <a:lnTo>
                    <a:pt x="356109" y="133457"/>
                  </a:lnTo>
                  <a:lnTo>
                    <a:pt x="304666" y="115659"/>
                  </a:lnTo>
                  <a:lnTo>
                    <a:pt x="254340" y="96036"/>
                  </a:lnTo>
                  <a:lnTo>
                    <a:pt x="205213" y="74621"/>
                  </a:lnTo>
                  <a:lnTo>
                    <a:pt x="157361" y="51453"/>
                  </a:lnTo>
                  <a:lnTo>
                    <a:pt x="110865" y="26567"/>
                  </a:lnTo>
                  <a:lnTo>
                    <a:pt x="65802" y="0"/>
                  </a:lnTo>
                  <a:lnTo>
                    <a:pt x="0" y="36069"/>
                  </a:lnTo>
                  <a:lnTo>
                    <a:pt x="0" y="53382"/>
                  </a:lnTo>
                  <a:close/>
                </a:path>
              </a:pathLst>
            </a:custGeom>
            <a:ln w="67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33050" y="4802700"/>
              <a:ext cx="433524" cy="59009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3233049" y="4802700"/>
              <a:ext cx="433705" cy="590550"/>
            </a:xfrm>
            <a:custGeom>
              <a:avLst/>
              <a:gdLst/>
              <a:ahLst/>
              <a:cxnLst/>
              <a:rect l="l" t="t" r="r" b="b"/>
              <a:pathLst>
                <a:path w="433704" h="590550">
                  <a:moveTo>
                    <a:pt x="0" y="355643"/>
                  </a:moveTo>
                  <a:lnTo>
                    <a:pt x="37718" y="385105"/>
                  </a:lnTo>
                  <a:lnTo>
                    <a:pt x="76836" y="413310"/>
                  </a:lnTo>
                  <a:lnTo>
                    <a:pt x="117296" y="440226"/>
                  </a:lnTo>
                  <a:lnTo>
                    <a:pt x="159045" y="465825"/>
                  </a:lnTo>
                  <a:lnTo>
                    <a:pt x="202027" y="490077"/>
                  </a:lnTo>
                  <a:lnTo>
                    <a:pt x="246189" y="512953"/>
                  </a:lnTo>
                  <a:lnTo>
                    <a:pt x="291474" y="534422"/>
                  </a:lnTo>
                  <a:lnTo>
                    <a:pt x="337828" y="554455"/>
                  </a:lnTo>
                  <a:lnTo>
                    <a:pt x="385196" y="573022"/>
                  </a:lnTo>
                  <a:lnTo>
                    <a:pt x="433524" y="590094"/>
                  </a:lnTo>
                  <a:lnTo>
                    <a:pt x="433524" y="233008"/>
                  </a:lnTo>
                  <a:lnTo>
                    <a:pt x="396197" y="203284"/>
                  </a:lnTo>
                  <a:lnTo>
                    <a:pt x="357364" y="174898"/>
                  </a:lnTo>
                  <a:lnTo>
                    <a:pt x="317087" y="147883"/>
                  </a:lnTo>
                  <a:lnTo>
                    <a:pt x="275430" y="122273"/>
                  </a:lnTo>
                  <a:lnTo>
                    <a:pt x="232456" y="98102"/>
                  </a:lnTo>
                  <a:lnTo>
                    <a:pt x="188225" y="75403"/>
                  </a:lnTo>
                  <a:lnTo>
                    <a:pt x="142802" y="54209"/>
                  </a:lnTo>
                  <a:lnTo>
                    <a:pt x="96248" y="34555"/>
                  </a:lnTo>
                  <a:lnTo>
                    <a:pt x="48626" y="16474"/>
                  </a:lnTo>
                  <a:lnTo>
                    <a:pt x="0" y="0"/>
                  </a:lnTo>
                  <a:lnTo>
                    <a:pt x="0" y="355643"/>
                  </a:lnTo>
                  <a:close/>
                </a:path>
              </a:pathLst>
            </a:custGeom>
            <a:ln w="6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3233049" y="4768802"/>
              <a:ext cx="581025" cy="721995"/>
            </a:xfrm>
            <a:custGeom>
              <a:avLst/>
              <a:gdLst/>
              <a:ahLst/>
              <a:cxnLst/>
              <a:rect l="l" t="t" r="r" b="b"/>
              <a:pathLst>
                <a:path w="581025" h="721995">
                  <a:moveTo>
                    <a:pt x="0" y="389548"/>
                  </a:moveTo>
                  <a:lnTo>
                    <a:pt x="34486" y="415947"/>
                  </a:lnTo>
                  <a:lnTo>
                    <a:pt x="69865" y="441589"/>
                  </a:lnTo>
                  <a:lnTo>
                    <a:pt x="106117" y="466459"/>
                  </a:lnTo>
                  <a:lnTo>
                    <a:pt x="143218" y="490542"/>
                  </a:lnTo>
                  <a:lnTo>
                    <a:pt x="77415" y="526611"/>
                  </a:lnTo>
                  <a:lnTo>
                    <a:pt x="77415" y="543924"/>
                  </a:lnTo>
                  <a:lnTo>
                    <a:pt x="407203" y="721386"/>
                  </a:lnTo>
                  <a:lnTo>
                    <a:pt x="580613" y="627605"/>
                  </a:lnTo>
                  <a:lnTo>
                    <a:pt x="580613" y="595143"/>
                  </a:lnTo>
                  <a:lnTo>
                    <a:pt x="497005" y="550162"/>
                  </a:lnTo>
                  <a:lnTo>
                    <a:pt x="497005" y="233007"/>
                  </a:lnTo>
                  <a:lnTo>
                    <a:pt x="458632" y="204313"/>
                  </a:lnTo>
                  <a:lnTo>
                    <a:pt x="419036" y="176754"/>
                  </a:lnTo>
                  <a:lnTo>
                    <a:pt x="378261" y="150355"/>
                  </a:lnTo>
                  <a:lnTo>
                    <a:pt x="336349" y="125139"/>
                  </a:lnTo>
                  <a:lnTo>
                    <a:pt x="293346" y="101130"/>
                  </a:lnTo>
                  <a:lnTo>
                    <a:pt x="249295" y="78350"/>
                  </a:lnTo>
                  <a:lnTo>
                    <a:pt x="204239" y="56824"/>
                  </a:lnTo>
                  <a:lnTo>
                    <a:pt x="158222" y="36574"/>
                  </a:lnTo>
                  <a:lnTo>
                    <a:pt x="111288" y="17625"/>
                  </a:lnTo>
                  <a:lnTo>
                    <a:pt x="63480" y="0"/>
                  </a:lnTo>
                  <a:lnTo>
                    <a:pt x="0" y="33905"/>
                  </a:lnTo>
                  <a:lnTo>
                    <a:pt x="0" y="389548"/>
                  </a:lnTo>
                  <a:close/>
                </a:path>
              </a:pathLst>
            </a:custGeom>
            <a:ln w="140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3271762" y="4850310"/>
              <a:ext cx="503555" cy="621665"/>
            </a:xfrm>
            <a:custGeom>
              <a:avLst/>
              <a:gdLst/>
              <a:ahLst/>
              <a:cxnLst/>
              <a:rect l="l" t="t" r="r" b="b"/>
              <a:pathLst>
                <a:path w="503554" h="621664">
                  <a:moveTo>
                    <a:pt x="0" y="0"/>
                  </a:moveTo>
                  <a:lnTo>
                    <a:pt x="0" y="305875"/>
                  </a:lnTo>
                  <a:lnTo>
                    <a:pt x="356105" y="498482"/>
                  </a:lnTo>
                </a:path>
                <a:path w="503554" h="621664">
                  <a:moveTo>
                    <a:pt x="108374" y="481167"/>
                  </a:moveTo>
                  <a:lnTo>
                    <a:pt x="366944" y="621116"/>
                  </a:lnTo>
                  <a:lnTo>
                    <a:pt x="503195" y="546092"/>
                  </a:lnTo>
                </a:path>
              </a:pathLst>
            </a:custGeom>
            <a:ln w="67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71763" y="4850311"/>
              <a:ext cx="356109" cy="488378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3271762" y="4850310"/>
              <a:ext cx="356235" cy="498475"/>
            </a:xfrm>
            <a:custGeom>
              <a:avLst/>
              <a:gdLst/>
              <a:ahLst/>
              <a:cxnLst/>
              <a:rect l="l" t="t" r="r" b="b"/>
              <a:pathLst>
                <a:path w="356235" h="498475">
                  <a:moveTo>
                    <a:pt x="7741" y="300818"/>
                  </a:moveTo>
                  <a:lnTo>
                    <a:pt x="356109" y="488378"/>
                  </a:lnTo>
                  <a:lnTo>
                    <a:pt x="356109" y="498478"/>
                  </a:lnTo>
                  <a:lnTo>
                    <a:pt x="356109" y="191168"/>
                  </a:lnTo>
                  <a:lnTo>
                    <a:pt x="0" y="0"/>
                  </a:lnTo>
                  <a:lnTo>
                    <a:pt x="7741" y="3606"/>
                  </a:lnTo>
                  <a:lnTo>
                    <a:pt x="7741" y="300818"/>
                  </a:lnTo>
                  <a:close/>
                </a:path>
              </a:pathLst>
            </a:custGeom>
            <a:ln w="6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 txBox="1"/>
          <p:nvPr/>
        </p:nvSpPr>
        <p:spPr>
          <a:xfrm>
            <a:off x="2982139" y="4469861"/>
            <a:ext cx="979805" cy="2921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81610" marR="5080" indent="-169545">
              <a:lnSpc>
                <a:spcPct val="101400"/>
              </a:lnSpc>
              <a:spcBef>
                <a:spcPts val="120"/>
              </a:spcBef>
            </a:pPr>
            <a:r>
              <a:rPr dirty="0" sz="850">
                <a:latin typeface="Arial"/>
                <a:cs typeface="Arial"/>
              </a:rPr>
              <a:t>Trading</a:t>
            </a:r>
            <a:r>
              <a:rPr dirty="0" sz="850" spc="10">
                <a:latin typeface="Arial"/>
                <a:cs typeface="Arial"/>
              </a:rPr>
              <a:t> </a:t>
            </a:r>
            <a:r>
              <a:rPr dirty="0" sz="850" spc="-10">
                <a:latin typeface="Arial"/>
                <a:cs typeface="Arial"/>
              </a:rPr>
              <a:t>Application (customer's)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5037630" y="2226552"/>
            <a:ext cx="595630" cy="736600"/>
            <a:chOff x="5037630" y="2226552"/>
            <a:chExt cx="595630" cy="736600"/>
          </a:xfrm>
        </p:grpSpPr>
        <p:pic>
          <p:nvPicPr>
            <p:cNvPr id="114" name="object 1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78472" y="2466856"/>
              <a:ext cx="63480" cy="390991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44934" y="2233855"/>
              <a:ext cx="497004" cy="266913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5044933" y="2233855"/>
              <a:ext cx="497205" cy="267335"/>
            </a:xfrm>
            <a:custGeom>
              <a:avLst/>
              <a:gdLst/>
              <a:ahLst/>
              <a:cxnLst/>
              <a:rect l="l" t="t" r="r" b="b"/>
              <a:pathLst>
                <a:path w="497204" h="267335">
                  <a:moveTo>
                    <a:pt x="0" y="33905"/>
                  </a:moveTo>
                  <a:lnTo>
                    <a:pt x="48936" y="49933"/>
                  </a:lnTo>
                  <a:lnTo>
                    <a:pt x="96820" y="67678"/>
                  </a:lnTo>
                  <a:lnTo>
                    <a:pt x="143581" y="87103"/>
                  </a:lnTo>
                  <a:lnTo>
                    <a:pt x="189148" y="108170"/>
                  </a:lnTo>
                  <a:lnTo>
                    <a:pt x="233451" y="130840"/>
                  </a:lnTo>
                  <a:lnTo>
                    <a:pt x="276419" y="155075"/>
                  </a:lnTo>
                  <a:lnTo>
                    <a:pt x="317981" y="180838"/>
                  </a:lnTo>
                  <a:lnTo>
                    <a:pt x="358066" y="208091"/>
                  </a:lnTo>
                  <a:lnTo>
                    <a:pt x="396604" y="236795"/>
                  </a:lnTo>
                  <a:lnTo>
                    <a:pt x="433524" y="266913"/>
                  </a:lnTo>
                  <a:lnTo>
                    <a:pt x="497004" y="233008"/>
                  </a:lnTo>
                  <a:lnTo>
                    <a:pt x="459802" y="203160"/>
                  </a:lnTo>
                  <a:lnTo>
                    <a:pt x="421059" y="174673"/>
                  </a:lnTo>
                  <a:lnTo>
                    <a:pt x="380841" y="147583"/>
                  </a:lnTo>
                  <a:lnTo>
                    <a:pt x="339213" y="121925"/>
                  </a:lnTo>
                  <a:lnTo>
                    <a:pt x="296240" y="97734"/>
                  </a:lnTo>
                  <a:lnTo>
                    <a:pt x="251988" y="75044"/>
                  </a:lnTo>
                  <a:lnTo>
                    <a:pt x="206520" y="53890"/>
                  </a:lnTo>
                  <a:lnTo>
                    <a:pt x="159903" y="34308"/>
                  </a:lnTo>
                  <a:lnTo>
                    <a:pt x="112201" y="16333"/>
                  </a:lnTo>
                  <a:lnTo>
                    <a:pt x="63479" y="0"/>
                  </a:lnTo>
                  <a:lnTo>
                    <a:pt x="0" y="33905"/>
                  </a:lnTo>
                  <a:close/>
                </a:path>
              </a:pathLst>
            </a:custGeom>
            <a:ln w="67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22350" y="2724398"/>
              <a:ext cx="503198" cy="230844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5122350" y="2724398"/>
              <a:ext cx="503555" cy="231140"/>
            </a:xfrm>
            <a:custGeom>
              <a:avLst/>
              <a:gdLst/>
              <a:ahLst/>
              <a:cxnLst/>
              <a:rect l="l" t="t" r="r" b="b"/>
              <a:pathLst>
                <a:path w="503554" h="231139">
                  <a:moveTo>
                    <a:pt x="0" y="53382"/>
                  </a:moveTo>
                  <a:lnTo>
                    <a:pt x="329788" y="230844"/>
                  </a:lnTo>
                  <a:lnTo>
                    <a:pt x="503198" y="137063"/>
                  </a:lnTo>
                  <a:lnTo>
                    <a:pt x="503198" y="104601"/>
                  </a:lnTo>
                  <a:lnTo>
                    <a:pt x="419589" y="50496"/>
                  </a:lnTo>
                  <a:lnTo>
                    <a:pt x="419589" y="99551"/>
                  </a:lnTo>
                  <a:lnTo>
                    <a:pt x="356109" y="133457"/>
                  </a:lnTo>
                  <a:lnTo>
                    <a:pt x="304666" y="115659"/>
                  </a:lnTo>
                  <a:lnTo>
                    <a:pt x="254340" y="96036"/>
                  </a:lnTo>
                  <a:lnTo>
                    <a:pt x="205213" y="74621"/>
                  </a:lnTo>
                  <a:lnTo>
                    <a:pt x="157361" y="51453"/>
                  </a:lnTo>
                  <a:lnTo>
                    <a:pt x="110865" y="26567"/>
                  </a:lnTo>
                  <a:lnTo>
                    <a:pt x="65802" y="0"/>
                  </a:lnTo>
                  <a:lnTo>
                    <a:pt x="0" y="36069"/>
                  </a:lnTo>
                  <a:lnTo>
                    <a:pt x="0" y="53382"/>
                  </a:lnTo>
                  <a:close/>
                </a:path>
              </a:pathLst>
            </a:custGeom>
            <a:ln w="67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44934" y="2267753"/>
              <a:ext cx="433524" cy="590094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5044933" y="2267753"/>
              <a:ext cx="433705" cy="590550"/>
            </a:xfrm>
            <a:custGeom>
              <a:avLst/>
              <a:gdLst/>
              <a:ahLst/>
              <a:cxnLst/>
              <a:rect l="l" t="t" r="r" b="b"/>
              <a:pathLst>
                <a:path w="433704" h="590550">
                  <a:moveTo>
                    <a:pt x="0" y="355643"/>
                  </a:moveTo>
                  <a:lnTo>
                    <a:pt x="37718" y="385105"/>
                  </a:lnTo>
                  <a:lnTo>
                    <a:pt x="76835" y="413310"/>
                  </a:lnTo>
                  <a:lnTo>
                    <a:pt x="117296" y="440226"/>
                  </a:lnTo>
                  <a:lnTo>
                    <a:pt x="159045" y="465826"/>
                  </a:lnTo>
                  <a:lnTo>
                    <a:pt x="202027" y="490078"/>
                  </a:lnTo>
                  <a:lnTo>
                    <a:pt x="246189" y="512953"/>
                  </a:lnTo>
                  <a:lnTo>
                    <a:pt x="291474" y="534422"/>
                  </a:lnTo>
                  <a:lnTo>
                    <a:pt x="337828" y="554455"/>
                  </a:lnTo>
                  <a:lnTo>
                    <a:pt x="385197" y="573022"/>
                  </a:lnTo>
                  <a:lnTo>
                    <a:pt x="433524" y="590094"/>
                  </a:lnTo>
                  <a:lnTo>
                    <a:pt x="433524" y="233008"/>
                  </a:lnTo>
                  <a:lnTo>
                    <a:pt x="396197" y="203284"/>
                  </a:lnTo>
                  <a:lnTo>
                    <a:pt x="357364" y="174898"/>
                  </a:lnTo>
                  <a:lnTo>
                    <a:pt x="317087" y="147883"/>
                  </a:lnTo>
                  <a:lnTo>
                    <a:pt x="275430" y="122274"/>
                  </a:lnTo>
                  <a:lnTo>
                    <a:pt x="232455" y="98102"/>
                  </a:lnTo>
                  <a:lnTo>
                    <a:pt x="188225" y="75403"/>
                  </a:lnTo>
                  <a:lnTo>
                    <a:pt x="142802" y="54209"/>
                  </a:lnTo>
                  <a:lnTo>
                    <a:pt x="96248" y="34555"/>
                  </a:lnTo>
                  <a:lnTo>
                    <a:pt x="48626" y="16474"/>
                  </a:lnTo>
                  <a:lnTo>
                    <a:pt x="0" y="0"/>
                  </a:lnTo>
                  <a:lnTo>
                    <a:pt x="0" y="355643"/>
                  </a:lnTo>
                  <a:close/>
                </a:path>
              </a:pathLst>
            </a:custGeom>
            <a:ln w="6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5044933" y="2233855"/>
              <a:ext cx="581025" cy="721995"/>
            </a:xfrm>
            <a:custGeom>
              <a:avLst/>
              <a:gdLst/>
              <a:ahLst/>
              <a:cxnLst/>
              <a:rect l="l" t="t" r="r" b="b"/>
              <a:pathLst>
                <a:path w="581025" h="721994">
                  <a:moveTo>
                    <a:pt x="0" y="389548"/>
                  </a:moveTo>
                  <a:lnTo>
                    <a:pt x="34486" y="415947"/>
                  </a:lnTo>
                  <a:lnTo>
                    <a:pt x="69866" y="441589"/>
                  </a:lnTo>
                  <a:lnTo>
                    <a:pt x="106117" y="466459"/>
                  </a:lnTo>
                  <a:lnTo>
                    <a:pt x="143218" y="490542"/>
                  </a:lnTo>
                  <a:lnTo>
                    <a:pt x="77415" y="526612"/>
                  </a:lnTo>
                  <a:lnTo>
                    <a:pt x="77415" y="543924"/>
                  </a:lnTo>
                  <a:lnTo>
                    <a:pt x="407203" y="721386"/>
                  </a:lnTo>
                  <a:lnTo>
                    <a:pt x="580613" y="627605"/>
                  </a:lnTo>
                  <a:lnTo>
                    <a:pt x="580613" y="595143"/>
                  </a:lnTo>
                  <a:lnTo>
                    <a:pt x="497005" y="550162"/>
                  </a:lnTo>
                  <a:lnTo>
                    <a:pt x="497005" y="233007"/>
                  </a:lnTo>
                  <a:lnTo>
                    <a:pt x="458632" y="204313"/>
                  </a:lnTo>
                  <a:lnTo>
                    <a:pt x="419036" y="176754"/>
                  </a:lnTo>
                  <a:lnTo>
                    <a:pt x="378261" y="150356"/>
                  </a:lnTo>
                  <a:lnTo>
                    <a:pt x="336349" y="125140"/>
                  </a:lnTo>
                  <a:lnTo>
                    <a:pt x="293346" y="101130"/>
                  </a:lnTo>
                  <a:lnTo>
                    <a:pt x="249295" y="78350"/>
                  </a:lnTo>
                  <a:lnTo>
                    <a:pt x="204239" y="56824"/>
                  </a:lnTo>
                  <a:lnTo>
                    <a:pt x="158222" y="36574"/>
                  </a:lnTo>
                  <a:lnTo>
                    <a:pt x="111288" y="17625"/>
                  </a:lnTo>
                  <a:lnTo>
                    <a:pt x="63480" y="0"/>
                  </a:lnTo>
                  <a:lnTo>
                    <a:pt x="0" y="33905"/>
                  </a:lnTo>
                  <a:lnTo>
                    <a:pt x="0" y="389548"/>
                  </a:lnTo>
                  <a:close/>
                </a:path>
              </a:pathLst>
            </a:custGeom>
            <a:ln w="140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5083646" y="2315363"/>
              <a:ext cx="503555" cy="621665"/>
            </a:xfrm>
            <a:custGeom>
              <a:avLst/>
              <a:gdLst/>
              <a:ahLst/>
              <a:cxnLst/>
              <a:rect l="l" t="t" r="r" b="b"/>
              <a:pathLst>
                <a:path w="503554" h="621664">
                  <a:moveTo>
                    <a:pt x="0" y="0"/>
                  </a:moveTo>
                  <a:lnTo>
                    <a:pt x="0" y="305875"/>
                  </a:lnTo>
                  <a:lnTo>
                    <a:pt x="356112" y="498482"/>
                  </a:lnTo>
                </a:path>
                <a:path w="503554" h="621664">
                  <a:moveTo>
                    <a:pt x="108377" y="481167"/>
                  </a:moveTo>
                  <a:lnTo>
                    <a:pt x="366943" y="621116"/>
                  </a:lnTo>
                  <a:lnTo>
                    <a:pt x="503203" y="546092"/>
                  </a:lnTo>
                </a:path>
              </a:pathLst>
            </a:custGeom>
            <a:ln w="67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83646" y="2315363"/>
              <a:ext cx="356110" cy="488379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5083646" y="2315363"/>
              <a:ext cx="356235" cy="498475"/>
            </a:xfrm>
            <a:custGeom>
              <a:avLst/>
              <a:gdLst/>
              <a:ahLst/>
              <a:cxnLst/>
              <a:rect l="l" t="t" r="r" b="b"/>
              <a:pathLst>
                <a:path w="356235" h="498475">
                  <a:moveTo>
                    <a:pt x="7741" y="300818"/>
                  </a:moveTo>
                  <a:lnTo>
                    <a:pt x="356109" y="488378"/>
                  </a:lnTo>
                  <a:lnTo>
                    <a:pt x="356109" y="498478"/>
                  </a:lnTo>
                  <a:lnTo>
                    <a:pt x="356109" y="191168"/>
                  </a:lnTo>
                  <a:lnTo>
                    <a:pt x="0" y="0"/>
                  </a:lnTo>
                  <a:lnTo>
                    <a:pt x="7741" y="3606"/>
                  </a:lnTo>
                  <a:lnTo>
                    <a:pt x="7741" y="300818"/>
                  </a:lnTo>
                  <a:close/>
                </a:path>
              </a:pathLst>
            </a:custGeom>
            <a:ln w="6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125"/>
          <p:cNvSpPr txBox="1"/>
          <p:nvPr/>
        </p:nvSpPr>
        <p:spPr>
          <a:xfrm>
            <a:off x="4794030" y="2038149"/>
            <a:ext cx="979805" cy="1606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>
                <a:latin typeface="Arial"/>
                <a:cs typeface="Arial"/>
              </a:rPr>
              <a:t>Trading</a:t>
            </a:r>
            <a:r>
              <a:rPr dirty="0" sz="850" spc="10">
                <a:latin typeface="Arial"/>
                <a:cs typeface="Arial"/>
              </a:rPr>
              <a:t> </a:t>
            </a:r>
            <a:r>
              <a:rPr dirty="0" sz="850" spc="-10">
                <a:latin typeface="Arial"/>
                <a:cs typeface="Arial"/>
              </a:rPr>
              <a:t>Application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5418080" y="3176434"/>
            <a:ext cx="2505710" cy="2576195"/>
            <a:chOff x="5418080" y="3176434"/>
            <a:chExt cx="2505710" cy="2576195"/>
          </a:xfrm>
        </p:grpSpPr>
        <p:sp>
          <p:nvSpPr>
            <p:cNvPr id="127" name="object 127"/>
            <p:cNvSpPr/>
            <p:nvPr/>
          </p:nvSpPr>
          <p:spPr>
            <a:xfrm>
              <a:off x="5449286" y="3812216"/>
              <a:ext cx="124460" cy="329565"/>
            </a:xfrm>
            <a:custGeom>
              <a:avLst/>
              <a:gdLst/>
              <a:ahLst/>
              <a:cxnLst/>
              <a:rect l="l" t="t" r="r" b="b"/>
              <a:pathLst>
                <a:path w="124460" h="329564">
                  <a:moveTo>
                    <a:pt x="0" y="0"/>
                  </a:moveTo>
                  <a:lnTo>
                    <a:pt x="123913" y="329288"/>
                  </a:lnTo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5546850" y="4131589"/>
              <a:ext cx="53340" cy="80645"/>
            </a:xfrm>
            <a:custGeom>
              <a:avLst/>
              <a:gdLst/>
              <a:ahLst/>
              <a:cxnLst/>
              <a:rect l="l" t="t" r="r" b="b"/>
              <a:pathLst>
                <a:path w="53339" h="80645">
                  <a:moveTo>
                    <a:pt x="52701" y="0"/>
                  </a:moveTo>
                  <a:lnTo>
                    <a:pt x="0" y="19832"/>
                  </a:lnTo>
                  <a:lnTo>
                    <a:pt x="52792" y="80185"/>
                  </a:lnTo>
                  <a:lnTo>
                    <a:pt x="52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5546849" y="4131588"/>
              <a:ext cx="53340" cy="80645"/>
            </a:xfrm>
            <a:custGeom>
              <a:avLst/>
              <a:gdLst/>
              <a:ahLst/>
              <a:cxnLst/>
              <a:rect l="l" t="t" r="r" b="b"/>
              <a:pathLst>
                <a:path w="53339" h="80645">
                  <a:moveTo>
                    <a:pt x="52793" y="80185"/>
                  </a:moveTo>
                  <a:lnTo>
                    <a:pt x="52701" y="0"/>
                  </a:lnTo>
                  <a:lnTo>
                    <a:pt x="0" y="19832"/>
                  </a:lnTo>
                  <a:lnTo>
                    <a:pt x="52793" y="80185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422843" y="3741947"/>
              <a:ext cx="53340" cy="80645"/>
            </a:xfrm>
            <a:custGeom>
              <a:avLst/>
              <a:gdLst/>
              <a:ahLst/>
              <a:cxnLst/>
              <a:rect l="l" t="t" r="r" b="b"/>
              <a:pathLst>
                <a:path w="53339" h="80645">
                  <a:moveTo>
                    <a:pt x="0" y="0"/>
                  </a:moveTo>
                  <a:lnTo>
                    <a:pt x="91" y="80185"/>
                  </a:lnTo>
                  <a:lnTo>
                    <a:pt x="52793" y="603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422843" y="3741947"/>
              <a:ext cx="53340" cy="80645"/>
            </a:xfrm>
            <a:custGeom>
              <a:avLst/>
              <a:gdLst/>
              <a:ahLst/>
              <a:cxnLst/>
              <a:rect l="l" t="t" r="r" b="b"/>
              <a:pathLst>
                <a:path w="53339" h="80645">
                  <a:moveTo>
                    <a:pt x="0" y="0"/>
                  </a:moveTo>
                  <a:lnTo>
                    <a:pt x="91" y="80185"/>
                  </a:lnTo>
                  <a:lnTo>
                    <a:pt x="52793" y="60352"/>
                  </a:lnTo>
                  <a:lnTo>
                    <a:pt x="0" y="0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515866" y="4875670"/>
              <a:ext cx="103505" cy="417195"/>
            </a:xfrm>
            <a:custGeom>
              <a:avLst/>
              <a:gdLst/>
              <a:ahLst/>
              <a:cxnLst/>
              <a:rect l="l" t="t" r="r" b="b"/>
              <a:pathLst>
                <a:path w="103504" h="417195">
                  <a:moveTo>
                    <a:pt x="0" y="416801"/>
                  </a:moveTo>
                  <a:lnTo>
                    <a:pt x="103372" y="0"/>
                  </a:lnTo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87219" y="4798105"/>
              <a:ext cx="64039" cy="89034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83846" y="5281002"/>
              <a:ext cx="64039" cy="89034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7204779" y="3241656"/>
              <a:ext cx="669925" cy="913130"/>
            </a:xfrm>
            <a:custGeom>
              <a:avLst/>
              <a:gdLst/>
              <a:ahLst/>
              <a:cxnLst/>
              <a:rect l="l" t="t" r="r" b="b"/>
              <a:pathLst>
                <a:path w="669925" h="913129">
                  <a:moveTo>
                    <a:pt x="0" y="912508"/>
                  </a:moveTo>
                  <a:lnTo>
                    <a:pt x="669642" y="0"/>
                  </a:lnTo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847030" y="3176434"/>
              <a:ext cx="76503" cy="86572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55667" y="4132815"/>
              <a:ext cx="76502" cy="86572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435282" y="4114593"/>
              <a:ext cx="282452" cy="147361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7512764" y="4689703"/>
              <a:ext cx="278130" cy="90170"/>
            </a:xfrm>
            <a:custGeom>
              <a:avLst/>
              <a:gdLst/>
              <a:ahLst/>
              <a:cxnLst/>
              <a:rect l="l" t="t" r="r" b="b"/>
              <a:pathLst>
                <a:path w="278129" h="90170">
                  <a:moveTo>
                    <a:pt x="0" y="0"/>
                  </a:moveTo>
                  <a:lnTo>
                    <a:pt x="277648" y="89542"/>
                  </a:lnTo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7781772" y="4752451"/>
              <a:ext cx="80645" cy="53975"/>
            </a:xfrm>
            <a:custGeom>
              <a:avLst/>
              <a:gdLst/>
              <a:ahLst/>
              <a:cxnLst/>
              <a:rect l="l" t="t" r="r" b="b"/>
              <a:pathLst>
                <a:path w="80645" h="53975">
                  <a:moveTo>
                    <a:pt x="17283" y="0"/>
                  </a:moveTo>
                  <a:lnTo>
                    <a:pt x="0" y="53591"/>
                  </a:lnTo>
                  <a:lnTo>
                    <a:pt x="80097" y="49841"/>
                  </a:lnTo>
                  <a:lnTo>
                    <a:pt x="172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7781771" y="4752451"/>
              <a:ext cx="80645" cy="53975"/>
            </a:xfrm>
            <a:custGeom>
              <a:avLst/>
              <a:gdLst/>
              <a:ahLst/>
              <a:cxnLst/>
              <a:rect l="l" t="t" r="r" b="b"/>
              <a:pathLst>
                <a:path w="80645" h="53975">
                  <a:moveTo>
                    <a:pt x="80097" y="49840"/>
                  </a:moveTo>
                  <a:lnTo>
                    <a:pt x="17284" y="0"/>
                  </a:lnTo>
                  <a:lnTo>
                    <a:pt x="0" y="53591"/>
                  </a:lnTo>
                  <a:lnTo>
                    <a:pt x="80097" y="49840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7441309" y="4662907"/>
              <a:ext cx="80645" cy="53975"/>
            </a:xfrm>
            <a:custGeom>
              <a:avLst/>
              <a:gdLst/>
              <a:ahLst/>
              <a:cxnLst/>
              <a:rect l="l" t="t" r="r" b="b"/>
              <a:pathLst>
                <a:path w="80645" h="53975">
                  <a:moveTo>
                    <a:pt x="80096" y="0"/>
                  </a:moveTo>
                  <a:lnTo>
                    <a:pt x="0" y="3751"/>
                  </a:lnTo>
                  <a:lnTo>
                    <a:pt x="62812" y="53592"/>
                  </a:lnTo>
                  <a:lnTo>
                    <a:pt x="800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7441308" y="4662907"/>
              <a:ext cx="80645" cy="53975"/>
            </a:xfrm>
            <a:custGeom>
              <a:avLst/>
              <a:gdLst/>
              <a:ahLst/>
              <a:cxnLst/>
              <a:rect l="l" t="t" r="r" b="b"/>
              <a:pathLst>
                <a:path w="80645" h="53975">
                  <a:moveTo>
                    <a:pt x="0" y="3751"/>
                  </a:moveTo>
                  <a:lnTo>
                    <a:pt x="62813" y="53591"/>
                  </a:lnTo>
                  <a:lnTo>
                    <a:pt x="80096" y="0"/>
                  </a:lnTo>
                  <a:lnTo>
                    <a:pt x="0" y="3751"/>
                  </a:lnTo>
                  <a:close/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7169528" y="4863638"/>
              <a:ext cx="514350" cy="821055"/>
            </a:xfrm>
            <a:custGeom>
              <a:avLst/>
              <a:gdLst/>
              <a:ahLst/>
              <a:cxnLst/>
              <a:rect l="l" t="t" r="r" b="b"/>
              <a:pathLst>
                <a:path w="514350" h="821054">
                  <a:moveTo>
                    <a:pt x="0" y="0"/>
                  </a:moveTo>
                  <a:lnTo>
                    <a:pt x="514273" y="820501"/>
                  </a:lnTo>
                </a:path>
              </a:pathLst>
            </a:custGeom>
            <a:ln w="9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55253" y="5664494"/>
              <a:ext cx="73115" cy="87954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124962" y="4795329"/>
              <a:ext cx="73114" cy="87954"/>
            </a:xfrm>
            <a:prstGeom prst="rect">
              <a:avLst/>
            </a:prstGeom>
          </p:spPr>
        </p:pic>
      </p:grpSp>
      <p:sp>
        <p:nvSpPr>
          <p:cNvPr id="147" name="object 147"/>
          <p:cNvSpPr txBox="1"/>
          <p:nvPr/>
        </p:nvSpPr>
        <p:spPr>
          <a:xfrm>
            <a:off x="6058472" y="3172784"/>
            <a:ext cx="948055" cy="548640"/>
          </a:xfrm>
          <a:prstGeom prst="rect">
            <a:avLst/>
          </a:prstGeom>
          <a:solidFill>
            <a:srgbClr val="FFFFFF"/>
          </a:solidFill>
          <a:ln w="9384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algn="ctr" marL="124460" marR="126364">
              <a:lnSpc>
                <a:spcPct val="101400"/>
              </a:lnSpc>
              <a:spcBef>
                <a:spcPts val="515"/>
              </a:spcBef>
            </a:pPr>
            <a:r>
              <a:rPr dirty="0" sz="850" spc="-20" b="1">
                <a:latin typeface="Arial"/>
                <a:cs typeface="Arial"/>
              </a:rPr>
              <a:t>Risk </a:t>
            </a:r>
            <a:r>
              <a:rPr dirty="0" sz="850" spc="-10" b="1">
                <a:latin typeface="Arial"/>
                <a:cs typeface="Arial"/>
              </a:rPr>
              <a:t>Management System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3513971" y="2745263"/>
            <a:ext cx="2909570" cy="2984500"/>
            <a:chOff x="3513971" y="2745263"/>
            <a:chExt cx="2909570" cy="2984500"/>
          </a:xfrm>
        </p:grpSpPr>
        <p:sp>
          <p:nvSpPr>
            <p:cNvPr id="149" name="object 149"/>
            <p:cNvSpPr/>
            <p:nvPr/>
          </p:nvSpPr>
          <p:spPr>
            <a:xfrm>
              <a:off x="5983054" y="3797996"/>
              <a:ext cx="277495" cy="358140"/>
            </a:xfrm>
            <a:custGeom>
              <a:avLst/>
              <a:gdLst/>
              <a:ahLst/>
              <a:cxnLst/>
              <a:rect l="l" t="t" r="r" b="b"/>
              <a:pathLst>
                <a:path w="277495" h="358139">
                  <a:moveTo>
                    <a:pt x="0" y="357731"/>
                  </a:moveTo>
                  <a:lnTo>
                    <a:pt x="277445" y="0"/>
                  </a:lnTo>
                </a:path>
              </a:pathLst>
            </a:custGeom>
            <a:ln w="9384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233559" y="3733975"/>
              <a:ext cx="77645" cy="85967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932348" y="4133781"/>
              <a:ext cx="77646" cy="85967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13971" y="5447269"/>
              <a:ext cx="65694" cy="282187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5751059" y="2750026"/>
              <a:ext cx="668020" cy="420370"/>
            </a:xfrm>
            <a:custGeom>
              <a:avLst/>
              <a:gdLst/>
              <a:ahLst/>
              <a:cxnLst/>
              <a:rect l="l" t="t" r="r" b="b"/>
              <a:pathLst>
                <a:path w="668020" h="420369">
                  <a:moveTo>
                    <a:pt x="667560" y="0"/>
                  </a:moveTo>
                  <a:lnTo>
                    <a:pt x="345507" y="122802"/>
                  </a:lnTo>
                  <a:lnTo>
                    <a:pt x="390564" y="164386"/>
                  </a:lnTo>
                  <a:lnTo>
                    <a:pt x="143543" y="267926"/>
                  </a:lnTo>
                  <a:lnTo>
                    <a:pt x="195441" y="321368"/>
                  </a:lnTo>
                  <a:lnTo>
                    <a:pt x="0" y="420258"/>
                  </a:lnTo>
                  <a:lnTo>
                    <a:pt x="292911" y="315802"/>
                  </a:lnTo>
                  <a:lnTo>
                    <a:pt x="243945" y="264685"/>
                  </a:lnTo>
                  <a:lnTo>
                    <a:pt x="492263" y="163208"/>
                  </a:lnTo>
                  <a:lnTo>
                    <a:pt x="442302" y="121107"/>
                  </a:lnTo>
                  <a:lnTo>
                    <a:pt x="66756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5751058" y="2750025"/>
              <a:ext cx="668020" cy="420370"/>
            </a:xfrm>
            <a:custGeom>
              <a:avLst/>
              <a:gdLst/>
              <a:ahLst/>
              <a:cxnLst/>
              <a:rect l="l" t="t" r="r" b="b"/>
              <a:pathLst>
                <a:path w="668020" h="420369">
                  <a:moveTo>
                    <a:pt x="492265" y="163208"/>
                  </a:moveTo>
                  <a:lnTo>
                    <a:pt x="442302" y="121107"/>
                  </a:lnTo>
                  <a:lnTo>
                    <a:pt x="667559" y="0"/>
                  </a:lnTo>
                  <a:lnTo>
                    <a:pt x="345507" y="122802"/>
                  </a:lnTo>
                  <a:lnTo>
                    <a:pt x="390564" y="164386"/>
                  </a:lnTo>
                  <a:lnTo>
                    <a:pt x="143543" y="267926"/>
                  </a:lnTo>
                  <a:lnTo>
                    <a:pt x="195441" y="321367"/>
                  </a:lnTo>
                  <a:lnTo>
                    <a:pt x="0" y="420258"/>
                  </a:lnTo>
                  <a:lnTo>
                    <a:pt x="292911" y="315802"/>
                  </a:lnTo>
                  <a:lnTo>
                    <a:pt x="243945" y="264686"/>
                  </a:lnTo>
                  <a:lnTo>
                    <a:pt x="492263" y="163209"/>
                  </a:lnTo>
                  <a:close/>
                </a:path>
              </a:pathLst>
            </a:custGeom>
            <a:ln w="938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5" name="object 155"/>
          <p:cNvSpPr txBox="1"/>
          <p:nvPr/>
        </p:nvSpPr>
        <p:spPr>
          <a:xfrm>
            <a:off x="6445215" y="2511789"/>
            <a:ext cx="369570" cy="2921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20"/>
              </a:spcBef>
            </a:pPr>
            <a:r>
              <a:rPr dirty="0" sz="850" spc="-10" i="1">
                <a:latin typeface="Arial"/>
                <a:cs typeface="Arial"/>
              </a:rPr>
              <a:t>Market</a:t>
            </a:r>
            <a:r>
              <a:rPr dirty="0" sz="850" spc="-10" i="1">
                <a:latin typeface="Arial"/>
                <a:cs typeface="Arial"/>
              </a:rPr>
              <a:t> </a:t>
            </a:r>
            <a:r>
              <a:rPr dirty="0" sz="850" spc="-20" i="1">
                <a:latin typeface="Arial"/>
                <a:cs typeface="Arial"/>
              </a:rPr>
              <a:t>Data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2845846" y="3409541"/>
            <a:ext cx="3200400" cy="2325370"/>
            <a:chOff x="2845846" y="3409541"/>
            <a:chExt cx="3200400" cy="2325370"/>
          </a:xfrm>
        </p:grpSpPr>
        <p:pic>
          <p:nvPicPr>
            <p:cNvPr id="157" name="object 15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99907" y="3409541"/>
              <a:ext cx="245886" cy="65933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2850610" y="5446600"/>
              <a:ext cx="379730" cy="283845"/>
            </a:xfrm>
            <a:custGeom>
              <a:avLst/>
              <a:gdLst/>
              <a:ahLst/>
              <a:cxnLst/>
              <a:rect l="l" t="t" r="r" b="b"/>
              <a:pathLst>
                <a:path w="379730" h="283845">
                  <a:moveTo>
                    <a:pt x="305800" y="177783"/>
                  </a:moveTo>
                  <a:lnTo>
                    <a:pt x="267047" y="177783"/>
                  </a:lnTo>
                  <a:lnTo>
                    <a:pt x="379215" y="283520"/>
                  </a:lnTo>
                  <a:lnTo>
                    <a:pt x="305800" y="177783"/>
                  </a:lnTo>
                  <a:close/>
                </a:path>
                <a:path w="379730" h="283845">
                  <a:moveTo>
                    <a:pt x="184339" y="102635"/>
                  </a:moveTo>
                  <a:lnTo>
                    <a:pt x="140100" y="102635"/>
                  </a:lnTo>
                  <a:lnTo>
                    <a:pt x="239318" y="234773"/>
                  </a:lnTo>
                  <a:lnTo>
                    <a:pt x="267047" y="177783"/>
                  </a:lnTo>
                  <a:lnTo>
                    <a:pt x="305800" y="177783"/>
                  </a:lnTo>
                  <a:lnTo>
                    <a:pt x="294159" y="161017"/>
                  </a:lnTo>
                  <a:lnTo>
                    <a:pt x="229488" y="161017"/>
                  </a:lnTo>
                  <a:lnTo>
                    <a:pt x="184339" y="102635"/>
                  </a:lnTo>
                  <a:close/>
                </a:path>
                <a:path w="379730" h="283845">
                  <a:moveTo>
                    <a:pt x="0" y="0"/>
                  </a:moveTo>
                  <a:lnTo>
                    <a:pt x="105404" y="163279"/>
                  </a:lnTo>
                  <a:lnTo>
                    <a:pt x="140100" y="102635"/>
                  </a:lnTo>
                  <a:lnTo>
                    <a:pt x="184339" y="102635"/>
                  </a:lnTo>
                  <a:lnTo>
                    <a:pt x="178241" y="94749"/>
                  </a:lnTo>
                  <a:lnTo>
                    <a:pt x="92600" y="94749"/>
                  </a:lnTo>
                  <a:lnTo>
                    <a:pt x="0" y="0"/>
                  </a:lnTo>
                  <a:close/>
                </a:path>
                <a:path w="379730" h="283845">
                  <a:moveTo>
                    <a:pt x="257255" y="107866"/>
                  </a:moveTo>
                  <a:lnTo>
                    <a:pt x="229488" y="161017"/>
                  </a:lnTo>
                  <a:lnTo>
                    <a:pt x="294159" y="161017"/>
                  </a:lnTo>
                  <a:lnTo>
                    <a:pt x="257255" y="107866"/>
                  </a:lnTo>
                  <a:close/>
                </a:path>
                <a:path w="379730" h="283845">
                  <a:moveTo>
                    <a:pt x="128811" y="30831"/>
                  </a:moveTo>
                  <a:lnTo>
                    <a:pt x="92600" y="94749"/>
                  </a:lnTo>
                  <a:lnTo>
                    <a:pt x="178241" y="94749"/>
                  </a:lnTo>
                  <a:lnTo>
                    <a:pt x="128811" y="30831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850609" y="5446599"/>
              <a:ext cx="379730" cy="283845"/>
            </a:xfrm>
            <a:custGeom>
              <a:avLst/>
              <a:gdLst/>
              <a:ahLst/>
              <a:cxnLst/>
              <a:rect l="l" t="t" r="r" b="b"/>
              <a:pathLst>
                <a:path w="379730" h="283845">
                  <a:moveTo>
                    <a:pt x="239318" y="234773"/>
                  </a:moveTo>
                  <a:lnTo>
                    <a:pt x="267048" y="177784"/>
                  </a:lnTo>
                  <a:lnTo>
                    <a:pt x="379216" y="283520"/>
                  </a:lnTo>
                  <a:lnTo>
                    <a:pt x="257255" y="107866"/>
                  </a:lnTo>
                  <a:lnTo>
                    <a:pt x="229489" y="161017"/>
                  </a:lnTo>
                  <a:lnTo>
                    <a:pt x="128811" y="30832"/>
                  </a:lnTo>
                  <a:lnTo>
                    <a:pt x="92601" y="94750"/>
                  </a:lnTo>
                  <a:lnTo>
                    <a:pt x="0" y="0"/>
                  </a:lnTo>
                  <a:lnTo>
                    <a:pt x="105405" y="163280"/>
                  </a:lnTo>
                  <a:lnTo>
                    <a:pt x="140100" y="102635"/>
                  </a:lnTo>
                  <a:lnTo>
                    <a:pt x="239317" y="234772"/>
                  </a:lnTo>
                  <a:close/>
                </a:path>
              </a:pathLst>
            </a:custGeom>
            <a:ln w="938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0" name="object 160"/>
          <p:cNvSpPr txBox="1"/>
          <p:nvPr/>
        </p:nvSpPr>
        <p:spPr>
          <a:xfrm>
            <a:off x="2694718" y="5172730"/>
            <a:ext cx="369570" cy="2921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20"/>
              </a:spcBef>
            </a:pPr>
            <a:r>
              <a:rPr dirty="0" sz="850" spc="-10" i="1">
                <a:latin typeface="Arial"/>
                <a:cs typeface="Arial"/>
              </a:rPr>
              <a:t>Market</a:t>
            </a:r>
            <a:r>
              <a:rPr dirty="0" sz="850" spc="-10" i="1">
                <a:latin typeface="Arial"/>
                <a:cs typeface="Arial"/>
              </a:rPr>
              <a:t> </a:t>
            </a:r>
            <a:r>
              <a:rPr dirty="0" sz="850" spc="-20" i="1">
                <a:latin typeface="Arial"/>
                <a:cs typeface="Arial"/>
              </a:rPr>
              <a:t>Data</a:t>
            </a:r>
            <a:endParaRPr sz="85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6471987" y="4232854"/>
            <a:ext cx="948055" cy="548640"/>
          </a:xfrm>
          <a:prstGeom prst="rect">
            <a:avLst/>
          </a:prstGeom>
          <a:solidFill>
            <a:srgbClr val="FFFFFF"/>
          </a:solidFill>
          <a:ln w="9384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algn="just" marL="287655" marR="289560" indent="21590">
              <a:lnSpc>
                <a:spcPct val="101400"/>
              </a:lnSpc>
              <a:spcBef>
                <a:spcPts val="515"/>
              </a:spcBef>
            </a:pPr>
            <a:r>
              <a:rPr dirty="0" sz="850" spc="-10" b="1">
                <a:latin typeface="Arial"/>
                <a:cs typeface="Arial"/>
              </a:rPr>
              <a:t>Smart Order Router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6202473" y="2810960"/>
            <a:ext cx="535940" cy="1729105"/>
            <a:chOff x="6202473" y="2810960"/>
            <a:chExt cx="535940" cy="1729105"/>
          </a:xfrm>
        </p:grpSpPr>
        <p:pic>
          <p:nvPicPr>
            <p:cNvPr id="163" name="object 16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202473" y="4474140"/>
              <a:ext cx="251682" cy="65709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6591978" y="2815723"/>
              <a:ext cx="141605" cy="365125"/>
            </a:xfrm>
            <a:custGeom>
              <a:avLst/>
              <a:gdLst/>
              <a:ahLst/>
              <a:cxnLst/>
              <a:rect l="l" t="t" r="r" b="b"/>
              <a:pathLst>
                <a:path w="141604" h="365125">
                  <a:moveTo>
                    <a:pt x="125327" y="262004"/>
                  </a:moveTo>
                  <a:lnTo>
                    <a:pt x="98299" y="262004"/>
                  </a:lnTo>
                  <a:lnTo>
                    <a:pt x="87925" y="364892"/>
                  </a:lnTo>
                  <a:lnTo>
                    <a:pt x="125327" y="262004"/>
                  </a:lnTo>
                  <a:close/>
                </a:path>
                <a:path w="141604" h="365125">
                  <a:moveTo>
                    <a:pt x="94945" y="149774"/>
                  </a:moveTo>
                  <a:lnTo>
                    <a:pt x="58178" y="149774"/>
                  </a:lnTo>
                  <a:lnTo>
                    <a:pt x="26483" y="276313"/>
                  </a:lnTo>
                  <a:lnTo>
                    <a:pt x="98299" y="262004"/>
                  </a:lnTo>
                  <a:lnTo>
                    <a:pt x="125327" y="262004"/>
                  </a:lnTo>
                  <a:lnTo>
                    <a:pt x="136517" y="231223"/>
                  </a:lnTo>
                  <a:lnTo>
                    <a:pt x="73023" y="231223"/>
                  </a:lnTo>
                  <a:lnTo>
                    <a:pt x="94945" y="149774"/>
                  </a:lnTo>
                  <a:close/>
                </a:path>
                <a:path w="141604" h="365125">
                  <a:moveTo>
                    <a:pt x="141384" y="217836"/>
                  </a:moveTo>
                  <a:lnTo>
                    <a:pt x="73023" y="231223"/>
                  </a:lnTo>
                  <a:lnTo>
                    <a:pt x="136517" y="231223"/>
                  </a:lnTo>
                  <a:lnTo>
                    <a:pt x="141384" y="217836"/>
                  </a:lnTo>
                  <a:close/>
                </a:path>
                <a:path w="141604" h="365125">
                  <a:moveTo>
                    <a:pt x="51883" y="0"/>
                  </a:moveTo>
                  <a:lnTo>
                    <a:pt x="0" y="162984"/>
                  </a:lnTo>
                  <a:lnTo>
                    <a:pt x="58178" y="149774"/>
                  </a:lnTo>
                  <a:lnTo>
                    <a:pt x="94945" y="149774"/>
                  </a:lnTo>
                  <a:lnTo>
                    <a:pt x="103027" y="119747"/>
                  </a:lnTo>
                  <a:lnTo>
                    <a:pt x="46106" y="119747"/>
                  </a:lnTo>
                  <a:lnTo>
                    <a:pt x="51883" y="0"/>
                  </a:lnTo>
                  <a:close/>
                </a:path>
                <a:path w="141604" h="365125">
                  <a:moveTo>
                    <a:pt x="107144" y="104447"/>
                  </a:moveTo>
                  <a:lnTo>
                    <a:pt x="46106" y="119747"/>
                  </a:lnTo>
                  <a:lnTo>
                    <a:pt x="103027" y="119747"/>
                  </a:lnTo>
                  <a:lnTo>
                    <a:pt x="107144" y="104447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591977" y="2815723"/>
              <a:ext cx="141605" cy="365125"/>
            </a:xfrm>
            <a:custGeom>
              <a:avLst/>
              <a:gdLst/>
              <a:ahLst/>
              <a:cxnLst/>
              <a:rect l="l" t="t" r="r" b="b"/>
              <a:pathLst>
                <a:path w="141604" h="365125">
                  <a:moveTo>
                    <a:pt x="107145" y="104445"/>
                  </a:moveTo>
                  <a:lnTo>
                    <a:pt x="46106" y="119746"/>
                  </a:lnTo>
                  <a:lnTo>
                    <a:pt x="51882" y="0"/>
                  </a:lnTo>
                  <a:lnTo>
                    <a:pt x="0" y="162984"/>
                  </a:lnTo>
                  <a:lnTo>
                    <a:pt x="58178" y="149774"/>
                  </a:lnTo>
                  <a:lnTo>
                    <a:pt x="26483" y="276313"/>
                  </a:lnTo>
                  <a:lnTo>
                    <a:pt x="98299" y="262004"/>
                  </a:lnTo>
                  <a:lnTo>
                    <a:pt x="87925" y="364891"/>
                  </a:lnTo>
                  <a:lnTo>
                    <a:pt x="141384" y="217835"/>
                  </a:lnTo>
                  <a:lnTo>
                    <a:pt x="73023" y="231223"/>
                  </a:lnTo>
                  <a:lnTo>
                    <a:pt x="107145" y="104446"/>
                  </a:lnTo>
                  <a:close/>
                </a:path>
              </a:pathLst>
            </a:custGeom>
            <a:ln w="938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/>
          <p:cNvSpPr txBox="1"/>
          <p:nvPr/>
        </p:nvSpPr>
        <p:spPr>
          <a:xfrm>
            <a:off x="6256480" y="5200633"/>
            <a:ext cx="369570" cy="2921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20"/>
              </a:spcBef>
            </a:pPr>
            <a:r>
              <a:rPr dirty="0" sz="850" spc="-10" i="1">
                <a:latin typeface="Arial"/>
                <a:cs typeface="Arial"/>
              </a:rPr>
              <a:t>Market</a:t>
            </a:r>
            <a:r>
              <a:rPr dirty="0" sz="850" spc="-10" i="1">
                <a:latin typeface="Arial"/>
                <a:cs typeface="Arial"/>
              </a:rPr>
              <a:t> </a:t>
            </a:r>
            <a:r>
              <a:rPr dirty="0" sz="850" spc="-20" i="1">
                <a:latin typeface="Arial"/>
                <a:cs typeface="Arial"/>
              </a:rPr>
              <a:t>Data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5948346" y="4779779"/>
            <a:ext cx="845819" cy="434340"/>
            <a:chOff x="5948346" y="4779779"/>
            <a:chExt cx="845819" cy="434340"/>
          </a:xfrm>
        </p:grpSpPr>
        <p:sp>
          <p:nvSpPr>
            <p:cNvPr id="168" name="object 168"/>
            <p:cNvSpPr/>
            <p:nvPr/>
          </p:nvSpPr>
          <p:spPr>
            <a:xfrm>
              <a:off x="5953039" y="4784472"/>
              <a:ext cx="362585" cy="415290"/>
            </a:xfrm>
            <a:custGeom>
              <a:avLst/>
              <a:gdLst/>
              <a:ahLst/>
              <a:cxnLst/>
              <a:rect l="l" t="t" r="r" b="b"/>
              <a:pathLst>
                <a:path w="362585" h="415289">
                  <a:moveTo>
                    <a:pt x="306816" y="286852"/>
                  </a:moveTo>
                  <a:lnTo>
                    <a:pt x="277567" y="286852"/>
                  </a:lnTo>
                  <a:lnTo>
                    <a:pt x="362347" y="415034"/>
                  </a:lnTo>
                  <a:lnTo>
                    <a:pt x="306816" y="286852"/>
                  </a:lnTo>
                  <a:close/>
                </a:path>
                <a:path w="362585" h="415289">
                  <a:moveTo>
                    <a:pt x="182846" y="174974"/>
                  </a:moveTo>
                  <a:lnTo>
                    <a:pt x="141535" y="174974"/>
                  </a:lnTo>
                  <a:lnTo>
                    <a:pt x="229765" y="342908"/>
                  </a:lnTo>
                  <a:lnTo>
                    <a:pt x="277567" y="286852"/>
                  </a:lnTo>
                  <a:lnTo>
                    <a:pt x="306816" y="286852"/>
                  </a:lnTo>
                  <a:lnTo>
                    <a:pt x="296881" y="263921"/>
                  </a:lnTo>
                  <a:lnTo>
                    <a:pt x="228173" y="263921"/>
                  </a:lnTo>
                  <a:lnTo>
                    <a:pt x="182846" y="174974"/>
                  </a:lnTo>
                  <a:close/>
                </a:path>
                <a:path w="362585" h="415289">
                  <a:moveTo>
                    <a:pt x="273885" y="210839"/>
                  </a:moveTo>
                  <a:lnTo>
                    <a:pt x="228173" y="263921"/>
                  </a:lnTo>
                  <a:lnTo>
                    <a:pt x="296881" y="263921"/>
                  </a:lnTo>
                  <a:lnTo>
                    <a:pt x="273885" y="210839"/>
                  </a:lnTo>
                  <a:close/>
                </a:path>
                <a:path w="362585" h="415289">
                  <a:moveTo>
                    <a:pt x="0" y="0"/>
                  </a:moveTo>
                  <a:lnTo>
                    <a:pt x="104279" y="222310"/>
                  </a:lnTo>
                  <a:lnTo>
                    <a:pt x="141535" y="174974"/>
                  </a:lnTo>
                  <a:lnTo>
                    <a:pt x="182846" y="174974"/>
                  </a:lnTo>
                  <a:lnTo>
                    <a:pt x="167962" y="145765"/>
                  </a:lnTo>
                  <a:lnTo>
                    <a:pt x="104004" y="145765"/>
                  </a:lnTo>
                  <a:lnTo>
                    <a:pt x="0" y="0"/>
                  </a:lnTo>
                  <a:close/>
                </a:path>
                <a:path w="362585" h="415289">
                  <a:moveTo>
                    <a:pt x="141777" y="94382"/>
                  </a:moveTo>
                  <a:lnTo>
                    <a:pt x="104004" y="145765"/>
                  </a:lnTo>
                  <a:lnTo>
                    <a:pt x="167962" y="145765"/>
                  </a:lnTo>
                  <a:lnTo>
                    <a:pt x="141777" y="94382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5953039" y="4784472"/>
              <a:ext cx="362585" cy="415290"/>
            </a:xfrm>
            <a:custGeom>
              <a:avLst/>
              <a:gdLst/>
              <a:ahLst/>
              <a:cxnLst/>
              <a:rect l="l" t="t" r="r" b="b"/>
              <a:pathLst>
                <a:path w="362585" h="415289">
                  <a:moveTo>
                    <a:pt x="141775" y="94381"/>
                  </a:moveTo>
                  <a:lnTo>
                    <a:pt x="104004" y="145765"/>
                  </a:lnTo>
                  <a:lnTo>
                    <a:pt x="0" y="0"/>
                  </a:lnTo>
                  <a:lnTo>
                    <a:pt x="104280" y="222310"/>
                  </a:lnTo>
                  <a:lnTo>
                    <a:pt x="141534" y="174973"/>
                  </a:lnTo>
                  <a:lnTo>
                    <a:pt x="229766" y="342908"/>
                  </a:lnTo>
                  <a:lnTo>
                    <a:pt x="277567" y="286852"/>
                  </a:lnTo>
                  <a:lnTo>
                    <a:pt x="362347" y="415034"/>
                  </a:lnTo>
                  <a:lnTo>
                    <a:pt x="273885" y="210839"/>
                  </a:lnTo>
                  <a:lnTo>
                    <a:pt x="228173" y="263920"/>
                  </a:lnTo>
                  <a:lnTo>
                    <a:pt x="141777" y="94382"/>
                  </a:lnTo>
                  <a:close/>
                </a:path>
              </a:pathLst>
            </a:custGeom>
            <a:ln w="938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6550010" y="4785024"/>
              <a:ext cx="239395" cy="424180"/>
            </a:xfrm>
            <a:custGeom>
              <a:avLst/>
              <a:gdLst/>
              <a:ahLst/>
              <a:cxnLst/>
              <a:rect l="l" t="t" r="r" b="b"/>
              <a:pathLst>
                <a:path w="239395" h="424179">
                  <a:moveTo>
                    <a:pt x="239058" y="0"/>
                  </a:moveTo>
                  <a:lnTo>
                    <a:pt x="77664" y="148407"/>
                  </a:lnTo>
                  <a:lnTo>
                    <a:pt x="77820" y="148407"/>
                  </a:lnTo>
                  <a:lnTo>
                    <a:pt x="134111" y="168863"/>
                  </a:lnTo>
                  <a:lnTo>
                    <a:pt x="15734" y="289225"/>
                  </a:lnTo>
                  <a:lnTo>
                    <a:pt x="83891" y="316724"/>
                  </a:lnTo>
                  <a:lnTo>
                    <a:pt x="0" y="423867"/>
                  </a:lnTo>
                  <a:lnTo>
                    <a:pt x="150915" y="294003"/>
                  </a:lnTo>
                  <a:lnTo>
                    <a:pt x="86208" y="267571"/>
                  </a:lnTo>
                  <a:lnTo>
                    <a:pt x="206709" y="148407"/>
                  </a:lnTo>
                  <a:lnTo>
                    <a:pt x="146474" y="128493"/>
                  </a:lnTo>
                  <a:lnTo>
                    <a:pt x="23905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6550010" y="4785023"/>
              <a:ext cx="239395" cy="424180"/>
            </a:xfrm>
            <a:custGeom>
              <a:avLst/>
              <a:gdLst/>
              <a:ahLst/>
              <a:cxnLst/>
              <a:rect l="l" t="t" r="r" b="b"/>
              <a:pathLst>
                <a:path w="239395" h="424179">
                  <a:moveTo>
                    <a:pt x="206708" y="148405"/>
                  </a:moveTo>
                  <a:lnTo>
                    <a:pt x="146474" y="128494"/>
                  </a:lnTo>
                  <a:lnTo>
                    <a:pt x="239057" y="0"/>
                  </a:lnTo>
                  <a:lnTo>
                    <a:pt x="77708" y="148367"/>
                  </a:lnTo>
                  <a:lnTo>
                    <a:pt x="134111" y="168862"/>
                  </a:lnTo>
                  <a:lnTo>
                    <a:pt x="15733" y="289226"/>
                  </a:lnTo>
                  <a:lnTo>
                    <a:pt x="83890" y="316724"/>
                  </a:lnTo>
                  <a:lnTo>
                    <a:pt x="0" y="423867"/>
                  </a:lnTo>
                  <a:lnTo>
                    <a:pt x="150915" y="294003"/>
                  </a:lnTo>
                  <a:lnTo>
                    <a:pt x="86208" y="267572"/>
                  </a:lnTo>
                  <a:lnTo>
                    <a:pt x="206708" y="148407"/>
                  </a:lnTo>
                  <a:close/>
                </a:path>
              </a:pathLst>
            </a:custGeom>
            <a:ln w="938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2" name="object 172"/>
          <p:cNvSpPr txBox="1"/>
          <p:nvPr/>
        </p:nvSpPr>
        <p:spPr>
          <a:xfrm>
            <a:off x="6239340" y="5932912"/>
            <a:ext cx="1160780" cy="39179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700">
                <a:solidFill>
                  <a:srgbClr val="3A3A3A"/>
                </a:solidFill>
                <a:latin typeface="Calibri"/>
                <a:cs typeface="Calibri"/>
              </a:rPr>
              <a:t>Source:</a:t>
            </a:r>
            <a:r>
              <a:rPr dirty="0" sz="700" spc="7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3A3A3A"/>
                </a:solidFill>
                <a:latin typeface="Calibri"/>
                <a:cs typeface="Calibri"/>
              </a:rPr>
              <a:t>Duran,</a:t>
            </a:r>
            <a:r>
              <a:rPr dirty="0" sz="700" spc="7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3A3A3A"/>
                </a:solidFill>
                <a:latin typeface="Calibri"/>
                <a:cs typeface="Calibri"/>
              </a:rPr>
              <a:t>R.</a:t>
            </a:r>
            <a:r>
              <a:rPr dirty="0" sz="700" spc="7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3A3A3A"/>
                </a:solidFill>
                <a:latin typeface="Calibri"/>
                <a:cs typeface="Calibri"/>
              </a:rPr>
              <a:t>E.,</a:t>
            </a:r>
            <a:endParaRPr sz="700">
              <a:latin typeface="Calibri"/>
              <a:cs typeface="Calibri"/>
            </a:endParaRPr>
          </a:p>
          <a:p>
            <a:pPr marL="12700" marR="5080">
              <a:lnSpc>
                <a:spcPct val="114399"/>
              </a:lnSpc>
            </a:pPr>
            <a:r>
              <a:rPr dirty="0" sz="700">
                <a:solidFill>
                  <a:srgbClr val="3A3A3A"/>
                </a:solidFill>
                <a:latin typeface="Calibri"/>
                <a:cs typeface="Calibri"/>
              </a:rPr>
              <a:t>Financial</a:t>
            </a:r>
            <a:r>
              <a:rPr dirty="0" sz="700" spc="114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3A3A3A"/>
                </a:solidFill>
                <a:latin typeface="Calibri"/>
                <a:cs typeface="Calibri"/>
              </a:rPr>
              <a:t>Services</a:t>
            </a:r>
            <a:r>
              <a:rPr dirty="0" sz="700" spc="12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3A3A3A"/>
                </a:solidFill>
                <a:latin typeface="Calibri"/>
                <a:cs typeface="Calibri"/>
              </a:rPr>
              <a:t>Technology,</a:t>
            </a:r>
            <a:r>
              <a:rPr dirty="0" sz="700" spc="50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3A3A3A"/>
                </a:solidFill>
                <a:latin typeface="Calibri"/>
                <a:cs typeface="Calibri"/>
              </a:rPr>
              <a:t>Cengage</a:t>
            </a:r>
            <a:r>
              <a:rPr dirty="0" sz="700" spc="10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3A3A3A"/>
                </a:solidFill>
                <a:latin typeface="Calibri"/>
                <a:cs typeface="Calibri"/>
              </a:rPr>
              <a:t>Learning</a:t>
            </a:r>
            <a:r>
              <a:rPr dirty="0" sz="700" spc="11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3A3A3A"/>
                </a:solidFill>
                <a:latin typeface="Calibri"/>
                <a:cs typeface="Calibri"/>
              </a:rPr>
              <a:t>Asia,</a:t>
            </a:r>
            <a:r>
              <a:rPr dirty="0" sz="700" spc="10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3A3A3A"/>
                </a:solidFill>
                <a:latin typeface="Calibri"/>
                <a:cs typeface="Calibri"/>
              </a:rPr>
              <a:t>2018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73" name="object 17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Trading</a:t>
            </a:r>
            <a:r>
              <a:rPr dirty="0" spc="-105"/>
              <a:t> </a:t>
            </a:r>
            <a:r>
              <a:rPr dirty="0"/>
              <a:t>System</a:t>
            </a:r>
            <a:r>
              <a:rPr dirty="0" spc="-105"/>
              <a:t> </a:t>
            </a:r>
            <a:r>
              <a:rPr dirty="0" spc="-1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10306050" cy="3792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Order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routing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system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components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332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Order</a:t>
            </a:r>
            <a:r>
              <a:rPr dirty="0" sz="2400" spc="-10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management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systems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(OMS)</a:t>
            </a:r>
            <a:endParaRPr sz="24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Used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both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brokers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customers</a:t>
            </a:r>
            <a:endParaRPr sz="2000">
              <a:latin typeface="Century Gothic"/>
              <a:cs typeface="Century Gothic"/>
            </a:endParaRPr>
          </a:p>
          <a:p>
            <a:pPr lvl="2" marL="1153160" marR="5080" indent="-226695">
              <a:lnSpc>
                <a:spcPts val="2110"/>
              </a:lnSpc>
              <a:spcBef>
                <a:spcPts val="600"/>
              </a:spcBef>
              <a:buFont typeface="Arial"/>
              <a:buChar char="•"/>
              <a:tabLst>
                <a:tab pos="1155065" algn="l"/>
              </a:tabLst>
            </a:pPr>
            <a:r>
              <a:rPr dirty="0" sz="2000">
                <a:latin typeface="Century Gothic"/>
                <a:cs typeface="Century Gothic"/>
              </a:rPr>
              <a:t>Originally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designed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perform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electronic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recordkeeping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placed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over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telephone</a:t>
            </a:r>
            <a:endParaRPr sz="20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Provide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order-</a:t>
            </a:r>
            <a:r>
              <a:rPr dirty="0" sz="2000">
                <a:latin typeface="Century Gothic"/>
                <a:cs typeface="Century Gothic"/>
              </a:rPr>
              <a:t>capture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position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keeping</a:t>
            </a:r>
            <a:endParaRPr sz="20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Support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back-</a:t>
            </a:r>
            <a:r>
              <a:rPr dirty="0" sz="2000">
                <a:latin typeface="Century Gothic"/>
                <a:cs typeface="Century Gothic"/>
              </a:rPr>
              <a:t>office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functions</a:t>
            </a:r>
            <a:endParaRPr sz="2000">
              <a:latin typeface="Century Gothic"/>
              <a:cs typeface="Century Gothic"/>
            </a:endParaRPr>
          </a:p>
          <a:p>
            <a:pPr lvl="3" marL="1611630" indent="-2279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1611630" algn="l"/>
              </a:tabLst>
            </a:pPr>
            <a:r>
              <a:rPr dirty="0" sz="1800" spc="-10">
                <a:latin typeface="Century Gothic"/>
                <a:cs typeface="Century Gothic"/>
              </a:rPr>
              <a:t>Accounting</a:t>
            </a:r>
            <a:endParaRPr sz="1800">
              <a:latin typeface="Century Gothic"/>
              <a:cs typeface="Century Gothic"/>
            </a:endParaRPr>
          </a:p>
          <a:p>
            <a:pPr lvl="3" marL="1611630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611630" algn="l"/>
              </a:tabLst>
            </a:pPr>
            <a:r>
              <a:rPr dirty="0" sz="1800" spc="-10">
                <a:latin typeface="Century Gothic"/>
                <a:cs typeface="Century Gothic"/>
              </a:rPr>
              <a:t>Reporting</a:t>
            </a:r>
            <a:endParaRPr sz="1800">
              <a:latin typeface="Century Gothic"/>
              <a:cs typeface="Century Gothic"/>
            </a:endParaRPr>
          </a:p>
          <a:p>
            <a:pPr lvl="3" marL="1611630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611630" algn="l"/>
              </a:tabLst>
            </a:pPr>
            <a:r>
              <a:rPr dirty="0" sz="1800" spc="-10">
                <a:latin typeface="Century Gothic"/>
                <a:cs typeface="Century Gothic"/>
              </a:rPr>
              <a:t>Compliance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Trading</a:t>
            </a:r>
            <a:r>
              <a:rPr dirty="0" spc="-105"/>
              <a:t> </a:t>
            </a:r>
            <a:r>
              <a:rPr dirty="0"/>
              <a:t>System</a:t>
            </a:r>
            <a:r>
              <a:rPr dirty="0" spc="-105"/>
              <a:t> </a:t>
            </a:r>
            <a:r>
              <a:rPr dirty="0" spc="-1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8929370" cy="4008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Order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routing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system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components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0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Execution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management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systems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(EMS)</a:t>
            </a:r>
            <a:endParaRPr sz="24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38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Designed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electronic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trading</a:t>
            </a:r>
            <a:endParaRPr sz="2000">
              <a:latin typeface="Century Gothic"/>
              <a:cs typeface="Century Gothic"/>
            </a:endParaRPr>
          </a:p>
          <a:p>
            <a:pPr lvl="3" marL="1611630" indent="-2279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1611630" algn="l"/>
              </a:tabLst>
            </a:pPr>
            <a:r>
              <a:rPr dirty="0" sz="1800">
                <a:latin typeface="Century Gothic"/>
                <a:cs typeface="Century Gothic"/>
              </a:rPr>
              <a:t>Higher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trading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volumes</a:t>
            </a:r>
            <a:endParaRPr sz="1800">
              <a:latin typeface="Century Gothic"/>
              <a:cs typeface="Century Gothic"/>
            </a:endParaRPr>
          </a:p>
          <a:p>
            <a:pPr lvl="3" marL="1611630" indent="-2279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1611630" algn="l"/>
              </a:tabLst>
            </a:pPr>
            <a:r>
              <a:rPr dirty="0" sz="1800">
                <a:latin typeface="Century Gothic"/>
                <a:cs typeface="Century Gothic"/>
              </a:rPr>
              <a:t>Execution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speed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is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critical</a:t>
            </a:r>
            <a:endParaRPr sz="1800">
              <a:latin typeface="Century Gothic"/>
              <a:cs typeface="Century Gothic"/>
            </a:endParaRPr>
          </a:p>
          <a:p>
            <a:pPr lvl="3">
              <a:lnSpc>
                <a:spcPct val="100000"/>
              </a:lnSpc>
              <a:spcBef>
                <a:spcPts val="73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Manage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execution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electronically</a:t>
            </a:r>
            <a:endParaRPr sz="2000">
              <a:latin typeface="Century Gothic"/>
              <a:cs typeface="Century Gothic"/>
            </a:endParaRPr>
          </a:p>
          <a:p>
            <a:pPr lvl="3" marL="1611630" indent="-22796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1611630" algn="l"/>
              </a:tabLst>
            </a:pPr>
            <a:r>
              <a:rPr dirty="0" sz="1800">
                <a:latin typeface="Century Gothic"/>
                <a:cs typeface="Century Gothic"/>
              </a:rPr>
              <a:t>No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human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intervention</a:t>
            </a:r>
            <a:endParaRPr sz="1800">
              <a:latin typeface="Century Gothic"/>
              <a:cs typeface="Century Gothic"/>
            </a:endParaRPr>
          </a:p>
          <a:p>
            <a:pPr lvl="3" marL="1611630" indent="-2279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1611630" algn="l"/>
              </a:tabLst>
            </a:pPr>
            <a:r>
              <a:rPr dirty="0" sz="1800">
                <a:latin typeface="Century Gothic"/>
                <a:cs typeface="Century Gothic"/>
              </a:rPr>
              <a:t>Use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algorithms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execute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orders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over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extended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period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time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Trading</a:t>
            </a:r>
            <a:r>
              <a:rPr dirty="0" spc="-105"/>
              <a:t> </a:t>
            </a:r>
            <a:r>
              <a:rPr dirty="0"/>
              <a:t>System</a:t>
            </a:r>
            <a:r>
              <a:rPr dirty="0" spc="-105"/>
              <a:t> </a:t>
            </a:r>
            <a:r>
              <a:rPr dirty="0" spc="-1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769364"/>
            <a:ext cx="44297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routing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system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components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1739" y="2304288"/>
            <a:ext cx="5859145" cy="908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201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700">
                <a:latin typeface="Century Gothic"/>
                <a:cs typeface="Century Gothic"/>
              </a:rPr>
              <a:t>Connectivity</a:t>
            </a:r>
            <a:r>
              <a:rPr dirty="0" sz="1700" spc="-100">
                <a:latin typeface="Century Gothic"/>
                <a:cs typeface="Century Gothic"/>
              </a:rPr>
              <a:t> </a:t>
            </a:r>
            <a:r>
              <a:rPr dirty="0" sz="1700" spc="-10">
                <a:latin typeface="Century Gothic"/>
                <a:cs typeface="Century Gothic"/>
              </a:rPr>
              <a:t>gateways</a:t>
            </a:r>
            <a:endParaRPr sz="1700">
              <a:latin typeface="Century Gothic"/>
              <a:cs typeface="Century Gothic"/>
            </a:endParaRPr>
          </a:p>
          <a:p>
            <a:pPr lvl="1" marL="697865" indent="-228600">
              <a:lnSpc>
                <a:spcPts val="1650"/>
              </a:lnSpc>
              <a:buFont typeface="Arial"/>
              <a:buChar char="•"/>
              <a:tabLst>
                <a:tab pos="697865" algn="l"/>
              </a:tabLst>
            </a:pPr>
            <a:r>
              <a:rPr dirty="0" sz="1400">
                <a:latin typeface="Century Gothic"/>
                <a:cs typeface="Century Gothic"/>
              </a:rPr>
              <a:t>Enable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customers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to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send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orders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electronically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to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broker</a:t>
            </a:r>
            <a:endParaRPr sz="1400">
              <a:latin typeface="Century Gothic"/>
              <a:cs typeface="Century Gothic"/>
            </a:endParaRPr>
          </a:p>
          <a:p>
            <a:pPr lvl="1" marL="697865" indent="-2286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400">
                <a:latin typeface="Century Gothic"/>
                <a:cs typeface="Century Gothic"/>
              </a:rPr>
              <a:t>Often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use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FIX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as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communication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standard</a:t>
            </a:r>
            <a:endParaRPr sz="1400">
              <a:latin typeface="Century Gothic"/>
              <a:cs typeface="Century Gothic"/>
            </a:endParaRPr>
          </a:p>
          <a:p>
            <a:pPr lvl="2" marL="1155065" indent="-2286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155065" algn="l"/>
              </a:tabLst>
            </a:pPr>
            <a:r>
              <a:rPr dirty="0" sz="1300">
                <a:latin typeface="Century Gothic"/>
                <a:cs typeface="Century Gothic"/>
              </a:rPr>
              <a:t>FIX</a:t>
            </a:r>
            <a:r>
              <a:rPr dirty="0" sz="1300" spc="-4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–</a:t>
            </a:r>
            <a:r>
              <a:rPr dirty="0" sz="1300" spc="-3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Financial</a:t>
            </a:r>
            <a:r>
              <a:rPr dirty="0" sz="1300" spc="-4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information</a:t>
            </a:r>
            <a:r>
              <a:rPr dirty="0" sz="1300" spc="-3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eXchange</a:t>
            </a:r>
            <a:r>
              <a:rPr dirty="0" sz="1300" spc="-35">
                <a:latin typeface="Century Gothic"/>
                <a:cs typeface="Century Gothic"/>
              </a:rPr>
              <a:t> </a:t>
            </a:r>
            <a:r>
              <a:rPr dirty="0" sz="1300" spc="-10">
                <a:latin typeface="Century Gothic"/>
                <a:cs typeface="Century Gothic"/>
              </a:rPr>
              <a:t>protocol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1739" y="3419855"/>
            <a:ext cx="290449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700">
                <a:latin typeface="Century Gothic"/>
                <a:cs typeface="Century Gothic"/>
              </a:rPr>
              <a:t>Risk</a:t>
            </a:r>
            <a:r>
              <a:rPr dirty="0" sz="1700" spc="-6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management</a:t>
            </a:r>
            <a:r>
              <a:rPr dirty="0" sz="1700" spc="-60">
                <a:latin typeface="Century Gothic"/>
                <a:cs typeface="Century Gothic"/>
              </a:rPr>
              <a:t> </a:t>
            </a:r>
            <a:r>
              <a:rPr dirty="0" sz="1700" spc="-10">
                <a:latin typeface="Century Gothic"/>
                <a:cs typeface="Century Gothic"/>
              </a:rPr>
              <a:t>system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8939" y="3674364"/>
            <a:ext cx="56718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400">
                <a:latin typeface="Century Gothic"/>
                <a:cs typeface="Century Gothic"/>
              </a:rPr>
              <a:t>Verifies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that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customer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orders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will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not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exceed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their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margin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 spc="-25">
                <a:latin typeface="Century Gothic"/>
                <a:cs typeface="Century Gothic"/>
              </a:rPr>
              <a:t>or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7539" y="3826764"/>
            <a:ext cx="9359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entury Gothic"/>
                <a:cs typeface="Century Gothic"/>
              </a:rPr>
              <a:t>cash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limits.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739" y="4270248"/>
            <a:ext cx="214566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700">
                <a:latin typeface="Century Gothic"/>
                <a:cs typeface="Century Gothic"/>
              </a:rPr>
              <a:t>Smart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order</a:t>
            </a:r>
            <a:r>
              <a:rPr dirty="0" sz="1700" spc="-30">
                <a:latin typeface="Century Gothic"/>
                <a:cs typeface="Century Gothic"/>
              </a:rPr>
              <a:t> </a:t>
            </a:r>
            <a:r>
              <a:rPr dirty="0" sz="1700" spc="-10">
                <a:latin typeface="Century Gothic"/>
                <a:cs typeface="Century Gothic"/>
              </a:rPr>
              <a:t>router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8939" y="4524755"/>
            <a:ext cx="55187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400">
                <a:latin typeface="Century Gothic"/>
                <a:cs typeface="Century Gothic"/>
              </a:rPr>
              <a:t>Determine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which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execution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venue(s)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orders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should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be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routed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07539" y="4677155"/>
            <a:ext cx="191706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entury Gothic"/>
                <a:cs typeface="Century Gothic"/>
              </a:rPr>
              <a:t>(discussed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more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later)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1739" y="5123688"/>
            <a:ext cx="6113145" cy="1011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201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700">
                <a:latin typeface="Century Gothic"/>
                <a:cs typeface="Century Gothic"/>
              </a:rPr>
              <a:t>Market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access</a:t>
            </a:r>
            <a:r>
              <a:rPr dirty="0" sz="1700" spc="-30">
                <a:latin typeface="Century Gothic"/>
                <a:cs typeface="Century Gothic"/>
              </a:rPr>
              <a:t> </a:t>
            </a:r>
            <a:r>
              <a:rPr dirty="0" sz="1700" spc="-10">
                <a:latin typeface="Century Gothic"/>
                <a:cs typeface="Century Gothic"/>
              </a:rPr>
              <a:t>gateways</a:t>
            </a:r>
            <a:endParaRPr sz="1700">
              <a:latin typeface="Century Gothic"/>
              <a:cs typeface="Century Gothic"/>
            </a:endParaRPr>
          </a:p>
          <a:p>
            <a:pPr lvl="1" marL="697865" marR="76835" indent="-228600">
              <a:lnSpc>
                <a:spcPct val="71400"/>
              </a:lnSpc>
              <a:spcBef>
                <a:spcPts val="45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400">
                <a:latin typeface="Century Gothic"/>
                <a:cs typeface="Century Gothic"/>
              </a:rPr>
              <a:t>Connect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with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and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communicate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orders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to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different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execution venues</a:t>
            </a:r>
            <a:endParaRPr sz="1400">
              <a:latin typeface="Century Gothic"/>
              <a:cs typeface="Century Gothic"/>
            </a:endParaRPr>
          </a:p>
          <a:p>
            <a:pPr lvl="1" marL="697865" marR="5080" indent="-228600">
              <a:lnSpc>
                <a:spcPct val="71400"/>
              </a:lnSpc>
              <a:spcBef>
                <a:spcPts val="50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400">
                <a:latin typeface="Century Gothic"/>
                <a:cs typeface="Century Gothic"/>
              </a:rPr>
              <a:t>Each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connection,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or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“line,”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to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exchange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will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have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limited </a:t>
            </a:r>
            <a:r>
              <a:rPr dirty="0" sz="1400">
                <a:latin typeface="Century Gothic"/>
                <a:cs typeface="Century Gothic"/>
              </a:rPr>
              <a:t>capacity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–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“throttle”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 spc="-20">
                <a:latin typeface="Century Gothic"/>
                <a:cs typeface="Century Gothic"/>
              </a:rPr>
              <a:t>limit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700542" y="2837741"/>
            <a:ext cx="4048760" cy="2341245"/>
            <a:chOff x="7700542" y="2837741"/>
            <a:chExt cx="4048760" cy="234124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5620" y="4069097"/>
              <a:ext cx="575392" cy="4189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98360" y="2837741"/>
              <a:ext cx="575392" cy="4189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4468" y="2871995"/>
              <a:ext cx="575392" cy="4189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4578" y="4522200"/>
              <a:ext cx="687119" cy="45249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07542" y="3204081"/>
              <a:ext cx="692705" cy="45249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30950" y="2905515"/>
              <a:ext cx="575392" cy="4189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59753" y="4728738"/>
              <a:ext cx="687119" cy="4498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68262" y="2951699"/>
              <a:ext cx="547461" cy="25138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98360" y="3433144"/>
              <a:ext cx="575392" cy="4189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4468" y="3467399"/>
              <a:ext cx="575392" cy="41897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30950" y="3500917"/>
              <a:ext cx="575392" cy="4189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68262" y="3547108"/>
              <a:ext cx="547461" cy="25138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20331" y="4104632"/>
              <a:ext cx="575392" cy="4189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01779" y="4173162"/>
              <a:ext cx="547461" cy="25138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98360" y="4625368"/>
              <a:ext cx="575392" cy="41897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4468" y="4659623"/>
              <a:ext cx="575392" cy="4189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30950" y="4693141"/>
              <a:ext cx="575392" cy="4189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68262" y="4739327"/>
              <a:ext cx="547461" cy="2513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4993" y="3835081"/>
              <a:ext cx="692705" cy="45249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42697" y="3547339"/>
              <a:ext cx="754155" cy="59773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34113" y="3204081"/>
              <a:ext cx="687119" cy="45249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29672" y="2907185"/>
              <a:ext cx="564219" cy="44132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00542" y="4514129"/>
              <a:ext cx="402216" cy="35752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80254" y="3835081"/>
              <a:ext cx="692705" cy="45249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42486" y="2976413"/>
              <a:ext cx="229039" cy="35193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41018" y="4125769"/>
              <a:ext cx="402216" cy="42456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91621" y="4132801"/>
              <a:ext cx="340766" cy="41897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0759809" y="2876845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451746" y="0"/>
                  </a:moveTo>
                  <a:lnTo>
                    <a:pt x="0" y="0"/>
                  </a:lnTo>
                  <a:lnTo>
                    <a:pt x="0" y="292724"/>
                  </a:lnTo>
                  <a:lnTo>
                    <a:pt x="451746" y="292724"/>
                  </a:lnTo>
                  <a:lnTo>
                    <a:pt x="4517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0759811" y="2876845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0" y="0"/>
                  </a:moveTo>
                  <a:lnTo>
                    <a:pt x="451746" y="0"/>
                  </a:lnTo>
                  <a:lnTo>
                    <a:pt x="451746" y="292724"/>
                  </a:lnTo>
                  <a:lnTo>
                    <a:pt x="0" y="292724"/>
                  </a:lnTo>
                  <a:lnTo>
                    <a:pt x="0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725917" y="2911101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451746" y="0"/>
                  </a:moveTo>
                  <a:lnTo>
                    <a:pt x="0" y="0"/>
                  </a:lnTo>
                  <a:lnTo>
                    <a:pt x="0" y="292724"/>
                  </a:lnTo>
                  <a:lnTo>
                    <a:pt x="451746" y="292724"/>
                  </a:lnTo>
                  <a:lnTo>
                    <a:pt x="4517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0725918" y="2911101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0" y="0"/>
                  </a:moveTo>
                  <a:lnTo>
                    <a:pt x="451746" y="0"/>
                  </a:lnTo>
                  <a:lnTo>
                    <a:pt x="451746" y="292724"/>
                  </a:lnTo>
                  <a:lnTo>
                    <a:pt x="0" y="292724"/>
                  </a:lnTo>
                  <a:lnTo>
                    <a:pt x="0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9036028" y="4561304"/>
              <a:ext cx="564515" cy="326390"/>
            </a:xfrm>
            <a:custGeom>
              <a:avLst/>
              <a:gdLst/>
              <a:ahLst/>
              <a:cxnLst/>
              <a:rect l="l" t="t" r="r" b="b"/>
              <a:pathLst>
                <a:path w="564515" h="326389">
                  <a:moveTo>
                    <a:pt x="564219" y="0"/>
                  </a:moveTo>
                  <a:lnTo>
                    <a:pt x="0" y="0"/>
                  </a:lnTo>
                  <a:lnTo>
                    <a:pt x="0" y="326242"/>
                  </a:lnTo>
                  <a:lnTo>
                    <a:pt x="564219" y="326242"/>
                  </a:lnTo>
                  <a:lnTo>
                    <a:pt x="564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9036029" y="4561304"/>
              <a:ext cx="564515" cy="326390"/>
            </a:xfrm>
            <a:custGeom>
              <a:avLst/>
              <a:gdLst/>
              <a:ahLst/>
              <a:cxnLst/>
              <a:rect l="l" t="t" r="r" b="b"/>
              <a:pathLst>
                <a:path w="564515" h="326389">
                  <a:moveTo>
                    <a:pt x="0" y="0"/>
                  </a:moveTo>
                  <a:lnTo>
                    <a:pt x="564220" y="0"/>
                  </a:lnTo>
                  <a:lnTo>
                    <a:pt x="564220" y="326242"/>
                  </a:lnTo>
                  <a:lnTo>
                    <a:pt x="0" y="326242"/>
                  </a:lnTo>
                  <a:lnTo>
                    <a:pt x="0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9101504" y="4625137"/>
            <a:ext cx="427990" cy="184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75565" marR="5080" indent="-63500">
              <a:lnSpc>
                <a:spcPct val="102600"/>
              </a:lnSpc>
              <a:spcBef>
                <a:spcPts val="110"/>
              </a:spcBef>
            </a:pPr>
            <a:r>
              <a:rPr dirty="0" sz="500" spc="-10" b="1">
                <a:latin typeface="Arial"/>
                <a:cs typeface="Arial"/>
              </a:rPr>
              <a:t>Connectivity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Gateway</a:t>
            </a:r>
            <a:endParaRPr sz="5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968992" y="3243186"/>
            <a:ext cx="564515" cy="326390"/>
          </a:xfrm>
          <a:prstGeom prst="rect">
            <a:avLst/>
          </a:prstGeom>
          <a:solidFill>
            <a:srgbClr val="FFFFFF"/>
          </a:solidFill>
          <a:ln w="5586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ctr" marL="74295" marR="72390" indent="-635">
              <a:lnSpc>
                <a:spcPct val="102600"/>
              </a:lnSpc>
              <a:spcBef>
                <a:spcPts val="305"/>
              </a:spcBef>
            </a:pPr>
            <a:r>
              <a:rPr dirty="0" sz="500" spc="-10" b="1">
                <a:latin typeface="Arial"/>
                <a:cs typeface="Arial"/>
              </a:rPr>
              <a:t>Order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Management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System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009305" y="2966083"/>
            <a:ext cx="354965" cy="438784"/>
            <a:chOff x="8009305" y="2966083"/>
            <a:chExt cx="354965" cy="438784"/>
          </a:xfrm>
        </p:grpSpPr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71806" y="3109220"/>
              <a:ext cx="37786" cy="23273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13749" y="2970528"/>
              <a:ext cx="295838" cy="15887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013750" y="2970528"/>
              <a:ext cx="295910" cy="159385"/>
            </a:xfrm>
            <a:custGeom>
              <a:avLst/>
              <a:gdLst/>
              <a:ahLst/>
              <a:cxnLst/>
              <a:rect l="l" t="t" r="r" b="b"/>
              <a:pathLst>
                <a:path w="295909" h="159385">
                  <a:moveTo>
                    <a:pt x="0" y="20181"/>
                  </a:moveTo>
                  <a:lnTo>
                    <a:pt x="48203" y="36651"/>
                  </a:lnTo>
                  <a:lnTo>
                    <a:pt x="94588" y="55920"/>
                  </a:lnTo>
                  <a:lnTo>
                    <a:pt x="138960" y="77881"/>
                  </a:lnTo>
                  <a:lnTo>
                    <a:pt x="181125" y="102431"/>
                  </a:lnTo>
                  <a:lnTo>
                    <a:pt x="220887" y="129465"/>
                  </a:lnTo>
                  <a:lnTo>
                    <a:pt x="258052" y="158878"/>
                  </a:lnTo>
                  <a:lnTo>
                    <a:pt x="295838" y="138696"/>
                  </a:lnTo>
                  <a:lnTo>
                    <a:pt x="258419" y="109534"/>
                  </a:lnTo>
                  <a:lnTo>
                    <a:pt x="218525" y="82661"/>
                  </a:lnTo>
                  <a:lnTo>
                    <a:pt x="176335" y="58175"/>
                  </a:lnTo>
                  <a:lnTo>
                    <a:pt x="132029" y="36172"/>
                  </a:lnTo>
                  <a:lnTo>
                    <a:pt x="85786" y="16748"/>
                  </a:lnTo>
                  <a:lnTo>
                    <a:pt x="37786" y="0"/>
                  </a:lnTo>
                  <a:lnTo>
                    <a:pt x="0" y="20181"/>
                  </a:lnTo>
                  <a:close/>
                </a:path>
              </a:pathLst>
            </a:custGeom>
            <a:ln w="40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59830" y="3262520"/>
              <a:ext cx="299525" cy="13740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059831" y="3262520"/>
              <a:ext cx="299720" cy="137795"/>
            </a:xfrm>
            <a:custGeom>
              <a:avLst/>
              <a:gdLst/>
              <a:ahLst/>
              <a:cxnLst/>
              <a:rect l="l" t="t" r="r" b="b"/>
              <a:pathLst>
                <a:path w="299720" h="137795">
                  <a:moveTo>
                    <a:pt x="0" y="31775"/>
                  </a:moveTo>
                  <a:lnTo>
                    <a:pt x="196304" y="137408"/>
                  </a:lnTo>
                  <a:lnTo>
                    <a:pt x="299525" y="81586"/>
                  </a:lnTo>
                  <a:lnTo>
                    <a:pt x="299525" y="62263"/>
                  </a:lnTo>
                  <a:lnTo>
                    <a:pt x="249757" y="30057"/>
                  </a:lnTo>
                  <a:lnTo>
                    <a:pt x="249757" y="59257"/>
                  </a:lnTo>
                  <a:lnTo>
                    <a:pt x="211971" y="79439"/>
                  </a:lnTo>
                  <a:lnTo>
                    <a:pt x="166286" y="63139"/>
                  </a:lnTo>
                  <a:lnTo>
                    <a:pt x="122151" y="44418"/>
                  </a:lnTo>
                  <a:lnTo>
                    <a:pt x="79726" y="23347"/>
                  </a:lnTo>
                  <a:lnTo>
                    <a:pt x="39168" y="0"/>
                  </a:lnTo>
                  <a:lnTo>
                    <a:pt x="0" y="21469"/>
                  </a:lnTo>
                  <a:lnTo>
                    <a:pt x="0" y="31775"/>
                  </a:lnTo>
                  <a:close/>
                </a:path>
              </a:pathLst>
            </a:custGeom>
            <a:ln w="40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13749" y="2990706"/>
              <a:ext cx="258052" cy="351248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8013750" y="2990706"/>
              <a:ext cx="258445" cy="351790"/>
            </a:xfrm>
            <a:custGeom>
              <a:avLst/>
              <a:gdLst/>
              <a:ahLst/>
              <a:cxnLst/>
              <a:rect l="l" t="t" r="r" b="b"/>
              <a:pathLst>
                <a:path w="258445" h="351789">
                  <a:moveTo>
                    <a:pt x="0" y="211694"/>
                  </a:moveTo>
                  <a:lnTo>
                    <a:pt x="37884" y="240508"/>
                  </a:lnTo>
                  <a:lnTo>
                    <a:pt x="78019" y="267209"/>
                  </a:lnTo>
                  <a:lnTo>
                    <a:pt x="120255" y="291715"/>
                  </a:lnTo>
                  <a:lnTo>
                    <a:pt x="164440" y="313945"/>
                  </a:lnTo>
                  <a:lnTo>
                    <a:pt x="210423" y="333817"/>
                  </a:lnTo>
                  <a:lnTo>
                    <a:pt x="258052" y="351249"/>
                  </a:lnTo>
                  <a:lnTo>
                    <a:pt x="258052" y="138696"/>
                  </a:lnTo>
                  <a:lnTo>
                    <a:pt x="220520" y="109649"/>
                  </a:lnTo>
                  <a:lnTo>
                    <a:pt x="180568" y="82851"/>
                  </a:lnTo>
                  <a:lnTo>
                    <a:pt x="138367" y="58394"/>
                  </a:lnTo>
                  <a:lnTo>
                    <a:pt x="94091" y="36372"/>
                  </a:lnTo>
                  <a:lnTo>
                    <a:pt x="47911" y="16876"/>
                  </a:lnTo>
                  <a:lnTo>
                    <a:pt x="0" y="0"/>
                  </a:lnTo>
                  <a:lnTo>
                    <a:pt x="0" y="211694"/>
                  </a:lnTo>
                  <a:close/>
                </a:path>
              </a:pathLst>
            </a:custGeom>
            <a:ln w="40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013750" y="2970528"/>
              <a:ext cx="346075" cy="429895"/>
            </a:xfrm>
            <a:custGeom>
              <a:avLst/>
              <a:gdLst/>
              <a:ahLst/>
              <a:cxnLst/>
              <a:rect l="l" t="t" r="r" b="b"/>
              <a:pathLst>
                <a:path w="346075" h="429895">
                  <a:moveTo>
                    <a:pt x="0" y="231875"/>
                  </a:moveTo>
                  <a:lnTo>
                    <a:pt x="20527" y="247590"/>
                  </a:lnTo>
                  <a:lnTo>
                    <a:pt x="41587" y="262853"/>
                  </a:lnTo>
                  <a:lnTo>
                    <a:pt x="63165" y="277656"/>
                  </a:lnTo>
                  <a:lnTo>
                    <a:pt x="85249" y="291992"/>
                  </a:lnTo>
                  <a:lnTo>
                    <a:pt x="46081" y="313462"/>
                  </a:lnTo>
                  <a:lnTo>
                    <a:pt x="46081" y="323767"/>
                  </a:lnTo>
                  <a:lnTo>
                    <a:pt x="242385" y="429399"/>
                  </a:lnTo>
                  <a:lnTo>
                    <a:pt x="345606" y="373577"/>
                  </a:lnTo>
                  <a:lnTo>
                    <a:pt x="345606" y="354254"/>
                  </a:lnTo>
                  <a:lnTo>
                    <a:pt x="295839" y="327479"/>
                  </a:lnTo>
                  <a:lnTo>
                    <a:pt x="295839" y="138696"/>
                  </a:lnTo>
                  <a:lnTo>
                    <a:pt x="257364" y="110604"/>
                  </a:lnTo>
                  <a:lnTo>
                    <a:pt x="216915" y="84416"/>
                  </a:lnTo>
                  <a:lnTo>
                    <a:pt x="174612" y="60197"/>
                  </a:lnTo>
                  <a:lnTo>
                    <a:pt x="130576" y="38011"/>
                  </a:lnTo>
                  <a:lnTo>
                    <a:pt x="84927" y="17924"/>
                  </a:lnTo>
                  <a:lnTo>
                    <a:pt x="37786" y="0"/>
                  </a:lnTo>
                  <a:lnTo>
                    <a:pt x="0" y="20181"/>
                  </a:lnTo>
                  <a:lnTo>
                    <a:pt x="0" y="231875"/>
                  </a:lnTo>
                  <a:close/>
                </a:path>
              </a:pathLst>
            </a:custGeom>
            <a:ln w="83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8036794" y="3019046"/>
              <a:ext cx="299720" cy="370205"/>
            </a:xfrm>
            <a:custGeom>
              <a:avLst/>
              <a:gdLst/>
              <a:ahLst/>
              <a:cxnLst/>
              <a:rect l="l" t="t" r="r" b="b"/>
              <a:pathLst>
                <a:path w="299720" h="370204">
                  <a:moveTo>
                    <a:pt x="0" y="0"/>
                  </a:moveTo>
                  <a:lnTo>
                    <a:pt x="0" y="182069"/>
                  </a:lnTo>
                  <a:lnTo>
                    <a:pt x="211969" y="296718"/>
                  </a:lnTo>
                </a:path>
                <a:path w="299720" h="370204">
                  <a:moveTo>
                    <a:pt x="64509" y="286411"/>
                  </a:moveTo>
                  <a:lnTo>
                    <a:pt x="218421" y="369714"/>
                  </a:lnTo>
                  <a:lnTo>
                    <a:pt x="299523" y="325057"/>
                  </a:lnTo>
                </a:path>
              </a:pathLst>
            </a:custGeom>
            <a:ln w="40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36793" y="3019045"/>
              <a:ext cx="211971" cy="290704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8036794" y="3019046"/>
              <a:ext cx="212090" cy="297180"/>
            </a:xfrm>
            <a:custGeom>
              <a:avLst/>
              <a:gdLst/>
              <a:ahLst/>
              <a:cxnLst/>
              <a:rect l="l" t="t" r="r" b="b"/>
              <a:pathLst>
                <a:path w="212090" h="297179">
                  <a:moveTo>
                    <a:pt x="4608" y="179059"/>
                  </a:moveTo>
                  <a:lnTo>
                    <a:pt x="211971" y="290703"/>
                  </a:lnTo>
                  <a:lnTo>
                    <a:pt x="211971" y="296715"/>
                  </a:lnTo>
                  <a:lnTo>
                    <a:pt x="211971" y="113791"/>
                  </a:lnTo>
                  <a:lnTo>
                    <a:pt x="0" y="0"/>
                  </a:lnTo>
                  <a:lnTo>
                    <a:pt x="4608" y="2146"/>
                  </a:lnTo>
                  <a:lnTo>
                    <a:pt x="4608" y="179059"/>
                  </a:lnTo>
                  <a:close/>
                </a:path>
              </a:pathLst>
            </a:custGeom>
            <a:ln w="40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7843201" y="2787445"/>
            <a:ext cx="625475" cy="184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15875">
              <a:lnSpc>
                <a:spcPct val="102600"/>
              </a:lnSpc>
              <a:spcBef>
                <a:spcPts val="110"/>
              </a:spcBef>
            </a:pPr>
            <a:r>
              <a:rPr dirty="0" sz="500">
                <a:latin typeface="Arial"/>
                <a:cs typeface="Arial"/>
              </a:rPr>
              <a:t>Trading</a:t>
            </a:r>
            <a:r>
              <a:rPr dirty="0" sz="500" spc="55">
                <a:latin typeface="Arial"/>
                <a:cs typeface="Arial"/>
              </a:rPr>
              <a:t> </a:t>
            </a:r>
            <a:r>
              <a:rPr dirty="0" sz="500" spc="-10">
                <a:latin typeface="Arial"/>
                <a:cs typeface="Arial"/>
              </a:rPr>
              <a:t>Application</a:t>
            </a:r>
            <a:r>
              <a:rPr dirty="0" sz="500" spc="500">
                <a:latin typeface="Arial"/>
                <a:cs typeface="Arial"/>
              </a:rPr>
              <a:t> </a:t>
            </a:r>
            <a:r>
              <a:rPr dirty="0" sz="500">
                <a:latin typeface="Arial"/>
                <a:cs typeface="Arial"/>
              </a:rPr>
              <a:t>(provided</a:t>
            </a:r>
            <a:r>
              <a:rPr dirty="0" sz="500" spc="75">
                <a:latin typeface="Arial"/>
                <a:cs typeface="Arial"/>
              </a:rPr>
              <a:t> </a:t>
            </a:r>
            <a:r>
              <a:rPr dirty="0" sz="500">
                <a:latin typeface="Arial"/>
                <a:cs typeface="Arial"/>
              </a:rPr>
              <a:t>by</a:t>
            </a:r>
            <a:r>
              <a:rPr dirty="0" sz="500" spc="75">
                <a:latin typeface="Arial"/>
                <a:cs typeface="Arial"/>
              </a:rPr>
              <a:t> </a:t>
            </a:r>
            <a:r>
              <a:rPr dirty="0" sz="500" spc="-10">
                <a:latin typeface="Arial"/>
                <a:cs typeface="Arial"/>
              </a:rPr>
              <a:t>broker)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0689542" y="2941761"/>
            <a:ext cx="457834" cy="298450"/>
            <a:chOff x="10689542" y="2941761"/>
            <a:chExt cx="457834" cy="298450"/>
          </a:xfrm>
        </p:grpSpPr>
        <p:sp>
          <p:nvSpPr>
            <p:cNvPr id="62" name="object 62"/>
            <p:cNvSpPr/>
            <p:nvPr/>
          </p:nvSpPr>
          <p:spPr>
            <a:xfrm>
              <a:off x="10692399" y="2944618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451746" y="0"/>
                  </a:moveTo>
                  <a:lnTo>
                    <a:pt x="0" y="0"/>
                  </a:lnTo>
                  <a:lnTo>
                    <a:pt x="0" y="292724"/>
                  </a:lnTo>
                  <a:lnTo>
                    <a:pt x="451746" y="292724"/>
                  </a:lnTo>
                  <a:lnTo>
                    <a:pt x="4517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0692400" y="2944619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0" y="0"/>
                  </a:moveTo>
                  <a:lnTo>
                    <a:pt x="451746" y="0"/>
                  </a:lnTo>
                  <a:lnTo>
                    <a:pt x="451746" y="292724"/>
                  </a:lnTo>
                  <a:lnTo>
                    <a:pt x="0" y="292724"/>
                  </a:lnTo>
                  <a:lnTo>
                    <a:pt x="0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10785368" y="2952588"/>
            <a:ext cx="260350" cy="184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8890">
              <a:lnSpc>
                <a:spcPct val="102600"/>
              </a:lnSpc>
              <a:spcBef>
                <a:spcPts val="110"/>
              </a:spcBef>
            </a:pPr>
            <a:r>
              <a:rPr dirty="0" sz="500" spc="-10" b="1">
                <a:latin typeface="Arial"/>
                <a:cs typeface="Arial"/>
              </a:rPr>
              <a:t>Market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Access</a:t>
            </a:r>
            <a:endParaRPr sz="5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0746269" y="3109005"/>
            <a:ext cx="33845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10" b="1">
                <a:latin typeface="Arial"/>
                <a:cs typeface="Arial"/>
              </a:rPr>
              <a:t>Gateways</a:t>
            </a:r>
            <a:endParaRPr sz="5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921202" y="4767843"/>
            <a:ext cx="564515" cy="326390"/>
          </a:xfrm>
          <a:prstGeom prst="rect">
            <a:avLst/>
          </a:prstGeom>
          <a:solidFill>
            <a:srgbClr val="FFFFFF"/>
          </a:solidFill>
          <a:ln w="5586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ctr" marL="74295" marR="72390" indent="-635">
              <a:lnSpc>
                <a:spcPct val="102600"/>
              </a:lnSpc>
              <a:spcBef>
                <a:spcPts val="305"/>
              </a:spcBef>
            </a:pPr>
            <a:r>
              <a:rPr dirty="0" sz="500" spc="-10" b="1">
                <a:latin typeface="Arial"/>
                <a:cs typeface="Arial"/>
              </a:rPr>
              <a:t>Order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Management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System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1227543" y="3001853"/>
            <a:ext cx="428625" cy="126364"/>
            <a:chOff x="11227543" y="3001853"/>
            <a:chExt cx="428625" cy="126364"/>
          </a:xfrm>
        </p:grpSpPr>
        <p:sp>
          <p:nvSpPr>
            <p:cNvPr id="68" name="object 68"/>
            <p:cNvSpPr/>
            <p:nvPr/>
          </p:nvSpPr>
          <p:spPr>
            <a:xfrm>
              <a:off x="11230399" y="3004710"/>
              <a:ext cx="422909" cy="120650"/>
            </a:xfrm>
            <a:custGeom>
              <a:avLst/>
              <a:gdLst/>
              <a:ahLst/>
              <a:cxnLst/>
              <a:rect l="l" t="t" r="r" b="b"/>
              <a:pathLst>
                <a:path w="422909" h="120650">
                  <a:moveTo>
                    <a:pt x="0" y="58021"/>
                  </a:moveTo>
                  <a:lnTo>
                    <a:pt x="161875" y="120619"/>
                  </a:lnTo>
                  <a:lnTo>
                    <a:pt x="157123" y="77697"/>
                  </a:lnTo>
                  <a:lnTo>
                    <a:pt x="116591" y="77697"/>
                  </a:lnTo>
                  <a:lnTo>
                    <a:pt x="0" y="58021"/>
                  </a:lnTo>
                  <a:close/>
                </a:path>
                <a:path w="422909" h="120650">
                  <a:moveTo>
                    <a:pt x="288276" y="58258"/>
                  </a:moveTo>
                  <a:lnTo>
                    <a:pt x="154971" y="58258"/>
                  </a:lnTo>
                  <a:lnTo>
                    <a:pt x="296001" y="101546"/>
                  </a:lnTo>
                  <a:lnTo>
                    <a:pt x="288276" y="58258"/>
                  </a:lnTo>
                  <a:close/>
                </a:path>
                <a:path w="422909" h="120650">
                  <a:moveTo>
                    <a:pt x="109058" y="12158"/>
                  </a:moveTo>
                  <a:lnTo>
                    <a:pt x="116591" y="77697"/>
                  </a:lnTo>
                  <a:lnTo>
                    <a:pt x="157123" y="77697"/>
                  </a:lnTo>
                  <a:lnTo>
                    <a:pt x="154971" y="58258"/>
                  </a:lnTo>
                  <a:lnTo>
                    <a:pt x="288276" y="58258"/>
                  </a:lnTo>
                  <a:lnTo>
                    <a:pt x="287383" y="53257"/>
                  </a:lnTo>
                  <a:lnTo>
                    <a:pt x="250112" y="53257"/>
                  </a:lnTo>
                  <a:lnTo>
                    <a:pt x="109058" y="12158"/>
                  </a:lnTo>
                  <a:close/>
                </a:path>
                <a:path w="422909" h="120650">
                  <a:moveTo>
                    <a:pt x="372865" y="45525"/>
                  </a:moveTo>
                  <a:lnTo>
                    <a:pt x="286003" y="45525"/>
                  </a:lnTo>
                  <a:lnTo>
                    <a:pt x="422475" y="62805"/>
                  </a:lnTo>
                  <a:lnTo>
                    <a:pt x="372865" y="45525"/>
                  </a:lnTo>
                  <a:close/>
                </a:path>
                <a:path w="422909" h="120650">
                  <a:moveTo>
                    <a:pt x="242159" y="0"/>
                  </a:moveTo>
                  <a:lnTo>
                    <a:pt x="250112" y="53257"/>
                  </a:lnTo>
                  <a:lnTo>
                    <a:pt x="287383" y="53257"/>
                  </a:lnTo>
                  <a:lnTo>
                    <a:pt x="286003" y="45525"/>
                  </a:lnTo>
                  <a:lnTo>
                    <a:pt x="372865" y="45525"/>
                  </a:lnTo>
                  <a:lnTo>
                    <a:pt x="24215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1230400" y="3004711"/>
              <a:ext cx="422909" cy="120650"/>
            </a:xfrm>
            <a:custGeom>
              <a:avLst/>
              <a:gdLst/>
              <a:ahLst/>
              <a:cxnLst/>
              <a:rect l="l" t="t" r="r" b="b"/>
              <a:pathLst>
                <a:path w="422909" h="120650">
                  <a:moveTo>
                    <a:pt x="296002" y="101545"/>
                  </a:moveTo>
                  <a:lnTo>
                    <a:pt x="286003" y="45524"/>
                  </a:lnTo>
                  <a:lnTo>
                    <a:pt x="422475" y="62804"/>
                  </a:lnTo>
                  <a:lnTo>
                    <a:pt x="242158" y="0"/>
                  </a:lnTo>
                  <a:lnTo>
                    <a:pt x="250112" y="53257"/>
                  </a:lnTo>
                  <a:lnTo>
                    <a:pt x="109057" y="12158"/>
                  </a:lnTo>
                  <a:lnTo>
                    <a:pt x="116590" y="77696"/>
                  </a:lnTo>
                  <a:lnTo>
                    <a:pt x="0" y="58020"/>
                  </a:lnTo>
                  <a:lnTo>
                    <a:pt x="161874" y="120619"/>
                  </a:lnTo>
                  <a:lnTo>
                    <a:pt x="154971" y="58257"/>
                  </a:lnTo>
                  <a:lnTo>
                    <a:pt x="296001" y="101545"/>
                  </a:lnTo>
                  <a:close/>
                </a:path>
              </a:pathLst>
            </a:custGeom>
            <a:ln w="5586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11698123" y="2980900"/>
            <a:ext cx="323850" cy="184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110"/>
              </a:spcBef>
            </a:pPr>
            <a:r>
              <a:rPr dirty="0" sz="500" spc="-10" i="1">
                <a:latin typeface="Arial"/>
                <a:cs typeface="Arial"/>
              </a:rPr>
              <a:t>Stock</a:t>
            </a:r>
            <a:r>
              <a:rPr dirty="0" sz="500" spc="500" i="1">
                <a:latin typeface="Arial"/>
                <a:cs typeface="Arial"/>
              </a:rPr>
              <a:t> </a:t>
            </a:r>
            <a:r>
              <a:rPr dirty="0" sz="500" spc="-10" i="1">
                <a:latin typeface="Arial"/>
                <a:cs typeface="Arial"/>
              </a:rPr>
              <a:t>Exchange</a:t>
            </a:r>
            <a:endParaRPr sz="5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1698123" y="3514104"/>
            <a:ext cx="342265" cy="2622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110"/>
              </a:spcBef>
            </a:pPr>
            <a:r>
              <a:rPr dirty="0" sz="500" spc="-10" i="1">
                <a:latin typeface="Arial"/>
                <a:cs typeface="Arial"/>
              </a:rPr>
              <a:t>Alternative</a:t>
            </a:r>
            <a:r>
              <a:rPr dirty="0" sz="500" spc="500" i="1">
                <a:latin typeface="Arial"/>
                <a:cs typeface="Arial"/>
              </a:rPr>
              <a:t> </a:t>
            </a:r>
            <a:r>
              <a:rPr dirty="0" sz="500" spc="-10" i="1">
                <a:latin typeface="Arial"/>
                <a:cs typeface="Arial"/>
              </a:rPr>
              <a:t>Trading</a:t>
            </a:r>
            <a:r>
              <a:rPr dirty="0" sz="500" spc="500" i="1">
                <a:latin typeface="Arial"/>
                <a:cs typeface="Arial"/>
              </a:rPr>
              <a:t> </a:t>
            </a:r>
            <a:r>
              <a:rPr dirty="0" sz="500" spc="-10" i="1">
                <a:latin typeface="Arial"/>
                <a:cs typeface="Arial"/>
              </a:rPr>
              <a:t>Network</a:t>
            </a:r>
            <a:endParaRPr sz="5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1706501" y="4168845"/>
            <a:ext cx="167005" cy="184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110"/>
              </a:spcBef>
            </a:pPr>
            <a:r>
              <a:rPr dirty="0" sz="500" spc="-20" i="1">
                <a:latin typeface="Arial"/>
                <a:cs typeface="Arial"/>
              </a:rPr>
              <a:t>Dark</a:t>
            </a:r>
            <a:r>
              <a:rPr dirty="0" sz="500" spc="500" i="1">
                <a:latin typeface="Arial"/>
                <a:cs typeface="Arial"/>
              </a:rPr>
              <a:t> </a:t>
            </a:r>
            <a:r>
              <a:rPr dirty="0" sz="500" spc="-20" i="1">
                <a:latin typeface="Arial"/>
                <a:cs typeface="Arial"/>
              </a:rPr>
              <a:t>Pool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10689542" y="3469391"/>
            <a:ext cx="525145" cy="366395"/>
            <a:chOff x="10689542" y="3469391"/>
            <a:chExt cx="525145" cy="366395"/>
          </a:xfrm>
        </p:grpSpPr>
        <p:sp>
          <p:nvSpPr>
            <p:cNvPr id="74" name="object 74"/>
            <p:cNvSpPr/>
            <p:nvPr/>
          </p:nvSpPr>
          <p:spPr>
            <a:xfrm>
              <a:off x="10759809" y="3472248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451746" y="0"/>
                  </a:moveTo>
                  <a:lnTo>
                    <a:pt x="0" y="0"/>
                  </a:lnTo>
                  <a:lnTo>
                    <a:pt x="0" y="292724"/>
                  </a:lnTo>
                  <a:lnTo>
                    <a:pt x="451746" y="292724"/>
                  </a:lnTo>
                  <a:lnTo>
                    <a:pt x="4517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0759810" y="3472248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0" y="0"/>
                  </a:moveTo>
                  <a:lnTo>
                    <a:pt x="451746" y="0"/>
                  </a:lnTo>
                  <a:lnTo>
                    <a:pt x="451746" y="292724"/>
                  </a:lnTo>
                  <a:lnTo>
                    <a:pt x="0" y="292724"/>
                  </a:lnTo>
                  <a:lnTo>
                    <a:pt x="0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0725916" y="3506503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451746" y="0"/>
                  </a:moveTo>
                  <a:lnTo>
                    <a:pt x="0" y="0"/>
                  </a:lnTo>
                  <a:lnTo>
                    <a:pt x="0" y="292724"/>
                  </a:lnTo>
                  <a:lnTo>
                    <a:pt x="451746" y="292724"/>
                  </a:lnTo>
                  <a:lnTo>
                    <a:pt x="4517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0725918" y="3506504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0" y="0"/>
                  </a:moveTo>
                  <a:lnTo>
                    <a:pt x="451746" y="0"/>
                  </a:lnTo>
                  <a:lnTo>
                    <a:pt x="451746" y="292724"/>
                  </a:lnTo>
                  <a:lnTo>
                    <a:pt x="0" y="292724"/>
                  </a:lnTo>
                  <a:lnTo>
                    <a:pt x="0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0692399" y="3540021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451746" y="0"/>
                  </a:moveTo>
                  <a:lnTo>
                    <a:pt x="0" y="0"/>
                  </a:lnTo>
                  <a:lnTo>
                    <a:pt x="0" y="292724"/>
                  </a:lnTo>
                  <a:lnTo>
                    <a:pt x="451746" y="292724"/>
                  </a:lnTo>
                  <a:lnTo>
                    <a:pt x="4517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0692400" y="3540022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0" y="0"/>
                  </a:moveTo>
                  <a:lnTo>
                    <a:pt x="451746" y="0"/>
                  </a:lnTo>
                  <a:lnTo>
                    <a:pt x="451746" y="292724"/>
                  </a:lnTo>
                  <a:lnTo>
                    <a:pt x="0" y="292724"/>
                  </a:lnTo>
                  <a:lnTo>
                    <a:pt x="0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10785368" y="3547991"/>
            <a:ext cx="260350" cy="184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8890">
              <a:lnSpc>
                <a:spcPct val="102600"/>
              </a:lnSpc>
              <a:spcBef>
                <a:spcPts val="110"/>
              </a:spcBef>
            </a:pPr>
            <a:r>
              <a:rPr dirty="0" sz="500" spc="-10" b="1">
                <a:latin typeface="Arial"/>
                <a:cs typeface="Arial"/>
              </a:rPr>
              <a:t>Market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Access</a:t>
            </a:r>
            <a:endParaRPr sz="5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746269" y="3704408"/>
            <a:ext cx="33845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10" b="1">
                <a:latin typeface="Arial"/>
                <a:cs typeface="Arial"/>
              </a:rPr>
              <a:t>Gateways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1227543" y="3597262"/>
            <a:ext cx="428625" cy="126364"/>
            <a:chOff x="11227543" y="3597262"/>
            <a:chExt cx="428625" cy="126364"/>
          </a:xfrm>
        </p:grpSpPr>
        <p:sp>
          <p:nvSpPr>
            <p:cNvPr id="83" name="object 83"/>
            <p:cNvSpPr/>
            <p:nvPr/>
          </p:nvSpPr>
          <p:spPr>
            <a:xfrm>
              <a:off x="11230399" y="3600119"/>
              <a:ext cx="422909" cy="120650"/>
            </a:xfrm>
            <a:custGeom>
              <a:avLst/>
              <a:gdLst/>
              <a:ahLst/>
              <a:cxnLst/>
              <a:rect l="l" t="t" r="r" b="b"/>
              <a:pathLst>
                <a:path w="422909" h="120650">
                  <a:moveTo>
                    <a:pt x="0" y="58021"/>
                  </a:moveTo>
                  <a:lnTo>
                    <a:pt x="161875" y="120619"/>
                  </a:lnTo>
                  <a:lnTo>
                    <a:pt x="157123" y="77696"/>
                  </a:lnTo>
                  <a:lnTo>
                    <a:pt x="116591" y="77696"/>
                  </a:lnTo>
                  <a:lnTo>
                    <a:pt x="0" y="58021"/>
                  </a:lnTo>
                  <a:close/>
                </a:path>
                <a:path w="422909" h="120650">
                  <a:moveTo>
                    <a:pt x="288276" y="58257"/>
                  </a:moveTo>
                  <a:lnTo>
                    <a:pt x="154971" y="58257"/>
                  </a:lnTo>
                  <a:lnTo>
                    <a:pt x="296001" y="101545"/>
                  </a:lnTo>
                  <a:lnTo>
                    <a:pt x="288276" y="58257"/>
                  </a:lnTo>
                  <a:close/>
                </a:path>
                <a:path w="422909" h="120650">
                  <a:moveTo>
                    <a:pt x="109058" y="12157"/>
                  </a:moveTo>
                  <a:lnTo>
                    <a:pt x="116591" y="77696"/>
                  </a:lnTo>
                  <a:lnTo>
                    <a:pt x="157123" y="77696"/>
                  </a:lnTo>
                  <a:lnTo>
                    <a:pt x="154971" y="58257"/>
                  </a:lnTo>
                  <a:lnTo>
                    <a:pt x="288276" y="58257"/>
                  </a:lnTo>
                  <a:lnTo>
                    <a:pt x="287384" y="53257"/>
                  </a:lnTo>
                  <a:lnTo>
                    <a:pt x="250112" y="53257"/>
                  </a:lnTo>
                  <a:lnTo>
                    <a:pt x="109058" y="12157"/>
                  </a:lnTo>
                  <a:close/>
                </a:path>
                <a:path w="422909" h="120650">
                  <a:moveTo>
                    <a:pt x="372861" y="45524"/>
                  </a:moveTo>
                  <a:lnTo>
                    <a:pt x="286003" y="45524"/>
                  </a:lnTo>
                  <a:lnTo>
                    <a:pt x="422475" y="62805"/>
                  </a:lnTo>
                  <a:lnTo>
                    <a:pt x="372861" y="45524"/>
                  </a:lnTo>
                  <a:close/>
                </a:path>
                <a:path w="422909" h="120650">
                  <a:moveTo>
                    <a:pt x="242159" y="0"/>
                  </a:moveTo>
                  <a:lnTo>
                    <a:pt x="250112" y="53257"/>
                  </a:lnTo>
                  <a:lnTo>
                    <a:pt x="287384" y="53257"/>
                  </a:lnTo>
                  <a:lnTo>
                    <a:pt x="286003" y="45524"/>
                  </a:lnTo>
                  <a:lnTo>
                    <a:pt x="372861" y="45524"/>
                  </a:lnTo>
                  <a:lnTo>
                    <a:pt x="24215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1230400" y="3600120"/>
              <a:ext cx="422909" cy="120650"/>
            </a:xfrm>
            <a:custGeom>
              <a:avLst/>
              <a:gdLst/>
              <a:ahLst/>
              <a:cxnLst/>
              <a:rect l="l" t="t" r="r" b="b"/>
              <a:pathLst>
                <a:path w="422909" h="120650">
                  <a:moveTo>
                    <a:pt x="296002" y="101545"/>
                  </a:moveTo>
                  <a:lnTo>
                    <a:pt x="286003" y="45524"/>
                  </a:lnTo>
                  <a:lnTo>
                    <a:pt x="422475" y="62804"/>
                  </a:lnTo>
                  <a:lnTo>
                    <a:pt x="242158" y="0"/>
                  </a:lnTo>
                  <a:lnTo>
                    <a:pt x="250112" y="53257"/>
                  </a:lnTo>
                  <a:lnTo>
                    <a:pt x="109057" y="12158"/>
                  </a:lnTo>
                  <a:lnTo>
                    <a:pt x="116590" y="77696"/>
                  </a:lnTo>
                  <a:lnTo>
                    <a:pt x="0" y="58020"/>
                  </a:lnTo>
                  <a:lnTo>
                    <a:pt x="161874" y="120619"/>
                  </a:lnTo>
                  <a:lnTo>
                    <a:pt x="154971" y="58257"/>
                  </a:lnTo>
                  <a:lnTo>
                    <a:pt x="296001" y="101545"/>
                  </a:lnTo>
                  <a:close/>
                </a:path>
              </a:pathLst>
            </a:custGeom>
            <a:ln w="5586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10799426" y="4125970"/>
            <a:ext cx="452120" cy="292735"/>
          </a:xfrm>
          <a:prstGeom prst="rect">
            <a:avLst/>
          </a:prstGeom>
          <a:solidFill>
            <a:srgbClr val="FFFFFF"/>
          </a:solidFill>
          <a:ln w="40874">
            <a:solidFill>
              <a:srgbClr val="0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algn="just" marL="67310" marR="100330" indent="29209">
              <a:lnSpc>
                <a:spcPct val="102600"/>
              </a:lnSpc>
              <a:spcBef>
                <a:spcPts val="315"/>
              </a:spcBef>
            </a:pPr>
            <a:r>
              <a:rPr dirty="0" sz="500" spc="-10" b="1">
                <a:latin typeface="Arial"/>
                <a:cs typeface="Arial"/>
              </a:rPr>
              <a:t>Market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Access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Gateway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0689542" y="4223317"/>
            <a:ext cx="1000125" cy="804545"/>
            <a:chOff x="10689542" y="4223317"/>
            <a:chExt cx="1000125" cy="804545"/>
          </a:xfrm>
        </p:grpSpPr>
        <p:sp>
          <p:nvSpPr>
            <p:cNvPr id="87" name="object 87"/>
            <p:cNvSpPr/>
            <p:nvPr/>
          </p:nvSpPr>
          <p:spPr>
            <a:xfrm>
              <a:off x="11263918" y="4226175"/>
              <a:ext cx="422909" cy="120650"/>
            </a:xfrm>
            <a:custGeom>
              <a:avLst/>
              <a:gdLst/>
              <a:ahLst/>
              <a:cxnLst/>
              <a:rect l="l" t="t" r="r" b="b"/>
              <a:pathLst>
                <a:path w="422909" h="120650">
                  <a:moveTo>
                    <a:pt x="0" y="58019"/>
                  </a:moveTo>
                  <a:lnTo>
                    <a:pt x="161874" y="120618"/>
                  </a:lnTo>
                  <a:lnTo>
                    <a:pt x="157122" y="77696"/>
                  </a:lnTo>
                  <a:lnTo>
                    <a:pt x="116589" y="77696"/>
                  </a:lnTo>
                  <a:lnTo>
                    <a:pt x="0" y="58019"/>
                  </a:lnTo>
                  <a:close/>
                </a:path>
                <a:path w="422909" h="120650">
                  <a:moveTo>
                    <a:pt x="288275" y="58256"/>
                  </a:moveTo>
                  <a:lnTo>
                    <a:pt x="154970" y="58256"/>
                  </a:lnTo>
                  <a:lnTo>
                    <a:pt x="296000" y="101545"/>
                  </a:lnTo>
                  <a:lnTo>
                    <a:pt x="288275" y="58256"/>
                  </a:lnTo>
                  <a:close/>
                </a:path>
                <a:path w="422909" h="120650">
                  <a:moveTo>
                    <a:pt x="109057" y="12157"/>
                  </a:moveTo>
                  <a:lnTo>
                    <a:pt x="116589" y="77696"/>
                  </a:lnTo>
                  <a:lnTo>
                    <a:pt x="157122" y="77696"/>
                  </a:lnTo>
                  <a:lnTo>
                    <a:pt x="154970" y="58256"/>
                  </a:lnTo>
                  <a:lnTo>
                    <a:pt x="288275" y="58256"/>
                  </a:lnTo>
                  <a:lnTo>
                    <a:pt x="287382" y="53256"/>
                  </a:lnTo>
                  <a:lnTo>
                    <a:pt x="250112" y="53256"/>
                  </a:lnTo>
                  <a:lnTo>
                    <a:pt x="109057" y="12157"/>
                  </a:lnTo>
                  <a:close/>
                </a:path>
                <a:path w="422909" h="120650">
                  <a:moveTo>
                    <a:pt x="372863" y="45524"/>
                  </a:moveTo>
                  <a:lnTo>
                    <a:pt x="286002" y="45524"/>
                  </a:lnTo>
                  <a:lnTo>
                    <a:pt x="422474" y="62804"/>
                  </a:lnTo>
                  <a:lnTo>
                    <a:pt x="372863" y="45524"/>
                  </a:lnTo>
                  <a:close/>
                </a:path>
                <a:path w="422909" h="120650">
                  <a:moveTo>
                    <a:pt x="242158" y="0"/>
                  </a:moveTo>
                  <a:lnTo>
                    <a:pt x="250112" y="53256"/>
                  </a:lnTo>
                  <a:lnTo>
                    <a:pt x="287382" y="53256"/>
                  </a:lnTo>
                  <a:lnTo>
                    <a:pt x="286002" y="45524"/>
                  </a:lnTo>
                  <a:lnTo>
                    <a:pt x="372863" y="45524"/>
                  </a:lnTo>
                  <a:lnTo>
                    <a:pt x="24215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1263918" y="4226174"/>
              <a:ext cx="422909" cy="120650"/>
            </a:xfrm>
            <a:custGeom>
              <a:avLst/>
              <a:gdLst/>
              <a:ahLst/>
              <a:cxnLst/>
              <a:rect l="l" t="t" r="r" b="b"/>
              <a:pathLst>
                <a:path w="422909" h="120650">
                  <a:moveTo>
                    <a:pt x="296002" y="101545"/>
                  </a:moveTo>
                  <a:lnTo>
                    <a:pt x="286003" y="45524"/>
                  </a:lnTo>
                  <a:lnTo>
                    <a:pt x="422475" y="62804"/>
                  </a:lnTo>
                  <a:lnTo>
                    <a:pt x="242158" y="0"/>
                  </a:lnTo>
                  <a:lnTo>
                    <a:pt x="250112" y="53256"/>
                  </a:lnTo>
                  <a:lnTo>
                    <a:pt x="109057" y="12158"/>
                  </a:lnTo>
                  <a:lnTo>
                    <a:pt x="116590" y="77695"/>
                  </a:lnTo>
                  <a:lnTo>
                    <a:pt x="0" y="58020"/>
                  </a:lnTo>
                  <a:lnTo>
                    <a:pt x="161874" y="120619"/>
                  </a:lnTo>
                  <a:lnTo>
                    <a:pt x="154971" y="58257"/>
                  </a:lnTo>
                  <a:lnTo>
                    <a:pt x="296001" y="101545"/>
                  </a:lnTo>
                  <a:close/>
                </a:path>
              </a:pathLst>
            </a:custGeom>
            <a:ln w="5586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0759809" y="4664473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451746" y="0"/>
                  </a:moveTo>
                  <a:lnTo>
                    <a:pt x="0" y="0"/>
                  </a:lnTo>
                  <a:lnTo>
                    <a:pt x="0" y="292724"/>
                  </a:lnTo>
                  <a:lnTo>
                    <a:pt x="451746" y="292724"/>
                  </a:lnTo>
                  <a:lnTo>
                    <a:pt x="4517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0759810" y="4664473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0" y="0"/>
                  </a:moveTo>
                  <a:lnTo>
                    <a:pt x="451746" y="0"/>
                  </a:lnTo>
                  <a:lnTo>
                    <a:pt x="451746" y="292724"/>
                  </a:lnTo>
                  <a:lnTo>
                    <a:pt x="0" y="292724"/>
                  </a:lnTo>
                  <a:lnTo>
                    <a:pt x="0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0725916" y="4698728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451746" y="0"/>
                  </a:moveTo>
                  <a:lnTo>
                    <a:pt x="0" y="0"/>
                  </a:lnTo>
                  <a:lnTo>
                    <a:pt x="0" y="292724"/>
                  </a:lnTo>
                  <a:lnTo>
                    <a:pt x="451746" y="292724"/>
                  </a:lnTo>
                  <a:lnTo>
                    <a:pt x="4517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0725918" y="4698728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0" y="0"/>
                  </a:moveTo>
                  <a:lnTo>
                    <a:pt x="451746" y="0"/>
                  </a:lnTo>
                  <a:lnTo>
                    <a:pt x="451746" y="292724"/>
                  </a:lnTo>
                  <a:lnTo>
                    <a:pt x="0" y="292724"/>
                  </a:lnTo>
                  <a:lnTo>
                    <a:pt x="0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0692399" y="4732246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451746" y="0"/>
                  </a:moveTo>
                  <a:lnTo>
                    <a:pt x="0" y="0"/>
                  </a:lnTo>
                  <a:lnTo>
                    <a:pt x="0" y="292724"/>
                  </a:lnTo>
                  <a:lnTo>
                    <a:pt x="451746" y="292724"/>
                  </a:lnTo>
                  <a:lnTo>
                    <a:pt x="4517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0692400" y="4732246"/>
              <a:ext cx="452120" cy="292735"/>
            </a:xfrm>
            <a:custGeom>
              <a:avLst/>
              <a:gdLst/>
              <a:ahLst/>
              <a:cxnLst/>
              <a:rect l="l" t="t" r="r" b="b"/>
              <a:pathLst>
                <a:path w="452120" h="292735">
                  <a:moveTo>
                    <a:pt x="0" y="0"/>
                  </a:moveTo>
                  <a:lnTo>
                    <a:pt x="451746" y="0"/>
                  </a:lnTo>
                  <a:lnTo>
                    <a:pt x="451746" y="292724"/>
                  </a:lnTo>
                  <a:lnTo>
                    <a:pt x="0" y="292724"/>
                  </a:lnTo>
                  <a:lnTo>
                    <a:pt x="0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/>
          <p:cNvSpPr txBox="1"/>
          <p:nvPr/>
        </p:nvSpPr>
        <p:spPr>
          <a:xfrm>
            <a:off x="10785368" y="4740216"/>
            <a:ext cx="260350" cy="184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8890">
              <a:lnSpc>
                <a:spcPct val="102600"/>
              </a:lnSpc>
              <a:spcBef>
                <a:spcPts val="110"/>
              </a:spcBef>
            </a:pPr>
            <a:r>
              <a:rPr dirty="0" sz="500" spc="-10" b="1">
                <a:latin typeface="Arial"/>
                <a:cs typeface="Arial"/>
              </a:rPr>
              <a:t>Market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Access</a:t>
            </a:r>
            <a:endParaRPr sz="5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0746269" y="4896633"/>
            <a:ext cx="33845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10" b="1">
                <a:latin typeface="Arial"/>
                <a:cs typeface="Arial"/>
              </a:rPr>
              <a:t>Gateways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7759134" y="2342047"/>
            <a:ext cx="3896995" cy="2797810"/>
            <a:chOff x="7759134" y="2342047"/>
            <a:chExt cx="3896995" cy="2797810"/>
          </a:xfrm>
        </p:grpSpPr>
        <p:sp>
          <p:nvSpPr>
            <p:cNvPr id="98" name="object 98"/>
            <p:cNvSpPr/>
            <p:nvPr/>
          </p:nvSpPr>
          <p:spPr>
            <a:xfrm>
              <a:off x="11230399" y="4792338"/>
              <a:ext cx="422909" cy="120650"/>
            </a:xfrm>
            <a:custGeom>
              <a:avLst/>
              <a:gdLst/>
              <a:ahLst/>
              <a:cxnLst/>
              <a:rect l="l" t="t" r="r" b="b"/>
              <a:pathLst>
                <a:path w="422909" h="120650">
                  <a:moveTo>
                    <a:pt x="0" y="58021"/>
                  </a:moveTo>
                  <a:lnTo>
                    <a:pt x="161875" y="120619"/>
                  </a:lnTo>
                  <a:lnTo>
                    <a:pt x="157123" y="77696"/>
                  </a:lnTo>
                  <a:lnTo>
                    <a:pt x="116591" y="77696"/>
                  </a:lnTo>
                  <a:lnTo>
                    <a:pt x="0" y="58021"/>
                  </a:lnTo>
                  <a:close/>
                </a:path>
                <a:path w="422909" h="120650">
                  <a:moveTo>
                    <a:pt x="288276" y="58257"/>
                  </a:moveTo>
                  <a:lnTo>
                    <a:pt x="154971" y="58257"/>
                  </a:lnTo>
                  <a:lnTo>
                    <a:pt x="296001" y="101545"/>
                  </a:lnTo>
                  <a:lnTo>
                    <a:pt x="288276" y="58257"/>
                  </a:lnTo>
                  <a:close/>
                </a:path>
                <a:path w="422909" h="120650">
                  <a:moveTo>
                    <a:pt x="109058" y="12158"/>
                  </a:moveTo>
                  <a:lnTo>
                    <a:pt x="116591" y="77696"/>
                  </a:lnTo>
                  <a:lnTo>
                    <a:pt x="157123" y="77696"/>
                  </a:lnTo>
                  <a:lnTo>
                    <a:pt x="154971" y="58257"/>
                  </a:lnTo>
                  <a:lnTo>
                    <a:pt x="288276" y="58257"/>
                  </a:lnTo>
                  <a:lnTo>
                    <a:pt x="287384" y="53257"/>
                  </a:lnTo>
                  <a:lnTo>
                    <a:pt x="250112" y="53257"/>
                  </a:lnTo>
                  <a:lnTo>
                    <a:pt x="109058" y="12158"/>
                  </a:lnTo>
                  <a:close/>
                </a:path>
                <a:path w="422909" h="120650">
                  <a:moveTo>
                    <a:pt x="372861" y="45524"/>
                  </a:moveTo>
                  <a:lnTo>
                    <a:pt x="286003" y="45524"/>
                  </a:lnTo>
                  <a:lnTo>
                    <a:pt x="422475" y="62805"/>
                  </a:lnTo>
                  <a:lnTo>
                    <a:pt x="372861" y="45524"/>
                  </a:lnTo>
                  <a:close/>
                </a:path>
                <a:path w="422909" h="120650">
                  <a:moveTo>
                    <a:pt x="242159" y="0"/>
                  </a:moveTo>
                  <a:lnTo>
                    <a:pt x="250112" y="53257"/>
                  </a:lnTo>
                  <a:lnTo>
                    <a:pt x="287384" y="53257"/>
                  </a:lnTo>
                  <a:lnTo>
                    <a:pt x="286003" y="45524"/>
                  </a:lnTo>
                  <a:lnTo>
                    <a:pt x="372861" y="45524"/>
                  </a:lnTo>
                  <a:lnTo>
                    <a:pt x="24215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1230400" y="4792339"/>
              <a:ext cx="422909" cy="120650"/>
            </a:xfrm>
            <a:custGeom>
              <a:avLst/>
              <a:gdLst/>
              <a:ahLst/>
              <a:cxnLst/>
              <a:rect l="l" t="t" r="r" b="b"/>
              <a:pathLst>
                <a:path w="422909" h="120650">
                  <a:moveTo>
                    <a:pt x="296002" y="101545"/>
                  </a:moveTo>
                  <a:lnTo>
                    <a:pt x="286003" y="45524"/>
                  </a:lnTo>
                  <a:lnTo>
                    <a:pt x="422475" y="62804"/>
                  </a:lnTo>
                  <a:lnTo>
                    <a:pt x="242158" y="0"/>
                  </a:lnTo>
                  <a:lnTo>
                    <a:pt x="250112" y="53257"/>
                  </a:lnTo>
                  <a:lnTo>
                    <a:pt x="109057" y="12158"/>
                  </a:lnTo>
                  <a:lnTo>
                    <a:pt x="116590" y="77696"/>
                  </a:lnTo>
                  <a:lnTo>
                    <a:pt x="0" y="58020"/>
                  </a:lnTo>
                  <a:lnTo>
                    <a:pt x="161874" y="120619"/>
                  </a:lnTo>
                  <a:lnTo>
                    <a:pt x="154971" y="58257"/>
                  </a:lnTo>
                  <a:lnTo>
                    <a:pt x="296001" y="101545"/>
                  </a:lnTo>
                  <a:close/>
                </a:path>
              </a:pathLst>
            </a:custGeom>
            <a:ln w="5586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7761992" y="2344904"/>
              <a:ext cx="3682365" cy="2792095"/>
            </a:xfrm>
            <a:custGeom>
              <a:avLst/>
              <a:gdLst/>
              <a:ahLst/>
              <a:cxnLst/>
              <a:rect l="l" t="t" r="r" b="b"/>
              <a:pathLst>
                <a:path w="3682365" h="2792095">
                  <a:moveTo>
                    <a:pt x="963643" y="26556"/>
                  </a:moveTo>
                  <a:lnTo>
                    <a:pt x="952470" y="2791792"/>
                  </a:lnTo>
                </a:path>
                <a:path w="3682365" h="2792095">
                  <a:moveTo>
                    <a:pt x="3682251" y="0"/>
                  </a:moveTo>
                  <a:lnTo>
                    <a:pt x="3671078" y="2765235"/>
                  </a:lnTo>
                </a:path>
                <a:path w="3682365" h="2792095">
                  <a:moveTo>
                    <a:pt x="625669" y="1457172"/>
                  </a:moveTo>
                  <a:lnTo>
                    <a:pt x="0" y="1462216"/>
                  </a:lnTo>
                </a:path>
              </a:pathLst>
            </a:custGeom>
            <a:ln w="558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/>
          <p:cNvSpPr txBox="1"/>
          <p:nvPr/>
        </p:nvSpPr>
        <p:spPr>
          <a:xfrm>
            <a:off x="11698123" y="4768528"/>
            <a:ext cx="323850" cy="184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110"/>
              </a:spcBef>
            </a:pPr>
            <a:r>
              <a:rPr dirty="0" sz="500" spc="-10" i="1">
                <a:latin typeface="Arial"/>
                <a:cs typeface="Arial"/>
              </a:rPr>
              <a:t>Stock</a:t>
            </a:r>
            <a:r>
              <a:rPr dirty="0" sz="500" spc="500" i="1">
                <a:latin typeface="Arial"/>
                <a:cs typeface="Arial"/>
              </a:rPr>
              <a:t> </a:t>
            </a:r>
            <a:r>
              <a:rPr dirty="0" sz="500" spc="-10" i="1">
                <a:latin typeface="Arial"/>
                <a:cs typeface="Arial"/>
              </a:rPr>
              <a:t>Exchange</a:t>
            </a:r>
            <a:endParaRPr sz="5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9910802" y="2314205"/>
            <a:ext cx="32194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latin typeface="Arial"/>
                <a:cs typeface="Arial"/>
              </a:rPr>
              <a:t>Broker</a:t>
            </a:r>
            <a:endParaRPr sz="8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1535952" y="2314205"/>
            <a:ext cx="52324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latin typeface="Arial"/>
                <a:cs typeface="Arial"/>
              </a:rPr>
              <a:t>Exchanges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880513" y="2314205"/>
            <a:ext cx="511809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latin typeface="Arial"/>
                <a:cs typeface="Arial"/>
              </a:rPr>
              <a:t>Customers</a:t>
            </a:r>
            <a:endParaRPr sz="8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9206443" y="3874185"/>
            <a:ext cx="564515" cy="326390"/>
          </a:xfrm>
          <a:prstGeom prst="rect">
            <a:avLst/>
          </a:prstGeom>
          <a:solidFill>
            <a:srgbClr val="FFFFFF"/>
          </a:solidFill>
          <a:ln w="5586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ctr" marL="74295" marR="72390">
              <a:lnSpc>
                <a:spcPct val="102600"/>
              </a:lnSpc>
              <a:spcBef>
                <a:spcPts val="305"/>
              </a:spcBef>
            </a:pPr>
            <a:r>
              <a:rPr dirty="0" sz="500" spc="-10" b="1">
                <a:latin typeface="Arial"/>
                <a:cs typeface="Arial"/>
              </a:rPr>
              <a:t>Execution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Management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System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8331595" y="3383986"/>
            <a:ext cx="849630" cy="1372235"/>
            <a:chOff x="8331595" y="3383986"/>
            <a:chExt cx="849630" cy="1372235"/>
          </a:xfrm>
        </p:grpSpPr>
        <p:sp>
          <p:nvSpPr>
            <p:cNvPr id="107" name="object 107"/>
            <p:cNvSpPr/>
            <p:nvPr/>
          </p:nvSpPr>
          <p:spPr>
            <a:xfrm>
              <a:off x="8435789" y="3973323"/>
              <a:ext cx="708025" cy="727075"/>
            </a:xfrm>
            <a:custGeom>
              <a:avLst/>
              <a:gdLst/>
              <a:ahLst/>
              <a:cxnLst/>
              <a:rect l="l" t="t" r="r" b="b"/>
              <a:pathLst>
                <a:path w="708025" h="727075">
                  <a:moveTo>
                    <a:pt x="0" y="726690"/>
                  </a:moveTo>
                  <a:lnTo>
                    <a:pt x="16913" y="673916"/>
                  </a:lnTo>
                  <a:lnTo>
                    <a:pt x="33521" y="618472"/>
                  </a:lnTo>
                  <a:lnTo>
                    <a:pt x="49914" y="561143"/>
                  </a:lnTo>
                  <a:lnTo>
                    <a:pt x="66182" y="502714"/>
                  </a:lnTo>
                  <a:lnTo>
                    <a:pt x="82414" y="443970"/>
                  </a:lnTo>
                  <a:lnTo>
                    <a:pt x="98699" y="385695"/>
                  </a:lnTo>
                  <a:lnTo>
                    <a:pt x="115129" y="328674"/>
                  </a:lnTo>
                  <a:lnTo>
                    <a:pt x="131791" y="273692"/>
                  </a:lnTo>
                  <a:lnTo>
                    <a:pt x="148777" y="221535"/>
                  </a:lnTo>
                  <a:lnTo>
                    <a:pt x="166176" y="172985"/>
                  </a:lnTo>
                  <a:lnTo>
                    <a:pt x="184077" y="128829"/>
                  </a:lnTo>
                  <a:lnTo>
                    <a:pt x="202570" y="89851"/>
                  </a:lnTo>
                  <a:lnTo>
                    <a:pt x="221745" y="56836"/>
                  </a:lnTo>
                  <a:lnTo>
                    <a:pt x="262500" y="11834"/>
                  </a:lnTo>
                  <a:lnTo>
                    <a:pt x="308309" y="0"/>
                  </a:lnTo>
                  <a:lnTo>
                    <a:pt x="333413" y="7791"/>
                  </a:lnTo>
                  <a:lnTo>
                    <a:pt x="386363" y="47312"/>
                  </a:lnTo>
                  <a:lnTo>
                    <a:pt x="413997" y="77200"/>
                  </a:lnTo>
                  <a:lnTo>
                    <a:pt x="442264" y="112610"/>
                  </a:lnTo>
                  <a:lnTo>
                    <a:pt x="471058" y="152621"/>
                  </a:lnTo>
                  <a:lnTo>
                    <a:pt x="500272" y="196312"/>
                  </a:lnTo>
                  <a:lnTo>
                    <a:pt x="529803" y="242762"/>
                  </a:lnTo>
                  <a:lnTo>
                    <a:pt x="559543" y="291049"/>
                  </a:lnTo>
                  <a:lnTo>
                    <a:pt x="589389" y="340252"/>
                  </a:lnTo>
                  <a:lnTo>
                    <a:pt x="619233" y="389450"/>
                  </a:lnTo>
                  <a:lnTo>
                    <a:pt x="648971" y="437722"/>
                  </a:lnTo>
                  <a:lnTo>
                    <a:pt x="678497" y="484145"/>
                  </a:lnTo>
                  <a:lnTo>
                    <a:pt x="707705" y="527800"/>
                  </a:lnTo>
                </a:path>
              </a:pathLst>
            </a:custGeom>
            <a:ln w="11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9127305" y="4489184"/>
              <a:ext cx="48260" cy="55244"/>
            </a:xfrm>
            <a:custGeom>
              <a:avLst/>
              <a:gdLst/>
              <a:ahLst/>
              <a:cxnLst/>
              <a:rect l="l" t="t" r="r" b="b"/>
              <a:pathLst>
                <a:path w="48259" h="55245">
                  <a:moveTo>
                    <a:pt x="32373" y="0"/>
                  </a:moveTo>
                  <a:lnTo>
                    <a:pt x="0" y="23872"/>
                  </a:lnTo>
                  <a:lnTo>
                    <a:pt x="48013" y="55098"/>
                  </a:lnTo>
                  <a:lnTo>
                    <a:pt x="323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9127306" y="4489185"/>
              <a:ext cx="48260" cy="55244"/>
            </a:xfrm>
            <a:custGeom>
              <a:avLst/>
              <a:gdLst/>
              <a:ahLst/>
              <a:cxnLst/>
              <a:rect l="l" t="t" r="r" b="b"/>
              <a:pathLst>
                <a:path w="48259" h="55245">
                  <a:moveTo>
                    <a:pt x="48013" y="55098"/>
                  </a:moveTo>
                  <a:lnTo>
                    <a:pt x="32372" y="0"/>
                  </a:lnTo>
                  <a:lnTo>
                    <a:pt x="0" y="23870"/>
                  </a:lnTo>
                  <a:lnTo>
                    <a:pt x="48013" y="55098"/>
                  </a:lnTo>
                  <a:close/>
                </a:path>
              </a:pathLst>
            </a:custGeom>
            <a:ln w="11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8416859" y="4693220"/>
              <a:ext cx="38100" cy="57785"/>
            </a:xfrm>
            <a:custGeom>
              <a:avLst/>
              <a:gdLst/>
              <a:ahLst/>
              <a:cxnLst/>
              <a:rect l="l" t="t" r="r" b="b"/>
              <a:pathLst>
                <a:path w="38100" h="57785">
                  <a:moveTo>
                    <a:pt x="0" y="0"/>
                  </a:moveTo>
                  <a:lnTo>
                    <a:pt x="821" y="57270"/>
                  </a:lnTo>
                  <a:lnTo>
                    <a:pt x="37859" y="13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8416860" y="4693220"/>
              <a:ext cx="38100" cy="57785"/>
            </a:xfrm>
            <a:custGeom>
              <a:avLst/>
              <a:gdLst/>
              <a:ahLst/>
              <a:cxnLst/>
              <a:rect l="l" t="t" r="r" b="b"/>
              <a:pathLst>
                <a:path w="38100" h="57785">
                  <a:moveTo>
                    <a:pt x="821" y="57270"/>
                  </a:moveTo>
                  <a:lnTo>
                    <a:pt x="37859" y="13581"/>
                  </a:lnTo>
                  <a:lnTo>
                    <a:pt x="0" y="0"/>
                  </a:lnTo>
                  <a:lnTo>
                    <a:pt x="821" y="57270"/>
                  </a:lnTo>
                  <a:close/>
                </a:path>
              </a:pathLst>
            </a:custGeom>
            <a:ln w="11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8377722" y="3424957"/>
              <a:ext cx="525145" cy="223520"/>
            </a:xfrm>
            <a:custGeom>
              <a:avLst/>
              <a:gdLst/>
              <a:ahLst/>
              <a:cxnLst/>
              <a:rect l="l" t="t" r="r" b="b"/>
              <a:pathLst>
                <a:path w="525145" h="223520">
                  <a:moveTo>
                    <a:pt x="0" y="0"/>
                  </a:moveTo>
                  <a:lnTo>
                    <a:pt x="40646" y="38913"/>
                  </a:lnTo>
                  <a:lnTo>
                    <a:pt x="81355" y="78712"/>
                  </a:lnTo>
                  <a:lnTo>
                    <a:pt x="121985" y="117372"/>
                  </a:lnTo>
                  <a:lnTo>
                    <a:pt x="162395" y="152873"/>
                  </a:lnTo>
                  <a:lnTo>
                    <a:pt x="202441" y="183190"/>
                  </a:lnTo>
                  <a:lnTo>
                    <a:pt x="241982" y="206302"/>
                  </a:lnTo>
                  <a:lnTo>
                    <a:pt x="280876" y="220187"/>
                  </a:lnTo>
                  <a:lnTo>
                    <a:pt x="322762" y="223290"/>
                  </a:lnTo>
                  <a:lnTo>
                    <a:pt x="363888" y="215495"/>
                  </a:lnTo>
                  <a:lnTo>
                    <a:pt x="404442" y="199484"/>
                  </a:lnTo>
                  <a:lnTo>
                    <a:pt x="444609" y="177940"/>
                  </a:lnTo>
                  <a:lnTo>
                    <a:pt x="484577" y="153545"/>
                  </a:lnTo>
                  <a:lnTo>
                    <a:pt x="524532" y="128981"/>
                  </a:lnTo>
                </a:path>
              </a:pathLst>
            </a:custGeom>
            <a:ln w="11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8893095" y="3529477"/>
              <a:ext cx="57150" cy="42545"/>
            </a:xfrm>
            <a:custGeom>
              <a:avLst/>
              <a:gdLst/>
              <a:ahLst/>
              <a:cxnLst/>
              <a:rect l="l" t="t" r="r" b="b"/>
              <a:pathLst>
                <a:path w="57150" h="42545">
                  <a:moveTo>
                    <a:pt x="56899" y="0"/>
                  </a:moveTo>
                  <a:lnTo>
                    <a:pt x="0" y="6557"/>
                  </a:lnTo>
                  <a:lnTo>
                    <a:pt x="18341" y="42353"/>
                  </a:lnTo>
                  <a:lnTo>
                    <a:pt x="568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8893096" y="3529477"/>
              <a:ext cx="57150" cy="42545"/>
            </a:xfrm>
            <a:custGeom>
              <a:avLst/>
              <a:gdLst/>
              <a:ahLst/>
              <a:cxnLst/>
              <a:rect l="l" t="t" r="r" b="b"/>
              <a:pathLst>
                <a:path w="57150" h="42545">
                  <a:moveTo>
                    <a:pt x="56899" y="0"/>
                  </a:moveTo>
                  <a:lnTo>
                    <a:pt x="0" y="6557"/>
                  </a:lnTo>
                  <a:lnTo>
                    <a:pt x="18341" y="42353"/>
                  </a:lnTo>
                  <a:lnTo>
                    <a:pt x="56899" y="0"/>
                  </a:lnTo>
                  <a:close/>
                </a:path>
              </a:pathLst>
            </a:custGeom>
            <a:ln w="11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8337309" y="3389700"/>
              <a:ext cx="53975" cy="50800"/>
            </a:xfrm>
            <a:custGeom>
              <a:avLst/>
              <a:gdLst/>
              <a:ahLst/>
              <a:cxnLst/>
              <a:rect l="l" t="t" r="r" b="b"/>
              <a:pathLst>
                <a:path w="53975" h="50800">
                  <a:moveTo>
                    <a:pt x="0" y="0"/>
                  </a:moveTo>
                  <a:lnTo>
                    <a:pt x="27190" y="50410"/>
                  </a:lnTo>
                  <a:lnTo>
                    <a:pt x="53632" y="20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8337310" y="3389701"/>
              <a:ext cx="53975" cy="50800"/>
            </a:xfrm>
            <a:custGeom>
              <a:avLst/>
              <a:gdLst/>
              <a:ahLst/>
              <a:cxnLst/>
              <a:rect l="l" t="t" r="r" b="b"/>
              <a:pathLst>
                <a:path w="53975" h="50800">
                  <a:moveTo>
                    <a:pt x="0" y="0"/>
                  </a:moveTo>
                  <a:lnTo>
                    <a:pt x="27190" y="50409"/>
                  </a:lnTo>
                  <a:lnTo>
                    <a:pt x="53632" y="20101"/>
                  </a:lnTo>
                  <a:lnTo>
                    <a:pt x="0" y="0"/>
                  </a:lnTo>
                  <a:close/>
                </a:path>
              </a:pathLst>
            </a:custGeom>
            <a:ln w="111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8431193" y="3596491"/>
              <a:ext cx="579120" cy="450215"/>
            </a:xfrm>
            <a:custGeom>
              <a:avLst/>
              <a:gdLst/>
              <a:ahLst/>
              <a:cxnLst/>
              <a:rect l="l" t="t" r="r" b="b"/>
              <a:pathLst>
                <a:path w="579120" h="450214">
                  <a:moveTo>
                    <a:pt x="426667" y="401525"/>
                  </a:moveTo>
                  <a:lnTo>
                    <a:pt x="223852" y="401525"/>
                  </a:lnTo>
                  <a:lnTo>
                    <a:pt x="243776" y="431191"/>
                  </a:lnTo>
                  <a:lnTo>
                    <a:pt x="281638" y="446847"/>
                  </a:lnTo>
                  <a:lnTo>
                    <a:pt x="328148" y="450101"/>
                  </a:lnTo>
                  <a:lnTo>
                    <a:pt x="374016" y="442560"/>
                  </a:lnTo>
                  <a:lnTo>
                    <a:pt x="409769" y="425918"/>
                  </a:lnTo>
                  <a:lnTo>
                    <a:pt x="414938" y="418582"/>
                  </a:lnTo>
                  <a:lnTo>
                    <a:pt x="426667" y="401525"/>
                  </a:lnTo>
                  <a:close/>
                </a:path>
                <a:path w="579120" h="450214">
                  <a:moveTo>
                    <a:pt x="111519" y="44894"/>
                  </a:moveTo>
                  <a:lnTo>
                    <a:pt x="73824" y="53360"/>
                  </a:lnTo>
                  <a:lnTo>
                    <a:pt x="21273" y="96777"/>
                  </a:lnTo>
                  <a:lnTo>
                    <a:pt x="0" y="158054"/>
                  </a:lnTo>
                  <a:lnTo>
                    <a:pt x="1402" y="188844"/>
                  </a:lnTo>
                  <a:lnTo>
                    <a:pt x="10995" y="216243"/>
                  </a:lnTo>
                  <a:lnTo>
                    <a:pt x="28903" y="237635"/>
                  </a:lnTo>
                  <a:lnTo>
                    <a:pt x="55249" y="250400"/>
                  </a:lnTo>
                  <a:lnTo>
                    <a:pt x="24378" y="280145"/>
                  </a:lnTo>
                  <a:lnTo>
                    <a:pt x="9045" y="309603"/>
                  </a:lnTo>
                  <a:lnTo>
                    <a:pt x="7150" y="337801"/>
                  </a:lnTo>
                  <a:lnTo>
                    <a:pt x="16595" y="363769"/>
                  </a:lnTo>
                  <a:lnTo>
                    <a:pt x="61104" y="405131"/>
                  </a:lnTo>
                  <a:lnTo>
                    <a:pt x="125777" y="425918"/>
                  </a:lnTo>
                  <a:lnTo>
                    <a:pt x="160426" y="426167"/>
                  </a:lnTo>
                  <a:lnTo>
                    <a:pt x="193818" y="418360"/>
                  </a:lnTo>
                  <a:lnTo>
                    <a:pt x="223852" y="401525"/>
                  </a:lnTo>
                  <a:lnTo>
                    <a:pt x="469783" y="401525"/>
                  </a:lnTo>
                  <a:lnTo>
                    <a:pt x="524684" y="372109"/>
                  </a:lnTo>
                  <a:lnTo>
                    <a:pt x="550492" y="343141"/>
                  </a:lnTo>
                  <a:lnTo>
                    <a:pt x="578521" y="275833"/>
                  </a:lnTo>
                  <a:lnTo>
                    <a:pt x="576314" y="243951"/>
                  </a:lnTo>
                  <a:lnTo>
                    <a:pt x="560339" y="217555"/>
                  </a:lnTo>
                  <a:lnTo>
                    <a:pt x="528382" y="199873"/>
                  </a:lnTo>
                  <a:lnTo>
                    <a:pt x="553297" y="172234"/>
                  </a:lnTo>
                  <a:lnTo>
                    <a:pt x="561801" y="141502"/>
                  </a:lnTo>
                  <a:lnTo>
                    <a:pt x="556251" y="110166"/>
                  </a:lnTo>
                  <a:lnTo>
                    <a:pt x="539002" y="80712"/>
                  </a:lnTo>
                  <a:lnTo>
                    <a:pt x="512412" y="55628"/>
                  </a:lnTo>
                  <a:lnTo>
                    <a:pt x="499739" y="48748"/>
                  </a:lnTo>
                  <a:lnTo>
                    <a:pt x="156661" y="48748"/>
                  </a:lnTo>
                  <a:lnTo>
                    <a:pt x="111519" y="44894"/>
                  </a:lnTo>
                  <a:close/>
                </a:path>
                <a:path w="579120" h="450214">
                  <a:moveTo>
                    <a:pt x="469783" y="401525"/>
                  </a:moveTo>
                  <a:lnTo>
                    <a:pt x="426667" y="401525"/>
                  </a:lnTo>
                  <a:lnTo>
                    <a:pt x="460557" y="404529"/>
                  </a:lnTo>
                  <a:lnTo>
                    <a:pt x="469783" y="401525"/>
                  </a:lnTo>
                  <a:close/>
                </a:path>
                <a:path w="579120" h="450214">
                  <a:moveTo>
                    <a:pt x="264347" y="0"/>
                  </a:moveTo>
                  <a:lnTo>
                    <a:pt x="216307" y="4140"/>
                  </a:lnTo>
                  <a:lnTo>
                    <a:pt x="177036" y="20071"/>
                  </a:lnTo>
                  <a:lnTo>
                    <a:pt x="156661" y="48748"/>
                  </a:lnTo>
                  <a:lnTo>
                    <a:pt x="359780" y="48748"/>
                  </a:lnTo>
                  <a:lnTo>
                    <a:pt x="346212" y="23260"/>
                  </a:lnTo>
                  <a:lnTo>
                    <a:pt x="311025" y="6692"/>
                  </a:lnTo>
                  <a:lnTo>
                    <a:pt x="264347" y="0"/>
                  </a:lnTo>
                  <a:close/>
                </a:path>
                <a:path w="579120" h="450214">
                  <a:moveTo>
                    <a:pt x="440637" y="28522"/>
                  </a:moveTo>
                  <a:lnTo>
                    <a:pt x="400165" y="31474"/>
                  </a:lnTo>
                  <a:lnTo>
                    <a:pt x="359780" y="48748"/>
                  </a:lnTo>
                  <a:lnTo>
                    <a:pt x="499739" y="48748"/>
                  </a:lnTo>
                  <a:lnTo>
                    <a:pt x="478838" y="37402"/>
                  </a:lnTo>
                  <a:lnTo>
                    <a:pt x="440637" y="28522"/>
                  </a:lnTo>
                  <a:close/>
                </a:path>
              </a:pathLst>
            </a:custGeom>
            <a:solidFill>
              <a:srgbClr val="D6D6D6">
                <a:alpha val="7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8431194" y="3596492"/>
              <a:ext cx="579120" cy="450215"/>
            </a:xfrm>
            <a:custGeom>
              <a:avLst/>
              <a:gdLst/>
              <a:ahLst/>
              <a:cxnLst/>
              <a:rect l="l" t="t" r="r" b="b"/>
              <a:pathLst>
                <a:path w="579120" h="450214">
                  <a:moveTo>
                    <a:pt x="55249" y="250400"/>
                  </a:moveTo>
                  <a:lnTo>
                    <a:pt x="28903" y="237635"/>
                  </a:lnTo>
                  <a:lnTo>
                    <a:pt x="10995" y="216243"/>
                  </a:lnTo>
                  <a:lnTo>
                    <a:pt x="1402" y="188843"/>
                  </a:lnTo>
                  <a:lnTo>
                    <a:pt x="0" y="158053"/>
                  </a:lnTo>
                  <a:lnTo>
                    <a:pt x="6664" y="126492"/>
                  </a:lnTo>
                  <a:lnTo>
                    <a:pt x="21273" y="96777"/>
                  </a:lnTo>
                  <a:lnTo>
                    <a:pt x="43700" y="71527"/>
                  </a:lnTo>
                  <a:lnTo>
                    <a:pt x="73823" y="53359"/>
                  </a:lnTo>
                  <a:lnTo>
                    <a:pt x="111518" y="44894"/>
                  </a:lnTo>
                  <a:lnTo>
                    <a:pt x="156661" y="48748"/>
                  </a:lnTo>
                  <a:lnTo>
                    <a:pt x="177035" y="20071"/>
                  </a:lnTo>
                  <a:lnTo>
                    <a:pt x="216307" y="4140"/>
                  </a:lnTo>
                  <a:lnTo>
                    <a:pt x="264346" y="0"/>
                  </a:lnTo>
                  <a:lnTo>
                    <a:pt x="311024" y="6692"/>
                  </a:lnTo>
                  <a:lnTo>
                    <a:pt x="346212" y="23260"/>
                  </a:lnTo>
                  <a:lnTo>
                    <a:pt x="359780" y="48748"/>
                  </a:lnTo>
                  <a:lnTo>
                    <a:pt x="400165" y="31474"/>
                  </a:lnTo>
                  <a:lnTo>
                    <a:pt x="440637" y="28521"/>
                  </a:lnTo>
                  <a:lnTo>
                    <a:pt x="478838" y="37402"/>
                  </a:lnTo>
                  <a:lnTo>
                    <a:pt x="512412" y="55627"/>
                  </a:lnTo>
                  <a:lnTo>
                    <a:pt x="556251" y="110165"/>
                  </a:lnTo>
                  <a:lnTo>
                    <a:pt x="561801" y="141502"/>
                  </a:lnTo>
                  <a:lnTo>
                    <a:pt x="553297" y="172234"/>
                  </a:lnTo>
                  <a:lnTo>
                    <a:pt x="528382" y="199873"/>
                  </a:lnTo>
                  <a:lnTo>
                    <a:pt x="560339" y="217555"/>
                  </a:lnTo>
                  <a:lnTo>
                    <a:pt x="576314" y="243951"/>
                  </a:lnTo>
                  <a:lnTo>
                    <a:pt x="578521" y="275833"/>
                  </a:lnTo>
                  <a:lnTo>
                    <a:pt x="569175" y="309973"/>
                  </a:lnTo>
                  <a:lnTo>
                    <a:pt x="550492" y="343141"/>
                  </a:lnTo>
                  <a:lnTo>
                    <a:pt x="524684" y="372109"/>
                  </a:lnTo>
                  <a:lnTo>
                    <a:pt x="493968" y="393648"/>
                  </a:lnTo>
                  <a:lnTo>
                    <a:pt x="460557" y="404530"/>
                  </a:lnTo>
                  <a:lnTo>
                    <a:pt x="426667" y="401525"/>
                  </a:lnTo>
                  <a:lnTo>
                    <a:pt x="409952" y="425832"/>
                  </a:lnTo>
                  <a:lnTo>
                    <a:pt x="374015" y="442560"/>
                  </a:lnTo>
                  <a:lnTo>
                    <a:pt x="328147" y="450101"/>
                  </a:lnTo>
                  <a:lnTo>
                    <a:pt x="281638" y="446847"/>
                  </a:lnTo>
                  <a:lnTo>
                    <a:pt x="243776" y="431191"/>
                  </a:lnTo>
                  <a:lnTo>
                    <a:pt x="223851" y="401525"/>
                  </a:lnTo>
                  <a:lnTo>
                    <a:pt x="193817" y="418360"/>
                  </a:lnTo>
                  <a:lnTo>
                    <a:pt x="160426" y="426168"/>
                  </a:lnTo>
                  <a:lnTo>
                    <a:pt x="125777" y="425918"/>
                  </a:lnTo>
                  <a:lnTo>
                    <a:pt x="91970" y="418582"/>
                  </a:lnTo>
                  <a:lnTo>
                    <a:pt x="61104" y="405131"/>
                  </a:lnTo>
                  <a:lnTo>
                    <a:pt x="35279" y="386536"/>
                  </a:lnTo>
                  <a:lnTo>
                    <a:pt x="16595" y="363769"/>
                  </a:lnTo>
                  <a:lnTo>
                    <a:pt x="7150" y="337801"/>
                  </a:lnTo>
                  <a:lnTo>
                    <a:pt x="9044" y="309603"/>
                  </a:lnTo>
                  <a:lnTo>
                    <a:pt x="24378" y="280145"/>
                  </a:lnTo>
                  <a:lnTo>
                    <a:pt x="55249" y="25040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 txBox="1"/>
          <p:nvPr/>
        </p:nvSpPr>
        <p:spPr>
          <a:xfrm>
            <a:off x="8551502" y="3683236"/>
            <a:ext cx="331470" cy="2622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0" marR="5080">
              <a:lnSpc>
                <a:spcPct val="102600"/>
              </a:lnSpc>
              <a:spcBef>
                <a:spcPts val="110"/>
              </a:spcBef>
            </a:pPr>
            <a:r>
              <a:rPr dirty="0" sz="500">
                <a:latin typeface="Arial"/>
                <a:cs typeface="Arial"/>
              </a:rPr>
              <a:t>Internet</a:t>
            </a:r>
            <a:r>
              <a:rPr dirty="0" sz="500" spc="100">
                <a:latin typeface="Arial"/>
                <a:cs typeface="Arial"/>
              </a:rPr>
              <a:t> </a:t>
            </a:r>
            <a:r>
              <a:rPr dirty="0" sz="500" spc="-25">
                <a:latin typeface="Arial"/>
                <a:cs typeface="Arial"/>
              </a:rPr>
              <a:t>or</a:t>
            </a:r>
            <a:r>
              <a:rPr dirty="0" sz="500" spc="500">
                <a:latin typeface="Arial"/>
                <a:cs typeface="Arial"/>
              </a:rPr>
              <a:t> </a:t>
            </a:r>
            <a:r>
              <a:rPr dirty="0" sz="500" spc="-10">
                <a:latin typeface="Arial"/>
                <a:cs typeface="Arial"/>
              </a:rPr>
              <a:t>Leased</a:t>
            </a:r>
            <a:r>
              <a:rPr dirty="0" sz="500" spc="500">
                <a:latin typeface="Arial"/>
                <a:cs typeface="Arial"/>
              </a:rPr>
              <a:t> </a:t>
            </a:r>
            <a:r>
              <a:rPr dirty="0" sz="500" spc="-10">
                <a:latin typeface="Arial"/>
                <a:cs typeface="Arial"/>
              </a:rPr>
              <a:t>Lines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8009305" y="3076772"/>
            <a:ext cx="1272540" cy="1550670"/>
            <a:chOff x="8009305" y="3076772"/>
            <a:chExt cx="1272540" cy="1550670"/>
          </a:xfrm>
        </p:grpSpPr>
        <p:sp>
          <p:nvSpPr>
            <p:cNvPr id="121" name="object 121"/>
            <p:cNvSpPr/>
            <p:nvPr/>
          </p:nvSpPr>
          <p:spPr>
            <a:xfrm>
              <a:off x="9261924" y="3124320"/>
              <a:ext cx="0" cy="73025"/>
            </a:xfrm>
            <a:custGeom>
              <a:avLst/>
              <a:gdLst/>
              <a:ahLst/>
              <a:cxnLst/>
              <a:rect l="l" t="t" r="r" b="b"/>
              <a:pathLst>
                <a:path w="0" h="73025">
                  <a:moveTo>
                    <a:pt x="0" y="0"/>
                  </a:moveTo>
                  <a:lnTo>
                    <a:pt x="0" y="73002"/>
                  </a:lnTo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9245164" y="3197322"/>
              <a:ext cx="33655" cy="45085"/>
            </a:xfrm>
            <a:custGeom>
              <a:avLst/>
              <a:gdLst/>
              <a:ahLst/>
              <a:cxnLst/>
              <a:rect l="l" t="t" r="r" b="b"/>
              <a:pathLst>
                <a:path w="33654" h="45085">
                  <a:moveTo>
                    <a:pt x="33517" y="0"/>
                  </a:moveTo>
                  <a:lnTo>
                    <a:pt x="0" y="0"/>
                  </a:lnTo>
                  <a:lnTo>
                    <a:pt x="16758" y="44690"/>
                  </a:lnTo>
                  <a:lnTo>
                    <a:pt x="335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9245164" y="3197322"/>
              <a:ext cx="33655" cy="45085"/>
            </a:xfrm>
            <a:custGeom>
              <a:avLst/>
              <a:gdLst/>
              <a:ahLst/>
              <a:cxnLst/>
              <a:rect l="l" t="t" r="r" b="b"/>
              <a:pathLst>
                <a:path w="33654" h="45085">
                  <a:moveTo>
                    <a:pt x="16759" y="44690"/>
                  </a:moveTo>
                  <a:lnTo>
                    <a:pt x="33518" y="0"/>
                  </a:lnTo>
                  <a:lnTo>
                    <a:pt x="0" y="0"/>
                  </a:lnTo>
                  <a:lnTo>
                    <a:pt x="16759" y="4469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9245164" y="3079629"/>
              <a:ext cx="33655" cy="45085"/>
            </a:xfrm>
            <a:custGeom>
              <a:avLst/>
              <a:gdLst/>
              <a:ahLst/>
              <a:cxnLst/>
              <a:rect l="l" t="t" r="r" b="b"/>
              <a:pathLst>
                <a:path w="33654" h="45085">
                  <a:moveTo>
                    <a:pt x="16758" y="0"/>
                  </a:moveTo>
                  <a:lnTo>
                    <a:pt x="0" y="44691"/>
                  </a:lnTo>
                  <a:lnTo>
                    <a:pt x="33517" y="44691"/>
                  </a:lnTo>
                  <a:lnTo>
                    <a:pt x="167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9245164" y="3079629"/>
              <a:ext cx="33655" cy="45085"/>
            </a:xfrm>
            <a:custGeom>
              <a:avLst/>
              <a:gdLst/>
              <a:ahLst/>
              <a:cxnLst/>
              <a:rect l="l" t="t" r="r" b="b"/>
              <a:pathLst>
                <a:path w="33654" h="45085">
                  <a:moveTo>
                    <a:pt x="16759" y="0"/>
                  </a:moveTo>
                  <a:lnTo>
                    <a:pt x="0" y="44690"/>
                  </a:lnTo>
                  <a:lnTo>
                    <a:pt x="33518" y="44690"/>
                  </a:lnTo>
                  <a:lnTo>
                    <a:pt x="16759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71806" y="4331896"/>
              <a:ext cx="37786" cy="232735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13749" y="4193204"/>
              <a:ext cx="295838" cy="158878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8013750" y="4193204"/>
              <a:ext cx="295910" cy="159385"/>
            </a:xfrm>
            <a:custGeom>
              <a:avLst/>
              <a:gdLst/>
              <a:ahLst/>
              <a:cxnLst/>
              <a:rect l="l" t="t" r="r" b="b"/>
              <a:pathLst>
                <a:path w="295909" h="159385">
                  <a:moveTo>
                    <a:pt x="0" y="20181"/>
                  </a:moveTo>
                  <a:lnTo>
                    <a:pt x="48203" y="36651"/>
                  </a:lnTo>
                  <a:lnTo>
                    <a:pt x="94588" y="55920"/>
                  </a:lnTo>
                  <a:lnTo>
                    <a:pt x="138960" y="77881"/>
                  </a:lnTo>
                  <a:lnTo>
                    <a:pt x="181125" y="102431"/>
                  </a:lnTo>
                  <a:lnTo>
                    <a:pt x="220887" y="129465"/>
                  </a:lnTo>
                  <a:lnTo>
                    <a:pt x="258052" y="158878"/>
                  </a:lnTo>
                  <a:lnTo>
                    <a:pt x="295838" y="138696"/>
                  </a:lnTo>
                  <a:lnTo>
                    <a:pt x="258419" y="109534"/>
                  </a:lnTo>
                  <a:lnTo>
                    <a:pt x="218525" y="82661"/>
                  </a:lnTo>
                  <a:lnTo>
                    <a:pt x="176335" y="58175"/>
                  </a:lnTo>
                  <a:lnTo>
                    <a:pt x="132029" y="36172"/>
                  </a:lnTo>
                  <a:lnTo>
                    <a:pt x="85786" y="16748"/>
                  </a:lnTo>
                  <a:lnTo>
                    <a:pt x="37786" y="0"/>
                  </a:lnTo>
                  <a:lnTo>
                    <a:pt x="0" y="20181"/>
                  </a:lnTo>
                  <a:close/>
                </a:path>
              </a:pathLst>
            </a:custGeom>
            <a:ln w="40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59830" y="4485196"/>
              <a:ext cx="299525" cy="137407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8059831" y="4485196"/>
              <a:ext cx="299720" cy="137795"/>
            </a:xfrm>
            <a:custGeom>
              <a:avLst/>
              <a:gdLst/>
              <a:ahLst/>
              <a:cxnLst/>
              <a:rect l="l" t="t" r="r" b="b"/>
              <a:pathLst>
                <a:path w="299720" h="137795">
                  <a:moveTo>
                    <a:pt x="0" y="31775"/>
                  </a:moveTo>
                  <a:lnTo>
                    <a:pt x="196304" y="137408"/>
                  </a:lnTo>
                  <a:lnTo>
                    <a:pt x="299525" y="81586"/>
                  </a:lnTo>
                  <a:lnTo>
                    <a:pt x="299525" y="62263"/>
                  </a:lnTo>
                  <a:lnTo>
                    <a:pt x="249757" y="30057"/>
                  </a:lnTo>
                  <a:lnTo>
                    <a:pt x="249757" y="59257"/>
                  </a:lnTo>
                  <a:lnTo>
                    <a:pt x="211971" y="79439"/>
                  </a:lnTo>
                  <a:lnTo>
                    <a:pt x="166286" y="63139"/>
                  </a:lnTo>
                  <a:lnTo>
                    <a:pt x="122151" y="44418"/>
                  </a:lnTo>
                  <a:lnTo>
                    <a:pt x="79726" y="23347"/>
                  </a:lnTo>
                  <a:lnTo>
                    <a:pt x="39168" y="0"/>
                  </a:lnTo>
                  <a:lnTo>
                    <a:pt x="0" y="21469"/>
                  </a:lnTo>
                  <a:lnTo>
                    <a:pt x="0" y="31775"/>
                  </a:lnTo>
                  <a:close/>
                </a:path>
              </a:pathLst>
            </a:custGeom>
            <a:ln w="40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13749" y="4213382"/>
              <a:ext cx="258052" cy="351248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8013750" y="4213382"/>
              <a:ext cx="258445" cy="351790"/>
            </a:xfrm>
            <a:custGeom>
              <a:avLst/>
              <a:gdLst/>
              <a:ahLst/>
              <a:cxnLst/>
              <a:rect l="l" t="t" r="r" b="b"/>
              <a:pathLst>
                <a:path w="258445" h="351789">
                  <a:moveTo>
                    <a:pt x="0" y="211694"/>
                  </a:moveTo>
                  <a:lnTo>
                    <a:pt x="37884" y="240508"/>
                  </a:lnTo>
                  <a:lnTo>
                    <a:pt x="78019" y="267208"/>
                  </a:lnTo>
                  <a:lnTo>
                    <a:pt x="120255" y="291715"/>
                  </a:lnTo>
                  <a:lnTo>
                    <a:pt x="164440" y="313945"/>
                  </a:lnTo>
                  <a:lnTo>
                    <a:pt x="210423" y="333817"/>
                  </a:lnTo>
                  <a:lnTo>
                    <a:pt x="258052" y="351249"/>
                  </a:lnTo>
                  <a:lnTo>
                    <a:pt x="258052" y="138696"/>
                  </a:lnTo>
                  <a:lnTo>
                    <a:pt x="220520" y="109649"/>
                  </a:lnTo>
                  <a:lnTo>
                    <a:pt x="180568" y="82851"/>
                  </a:lnTo>
                  <a:lnTo>
                    <a:pt x="138367" y="58394"/>
                  </a:lnTo>
                  <a:lnTo>
                    <a:pt x="94091" y="36372"/>
                  </a:lnTo>
                  <a:lnTo>
                    <a:pt x="47911" y="16876"/>
                  </a:lnTo>
                  <a:lnTo>
                    <a:pt x="0" y="0"/>
                  </a:lnTo>
                  <a:lnTo>
                    <a:pt x="0" y="211694"/>
                  </a:lnTo>
                  <a:close/>
                </a:path>
              </a:pathLst>
            </a:custGeom>
            <a:ln w="40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8013750" y="4193204"/>
              <a:ext cx="346075" cy="429895"/>
            </a:xfrm>
            <a:custGeom>
              <a:avLst/>
              <a:gdLst/>
              <a:ahLst/>
              <a:cxnLst/>
              <a:rect l="l" t="t" r="r" b="b"/>
              <a:pathLst>
                <a:path w="346075" h="429895">
                  <a:moveTo>
                    <a:pt x="0" y="231875"/>
                  </a:moveTo>
                  <a:lnTo>
                    <a:pt x="20527" y="247589"/>
                  </a:lnTo>
                  <a:lnTo>
                    <a:pt x="41587" y="262853"/>
                  </a:lnTo>
                  <a:lnTo>
                    <a:pt x="63165" y="277656"/>
                  </a:lnTo>
                  <a:lnTo>
                    <a:pt x="85249" y="291991"/>
                  </a:lnTo>
                  <a:lnTo>
                    <a:pt x="46081" y="313461"/>
                  </a:lnTo>
                  <a:lnTo>
                    <a:pt x="46081" y="323767"/>
                  </a:lnTo>
                  <a:lnTo>
                    <a:pt x="242385" y="429399"/>
                  </a:lnTo>
                  <a:lnTo>
                    <a:pt x="345606" y="373577"/>
                  </a:lnTo>
                  <a:lnTo>
                    <a:pt x="345606" y="354254"/>
                  </a:lnTo>
                  <a:lnTo>
                    <a:pt x="295839" y="327479"/>
                  </a:lnTo>
                  <a:lnTo>
                    <a:pt x="295839" y="138695"/>
                  </a:lnTo>
                  <a:lnTo>
                    <a:pt x="257364" y="110603"/>
                  </a:lnTo>
                  <a:lnTo>
                    <a:pt x="216915" y="84416"/>
                  </a:lnTo>
                  <a:lnTo>
                    <a:pt x="174612" y="60197"/>
                  </a:lnTo>
                  <a:lnTo>
                    <a:pt x="130576" y="38011"/>
                  </a:lnTo>
                  <a:lnTo>
                    <a:pt x="84927" y="17924"/>
                  </a:lnTo>
                  <a:lnTo>
                    <a:pt x="37786" y="0"/>
                  </a:lnTo>
                  <a:lnTo>
                    <a:pt x="0" y="20181"/>
                  </a:lnTo>
                  <a:lnTo>
                    <a:pt x="0" y="231875"/>
                  </a:lnTo>
                  <a:close/>
                </a:path>
              </a:pathLst>
            </a:custGeom>
            <a:ln w="83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8036794" y="4241721"/>
              <a:ext cx="299720" cy="370205"/>
            </a:xfrm>
            <a:custGeom>
              <a:avLst/>
              <a:gdLst/>
              <a:ahLst/>
              <a:cxnLst/>
              <a:rect l="l" t="t" r="r" b="b"/>
              <a:pathLst>
                <a:path w="299720" h="370204">
                  <a:moveTo>
                    <a:pt x="0" y="0"/>
                  </a:moveTo>
                  <a:lnTo>
                    <a:pt x="0" y="182069"/>
                  </a:lnTo>
                  <a:lnTo>
                    <a:pt x="211969" y="296718"/>
                  </a:lnTo>
                </a:path>
                <a:path w="299720" h="370204">
                  <a:moveTo>
                    <a:pt x="64509" y="286411"/>
                  </a:moveTo>
                  <a:lnTo>
                    <a:pt x="218421" y="369714"/>
                  </a:lnTo>
                  <a:lnTo>
                    <a:pt x="299523" y="325057"/>
                  </a:lnTo>
                </a:path>
              </a:pathLst>
            </a:custGeom>
            <a:ln w="40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36793" y="4241721"/>
              <a:ext cx="211971" cy="290704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8036794" y="4241721"/>
              <a:ext cx="212090" cy="297180"/>
            </a:xfrm>
            <a:custGeom>
              <a:avLst/>
              <a:gdLst/>
              <a:ahLst/>
              <a:cxnLst/>
              <a:rect l="l" t="t" r="r" b="b"/>
              <a:pathLst>
                <a:path w="212090" h="297179">
                  <a:moveTo>
                    <a:pt x="4608" y="179059"/>
                  </a:moveTo>
                  <a:lnTo>
                    <a:pt x="211971" y="290703"/>
                  </a:lnTo>
                  <a:lnTo>
                    <a:pt x="211971" y="296715"/>
                  </a:lnTo>
                  <a:lnTo>
                    <a:pt x="211971" y="113791"/>
                  </a:lnTo>
                  <a:lnTo>
                    <a:pt x="0" y="0"/>
                  </a:lnTo>
                  <a:lnTo>
                    <a:pt x="4608" y="2146"/>
                  </a:lnTo>
                  <a:lnTo>
                    <a:pt x="4608" y="179059"/>
                  </a:lnTo>
                  <a:close/>
                </a:path>
              </a:pathLst>
            </a:custGeom>
            <a:ln w="40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7" name="object 137"/>
          <p:cNvSpPr txBox="1"/>
          <p:nvPr/>
        </p:nvSpPr>
        <p:spPr>
          <a:xfrm>
            <a:off x="7859255" y="4010121"/>
            <a:ext cx="593725" cy="184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13030" marR="5080" indent="-100965">
              <a:lnSpc>
                <a:spcPct val="102600"/>
              </a:lnSpc>
              <a:spcBef>
                <a:spcPts val="110"/>
              </a:spcBef>
            </a:pPr>
            <a:r>
              <a:rPr dirty="0" sz="500">
                <a:latin typeface="Arial"/>
                <a:cs typeface="Arial"/>
              </a:rPr>
              <a:t>Trading</a:t>
            </a:r>
            <a:r>
              <a:rPr dirty="0" sz="500" spc="55">
                <a:latin typeface="Arial"/>
                <a:cs typeface="Arial"/>
              </a:rPr>
              <a:t> </a:t>
            </a:r>
            <a:r>
              <a:rPr dirty="0" sz="500" spc="-10">
                <a:latin typeface="Arial"/>
                <a:cs typeface="Arial"/>
              </a:rPr>
              <a:t>Application</a:t>
            </a:r>
            <a:r>
              <a:rPr dirty="0" sz="500" spc="500">
                <a:latin typeface="Arial"/>
                <a:cs typeface="Arial"/>
              </a:rPr>
              <a:t> </a:t>
            </a:r>
            <a:r>
              <a:rPr dirty="0" sz="500" spc="-10">
                <a:latin typeface="Arial"/>
                <a:cs typeface="Arial"/>
              </a:rPr>
              <a:t>(customer's)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9087815" y="2679850"/>
            <a:ext cx="354965" cy="438784"/>
            <a:chOff x="9087815" y="2679850"/>
            <a:chExt cx="354965" cy="438784"/>
          </a:xfrm>
        </p:grpSpPr>
        <p:pic>
          <p:nvPicPr>
            <p:cNvPr id="139" name="object 1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50321" y="2822987"/>
              <a:ext cx="37786" cy="232735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092259" y="2684296"/>
              <a:ext cx="295838" cy="158878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9092260" y="2684295"/>
              <a:ext cx="295910" cy="159385"/>
            </a:xfrm>
            <a:custGeom>
              <a:avLst/>
              <a:gdLst/>
              <a:ahLst/>
              <a:cxnLst/>
              <a:rect l="l" t="t" r="r" b="b"/>
              <a:pathLst>
                <a:path w="295909" h="159385">
                  <a:moveTo>
                    <a:pt x="0" y="20181"/>
                  </a:moveTo>
                  <a:lnTo>
                    <a:pt x="48202" y="36652"/>
                  </a:lnTo>
                  <a:lnTo>
                    <a:pt x="94588" y="55920"/>
                  </a:lnTo>
                  <a:lnTo>
                    <a:pt x="138960" y="77881"/>
                  </a:lnTo>
                  <a:lnTo>
                    <a:pt x="181125" y="102431"/>
                  </a:lnTo>
                  <a:lnTo>
                    <a:pt x="220887" y="129465"/>
                  </a:lnTo>
                  <a:lnTo>
                    <a:pt x="258052" y="158878"/>
                  </a:lnTo>
                  <a:lnTo>
                    <a:pt x="295838" y="138696"/>
                  </a:lnTo>
                  <a:lnTo>
                    <a:pt x="258419" y="109534"/>
                  </a:lnTo>
                  <a:lnTo>
                    <a:pt x="218525" y="82661"/>
                  </a:lnTo>
                  <a:lnTo>
                    <a:pt x="176335" y="58175"/>
                  </a:lnTo>
                  <a:lnTo>
                    <a:pt x="132029" y="36172"/>
                  </a:lnTo>
                  <a:lnTo>
                    <a:pt x="85786" y="16748"/>
                  </a:lnTo>
                  <a:lnTo>
                    <a:pt x="37785" y="0"/>
                  </a:lnTo>
                  <a:lnTo>
                    <a:pt x="0" y="20181"/>
                  </a:lnTo>
                  <a:close/>
                </a:path>
              </a:pathLst>
            </a:custGeom>
            <a:ln w="40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38341" y="2976288"/>
              <a:ext cx="299525" cy="137407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9138342" y="2976288"/>
              <a:ext cx="299720" cy="137795"/>
            </a:xfrm>
            <a:custGeom>
              <a:avLst/>
              <a:gdLst/>
              <a:ahLst/>
              <a:cxnLst/>
              <a:rect l="l" t="t" r="r" b="b"/>
              <a:pathLst>
                <a:path w="299720" h="137794">
                  <a:moveTo>
                    <a:pt x="0" y="31775"/>
                  </a:moveTo>
                  <a:lnTo>
                    <a:pt x="196304" y="137408"/>
                  </a:lnTo>
                  <a:lnTo>
                    <a:pt x="299525" y="81586"/>
                  </a:lnTo>
                  <a:lnTo>
                    <a:pt x="299525" y="62263"/>
                  </a:lnTo>
                  <a:lnTo>
                    <a:pt x="249757" y="30057"/>
                  </a:lnTo>
                  <a:lnTo>
                    <a:pt x="249757" y="59257"/>
                  </a:lnTo>
                  <a:lnTo>
                    <a:pt x="211971" y="79439"/>
                  </a:lnTo>
                  <a:lnTo>
                    <a:pt x="166286" y="63139"/>
                  </a:lnTo>
                  <a:lnTo>
                    <a:pt x="122151" y="44418"/>
                  </a:lnTo>
                  <a:lnTo>
                    <a:pt x="79726" y="23347"/>
                  </a:lnTo>
                  <a:lnTo>
                    <a:pt x="39168" y="0"/>
                  </a:lnTo>
                  <a:lnTo>
                    <a:pt x="0" y="21469"/>
                  </a:lnTo>
                  <a:lnTo>
                    <a:pt x="0" y="31775"/>
                  </a:lnTo>
                  <a:close/>
                </a:path>
              </a:pathLst>
            </a:custGeom>
            <a:ln w="40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92259" y="2704473"/>
              <a:ext cx="258052" cy="351248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9092260" y="2704473"/>
              <a:ext cx="258445" cy="351790"/>
            </a:xfrm>
            <a:custGeom>
              <a:avLst/>
              <a:gdLst/>
              <a:ahLst/>
              <a:cxnLst/>
              <a:rect l="l" t="t" r="r" b="b"/>
              <a:pathLst>
                <a:path w="258445" h="351789">
                  <a:moveTo>
                    <a:pt x="0" y="211694"/>
                  </a:moveTo>
                  <a:lnTo>
                    <a:pt x="37884" y="240508"/>
                  </a:lnTo>
                  <a:lnTo>
                    <a:pt x="78019" y="267209"/>
                  </a:lnTo>
                  <a:lnTo>
                    <a:pt x="120255" y="291715"/>
                  </a:lnTo>
                  <a:lnTo>
                    <a:pt x="164440" y="313945"/>
                  </a:lnTo>
                  <a:lnTo>
                    <a:pt x="210423" y="333817"/>
                  </a:lnTo>
                  <a:lnTo>
                    <a:pt x="258052" y="351249"/>
                  </a:lnTo>
                  <a:lnTo>
                    <a:pt x="258052" y="138696"/>
                  </a:lnTo>
                  <a:lnTo>
                    <a:pt x="220520" y="109649"/>
                  </a:lnTo>
                  <a:lnTo>
                    <a:pt x="180568" y="82851"/>
                  </a:lnTo>
                  <a:lnTo>
                    <a:pt x="138367" y="58394"/>
                  </a:lnTo>
                  <a:lnTo>
                    <a:pt x="94091" y="36372"/>
                  </a:lnTo>
                  <a:lnTo>
                    <a:pt x="47911" y="16876"/>
                  </a:lnTo>
                  <a:lnTo>
                    <a:pt x="0" y="0"/>
                  </a:lnTo>
                  <a:lnTo>
                    <a:pt x="0" y="211694"/>
                  </a:lnTo>
                  <a:close/>
                </a:path>
              </a:pathLst>
            </a:custGeom>
            <a:ln w="40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9092260" y="2684295"/>
              <a:ext cx="346075" cy="429895"/>
            </a:xfrm>
            <a:custGeom>
              <a:avLst/>
              <a:gdLst/>
              <a:ahLst/>
              <a:cxnLst/>
              <a:rect l="l" t="t" r="r" b="b"/>
              <a:pathLst>
                <a:path w="346075" h="429894">
                  <a:moveTo>
                    <a:pt x="0" y="231875"/>
                  </a:moveTo>
                  <a:lnTo>
                    <a:pt x="20527" y="247589"/>
                  </a:lnTo>
                  <a:lnTo>
                    <a:pt x="41587" y="262853"/>
                  </a:lnTo>
                  <a:lnTo>
                    <a:pt x="63165" y="277656"/>
                  </a:lnTo>
                  <a:lnTo>
                    <a:pt x="85249" y="291991"/>
                  </a:lnTo>
                  <a:lnTo>
                    <a:pt x="46081" y="313462"/>
                  </a:lnTo>
                  <a:lnTo>
                    <a:pt x="46081" y="323767"/>
                  </a:lnTo>
                  <a:lnTo>
                    <a:pt x="242385" y="429399"/>
                  </a:lnTo>
                  <a:lnTo>
                    <a:pt x="345606" y="373577"/>
                  </a:lnTo>
                  <a:lnTo>
                    <a:pt x="345606" y="354254"/>
                  </a:lnTo>
                  <a:lnTo>
                    <a:pt x="295839" y="327479"/>
                  </a:lnTo>
                  <a:lnTo>
                    <a:pt x="295839" y="138695"/>
                  </a:lnTo>
                  <a:lnTo>
                    <a:pt x="257364" y="110603"/>
                  </a:lnTo>
                  <a:lnTo>
                    <a:pt x="216915" y="84416"/>
                  </a:lnTo>
                  <a:lnTo>
                    <a:pt x="174612" y="60197"/>
                  </a:lnTo>
                  <a:lnTo>
                    <a:pt x="130576" y="38011"/>
                  </a:lnTo>
                  <a:lnTo>
                    <a:pt x="84927" y="17924"/>
                  </a:lnTo>
                  <a:lnTo>
                    <a:pt x="37786" y="0"/>
                  </a:lnTo>
                  <a:lnTo>
                    <a:pt x="0" y="20181"/>
                  </a:lnTo>
                  <a:lnTo>
                    <a:pt x="0" y="231875"/>
                  </a:lnTo>
                  <a:close/>
                </a:path>
              </a:pathLst>
            </a:custGeom>
            <a:ln w="83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9115304" y="2732813"/>
              <a:ext cx="299720" cy="370205"/>
            </a:xfrm>
            <a:custGeom>
              <a:avLst/>
              <a:gdLst/>
              <a:ahLst/>
              <a:cxnLst/>
              <a:rect l="l" t="t" r="r" b="b"/>
              <a:pathLst>
                <a:path w="299720" h="370205">
                  <a:moveTo>
                    <a:pt x="0" y="0"/>
                  </a:moveTo>
                  <a:lnTo>
                    <a:pt x="0" y="182069"/>
                  </a:lnTo>
                  <a:lnTo>
                    <a:pt x="211973" y="296718"/>
                  </a:lnTo>
                </a:path>
                <a:path w="299720" h="370205">
                  <a:moveTo>
                    <a:pt x="64511" y="286411"/>
                  </a:moveTo>
                  <a:lnTo>
                    <a:pt x="218420" y="369714"/>
                  </a:lnTo>
                  <a:lnTo>
                    <a:pt x="299528" y="325057"/>
                  </a:lnTo>
                </a:path>
              </a:pathLst>
            </a:custGeom>
            <a:ln w="402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115304" y="2732812"/>
              <a:ext cx="211971" cy="290704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9115304" y="2732813"/>
              <a:ext cx="212090" cy="297180"/>
            </a:xfrm>
            <a:custGeom>
              <a:avLst/>
              <a:gdLst/>
              <a:ahLst/>
              <a:cxnLst/>
              <a:rect l="l" t="t" r="r" b="b"/>
              <a:pathLst>
                <a:path w="212090" h="297180">
                  <a:moveTo>
                    <a:pt x="4608" y="179059"/>
                  </a:moveTo>
                  <a:lnTo>
                    <a:pt x="211971" y="290703"/>
                  </a:lnTo>
                  <a:lnTo>
                    <a:pt x="211971" y="296715"/>
                  </a:lnTo>
                  <a:lnTo>
                    <a:pt x="211971" y="113791"/>
                  </a:lnTo>
                  <a:lnTo>
                    <a:pt x="0" y="0"/>
                  </a:lnTo>
                  <a:lnTo>
                    <a:pt x="4608" y="2146"/>
                  </a:lnTo>
                  <a:lnTo>
                    <a:pt x="4608" y="179059"/>
                  </a:lnTo>
                  <a:close/>
                </a:path>
              </a:pathLst>
            </a:custGeom>
            <a:ln w="40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0" name="object 150"/>
          <p:cNvSpPr txBox="1"/>
          <p:nvPr/>
        </p:nvSpPr>
        <p:spPr>
          <a:xfrm>
            <a:off x="8937771" y="2562662"/>
            <a:ext cx="59372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>
                <a:latin typeface="Arial"/>
                <a:cs typeface="Arial"/>
              </a:rPr>
              <a:t>Trading</a:t>
            </a:r>
            <a:r>
              <a:rPr dirty="0" sz="500" spc="55">
                <a:latin typeface="Arial"/>
                <a:cs typeface="Arial"/>
              </a:rPr>
              <a:t> </a:t>
            </a:r>
            <a:r>
              <a:rPr dirty="0" sz="500" spc="-10">
                <a:latin typeface="Arial"/>
                <a:cs typeface="Arial"/>
              </a:rPr>
              <a:t>Application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9314416" y="3245294"/>
            <a:ext cx="1491615" cy="1533525"/>
            <a:chOff x="9314416" y="3245294"/>
            <a:chExt cx="1491615" cy="1533525"/>
          </a:xfrm>
        </p:grpSpPr>
        <p:pic>
          <p:nvPicPr>
            <p:cNvPr id="152" name="object 1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14416" y="3579183"/>
              <a:ext cx="110825" cy="285247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353521" y="4210647"/>
              <a:ext cx="99650" cy="340438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10377894" y="3284182"/>
              <a:ext cx="398780" cy="543560"/>
            </a:xfrm>
            <a:custGeom>
              <a:avLst/>
              <a:gdLst/>
              <a:ahLst/>
              <a:cxnLst/>
              <a:rect l="l" t="t" r="r" b="b"/>
              <a:pathLst>
                <a:path w="398779" h="543560">
                  <a:moveTo>
                    <a:pt x="0" y="543163"/>
                  </a:moveTo>
                  <a:lnTo>
                    <a:pt x="398599" y="0"/>
                  </a:lnTo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0762982" y="3248151"/>
              <a:ext cx="40005" cy="46355"/>
            </a:xfrm>
            <a:custGeom>
              <a:avLst/>
              <a:gdLst/>
              <a:ahLst/>
              <a:cxnLst/>
              <a:rect l="l" t="t" r="r" b="b"/>
              <a:pathLst>
                <a:path w="40004" h="46354">
                  <a:moveTo>
                    <a:pt x="39951" y="0"/>
                  </a:moveTo>
                  <a:lnTo>
                    <a:pt x="0" y="26115"/>
                  </a:lnTo>
                  <a:lnTo>
                    <a:pt x="27021" y="45944"/>
                  </a:lnTo>
                  <a:lnTo>
                    <a:pt x="399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0762983" y="3248152"/>
              <a:ext cx="40005" cy="46355"/>
            </a:xfrm>
            <a:custGeom>
              <a:avLst/>
              <a:gdLst/>
              <a:ahLst/>
              <a:cxnLst/>
              <a:rect l="l" t="t" r="r" b="b"/>
              <a:pathLst>
                <a:path w="40004" h="46354">
                  <a:moveTo>
                    <a:pt x="39951" y="0"/>
                  </a:moveTo>
                  <a:lnTo>
                    <a:pt x="0" y="26115"/>
                  </a:lnTo>
                  <a:lnTo>
                    <a:pt x="27022" y="45945"/>
                  </a:lnTo>
                  <a:lnTo>
                    <a:pt x="39951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351454" y="3817430"/>
              <a:ext cx="40005" cy="46355"/>
            </a:xfrm>
            <a:custGeom>
              <a:avLst/>
              <a:gdLst/>
              <a:ahLst/>
              <a:cxnLst/>
              <a:rect l="l" t="t" r="r" b="b"/>
              <a:pathLst>
                <a:path w="40004" h="46354">
                  <a:moveTo>
                    <a:pt x="12928" y="0"/>
                  </a:moveTo>
                  <a:lnTo>
                    <a:pt x="0" y="45946"/>
                  </a:lnTo>
                  <a:lnTo>
                    <a:pt x="39950" y="19831"/>
                  </a:lnTo>
                  <a:lnTo>
                    <a:pt x="129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351454" y="3817431"/>
              <a:ext cx="40005" cy="46355"/>
            </a:xfrm>
            <a:custGeom>
              <a:avLst/>
              <a:gdLst/>
              <a:ahLst/>
              <a:cxnLst/>
              <a:rect l="l" t="t" r="r" b="b"/>
              <a:pathLst>
                <a:path w="40004" h="46354">
                  <a:moveTo>
                    <a:pt x="0" y="45945"/>
                  </a:moveTo>
                  <a:lnTo>
                    <a:pt x="39951" y="19830"/>
                  </a:lnTo>
                  <a:lnTo>
                    <a:pt x="12929" y="0"/>
                  </a:lnTo>
                  <a:lnTo>
                    <a:pt x="0" y="45945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515100" y="3803791"/>
              <a:ext cx="168128" cy="87716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515893" y="4127378"/>
              <a:ext cx="255921" cy="90786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10356911" y="4249654"/>
              <a:ext cx="306705" cy="488950"/>
            </a:xfrm>
            <a:custGeom>
              <a:avLst/>
              <a:gdLst/>
              <a:ahLst/>
              <a:cxnLst/>
              <a:rect l="l" t="t" r="r" b="b"/>
              <a:pathLst>
                <a:path w="306704" h="488950">
                  <a:moveTo>
                    <a:pt x="0" y="0"/>
                  </a:moveTo>
                  <a:lnTo>
                    <a:pt x="306117" y="488397"/>
                  </a:lnTo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0648828" y="4729152"/>
              <a:ext cx="38100" cy="46990"/>
            </a:xfrm>
            <a:custGeom>
              <a:avLst/>
              <a:gdLst/>
              <a:ahLst/>
              <a:cxnLst/>
              <a:rect l="l" t="t" r="r" b="b"/>
              <a:pathLst>
                <a:path w="38100" h="46989">
                  <a:moveTo>
                    <a:pt x="28401" y="0"/>
                  </a:moveTo>
                  <a:lnTo>
                    <a:pt x="0" y="17800"/>
                  </a:lnTo>
                  <a:lnTo>
                    <a:pt x="37934" y="46767"/>
                  </a:lnTo>
                  <a:lnTo>
                    <a:pt x="284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0648829" y="4729151"/>
              <a:ext cx="38100" cy="46990"/>
            </a:xfrm>
            <a:custGeom>
              <a:avLst/>
              <a:gdLst/>
              <a:ahLst/>
              <a:cxnLst/>
              <a:rect l="l" t="t" r="r" b="b"/>
              <a:pathLst>
                <a:path w="38100" h="46989">
                  <a:moveTo>
                    <a:pt x="37935" y="46767"/>
                  </a:moveTo>
                  <a:lnTo>
                    <a:pt x="28400" y="0"/>
                  </a:lnTo>
                  <a:lnTo>
                    <a:pt x="0" y="17800"/>
                  </a:lnTo>
                  <a:lnTo>
                    <a:pt x="37935" y="46767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0333176" y="4211787"/>
              <a:ext cx="38100" cy="46990"/>
            </a:xfrm>
            <a:custGeom>
              <a:avLst/>
              <a:gdLst/>
              <a:ahLst/>
              <a:cxnLst/>
              <a:rect l="l" t="t" r="r" b="b"/>
              <a:pathLst>
                <a:path w="38100" h="46989">
                  <a:moveTo>
                    <a:pt x="0" y="0"/>
                  </a:moveTo>
                  <a:lnTo>
                    <a:pt x="9535" y="46767"/>
                  </a:lnTo>
                  <a:lnTo>
                    <a:pt x="37934" y="289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0333177" y="4211787"/>
              <a:ext cx="38100" cy="46990"/>
            </a:xfrm>
            <a:custGeom>
              <a:avLst/>
              <a:gdLst/>
              <a:ahLst/>
              <a:cxnLst/>
              <a:rect l="l" t="t" r="r" b="b"/>
              <a:pathLst>
                <a:path w="38100" h="46989">
                  <a:moveTo>
                    <a:pt x="0" y="0"/>
                  </a:moveTo>
                  <a:lnTo>
                    <a:pt x="9534" y="46767"/>
                  </a:lnTo>
                  <a:lnTo>
                    <a:pt x="37934" y="28966"/>
                  </a:lnTo>
                  <a:lnTo>
                    <a:pt x="0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/>
          <p:cNvSpPr txBox="1"/>
          <p:nvPr/>
        </p:nvSpPr>
        <p:spPr>
          <a:xfrm>
            <a:off x="9695563" y="3243186"/>
            <a:ext cx="564515" cy="326390"/>
          </a:xfrm>
          <a:prstGeom prst="rect">
            <a:avLst/>
          </a:prstGeom>
          <a:solidFill>
            <a:srgbClr val="FFFFFF"/>
          </a:solidFill>
          <a:ln w="5586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ctr" marL="74295" marR="72390">
              <a:lnSpc>
                <a:spcPct val="102600"/>
              </a:lnSpc>
              <a:spcBef>
                <a:spcPts val="305"/>
              </a:spcBef>
            </a:pPr>
            <a:r>
              <a:rPr dirty="0" sz="500" spc="-20" b="1">
                <a:latin typeface="Arial"/>
                <a:cs typeface="Arial"/>
              </a:rPr>
              <a:t>Risk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Management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System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8180902" y="2988685"/>
            <a:ext cx="1732280" cy="1776730"/>
            <a:chOff x="8180902" y="2988685"/>
            <a:chExt cx="1732280" cy="1776730"/>
          </a:xfrm>
        </p:grpSpPr>
        <p:pic>
          <p:nvPicPr>
            <p:cNvPr id="168" name="object 16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20488" y="3577231"/>
              <a:ext cx="225511" cy="289152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8200519" y="4644541"/>
              <a:ext cx="0" cy="73025"/>
            </a:xfrm>
            <a:custGeom>
              <a:avLst/>
              <a:gdLst/>
              <a:ahLst/>
              <a:cxnLst/>
              <a:rect l="l" t="t" r="r" b="b"/>
              <a:pathLst>
                <a:path w="0" h="73025">
                  <a:moveTo>
                    <a:pt x="0" y="0"/>
                  </a:moveTo>
                  <a:lnTo>
                    <a:pt x="0" y="73002"/>
                  </a:lnTo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8183760" y="4717543"/>
              <a:ext cx="33655" cy="45085"/>
            </a:xfrm>
            <a:custGeom>
              <a:avLst/>
              <a:gdLst/>
              <a:ahLst/>
              <a:cxnLst/>
              <a:rect l="l" t="t" r="r" b="b"/>
              <a:pathLst>
                <a:path w="33654" h="45085">
                  <a:moveTo>
                    <a:pt x="33517" y="0"/>
                  </a:moveTo>
                  <a:lnTo>
                    <a:pt x="0" y="0"/>
                  </a:lnTo>
                  <a:lnTo>
                    <a:pt x="16758" y="44691"/>
                  </a:lnTo>
                  <a:lnTo>
                    <a:pt x="335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8183760" y="4717543"/>
              <a:ext cx="33655" cy="45085"/>
            </a:xfrm>
            <a:custGeom>
              <a:avLst/>
              <a:gdLst/>
              <a:ahLst/>
              <a:cxnLst/>
              <a:rect l="l" t="t" r="r" b="b"/>
              <a:pathLst>
                <a:path w="33654" h="45085">
                  <a:moveTo>
                    <a:pt x="16759" y="44690"/>
                  </a:moveTo>
                  <a:lnTo>
                    <a:pt x="33518" y="0"/>
                  </a:lnTo>
                  <a:lnTo>
                    <a:pt x="0" y="0"/>
                  </a:lnTo>
                  <a:lnTo>
                    <a:pt x="16759" y="4469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8183760" y="4599851"/>
              <a:ext cx="33655" cy="45085"/>
            </a:xfrm>
            <a:custGeom>
              <a:avLst/>
              <a:gdLst/>
              <a:ahLst/>
              <a:cxnLst/>
              <a:rect l="l" t="t" r="r" b="b"/>
              <a:pathLst>
                <a:path w="33654" h="45085">
                  <a:moveTo>
                    <a:pt x="16758" y="0"/>
                  </a:moveTo>
                  <a:lnTo>
                    <a:pt x="0" y="44690"/>
                  </a:lnTo>
                  <a:lnTo>
                    <a:pt x="33517" y="44690"/>
                  </a:lnTo>
                  <a:lnTo>
                    <a:pt x="167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8183760" y="4599850"/>
              <a:ext cx="33655" cy="45085"/>
            </a:xfrm>
            <a:custGeom>
              <a:avLst/>
              <a:gdLst/>
              <a:ahLst/>
              <a:cxnLst/>
              <a:rect l="l" t="t" r="r" b="b"/>
              <a:pathLst>
                <a:path w="33654" h="45085">
                  <a:moveTo>
                    <a:pt x="16759" y="0"/>
                  </a:moveTo>
                  <a:lnTo>
                    <a:pt x="0" y="44690"/>
                  </a:lnTo>
                  <a:lnTo>
                    <a:pt x="33518" y="44690"/>
                  </a:lnTo>
                  <a:lnTo>
                    <a:pt x="16759" y="0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9512576" y="2991542"/>
              <a:ext cx="397510" cy="250190"/>
            </a:xfrm>
            <a:custGeom>
              <a:avLst/>
              <a:gdLst/>
              <a:ahLst/>
              <a:cxnLst/>
              <a:rect l="l" t="t" r="r" b="b"/>
              <a:pathLst>
                <a:path w="397509" h="250189">
                  <a:moveTo>
                    <a:pt x="397360" y="0"/>
                  </a:moveTo>
                  <a:lnTo>
                    <a:pt x="205659" y="73097"/>
                  </a:lnTo>
                  <a:lnTo>
                    <a:pt x="232479" y="97849"/>
                  </a:lnTo>
                  <a:lnTo>
                    <a:pt x="85443" y="159481"/>
                  </a:lnTo>
                  <a:lnTo>
                    <a:pt x="116334" y="191292"/>
                  </a:lnTo>
                  <a:lnTo>
                    <a:pt x="0" y="250155"/>
                  </a:lnTo>
                  <a:lnTo>
                    <a:pt x="174353" y="187979"/>
                  </a:lnTo>
                  <a:lnTo>
                    <a:pt x="145206" y="157552"/>
                  </a:lnTo>
                  <a:lnTo>
                    <a:pt x="293015" y="97149"/>
                  </a:lnTo>
                  <a:lnTo>
                    <a:pt x="263277" y="72089"/>
                  </a:lnTo>
                  <a:lnTo>
                    <a:pt x="39736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9512577" y="2991542"/>
              <a:ext cx="397510" cy="250190"/>
            </a:xfrm>
            <a:custGeom>
              <a:avLst/>
              <a:gdLst/>
              <a:ahLst/>
              <a:cxnLst/>
              <a:rect l="l" t="t" r="r" b="b"/>
              <a:pathLst>
                <a:path w="397509" h="250189">
                  <a:moveTo>
                    <a:pt x="293017" y="97148"/>
                  </a:moveTo>
                  <a:lnTo>
                    <a:pt x="263277" y="72088"/>
                  </a:lnTo>
                  <a:lnTo>
                    <a:pt x="397360" y="0"/>
                  </a:lnTo>
                  <a:lnTo>
                    <a:pt x="205661" y="73097"/>
                  </a:lnTo>
                  <a:lnTo>
                    <a:pt x="232480" y="97849"/>
                  </a:lnTo>
                  <a:lnTo>
                    <a:pt x="85443" y="159481"/>
                  </a:lnTo>
                  <a:lnTo>
                    <a:pt x="116334" y="191291"/>
                  </a:lnTo>
                  <a:lnTo>
                    <a:pt x="0" y="250155"/>
                  </a:lnTo>
                  <a:lnTo>
                    <a:pt x="174353" y="187979"/>
                  </a:lnTo>
                  <a:lnTo>
                    <a:pt x="145206" y="157552"/>
                  </a:lnTo>
                  <a:lnTo>
                    <a:pt x="293016" y="97149"/>
                  </a:lnTo>
                  <a:close/>
                </a:path>
              </a:pathLst>
            </a:custGeom>
            <a:ln w="5586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9920627" y="2844594"/>
            <a:ext cx="230504" cy="184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110"/>
              </a:spcBef>
            </a:pPr>
            <a:r>
              <a:rPr dirty="0" sz="500" spc="-10" i="1">
                <a:latin typeface="Arial"/>
                <a:cs typeface="Arial"/>
              </a:rPr>
              <a:t>Market</a:t>
            </a:r>
            <a:r>
              <a:rPr dirty="0" sz="500" spc="500" i="1">
                <a:latin typeface="Arial"/>
                <a:cs typeface="Arial"/>
              </a:rPr>
              <a:t> </a:t>
            </a:r>
            <a:r>
              <a:rPr dirty="0" sz="500" spc="-20" i="1">
                <a:latin typeface="Arial"/>
                <a:cs typeface="Arial"/>
              </a:rPr>
              <a:t>Data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7783312" y="3384050"/>
            <a:ext cx="1905000" cy="1384300"/>
            <a:chOff x="7783312" y="3384050"/>
            <a:chExt cx="1905000" cy="1384300"/>
          </a:xfrm>
        </p:grpSpPr>
        <p:sp>
          <p:nvSpPr>
            <p:cNvPr id="178" name="object 178"/>
            <p:cNvSpPr/>
            <p:nvPr/>
          </p:nvSpPr>
          <p:spPr>
            <a:xfrm>
              <a:off x="9589138" y="3403666"/>
              <a:ext cx="51435" cy="635"/>
            </a:xfrm>
            <a:custGeom>
              <a:avLst/>
              <a:gdLst/>
              <a:ahLst/>
              <a:cxnLst/>
              <a:rect l="l" t="t" r="r" b="b"/>
              <a:pathLst>
                <a:path w="51434" h="635">
                  <a:moveTo>
                    <a:pt x="0" y="0"/>
                  </a:moveTo>
                  <a:lnTo>
                    <a:pt x="51394" y="141"/>
                  </a:lnTo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9640486" y="3387049"/>
              <a:ext cx="45085" cy="33655"/>
            </a:xfrm>
            <a:custGeom>
              <a:avLst/>
              <a:gdLst/>
              <a:ahLst/>
              <a:cxnLst/>
              <a:rect l="l" t="t" r="r" b="b"/>
              <a:pathLst>
                <a:path w="45084" h="33654">
                  <a:moveTo>
                    <a:pt x="91" y="0"/>
                  </a:moveTo>
                  <a:lnTo>
                    <a:pt x="0" y="33517"/>
                  </a:lnTo>
                  <a:lnTo>
                    <a:pt x="44735" y="16882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9640486" y="3387049"/>
              <a:ext cx="45085" cy="33655"/>
            </a:xfrm>
            <a:custGeom>
              <a:avLst/>
              <a:gdLst/>
              <a:ahLst/>
              <a:cxnLst/>
              <a:rect l="l" t="t" r="r" b="b"/>
              <a:pathLst>
                <a:path w="45084" h="33654">
                  <a:moveTo>
                    <a:pt x="44736" y="16882"/>
                  </a:moveTo>
                  <a:lnTo>
                    <a:pt x="92" y="0"/>
                  </a:lnTo>
                  <a:lnTo>
                    <a:pt x="0" y="33518"/>
                  </a:lnTo>
                  <a:lnTo>
                    <a:pt x="44736" y="16882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9544446" y="3386907"/>
              <a:ext cx="45085" cy="33655"/>
            </a:xfrm>
            <a:custGeom>
              <a:avLst/>
              <a:gdLst/>
              <a:ahLst/>
              <a:cxnLst/>
              <a:rect l="l" t="t" r="r" b="b"/>
              <a:pathLst>
                <a:path w="45084" h="33654">
                  <a:moveTo>
                    <a:pt x="44737" y="0"/>
                  </a:moveTo>
                  <a:lnTo>
                    <a:pt x="0" y="16635"/>
                  </a:lnTo>
                  <a:lnTo>
                    <a:pt x="44644" y="33519"/>
                  </a:lnTo>
                  <a:lnTo>
                    <a:pt x="447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9544447" y="3386907"/>
              <a:ext cx="45085" cy="33655"/>
            </a:xfrm>
            <a:custGeom>
              <a:avLst/>
              <a:gdLst/>
              <a:ahLst/>
              <a:cxnLst/>
              <a:rect l="l" t="t" r="r" b="b"/>
              <a:pathLst>
                <a:path w="45084" h="33654">
                  <a:moveTo>
                    <a:pt x="0" y="16635"/>
                  </a:moveTo>
                  <a:lnTo>
                    <a:pt x="44644" y="33518"/>
                  </a:lnTo>
                  <a:lnTo>
                    <a:pt x="44736" y="0"/>
                  </a:lnTo>
                  <a:lnTo>
                    <a:pt x="0" y="16635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783312" y="4593865"/>
              <a:ext cx="231312" cy="174350"/>
            </a:xfrm>
            <a:prstGeom prst="rect">
              <a:avLst/>
            </a:prstGeom>
          </p:spPr>
        </p:pic>
      </p:grpSp>
      <p:sp>
        <p:nvSpPr>
          <p:cNvPr id="184" name="object 184"/>
          <p:cNvSpPr txBox="1"/>
          <p:nvPr/>
        </p:nvSpPr>
        <p:spPr>
          <a:xfrm>
            <a:off x="7688171" y="4428498"/>
            <a:ext cx="230504" cy="184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110"/>
              </a:spcBef>
            </a:pPr>
            <a:r>
              <a:rPr dirty="0" sz="500" spc="-10" i="1">
                <a:latin typeface="Arial"/>
                <a:cs typeface="Arial"/>
              </a:rPr>
              <a:t>Market</a:t>
            </a:r>
            <a:r>
              <a:rPr dirty="0" sz="500" spc="500" i="1">
                <a:latin typeface="Arial"/>
                <a:cs typeface="Arial"/>
              </a:rPr>
              <a:t> </a:t>
            </a:r>
            <a:r>
              <a:rPr dirty="0" sz="500" spc="-20" i="1">
                <a:latin typeface="Arial"/>
                <a:cs typeface="Arial"/>
              </a:rPr>
              <a:t>Data</a:t>
            </a:r>
            <a:endParaRPr sz="500">
              <a:latin typeface="Arial"/>
              <a:cs typeface="Arial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9941704" y="3874185"/>
            <a:ext cx="564515" cy="326390"/>
          </a:xfrm>
          <a:prstGeom prst="rect">
            <a:avLst/>
          </a:prstGeom>
          <a:solidFill>
            <a:srgbClr val="FFFFFF"/>
          </a:solidFill>
          <a:ln w="5586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algn="just" marL="170815" marR="168910" indent="12700">
              <a:lnSpc>
                <a:spcPct val="102600"/>
              </a:lnSpc>
              <a:spcBef>
                <a:spcPts val="305"/>
              </a:spcBef>
            </a:pPr>
            <a:r>
              <a:rPr dirty="0" sz="500" spc="-20" b="1">
                <a:latin typeface="Arial"/>
                <a:cs typeface="Arial"/>
              </a:rPr>
              <a:t>Smart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Order</a:t>
            </a:r>
            <a:r>
              <a:rPr dirty="0" sz="500" spc="500" b="1">
                <a:latin typeface="Arial"/>
                <a:cs typeface="Arial"/>
              </a:rPr>
              <a:t> </a:t>
            </a:r>
            <a:r>
              <a:rPr dirty="0" sz="500" spc="-10" b="1">
                <a:latin typeface="Arial"/>
                <a:cs typeface="Arial"/>
              </a:rPr>
              <a:t>Router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9781214" y="3027855"/>
            <a:ext cx="319405" cy="1029335"/>
            <a:chOff x="9781214" y="3027855"/>
            <a:chExt cx="319405" cy="1029335"/>
          </a:xfrm>
        </p:grpSpPr>
        <p:sp>
          <p:nvSpPr>
            <p:cNvPr id="187" name="object 187"/>
            <p:cNvSpPr/>
            <p:nvPr/>
          </p:nvSpPr>
          <p:spPr>
            <a:xfrm>
              <a:off x="9828762" y="4037361"/>
              <a:ext cx="55244" cy="635"/>
            </a:xfrm>
            <a:custGeom>
              <a:avLst/>
              <a:gdLst/>
              <a:ahLst/>
              <a:cxnLst/>
              <a:rect l="l" t="t" r="r" b="b"/>
              <a:pathLst>
                <a:path w="55245" h="635">
                  <a:moveTo>
                    <a:pt x="0" y="0"/>
                  </a:moveTo>
                  <a:lnTo>
                    <a:pt x="54844" y="8"/>
                  </a:lnTo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9883603" y="4020610"/>
              <a:ext cx="45085" cy="33655"/>
            </a:xfrm>
            <a:custGeom>
              <a:avLst/>
              <a:gdLst/>
              <a:ahLst/>
              <a:cxnLst/>
              <a:rect l="l" t="t" r="r" b="b"/>
              <a:pathLst>
                <a:path w="45084" h="33654">
                  <a:moveTo>
                    <a:pt x="5" y="0"/>
                  </a:moveTo>
                  <a:lnTo>
                    <a:pt x="0" y="33519"/>
                  </a:lnTo>
                  <a:lnTo>
                    <a:pt x="44693" y="1676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883604" y="4020611"/>
              <a:ext cx="45085" cy="33655"/>
            </a:xfrm>
            <a:custGeom>
              <a:avLst/>
              <a:gdLst/>
              <a:ahLst/>
              <a:cxnLst/>
              <a:rect l="l" t="t" r="r" b="b"/>
              <a:pathLst>
                <a:path w="45084" h="33654">
                  <a:moveTo>
                    <a:pt x="44693" y="16766"/>
                  </a:moveTo>
                  <a:lnTo>
                    <a:pt x="5" y="0"/>
                  </a:lnTo>
                  <a:lnTo>
                    <a:pt x="0" y="33518"/>
                  </a:lnTo>
                  <a:lnTo>
                    <a:pt x="44693" y="16766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9784071" y="4020601"/>
              <a:ext cx="45085" cy="33655"/>
            </a:xfrm>
            <a:custGeom>
              <a:avLst/>
              <a:gdLst/>
              <a:ahLst/>
              <a:cxnLst/>
              <a:rect l="l" t="t" r="r" b="b"/>
              <a:pathLst>
                <a:path w="45084" h="33654">
                  <a:moveTo>
                    <a:pt x="44693" y="0"/>
                  </a:moveTo>
                  <a:lnTo>
                    <a:pt x="0" y="16752"/>
                  </a:lnTo>
                  <a:lnTo>
                    <a:pt x="44688" y="33519"/>
                  </a:lnTo>
                  <a:lnTo>
                    <a:pt x="44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9784072" y="4020602"/>
              <a:ext cx="45085" cy="33655"/>
            </a:xfrm>
            <a:custGeom>
              <a:avLst/>
              <a:gdLst/>
              <a:ahLst/>
              <a:cxnLst/>
              <a:rect l="l" t="t" r="r" b="b"/>
              <a:pathLst>
                <a:path w="45084" h="33654">
                  <a:moveTo>
                    <a:pt x="0" y="16751"/>
                  </a:moveTo>
                  <a:lnTo>
                    <a:pt x="44687" y="33518"/>
                  </a:lnTo>
                  <a:lnTo>
                    <a:pt x="44693" y="0"/>
                  </a:lnTo>
                  <a:lnTo>
                    <a:pt x="0" y="16751"/>
                  </a:lnTo>
                  <a:close/>
                </a:path>
              </a:pathLst>
            </a:custGeom>
            <a:ln w="5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010334" y="3027855"/>
              <a:ext cx="89744" cy="222785"/>
            </a:xfrm>
            <a:prstGeom prst="rect">
              <a:avLst/>
            </a:prstGeom>
          </p:spPr>
        </p:pic>
      </p:grpSp>
      <p:sp>
        <p:nvSpPr>
          <p:cNvPr id="193" name="object 193"/>
          <p:cNvSpPr txBox="1"/>
          <p:nvPr/>
        </p:nvSpPr>
        <p:spPr>
          <a:xfrm>
            <a:off x="9808285" y="4445107"/>
            <a:ext cx="230504" cy="184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110"/>
              </a:spcBef>
            </a:pPr>
            <a:r>
              <a:rPr dirty="0" sz="500" spc="-10" i="1">
                <a:latin typeface="Arial"/>
                <a:cs typeface="Arial"/>
              </a:rPr>
              <a:t>Market</a:t>
            </a:r>
            <a:r>
              <a:rPr dirty="0" sz="500" spc="500" i="1">
                <a:latin typeface="Arial"/>
                <a:cs typeface="Arial"/>
              </a:rPr>
              <a:t> </a:t>
            </a:r>
            <a:r>
              <a:rPr dirty="0" sz="500" spc="-20" i="1">
                <a:latin typeface="Arial"/>
                <a:cs typeface="Arial"/>
              </a:rPr>
              <a:t>Data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94" name="object 194"/>
          <p:cNvGrpSpPr/>
          <p:nvPr/>
        </p:nvGrpSpPr>
        <p:grpSpPr>
          <a:xfrm>
            <a:off x="9630011" y="4199738"/>
            <a:ext cx="503555" cy="258445"/>
            <a:chOff x="9630011" y="4199738"/>
            <a:chExt cx="503555" cy="258445"/>
          </a:xfrm>
        </p:grpSpPr>
        <p:pic>
          <p:nvPicPr>
            <p:cNvPr id="195" name="object 19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630011" y="4199738"/>
              <a:ext cx="221270" cy="252632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988147" y="4202860"/>
              <a:ext cx="142297" cy="252303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9988147" y="4202860"/>
              <a:ext cx="142875" cy="252729"/>
            </a:xfrm>
            <a:custGeom>
              <a:avLst/>
              <a:gdLst/>
              <a:ahLst/>
              <a:cxnLst/>
              <a:rect l="l" t="t" r="r" b="b"/>
              <a:pathLst>
                <a:path w="142875" h="252729">
                  <a:moveTo>
                    <a:pt x="123041" y="88337"/>
                  </a:moveTo>
                  <a:lnTo>
                    <a:pt x="87187" y="76485"/>
                  </a:lnTo>
                  <a:lnTo>
                    <a:pt x="142297" y="0"/>
                  </a:lnTo>
                  <a:lnTo>
                    <a:pt x="46255" y="88314"/>
                  </a:lnTo>
                  <a:lnTo>
                    <a:pt x="79828" y="100514"/>
                  </a:lnTo>
                  <a:lnTo>
                    <a:pt x="9365" y="172159"/>
                  </a:lnTo>
                  <a:lnTo>
                    <a:pt x="49935" y="188527"/>
                  </a:lnTo>
                  <a:lnTo>
                    <a:pt x="0" y="252304"/>
                  </a:lnTo>
                  <a:lnTo>
                    <a:pt x="89831" y="175003"/>
                  </a:lnTo>
                  <a:lnTo>
                    <a:pt x="51314" y="159270"/>
                  </a:lnTo>
                  <a:lnTo>
                    <a:pt x="123041" y="88338"/>
                  </a:lnTo>
                  <a:close/>
                </a:path>
              </a:pathLst>
            </a:custGeom>
            <a:ln w="5586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8" name="object 198"/>
          <p:cNvSpPr txBox="1"/>
          <p:nvPr/>
        </p:nvSpPr>
        <p:spPr>
          <a:xfrm>
            <a:off x="9798081" y="4880991"/>
            <a:ext cx="701040" cy="2438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400">
                <a:solidFill>
                  <a:srgbClr val="3A3A3A"/>
                </a:solidFill>
                <a:latin typeface="Calibri"/>
                <a:cs typeface="Calibri"/>
              </a:rPr>
              <a:t>Source:</a:t>
            </a:r>
            <a:r>
              <a:rPr dirty="0" sz="400" spc="7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400">
                <a:solidFill>
                  <a:srgbClr val="3A3A3A"/>
                </a:solidFill>
                <a:latin typeface="Calibri"/>
                <a:cs typeface="Calibri"/>
              </a:rPr>
              <a:t>Duran,</a:t>
            </a:r>
            <a:r>
              <a:rPr dirty="0" sz="400" spc="7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400">
                <a:solidFill>
                  <a:srgbClr val="3A3A3A"/>
                </a:solidFill>
                <a:latin typeface="Calibri"/>
                <a:cs typeface="Calibri"/>
              </a:rPr>
              <a:t>R.</a:t>
            </a:r>
            <a:r>
              <a:rPr dirty="0" sz="400" spc="7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400" spc="-25">
                <a:solidFill>
                  <a:srgbClr val="3A3A3A"/>
                </a:solidFill>
                <a:latin typeface="Calibri"/>
                <a:cs typeface="Calibri"/>
              </a:rPr>
              <a:t>E.,</a:t>
            </a:r>
            <a:endParaRPr sz="400">
              <a:latin typeface="Calibri"/>
              <a:cs typeface="Calibri"/>
            </a:endParaRPr>
          </a:p>
          <a:p>
            <a:pPr marL="12700" marR="5080">
              <a:lnSpc>
                <a:spcPct val="119100"/>
              </a:lnSpc>
              <a:spcBef>
                <a:spcPts val="5"/>
              </a:spcBef>
            </a:pPr>
            <a:r>
              <a:rPr dirty="0" sz="400" spc="10">
                <a:solidFill>
                  <a:srgbClr val="3A3A3A"/>
                </a:solidFill>
                <a:latin typeface="Calibri"/>
                <a:cs typeface="Calibri"/>
              </a:rPr>
              <a:t>Financial</a:t>
            </a:r>
            <a:r>
              <a:rPr dirty="0" sz="400" spc="4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400" spc="10">
                <a:solidFill>
                  <a:srgbClr val="3A3A3A"/>
                </a:solidFill>
                <a:latin typeface="Calibri"/>
                <a:cs typeface="Calibri"/>
              </a:rPr>
              <a:t>Services</a:t>
            </a:r>
            <a:r>
              <a:rPr dirty="0" sz="400" spc="4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400" spc="-10">
                <a:solidFill>
                  <a:srgbClr val="3A3A3A"/>
                </a:solidFill>
                <a:latin typeface="Calibri"/>
                <a:cs typeface="Calibri"/>
              </a:rPr>
              <a:t>Technology,</a:t>
            </a:r>
            <a:r>
              <a:rPr dirty="0" sz="400" spc="50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400" spc="10">
                <a:solidFill>
                  <a:srgbClr val="3A3A3A"/>
                </a:solidFill>
                <a:latin typeface="Calibri"/>
                <a:cs typeface="Calibri"/>
              </a:rPr>
              <a:t>Cengage</a:t>
            </a:r>
            <a:r>
              <a:rPr dirty="0" sz="400" spc="4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400" spc="10">
                <a:solidFill>
                  <a:srgbClr val="3A3A3A"/>
                </a:solidFill>
                <a:latin typeface="Calibri"/>
                <a:cs typeface="Calibri"/>
              </a:rPr>
              <a:t>Learning</a:t>
            </a:r>
            <a:r>
              <a:rPr dirty="0" sz="400" spc="5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400" spc="10">
                <a:solidFill>
                  <a:srgbClr val="3A3A3A"/>
                </a:solidFill>
                <a:latin typeface="Calibri"/>
                <a:cs typeface="Calibri"/>
              </a:rPr>
              <a:t>Asia,</a:t>
            </a:r>
            <a:r>
              <a:rPr dirty="0" sz="400" spc="5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400" spc="-20">
                <a:solidFill>
                  <a:srgbClr val="3A3A3A"/>
                </a:solidFill>
                <a:latin typeface="Calibri"/>
                <a:cs typeface="Calibri"/>
              </a:rPr>
              <a:t>2018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199" name="object 19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Trading</a:t>
            </a:r>
            <a:r>
              <a:rPr dirty="0" spc="-105"/>
              <a:t> </a:t>
            </a:r>
            <a:r>
              <a:rPr dirty="0"/>
              <a:t>System</a:t>
            </a:r>
            <a:r>
              <a:rPr dirty="0" spc="-105"/>
              <a:t> </a:t>
            </a:r>
            <a:r>
              <a:rPr dirty="0" spc="-1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588"/>
            <a:ext cx="6014085" cy="4276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Direct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market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access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(DMA)</a:t>
            </a:r>
            <a:endParaRPr sz="2200">
              <a:latin typeface="Century Gothic"/>
              <a:cs typeface="Century Gothic"/>
            </a:endParaRPr>
          </a:p>
          <a:p>
            <a:pPr lvl="1" marL="697230" marR="261620" indent="-227329">
              <a:lnSpc>
                <a:spcPct val="78900"/>
              </a:lnSpc>
              <a:spcBef>
                <a:spcPts val="54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900">
                <a:latin typeface="Century Gothic"/>
                <a:cs typeface="Century Gothic"/>
              </a:rPr>
              <a:t>Customers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send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orders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electronically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to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 spc="-25">
                <a:latin typeface="Century Gothic"/>
                <a:cs typeface="Century Gothic"/>
              </a:rPr>
              <a:t>the </a:t>
            </a:r>
            <a:r>
              <a:rPr dirty="0" sz="1900" spc="-25">
                <a:latin typeface="Century Gothic"/>
                <a:cs typeface="Century Gothic"/>
              </a:rPr>
              <a:t>	</a:t>
            </a:r>
            <a:r>
              <a:rPr dirty="0" sz="1900" spc="-10">
                <a:latin typeface="Century Gothic"/>
                <a:cs typeface="Century Gothic"/>
              </a:rPr>
              <a:t>broker</a:t>
            </a:r>
            <a:endParaRPr sz="1900">
              <a:latin typeface="Century Gothic"/>
              <a:cs typeface="Century Gothic"/>
            </a:endParaRPr>
          </a:p>
          <a:p>
            <a:pPr lvl="1" marL="697230" marR="212725" indent="-227329">
              <a:lnSpc>
                <a:spcPct val="78900"/>
              </a:lnSpc>
              <a:spcBef>
                <a:spcPts val="60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broker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electronically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routes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order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 spc="-25">
                <a:latin typeface="Century Gothic"/>
                <a:cs typeface="Century Gothic"/>
              </a:rPr>
              <a:t>to </a:t>
            </a:r>
            <a:r>
              <a:rPr dirty="0" sz="1900" spc="-25">
                <a:latin typeface="Century Gothic"/>
                <a:cs typeface="Century Gothic"/>
              </a:rPr>
              <a:t>	</a:t>
            </a: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exchange</a:t>
            </a:r>
            <a:endParaRPr sz="19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There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is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no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human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intervention</a:t>
            </a:r>
            <a:endParaRPr sz="1900">
              <a:latin typeface="Century Gothic"/>
              <a:cs typeface="Century Gothic"/>
            </a:endParaRPr>
          </a:p>
          <a:p>
            <a:pPr lvl="2" marL="1155065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1155065" algn="l"/>
              </a:tabLst>
            </a:pPr>
            <a:r>
              <a:rPr dirty="0" sz="1700">
                <a:latin typeface="Century Gothic"/>
                <a:cs typeface="Century Gothic"/>
              </a:rPr>
              <a:t>Want</a:t>
            </a:r>
            <a:r>
              <a:rPr dirty="0" sz="1700" spc="-4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to</a:t>
            </a:r>
            <a:r>
              <a:rPr dirty="0" sz="1700" spc="-4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minimize</a:t>
            </a:r>
            <a:r>
              <a:rPr dirty="0" sz="1700" spc="-5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processing</a:t>
            </a:r>
            <a:r>
              <a:rPr dirty="0" sz="1700" spc="-40">
                <a:latin typeface="Century Gothic"/>
                <a:cs typeface="Century Gothic"/>
              </a:rPr>
              <a:t> </a:t>
            </a:r>
            <a:r>
              <a:rPr dirty="0" sz="1700" spc="-10">
                <a:latin typeface="Century Gothic"/>
                <a:cs typeface="Century Gothic"/>
              </a:rPr>
              <a:t>delay</a:t>
            </a:r>
            <a:endParaRPr sz="1700">
              <a:latin typeface="Century Gothic"/>
              <a:cs typeface="Century Gothic"/>
            </a:endParaRPr>
          </a:p>
          <a:p>
            <a:pPr lvl="1" marL="697230" marR="346075" indent="-227329">
              <a:lnSpc>
                <a:spcPct val="7890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900">
                <a:latin typeface="Century Gothic"/>
                <a:cs typeface="Century Gothic"/>
              </a:rPr>
              <a:t>DMA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orders</a:t>
            </a:r>
            <a:r>
              <a:rPr dirty="0" sz="1900" spc="-25">
                <a:latin typeface="Century Gothic"/>
                <a:cs typeface="Century Gothic"/>
              </a:rPr>
              <a:t> </a:t>
            </a:r>
            <a:r>
              <a:rPr dirty="0" sz="1900" b="1">
                <a:latin typeface="Century Gothic"/>
                <a:cs typeface="Century Gothic"/>
              </a:rPr>
              <a:t>do</a:t>
            </a:r>
            <a:r>
              <a:rPr dirty="0" sz="1900" spc="-25" b="1">
                <a:latin typeface="Century Gothic"/>
                <a:cs typeface="Century Gothic"/>
              </a:rPr>
              <a:t> </a:t>
            </a:r>
            <a:r>
              <a:rPr dirty="0" sz="1900" b="1">
                <a:latin typeface="Century Gothic"/>
                <a:cs typeface="Century Gothic"/>
              </a:rPr>
              <a:t>not</a:t>
            </a:r>
            <a:r>
              <a:rPr dirty="0" sz="1900" spc="-15" b="1">
                <a:latin typeface="Century Gothic"/>
                <a:cs typeface="Century Gothic"/>
              </a:rPr>
              <a:t> </a:t>
            </a:r>
            <a:r>
              <a:rPr dirty="0" sz="1900" b="1">
                <a:latin typeface="Century Gothic"/>
                <a:cs typeface="Century Gothic"/>
              </a:rPr>
              <a:t>go</a:t>
            </a:r>
            <a:r>
              <a:rPr dirty="0" sz="1900" spc="-20" b="1">
                <a:latin typeface="Century Gothic"/>
                <a:cs typeface="Century Gothic"/>
              </a:rPr>
              <a:t> </a:t>
            </a:r>
            <a:r>
              <a:rPr dirty="0" sz="1900" b="1">
                <a:latin typeface="Century Gothic"/>
                <a:cs typeface="Century Gothic"/>
              </a:rPr>
              <a:t>through</a:t>
            </a:r>
            <a:r>
              <a:rPr dirty="0" sz="1900" spc="-25" b="1">
                <a:latin typeface="Century Gothic"/>
                <a:cs typeface="Century Gothic"/>
              </a:rPr>
              <a:t> </a:t>
            </a:r>
            <a:r>
              <a:rPr dirty="0" sz="1900" b="1">
                <a:latin typeface="Century Gothic"/>
                <a:cs typeface="Century Gothic"/>
              </a:rPr>
              <a:t>the</a:t>
            </a:r>
            <a:r>
              <a:rPr dirty="0" sz="1900" spc="-25" b="1">
                <a:latin typeface="Century Gothic"/>
                <a:cs typeface="Century Gothic"/>
              </a:rPr>
              <a:t> </a:t>
            </a:r>
            <a:r>
              <a:rPr dirty="0" sz="1900" b="1">
                <a:latin typeface="Century Gothic"/>
                <a:cs typeface="Century Gothic"/>
              </a:rPr>
              <a:t>OMS</a:t>
            </a:r>
            <a:r>
              <a:rPr dirty="0" sz="1900" spc="-20" b="1">
                <a:latin typeface="Century Gothic"/>
                <a:cs typeface="Century Gothic"/>
              </a:rPr>
              <a:t> </a:t>
            </a:r>
            <a:r>
              <a:rPr dirty="0" sz="1900" spc="-25">
                <a:latin typeface="Century Gothic"/>
                <a:cs typeface="Century Gothic"/>
              </a:rPr>
              <a:t>on </a:t>
            </a:r>
            <a:r>
              <a:rPr dirty="0" sz="1900" spc="-25">
                <a:latin typeface="Century Gothic"/>
                <a:cs typeface="Century Gothic"/>
              </a:rPr>
              <a:t>	</a:t>
            </a: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2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way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to</a:t>
            </a:r>
            <a:r>
              <a:rPr dirty="0" sz="1900" spc="-2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20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exchange</a:t>
            </a:r>
            <a:endParaRPr sz="1900">
              <a:latin typeface="Century Gothic"/>
              <a:cs typeface="Century Gothic"/>
            </a:endParaRPr>
          </a:p>
          <a:p>
            <a:pPr lvl="2" marL="1155065" marR="133985" indent="-228600">
              <a:lnSpc>
                <a:spcPct val="77600"/>
              </a:lnSpc>
              <a:spcBef>
                <a:spcPts val="585"/>
              </a:spcBef>
              <a:buFont typeface="Arial"/>
              <a:buChar char="•"/>
              <a:tabLst>
                <a:tab pos="1155065" algn="l"/>
              </a:tabLst>
            </a:pPr>
            <a:r>
              <a:rPr dirty="0" sz="1700">
                <a:latin typeface="Century Gothic"/>
                <a:cs typeface="Century Gothic"/>
              </a:rPr>
              <a:t>Not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visible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to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broker’s</a:t>
            </a:r>
            <a:r>
              <a:rPr dirty="0" sz="1700" spc="-2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front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office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staff</a:t>
            </a:r>
            <a:r>
              <a:rPr dirty="0" sz="1700" spc="-3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prior</a:t>
            </a:r>
            <a:r>
              <a:rPr dirty="0" sz="1700" spc="-25">
                <a:latin typeface="Century Gothic"/>
                <a:cs typeface="Century Gothic"/>
              </a:rPr>
              <a:t> to </a:t>
            </a:r>
            <a:r>
              <a:rPr dirty="0" sz="1700" spc="-10">
                <a:latin typeface="Century Gothic"/>
                <a:cs typeface="Century Gothic"/>
              </a:rPr>
              <a:t>execution</a:t>
            </a:r>
            <a:endParaRPr sz="1700">
              <a:latin typeface="Century Gothic"/>
              <a:cs typeface="Century Gothic"/>
            </a:endParaRPr>
          </a:p>
          <a:p>
            <a:pPr lvl="1" marL="697230" marR="5080" indent="-227329">
              <a:lnSpc>
                <a:spcPct val="7890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900">
                <a:latin typeface="Century Gothic"/>
                <a:cs typeface="Century Gothic"/>
              </a:rPr>
              <a:t>After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execution,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trade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details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will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be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reported </a:t>
            </a:r>
            <a:r>
              <a:rPr dirty="0" sz="1900" spc="-10">
                <a:latin typeface="Century Gothic"/>
                <a:cs typeface="Century Gothic"/>
              </a:rPr>
              <a:t>	</a:t>
            </a:r>
            <a:r>
              <a:rPr dirty="0" sz="1900">
                <a:latin typeface="Century Gothic"/>
                <a:cs typeface="Century Gothic"/>
              </a:rPr>
              <a:t>to</a:t>
            </a:r>
            <a:r>
              <a:rPr dirty="0" sz="1900" spc="-2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2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OMS</a:t>
            </a:r>
            <a:r>
              <a:rPr dirty="0" sz="1900" spc="-2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by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20">
                <a:latin typeface="Century Gothic"/>
                <a:cs typeface="Century Gothic"/>
              </a:rPr>
              <a:t> </a:t>
            </a:r>
            <a:r>
              <a:rPr dirty="0" sz="1900" spc="-25">
                <a:latin typeface="Century Gothic"/>
                <a:cs typeface="Century Gothic"/>
              </a:rPr>
              <a:t>EMS</a:t>
            </a:r>
            <a:endParaRPr sz="1900">
              <a:latin typeface="Century Gothic"/>
              <a:cs typeface="Century Gothic"/>
            </a:endParaRPr>
          </a:p>
          <a:p>
            <a:pPr lvl="1" marL="697230" marR="27305" indent="-227329">
              <a:lnSpc>
                <a:spcPct val="81100"/>
              </a:lnSpc>
              <a:spcBef>
                <a:spcPts val="45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900">
                <a:latin typeface="Century Gothic"/>
                <a:cs typeface="Century Gothic"/>
              </a:rPr>
              <a:t>E.g.,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marketing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pitch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by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broker: </a:t>
            </a:r>
            <a:r>
              <a:rPr dirty="0" sz="1900" spc="-10">
                <a:latin typeface="Century Gothic"/>
                <a:cs typeface="Century Gothic"/>
              </a:rPr>
              <a:t>	</a:t>
            </a:r>
            <a:r>
              <a:rPr dirty="0" sz="1900">
                <a:latin typeface="Century Gothic"/>
                <a:cs typeface="Century Gothic"/>
              </a:rPr>
              <a:t>“Competitive”</a:t>
            </a:r>
            <a:r>
              <a:rPr dirty="0" sz="1900" spc="-6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latency</a:t>
            </a:r>
            <a:r>
              <a:rPr dirty="0" sz="1900" spc="-6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to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Asian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exchanges</a:t>
            </a:r>
            <a:r>
              <a:rPr dirty="0" sz="1900" spc="-60">
                <a:latin typeface="Century Gothic"/>
                <a:cs typeface="Century Gothic"/>
              </a:rPr>
              <a:t> </a:t>
            </a:r>
            <a:r>
              <a:rPr dirty="0" sz="1900" spc="-25">
                <a:latin typeface="Century Gothic"/>
                <a:cs typeface="Century Gothic"/>
              </a:rPr>
              <a:t>in </a:t>
            </a:r>
            <a:r>
              <a:rPr dirty="0" sz="1900" spc="-25">
                <a:latin typeface="Century Gothic"/>
                <a:cs typeface="Century Gothic"/>
              </a:rPr>
              <a:t>	</a:t>
            </a: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range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of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hundreds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of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microseconds</a:t>
            </a:r>
            <a:endParaRPr sz="19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0328" y="1825625"/>
            <a:ext cx="4038600" cy="22955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Trading</a:t>
            </a:r>
            <a:r>
              <a:rPr dirty="0" spc="-105"/>
              <a:t> </a:t>
            </a:r>
            <a:r>
              <a:rPr dirty="0"/>
              <a:t>System</a:t>
            </a:r>
            <a:r>
              <a:rPr dirty="0" spc="-105"/>
              <a:t> </a:t>
            </a:r>
            <a:r>
              <a:rPr dirty="0" spc="-1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9993630" cy="360489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Exchange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Co-location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Minimizes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delays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due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physical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distance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Reduces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number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systems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involved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processing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orders</a:t>
            </a:r>
            <a:endParaRPr sz="2000">
              <a:latin typeface="Century Gothic"/>
              <a:cs typeface="Century Gothic"/>
            </a:endParaRPr>
          </a:p>
          <a:p>
            <a:pPr lvl="1" marL="696595" marR="438784" indent="-226695">
              <a:lnSpc>
                <a:spcPts val="2180"/>
              </a:lnSpc>
              <a:spcBef>
                <a:spcPts val="47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Customer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install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systems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server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rack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exchange’s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co-location 	facility</a:t>
            </a:r>
            <a:endParaRPr sz="2000">
              <a:latin typeface="Century Gothic"/>
              <a:cs typeface="Century Gothic"/>
            </a:endParaRPr>
          </a:p>
          <a:p>
            <a:pPr lvl="1" marL="696595" marR="5080" indent="-226695">
              <a:lnSpc>
                <a:spcPts val="2180"/>
              </a:lnSpc>
              <a:spcBef>
                <a:spcPts val="44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Customer’s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system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receives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data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directly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from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exchange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data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feed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co-</a:t>
            </a:r>
            <a:r>
              <a:rPr dirty="0" sz="2000">
                <a:latin typeface="Century Gothic"/>
                <a:cs typeface="Century Gothic"/>
              </a:rPr>
              <a:t>location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center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Automated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algorithms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decide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when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trade</a:t>
            </a:r>
            <a:endParaRPr sz="2000">
              <a:latin typeface="Century Gothic"/>
              <a:cs typeface="Century Gothic"/>
            </a:endParaRPr>
          </a:p>
          <a:p>
            <a:pPr lvl="1" marL="696595" marR="645795" indent="-226695">
              <a:lnSpc>
                <a:spcPts val="2210"/>
              </a:lnSpc>
              <a:spcBef>
                <a:spcPts val="42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Orders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sent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exchange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access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gateway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also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co-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location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center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Trading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system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components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managed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remotely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customer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4683" y="231388"/>
            <a:ext cx="7977416" cy="656391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30429" y="2863596"/>
            <a:ext cx="297624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Exchanges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5147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From</a:t>
            </a:r>
            <a:r>
              <a:rPr dirty="0" sz="4000" spc="-45"/>
              <a:t> </a:t>
            </a:r>
            <a:r>
              <a:rPr dirty="0" sz="4000"/>
              <a:t>open</a:t>
            </a:r>
            <a:r>
              <a:rPr dirty="0" sz="4000" spc="-45"/>
              <a:t> </a:t>
            </a:r>
            <a:r>
              <a:rPr dirty="0" sz="4000"/>
              <a:t>outcry</a:t>
            </a:r>
            <a:r>
              <a:rPr dirty="0" sz="4000" spc="-35"/>
              <a:t> </a:t>
            </a:r>
            <a:r>
              <a:rPr dirty="0" sz="4000"/>
              <a:t>to</a:t>
            </a:r>
            <a:r>
              <a:rPr dirty="0" sz="4000" spc="-35"/>
              <a:t> </a:t>
            </a:r>
            <a:r>
              <a:rPr dirty="0" sz="4000"/>
              <a:t>electronic</a:t>
            </a:r>
            <a:r>
              <a:rPr dirty="0" sz="4000" spc="-45"/>
              <a:t> </a:t>
            </a:r>
            <a:r>
              <a:rPr dirty="0" sz="4000" spc="-10"/>
              <a:t>matching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58" y="1816185"/>
            <a:ext cx="4624252" cy="26049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6846" y="3422856"/>
            <a:ext cx="6068693" cy="27584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On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20"/>
              <a:t>off-</a:t>
            </a:r>
            <a:r>
              <a:rPr dirty="0" spc="-10"/>
              <a:t>exchange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10326370" cy="369316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On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exchange: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transactions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take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place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exchange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markets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such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as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Stock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exchange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(NYSE,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HKEx,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NASDAQ)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Future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exchange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(Chicago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Mercantile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Exchange)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Foreign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exchange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17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marR="1124585" indent="-227329">
              <a:lnSpc>
                <a:spcPts val="259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-10">
                <a:latin typeface="Century Gothic"/>
                <a:cs typeface="Century Gothic"/>
              </a:rPr>
              <a:t>Off-</a:t>
            </a:r>
            <a:r>
              <a:rPr dirty="0" sz="2400">
                <a:latin typeface="Century Gothic"/>
                <a:cs typeface="Century Gothic"/>
              </a:rPr>
              <a:t>exchange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over-</a:t>
            </a:r>
            <a:r>
              <a:rPr dirty="0" sz="2400" spc="-20">
                <a:latin typeface="Century Gothic"/>
                <a:cs typeface="Century Gothic"/>
              </a:rPr>
              <a:t>the-</a:t>
            </a:r>
            <a:r>
              <a:rPr dirty="0" sz="2400">
                <a:latin typeface="Century Gothic"/>
                <a:cs typeface="Century Gothic"/>
              </a:rPr>
              <a:t>counter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(OTC):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trading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carried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out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between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two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parties.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Mostly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professionals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institutional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traders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Counterparty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40%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stock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exchanges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occur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off-exchange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16939" y="1773596"/>
            <a:ext cx="6663055" cy="3713479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algn="r" marL="227965" marR="4603115" indent="-22796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27965" algn="l"/>
              </a:tabLst>
            </a:pPr>
            <a:r>
              <a:rPr dirty="0" sz="2800">
                <a:latin typeface="Century Gothic"/>
                <a:cs typeface="Century Gothic"/>
              </a:rPr>
              <a:t>New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order</a:t>
            </a:r>
            <a:endParaRPr sz="2800">
              <a:latin typeface="Century Gothic"/>
              <a:cs typeface="Century Gothic"/>
            </a:endParaRPr>
          </a:p>
          <a:p>
            <a:pPr algn="r" lvl="1" marL="227329" marR="4691380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227329" algn="l"/>
              </a:tabLst>
            </a:pPr>
            <a:r>
              <a:rPr dirty="0" sz="2400">
                <a:latin typeface="Century Gothic"/>
                <a:cs typeface="Century Gothic"/>
              </a:rPr>
              <a:t>Buy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/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sell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Order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type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(discussed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few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slides)</a:t>
            </a:r>
            <a:endParaRPr sz="24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0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Order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acknowledgement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9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Fill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and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partial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fill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execution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responses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Will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asynchronous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419" rIns="0" bIns="0" rtlCol="0" vert="horz">
            <a:spAutoFit/>
          </a:bodyPr>
          <a:lstStyle/>
          <a:p>
            <a:pPr marL="524510" marR="5080">
              <a:lnSpc>
                <a:spcPts val="4100"/>
              </a:lnSpc>
              <a:spcBef>
                <a:spcPts val="620"/>
              </a:spcBef>
            </a:pPr>
            <a:r>
              <a:rPr dirty="0" sz="3800"/>
              <a:t>Exchanges</a:t>
            </a:r>
            <a:r>
              <a:rPr dirty="0" sz="3800" spc="-105"/>
              <a:t> </a:t>
            </a:r>
            <a:r>
              <a:rPr dirty="0" sz="3800"/>
              <a:t>processes</a:t>
            </a:r>
            <a:r>
              <a:rPr dirty="0" sz="3800" spc="-100"/>
              <a:t> </a:t>
            </a:r>
            <a:r>
              <a:rPr dirty="0" sz="3800"/>
              <a:t>and</a:t>
            </a:r>
            <a:r>
              <a:rPr dirty="0" sz="3800" spc="-105"/>
              <a:t> </a:t>
            </a:r>
            <a:r>
              <a:rPr dirty="0" sz="3800"/>
              <a:t>data:</a:t>
            </a:r>
            <a:r>
              <a:rPr dirty="0" sz="3800" spc="-100"/>
              <a:t> </a:t>
            </a:r>
            <a:r>
              <a:rPr dirty="0" sz="3800" spc="-10"/>
              <a:t>order messages</a:t>
            </a:r>
            <a:endParaRPr sz="3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Exchange</a:t>
            </a:r>
            <a:r>
              <a:rPr dirty="0" spc="-155"/>
              <a:t> </a:t>
            </a:r>
            <a:r>
              <a:rPr dirty="0"/>
              <a:t>Processes</a:t>
            </a:r>
            <a:r>
              <a:rPr dirty="0" spc="-160"/>
              <a:t> </a:t>
            </a:r>
            <a:r>
              <a:rPr dirty="0"/>
              <a:t>and</a:t>
            </a:r>
            <a:r>
              <a:rPr dirty="0" spc="-160"/>
              <a:t> </a:t>
            </a:r>
            <a:r>
              <a:rPr dirty="0" spc="-2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3789" y="1706542"/>
            <a:ext cx="6458136" cy="45297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38711" y="5551932"/>
            <a:ext cx="40741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entury Gothic"/>
                <a:cs typeface="Century Gothic"/>
              </a:rPr>
              <a:t>Central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limit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book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example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8459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 sz="3800"/>
              <a:t>Exchange</a:t>
            </a:r>
            <a:r>
              <a:rPr dirty="0" sz="3800" spc="-90"/>
              <a:t> </a:t>
            </a:r>
            <a:r>
              <a:rPr dirty="0" sz="3800"/>
              <a:t>processes</a:t>
            </a:r>
            <a:r>
              <a:rPr dirty="0" sz="3800" spc="-90"/>
              <a:t> </a:t>
            </a:r>
            <a:r>
              <a:rPr dirty="0" sz="3800"/>
              <a:t>and</a:t>
            </a:r>
            <a:r>
              <a:rPr dirty="0" sz="3800" spc="-95"/>
              <a:t> </a:t>
            </a:r>
            <a:r>
              <a:rPr dirty="0" sz="3800"/>
              <a:t>data:</a:t>
            </a:r>
            <a:r>
              <a:rPr dirty="0" sz="3800" spc="-90"/>
              <a:t> </a:t>
            </a:r>
            <a:r>
              <a:rPr dirty="0" sz="3800"/>
              <a:t>order</a:t>
            </a:r>
            <a:r>
              <a:rPr dirty="0" sz="3800" spc="-95"/>
              <a:t> </a:t>
            </a:r>
            <a:r>
              <a:rPr dirty="0" sz="3800" spc="-10"/>
              <a:t>types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916939" y="1773596"/>
            <a:ext cx="8239125" cy="1894839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Market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order: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trade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at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market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price.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trading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price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not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fixed</a:t>
            </a:r>
            <a:endParaRPr sz="24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67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Limit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order: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trade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at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specific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price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(or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better)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419" rIns="0" bIns="0" rtlCol="0" vert="horz">
            <a:spAutoFit/>
          </a:bodyPr>
          <a:lstStyle/>
          <a:p>
            <a:pPr marL="524510" marR="5080">
              <a:lnSpc>
                <a:spcPts val="4100"/>
              </a:lnSpc>
              <a:spcBef>
                <a:spcPts val="620"/>
              </a:spcBef>
            </a:pPr>
            <a:r>
              <a:rPr dirty="0" sz="3800"/>
              <a:t>Exchanges</a:t>
            </a:r>
            <a:r>
              <a:rPr dirty="0" sz="3800" spc="-105"/>
              <a:t> </a:t>
            </a:r>
            <a:r>
              <a:rPr dirty="0" sz="3800"/>
              <a:t>processes</a:t>
            </a:r>
            <a:r>
              <a:rPr dirty="0" sz="3800" spc="-100"/>
              <a:t> </a:t>
            </a:r>
            <a:r>
              <a:rPr dirty="0" sz="3800"/>
              <a:t>and</a:t>
            </a:r>
            <a:r>
              <a:rPr dirty="0" sz="3800" spc="-105"/>
              <a:t> </a:t>
            </a:r>
            <a:r>
              <a:rPr dirty="0" sz="3800"/>
              <a:t>data:</a:t>
            </a:r>
            <a:r>
              <a:rPr dirty="0" sz="3800" spc="-100"/>
              <a:t> </a:t>
            </a:r>
            <a:r>
              <a:rPr dirty="0" sz="3800" spc="-25"/>
              <a:t>on </a:t>
            </a:r>
            <a:r>
              <a:rPr dirty="0" sz="3800"/>
              <a:t>exchange</a:t>
            </a:r>
            <a:r>
              <a:rPr dirty="0" sz="3800" spc="-95"/>
              <a:t> </a:t>
            </a:r>
            <a:r>
              <a:rPr dirty="0" sz="3800" spc="-10"/>
              <a:t>matching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916939" y="1742947"/>
            <a:ext cx="9714865" cy="40786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Matched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based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precedence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rules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defined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by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exchange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“Price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time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priority”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rules: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price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takes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precedence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over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time.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ts val="273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Other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factors: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ts val="2155"/>
              </a:lnSpc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size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ts val="2210"/>
              </a:lnSpc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Public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versus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floor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orders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ts val="2305"/>
              </a:lnSpc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Displayed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versus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hidden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orders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62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ts val="279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Matching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process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can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quite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complicated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ts val="2215"/>
              </a:lnSpc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Complex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rules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ts val="2305"/>
              </a:lnSpc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Complex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types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(e.g.,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iceberg)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0334" rIns="0" bIns="0" rtlCol="0" vert="horz">
            <a:spAutoFit/>
          </a:bodyPr>
          <a:lstStyle/>
          <a:p>
            <a:pPr marL="524510" marR="5080">
              <a:lnSpc>
                <a:spcPts val="4390"/>
              </a:lnSpc>
              <a:spcBef>
                <a:spcPts val="585"/>
              </a:spcBef>
            </a:pPr>
            <a:r>
              <a:rPr dirty="0" sz="4000"/>
              <a:t>Exchanges</a:t>
            </a:r>
            <a:r>
              <a:rPr dirty="0" sz="4000" spc="-60"/>
              <a:t> </a:t>
            </a:r>
            <a:r>
              <a:rPr dirty="0" sz="4000"/>
              <a:t>processes</a:t>
            </a:r>
            <a:r>
              <a:rPr dirty="0" sz="4000" spc="-60"/>
              <a:t> </a:t>
            </a:r>
            <a:r>
              <a:rPr dirty="0" sz="4000"/>
              <a:t>and</a:t>
            </a:r>
            <a:r>
              <a:rPr dirty="0" sz="4000" spc="-60"/>
              <a:t> </a:t>
            </a:r>
            <a:r>
              <a:rPr dirty="0" sz="4000"/>
              <a:t>data:</a:t>
            </a:r>
            <a:r>
              <a:rPr dirty="0" sz="4000" spc="-55"/>
              <a:t> </a:t>
            </a:r>
            <a:r>
              <a:rPr dirty="0" sz="4000" spc="-20"/>
              <a:t>off-</a:t>
            </a:r>
            <a:r>
              <a:rPr dirty="0" sz="4000"/>
              <a:t>exchange</a:t>
            </a:r>
            <a:r>
              <a:rPr dirty="0" sz="4000" spc="-110"/>
              <a:t> </a:t>
            </a:r>
            <a:r>
              <a:rPr dirty="0" sz="4000" spc="-10"/>
              <a:t>matching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9961245" cy="316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Brokered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matching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(off-</a:t>
            </a:r>
            <a:r>
              <a:rPr dirty="0" sz="2400">
                <a:latin typeface="Century Gothic"/>
                <a:cs typeface="Century Gothic"/>
              </a:rPr>
              <a:t>exchange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block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trades)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 spc="-20">
                <a:latin typeface="Century Gothic"/>
                <a:cs typeface="Century Gothic"/>
              </a:rPr>
              <a:t>Why?</a:t>
            </a:r>
            <a:endParaRPr sz="2400">
              <a:latin typeface="Century Gothic"/>
              <a:cs typeface="Century Gothic"/>
            </a:endParaRPr>
          </a:p>
          <a:p>
            <a:pPr lvl="1" marL="696595" marR="5080" indent="-226695">
              <a:lnSpc>
                <a:spcPts val="2210"/>
              </a:lnSpc>
              <a:spcBef>
                <a:spcPts val="56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makers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unwilling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provide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liquidity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large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volumes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a </a:t>
            </a:r>
            <a:r>
              <a:rPr dirty="0" sz="2000" spc="-5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fixed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price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Insufficient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liquidity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exchange(s)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central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limit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book(s)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5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Must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publicly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reported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through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standard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exchange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facilities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0334" rIns="0" bIns="0" rtlCol="0" vert="horz">
            <a:spAutoFit/>
          </a:bodyPr>
          <a:lstStyle/>
          <a:p>
            <a:pPr marL="524510" marR="5080">
              <a:lnSpc>
                <a:spcPts val="4390"/>
              </a:lnSpc>
              <a:spcBef>
                <a:spcPts val="585"/>
              </a:spcBef>
            </a:pPr>
            <a:r>
              <a:rPr dirty="0" sz="4000"/>
              <a:t>Exchanges</a:t>
            </a:r>
            <a:r>
              <a:rPr dirty="0" sz="4000" spc="-60"/>
              <a:t> </a:t>
            </a:r>
            <a:r>
              <a:rPr dirty="0" sz="4000"/>
              <a:t>processes</a:t>
            </a:r>
            <a:r>
              <a:rPr dirty="0" sz="4000" spc="-60"/>
              <a:t> </a:t>
            </a:r>
            <a:r>
              <a:rPr dirty="0" sz="4000"/>
              <a:t>and</a:t>
            </a:r>
            <a:r>
              <a:rPr dirty="0" sz="4000" spc="-60"/>
              <a:t> </a:t>
            </a:r>
            <a:r>
              <a:rPr dirty="0" sz="4000"/>
              <a:t>data:</a:t>
            </a:r>
            <a:r>
              <a:rPr dirty="0" sz="4000" spc="-50"/>
              <a:t> </a:t>
            </a:r>
            <a:r>
              <a:rPr dirty="0" sz="4000" spc="-10"/>
              <a:t>circuit breakers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773596"/>
            <a:ext cx="9481185" cy="375348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Circuit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breakers</a:t>
            </a:r>
            <a:endParaRPr sz="2800">
              <a:latin typeface="Century Gothic"/>
              <a:cs typeface="Century Gothic"/>
            </a:endParaRPr>
          </a:p>
          <a:p>
            <a:pPr lvl="1" marL="697230" marR="5080" indent="-227329">
              <a:lnSpc>
                <a:spcPts val="2620"/>
              </a:lnSpc>
              <a:spcBef>
                <a:spcPts val="53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entury Gothic"/>
                <a:cs typeface="Century Gothic"/>
              </a:rPr>
              <a:t>Temporarily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halt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trading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cases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excessive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movements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in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prices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Affects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entire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exchange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theory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should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help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dampen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price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volatility</a:t>
            </a:r>
            <a:endParaRPr sz="2400">
              <a:latin typeface="Century Gothic"/>
              <a:cs typeface="Century Gothic"/>
            </a:endParaRPr>
          </a:p>
          <a:p>
            <a:pPr lvl="2" marL="1153160" indent="-22669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1153160" algn="l"/>
              </a:tabLst>
            </a:pPr>
            <a:r>
              <a:rPr dirty="0" sz="2000">
                <a:latin typeface="Century Gothic"/>
                <a:cs typeface="Century Gothic"/>
              </a:rPr>
              <a:t>Provides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cooling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down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period</a:t>
            </a:r>
            <a:endParaRPr sz="200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spcBef>
                <a:spcPts val="22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Trading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curbs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Stock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specific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trading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shutdowns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0334" rIns="0" bIns="0" rtlCol="0" vert="horz">
            <a:spAutoFit/>
          </a:bodyPr>
          <a:lstStyle/>
          <a:p>
            <a:pPr marL="524510" marR="5080">
              <a:lnSpc>
                <a:spcPts val="4390"/>
              </a:lnSpc>
              <a:spcBef>
                <a:spcPts val="585"/>
              </a:spcBef>
            </a:pPr>
            <a:r>
              <a:rPr dirty="0" sz="4000"/>
              <a:t>Exchanges</a:t>
            </a:r>
            <a:r>
              <a:rPr dirty="0" sz="4000" spc="-60"/>
              <a:t> </a:t>
            </a:r>
            <a:r>
              <a:rPr dirty="0" sz="4000"/>
              <a:t>processes</a:t>
            </a:r>
            <a:r>
              <a:rPr dirty="0" sz="4000" spc="-60"/>
              <a:t> </a:t>
            </a:r>
            <a:r>
              <a:rPr dirty="0" sz="4000"/>
              <a:t>and</a:t>
            </a:r>
            <a:r>
              <a:rPr dirty="0" sz="4000" spc="-60"/>
              <a:t> </a:t>
            </a:r>
            <a:r>
              <a:rPr dirty="0" sz="4000"/>
              <a:t>data:</a:t>
            </a:r>
            <a:r>
              <a:rPr dirty="0" sz="4000" spc="-50"/>
              <a:t> </a:t>
            </a:r>
            <a:r>
              <a:rPr dirty="0" sz="4000" spc="-10"/>
              <a:t>circuit breakers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517139" y="1974596"/>
            <a:ext cx="683323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entury Gothic"/>
                <a:cs typeface="Century Gothic"/>
              </a:rPr>
              <a:t>Example: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NYSE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circuit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breaker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Rule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80B</a:t>
            </a:r>
            <a:endParaRPr sz="2400">
              <a:latin typeface="Century Gothic"/>
              <a:cs typeface="Century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62529" y="2504522"/>
          <a:ext cx="7400925" cy="3032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660"/>
                <a:gridCol w="1473200"/>
                <a:gridCol w="2486660"/>
                <a:gridCol w="2007870"/>
              </a:tblGrid>
              <a:tr h="6400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Type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28600">
                        <a:lnSpc>
                          <a:spcPts val="2090"/>
                        </a:lnSpc>
                        <a:spcBef>
                          <a:spcPts val="49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Amount</a:t>
                      </a:r>
                      <a:r>
                        <a:rPr dirty="0" sz="1800" spc="-7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of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Drop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2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Timing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Effect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Level</a:t>
                      </a:r>
                      <a:r>
                        <a:rPr dirty="0" sz="18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50">
                          <a:latin typeface="Century Gothic"/>
                          <a:cs typeface="Century Gothic"/>
                        </a:rPr>
                        <a:t>1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800" spc="-25">
                          <a:latin typeface="Century Gothic"/>
                          <a:cs typeface="Century Gothic"/>
                        </a:rPr>
                        <a:t>7%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9:30</a:t>
                      </a:r>
                      <a:r>
                        <a:rPr dirty="0" sz="1800" spc="-2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am–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3:25</a:t>
                      </a:r>
                      <a:r>
                        <a:rPr dirty="0" sz="1800" spc="-25">
                          <a:latin typeface="Century Gothic"/>
                          <a:cs typeface="Century Gothic"/>
                        </a:rPr>
                        <a:t> pm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15</a:t>
                      </a:r>
                      <a:r>
                        <a:rPr dirty="0" sz="18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minutes</a:t>
                      </a:r>
                      <a:r>
                        <a:rPr dirty="0" sz="1800" spc="-3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0">
                          <a:latin typeface="Century Gothic"/>
                          <a:cs typeface="Century Gothic"/>
                        </a:rPr>
                        <a:t>halt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after</a:t>
                      </a:r>
                      <a:r>
                        <a:rPr dirty="0" sz="18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3:25</a:t>
                      </a:r>
                      <a:r>
                        <a:rPr dirty="0" sz="180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5">
                          <a:latin typeface="Century Gothic"/>
                          <a:cs typeface="Century Gothic"/>
                        </a:rPr>
                        <a:t>pm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no</a:t>
                      </a:r>
                      <a:r>
                        <a:rPr dirty="0" sz="1800" spc="-1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0">
                          <a:latin typeface="Century Gothic"/>
                          <a:cs typeface="Century Gothic"/>
                        </a:rPr>
                        <a:t>halt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Level</a:t>
                      </a:r>
                      <a:r>
                        <a:rPr dirty="0" sz="18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50">
                          <a:latin typeface="Century Gothic"/>
                          <a:cs typeface="Century Gothic"/>
                        </a:rPr>
                        <a:t>2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 spc="-25">
                          <a:latin typeface="Century Gothic"/>
                          <a:cs typeface="Century Gothic"/>
                        </a:rPr>
                        <a:t>13%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9:30</a:t>
                      </a:r>
                      <a:r>
                        <a:rPr dirty="0" sz="1800" spc="-2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am–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3:25</a:t>
                      </a:r>
                      <a:r>
                        <a:rPr dirty="0" sz="1800" spc="-25">
                          <a:latin typeface="Century Gothic"/>
                          <a:cs typeface="Century Gothic"/>
                        </a:rPr>
                        <a:t> pm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15</a:t>
                      </a:r>
                      <a:r>
                        <a:rPr dirty="0" sz="18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minutes</a:t>
                      </a:r>
                      <a:r>
                        <a:rPr dirty="0" sz="1800" spc="-3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0">
                          <a:latin typeface="Century Gothic"/>
                          <a:cs typeface="Century Gothic"/>
                        </a:rPr>
                        <a:t>halt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after</a:t>
                      </a:r>
                      <a:r>
                        <a:rPr dirty="0" sz="18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3:25</a:t>
                      </a:r>
                      <a:r>
                        <a:rPr dirty="0" sz="180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5">
                          <a:latin typeface="Century Gothic"/>
                          <a:cs typeface="Century Gothic"/>
                        </a:rPr>
                        <a:t>pm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no</a:t>
                      </a:r>
                      <a:r>
                        <a:rPr dirty="0" sz="1800" spc="-1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0">
                          <a:latin typeface="Century Gothic"/>
                          <a:cs typeface="Century Gothic"/>
                        </a:rPr>
                        <a:t>halt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Level</a:t>
                      </a:r>
                      <a:r>
                        <a:rPr dirty="0" sz="18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50">
                          <a:latin typeface="Century Gothic"/>
                          <a:cs typeface="Century Gothic"/>
                        </a:rPr>
                        <a:t>3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800" spc="-25">
                          <a:latin typeface="Century Gothic"/>
                          <a:cs typeface="Century Gothic"/>
                        </a:rPr>
                        <a:t>20%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any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0">
                          <a:latin typeface="Century Gothic"/>
                          <a:cs typeface="Century Gothic"/>
                        </a:rPr>
                        <a:t>time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42570">
                        <a:lnSpc>
                          <a:spcPts val="2090"/>
                        </a:lnSpc>
                        <a:spcBef>
                          <a:spcPts val="490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close</a:t>
                      </a:r>
                      <a:r>
                        <a:rPr dirty="0" sz="1800" spc="-2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for</a:t>
                      </a:r>
                      <a:r>
                        <a:rPr dirty="0" sz="180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rest</a:t>
                      </a:r>
                      <a:r>
                        <a:rPr dirty="0" sz="1800" spc="-2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5">
                          <a:latin typeface="Century Gothic"/>
                          <a:cs typeface="Century Gothic"/>
                        </a:rPr>
                        <a:t>of day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2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0334" rIns="0" bIns="0" rtlCol="0" vert="horz">
            <a:spAutoFit/>
          </a:bodyPr>
          <a:lstStyle/>
          <a:p>
            <a:pPr marL="524510" marR="5080">
              <a:lnSpc>
                <a:spcPts val="4390"/>
              </a:lnSpc>
              <a:spcBef>
                <a:spcPts val="585"/>
              </a:spcBef>
            </a:pPr>
            <a:r>
              <a:rPr dirty="0" sz="4000"/>
              <a:t>Exchanges</a:t>
            </a:r>
            <a:r>
              <a:rPr dirty="0" sz="4000" spc="-60"/>
              <a:t> </a:t>
            </a:r>
            <a:r>
              <a:rPr dirty="0" sz="4000"/>
              <a:t>processes</a:t>
            </a:r>
            <a:r>
              <a:rPr dirty="0" sz="4000" spc="-55"/>
              <a:t> </a:t>
            </a:r>
            <a:r>
              <a:rPr dirty="0" sz="4000"/>
              <a:t>and</a:t>
            </a:r>
            <a:r>
              <a:rPr dirty="0" sz="4000" spc="-55"/>
              <a:t> </a:t>
            </a:r>
            <a:r>
              <a:rPr dirty="0" sz="4000" spc="-10"/>
              <a:t>data: surveillance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/>
              <a:t>Exchanges’</a:t>
            </a:r>
            <a:r>
              <a:rPr dirty="0" spc="-70"/>
              <a:t> </a:t>
            </a:r>
            <a:r>
              <a:rPr dirty="0"/>
              <a:t>responsibility</a:t>
            </a:r>
            <a:r>
              <a:rPr dirty="0" spc="-60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monitor</a:t>
            </a:r>
            <a:r>
              <a:rPr dirty="0" spc="-60"/>
              <a:t> </a:t>
            </a:r>
            <a:r>
              <a:rPr dirty="0"/>
              <a:t>market</a:t>
            </a:r>
            <a:r>
              <a:rPr dirty="0" spc="-60"/>
              <a:t> </a:t>
            </a:r>
            <a:r>
              <a:rPr dirty="0"/>
              <a:t>participants’</a:t>
            </a:r>
            <a:r>
              <a:rPr dirty="0" spc="-65"/>
              <a:t> </a:t>
            </a:r>
            <a:r>
              <a:rPr dirty="0" spc="-10"/>
              <a:t>activities</a:t>
            </a:r>
          </a:p>
          <a:p>
            <a:pPr>
              <a:lnSpc>
                <a:spcPct val="100000"/>
              </a:lnSpc>
              <a:spcBef>
                <a:spcPts val="1280"/>
              </a:spcBef>
              <a:buFont typeface="Arial"/>
              <a:buChar char="•"/>
            </a:p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/>
              <a:t>Maintain</a:t>
            </a:r>
            <a:r>
              <a:rPr dirty="0" spc="-45"/>
              <a:t> </a:t>
            </a:r>
            <a:r>
              <a:rPr dirty="0"/>
              <a:t>fair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orderly</a:t>
            </a:r>
            <a:r>
              <a:rPr dirty="0" spc="-45"/>
              <a:t> </a:t>
            </a:r>
            <a:r>
              <a:rPr dirty="0" spc="-10"/>
              <a:t>markets</a:t>
            </a:r>
          </a:p>
          <a:p>
            <a:pPr>
              <a:lnSpc>
                <a:spcPct val="100000"/>
              </a:lnSpc>
              <a:spcBef>
                <a:spcPts val="1375"/>
              </a:spcBef>
              <a:buFont typeface="Arial"/>
              <a:buChar char="•"/>
            </a:p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/>
              <a:t>Examples:</a:t>
            </a:r>
            <a:r>
              <a:rPr dirty="0" spc="-65"/>
              <a:t> </a:t>
            </a:r>
            <a:r>
              <a:rPr dirty="0"/>
              <a:t>monitor</a:t>
            </a:r>
            <a:r>
              <a:rPr dirty="0" spc="-50"/>
              <a:t> </a:t>
            </a:r>
            <a:r>
              <a:rPr dirty="0" spc="-25"/>
              <a:t>for</a:t>
            </a:r>
          </a:p>
          <a:p>
            <a:pPr lvl="1" marL="696595" indent="-226695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Brokers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ahead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customer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orders,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a.k.a.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“front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running”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Identifying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trades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based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insider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information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ahead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released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research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Feigning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activity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submitting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cancelling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them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Inflating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volumes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making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generate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little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profit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5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Exchange</a:t>
            </a:r>
            <a:r>
              <a:rPr dirty="0" spc="-204"/>
              <a:t> </a:t>
            </a:r>
            <a:r>
              <a:rPr dirty="0" spc="-1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3605" y="1944115"/>
            <a:ext cx="3955415" cy="10375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39395" marR="5080" indent="-227329">
              <a:lnSpc>
                <a:spcPct val="88300"/>
              </a:lnSpc>
              <a:spcBef>
                <a:spcPts val="434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Singapore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Exchange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(SGX)’s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revenue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breakup 	(FY2024)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7827" y="1063638"/>
            <a:ext cx="7078113" cy="52927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Exchange</a:t>
            </a:r>
            <a:r>
              <a:rPr dirty="0" spc="-150"/>
              <a:t> </a:t>
            </a:r>
            <a:r>
              <a:rPr dirty="0"/>
              <a:t>services:</a:t>
            </a:r>
            <a:r>
              <a:rPr dirty="0" spc="-155"/>
              <a:t> </a:t>
            </a:r>
            <a:r>
              <a:rPr dirty="0"/>
              <a:t>market</a:t>
            </a:r>
            <a:r>
              <a:rPr dirty="0" spc="-150"/>
              <a:t> </a:t>
            </a:r>
            <a:r>
              <a:rPr dirty="0" spc="-2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1782571"/>
            <a:ext cx="9462135" cy="3987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Trading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dependent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data</a:t>
            </a:r>
            <a:endParaRPr sz="24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Level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1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–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best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bid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/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best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offer</a:t>
            </a:r>
            <a:endParaRPr sz="20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Level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2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–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full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depth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-10">
                <a:latin typeface="Century Gothic"/>
                <a:cs typeface="Century Gothic"/>
              </a:rPr>
              <a:t>Real-</a:t>
            </a:r>
            <a:r>
              <a:rPr dirty="0" sz="2400">
                <a:latin typeface="Century Gothic"/>
                <a:cs typeface="Century Gothic"/>
              </a:rPr>
              <a:t>time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data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volumes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extremely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large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1445260" indent="-227329">
              <a:lnSpc>
                <a:spcPct val="792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data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directly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offered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by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exchange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venues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or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aggregators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such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Bloomberg,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Thomson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Reuters.</a:t>
            </a: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73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Trade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reporting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facilities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(TRF)</a:t>
            </a:r>
            <a:endParaRPr sz="2400">
              <a:latin typeface="Century Gothic"/>
              <a:cs typeface="Century Gothic"/>
            </a:endParaRPr>
          </a:p>
          <a:p>
            <a:pPr lvl="1" marL="695960" marR="5080" indent="-226695">
              <a:lnSpc>
                <a:spcPts val="1989"/>
              </a:lnSpc>
              <a:spcBef>
                <a:spcPts val="42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Century Gothic"/>
                <a:cs typeface="Century Gothic"/>
              </a:rPr>
              <a:t>Consolidate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execution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information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across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multiple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execution 	venues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137" y="116744"/>
            <a:ext cx="9229832" cy="65662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Exchange</a:t>
            </a:r>
            <a:r>
              <a:rPr dirty="0" spc="-150"/>
              <a:t> </a:t>
            </a:r>
            <a:r>
              <a:rPr dirty="0"/>
              <a:t>services:</a:t>
            </a:r>
            <a:r>
              <a:rPr dirty="0" spc="-155"/>
              <a:t> </a:t>
            </a:r>
            <a:r>
              <a:rPr dirty="0"/>
              <a:t>market</a:t>
            </a:r>
            <a:r>
              <a:rPr dirty="0" spc="-150"/>
              <a:t> </a:t>
            </a:r>
            <a:r>
              <a:rPr dirty="0" spc="-10"/>
              <a:t>access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5252085" cy="30226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Enable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brokers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to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Connect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exchange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Send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orders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Receive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status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information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5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Connectivity</a:t>
            </a:r>
            <a:r>
              <a:rPr dirty="0" sz="2400" spc="-1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interfaces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Information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eXchange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(FIX)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Proprietary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interfaces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52349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Market</a:t>
            </a:r>
            <a:r>
              <a:rPr dirty="0" spc="-90"/>
              <a:t> </a:t>
            </a:r>
            <a:r>
              <a:rPr dirty="0" spc="-10"/>
              <a:t>Participants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64219" y="1429407"/>
            <a:ext cx="7794625" cy="5073015"/>
            <a:chOff x="2264219" y="1429407"/>
            <a:chExt cx="7794625" cy="50730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6101" y="2054450"/>
              <a:ext cx="1085226" cy="19912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3988" y="2046957"/>
              <a:ext cx="1085226" cy="19936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5967" y="5118004"/>
              <a:ext cx="1085226" cy="6807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5967" y="5693056"/>
              <a:ext cx="1085226" cy="6807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68925" y="3961607"/>
              <a:ext cx="1045763" cy="64126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6369" y="5118004"/>
              <a:ext cx="1085226" cy="6807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6369" y="5693056"/>
              <a:ext cx="1085226" cy="6807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269299" y="1434486"/>
              <a:ext cx="7784465" cy="5062855"/>
            </a:xfrm>
            <a:custGeom>
              <a:avLst/>
              <a:gdLst/>
              <a:ahLst/>
              <a:cxnLst/>
              <a:rect l="l" t="t" r="r" b="b"/>
              <a:pathLst>
                <a:path w="7784465" h="5062855">
                  <a:moveTo>
                    <a:pt x="7784031" y="0"/>
                  </a:moveTo>
                  <a:lnTo>
                    <a:pt x="0" y="0"/>
                  </a:lnTo>
                  <a:lnTo>
                    <a:pt x="0" y="5062599"/>
                  </a:lnTo>
                  <a:lnTo>
                    <a:pt x="7784031" y="5062599"/>
                  </a:lnTo>
                  <a:lnTo>
                    <a:pt x="7784031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69299" y="1434487"/>
              <a:ext cx="7784465" cy="5062855"/>
            </a:xfrm>
            <a:custGeom>
              <a:avLst/>
              <a:gdLst/>
              <a:ahLst/>
              <a:cxnLst/>
              <a:rect l="l" t="t" r="r" b="b"/>
              <a:pathLst>
                <a:path w="7784465" h="5062855">
                  <a:moveTo>
                    <a:pt x="0" y="0"/>
                  </a:moveTo>
                  <a:lnTo>
                    <a:pt x="7784031" y="0"/>
                  </a:lnTo>
                  <a:lnTo>
                    <a:pt x="7784031" y="5062598"/>
                  </a:lnTo>
                  <a:lnTo>
                    <a:pt x="0" y="5062598"/>
                  </a:lnTo>
                  <a:lnTo>
                    <a:pt x="0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129666" y="6168685"/>
            <a:ext cx="734695" cy="1917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050" spc="-10" b="1">
                <a:latin typeface="Arial"/>
                <a:cs typeface="Arial"/>
              </a:rPr>
              <a:t>Regulators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514283" y="1543761"/>
            <a:ext cx="1397635" cy="2540635"/>
          </a:xfrm>
          <a:custGeom>
            <a:avLst/>
            <a:gdLst/>
            <a:ahLst/>
            <a:cxnLst/>
            <a:rect l="l" t="t" r="r" b="b"/>
            <a:pathLst>
              <a:path w="1397634" h="2540635">
                <a:moveTo>
                  <a:pt x="1397228" y="0"/>
                </a:moveTo>
                <a:lnTo>
                  <a:pt x="0" y="0"/>
                </a:lnTo>
                <a:lnTo>
                  <a:pt x="0" y="2540603"/>
                </a:lnTo>
                <a:lnTo>
                  <a:pt x="1397228" y="2540603"/>
                </a:lnTo>
                <a:lnTo>
                  <a:pt x="1397228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514282" y="1543760"/>
            <a:ext cx="1397635" cy="2540635"/>
          </a:xfrm>
          <a:prstGeom prst="rect">
            <a:avLst/>
          </a:prstGeom>
          <a:ln w="9865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marL="374650" marR="377190" indent="30480">
              <a:lnSpc>
                <a:spcPct val="104800"/>
              </a:lnSpc>
              <a:spcBef>
                <a:spcPts val="405"/>
              </a:spcBef>
            </a:pPr>
            <a:r>
              <a:rPr dirty="0" sz="1050" spc="-10" b="1">
                <a:latin typeface="Arial"/>
                <a:cs typeface="Arial"/>
              </a:rPr>
              <a:t>Liquidity Providers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38518" y="1551993"/>
            <a:ext cx="1397635" cy="1877060"/>
          </a:xfrm>
          <a:prstGeom prst="rect">
            <a:avLst/>
          </a:prstGeom>
          <a:solidFill>
            <a:srgbClr val="D6D6D6"/>
          </a:solidFill>
          <a:ln w="9865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marL="220979" marR="223520" indent="172720">
              <a:lnSpc>
                <a:spcPct val="104800"/>
              </a:lnSpc>
              <a:spcBef>
                <a:spcPts val="405"/>
              </a:spcBef>
            </a:pPr>
            <a:r>
              <a:rPr dirty="0" sz="1050" spc="-10" b="1">
                <a:latin typeface="Arial"/>
                <a:cs typeface="Arial"/>
              </a:rPr>
              <a:t>Financial Intermediaries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76405" y="1543010"/>
            <a:ext cx="1397635" cy="2540635"/>
          </a:xfrm>
          <a:custGeom>
            <a:avLst/>
            <a:gdLst/>
            <a:ahLst/>
            <a:cxnLst/>
            <a:rect l="l" t="t" r="r" b="b"/>
            <a:pathLst>
              <a:path w="1397634" h="2540635">
                <a:moveTo>
                  <a:pt x="1397228" y="0"/>
                </a:moveTo>
                <a:lnTo>
                  <a:pt x="0" y="0"/>
                </a:lnTo>
                <a:lnTo>
                  <a:pt x="0" y="2540603"/>
                </a:lnTo>
                <a:lnTo>
                  <a:pt x="1397228" y="2540603"/>
                </a:lnTo>
                <a:lnTo>
                  <a:pt x="1397228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476405" y="1543010"/>
            <a:ext cx="1397635" cy="2540635"/>
          </a:xfrm>
          <a:prstGeom prst="rect">
            <a:avLst/>
          </a:prstGeom>
          <a:ln w="9865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marL="451484" marR="365760" indent="-88265">
              <a:lnSpc>
                <a:spcPct val="104800"/>
              </a:lnSpc>
              <a:spcBef>
                <a:spcPts val="405"/>
              </a:spcBef>
            </a:pPr>
            <a:r>
              <a:rPr dirty="0" sz="1050" spc="-10" b="1">
                <a:latin typeface="Arial"/>
                <a:cs typeface="Arial"/>
              </a:rPr>
              <a:t>Execution Venues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44623" y="2123511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Times New Roman"/>
              <a:cs typeface="Times New Roman"/>
            </a:endParaRPr>
          </a:p>
          <a:p>
            <a:pPr marL="112395">
              <a:lnSpc>
                <a:spcPct val="100000"/>
              </a:lnSpc>
            </a:pPr>
            <a:r>
              <a:rPr dirty="0" sz="900" spc="-10" b="1">
                <a:latin typeface="Arial"/>
                <a:cs typeface="Arial"/>
              </a:rPr>
              <a:t>Exchanges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908736" y="5465552"/>
            <a:ext cx="337820" cy="629920"/>
          </a:xfrm>
          <a:custGeom>
            <a:avLst/>
            <a:gdLst/>
            <a:ahLst/>
            <a:cxnLst/>
            <a:rect l="l" t="t" r="r" b="b"/>
            <a:pathLst>
              <a:path w="337819" h="629920">
                <a:moveTo>
                  <a:pt x="186846" y="300993"/>
                </a:moveTo>
                <a:lnTo>
                  <a:pt x="150914" y="300993"/>
                </a:lnTo>
                <a:lnTo>
                  <a:pt x="150848" y="469428"/>
                </a:lnTo>
                <a:lnTo>
                  <a:pt x="45297" y="587003"/>
                </a:lnTo>
                <a:lnTo>
                  <a:pt x="41203" y="593869"/>
                </a:lnTo>
                <a:lnTo>
                  <a:pt x="39839" y="601680"/>
                </a:lnTo>
                <a:lnTo>
                  <a:pt x="41203" y="609491"/>
                </a:lnTo>
                <a:lnTo>
                  <a:pt x="45297" y="616358"/>
                </a:lnTo>
                <a:lnTo>
                  <a:pt x="51885" y="623697"/>
                </a:lnTo>
                <a:lnTo>
                  <a:pt x="58050" y="628257"/>
                </a:lnTo>
                <a:lnTo>
                  <a:pt x="65062" y="629777"/>
                </a:lnTo>
                <a:lnTo>
                  <a:pt x="72075" y="628257"/>
                </a:lnTo>
                <a:lnTo>
                  <a:pt x="78239" y="623697"/>
                </a:lnTo>
                <a:lnTo>
                  <a:pt x="168879" y="522730"/>
                </a:lnTo>
                <a:lnTo>
                  <a:pt x="234763" y="522730"/>
                </a:lnTo>
                <a:lnTo>
                  <a:pt x="186913" y="469428"/>
                </a:lnTo>
                <a:lnTo>
                  <a:pt x="186846" y="300993"/>
                </a:lnTo>
                <a:close/>
              </a:path>
              <a:path w="337819" h="629920">
                <a:moveTo>
                  <a:pt x="234763" y="522730"/>
                </a:moveTo>
                <a:lnTo>
                  <a:pt x="168879" y="522730"/>
                </a:lnTo>
                <a:lnTo>
                  <a:pt x="259520" y="623697"/>
                </a:lnTo>
                <a:lnTo>
                  <a:pt x="265683" y="628257"/>
                </a:lnTo>
                <a:lnTo>
                  <a:pt x="272696" y="629777"/>
                </a:lnTo>
                <a:lnTo>
                  <a:pt x="279708" y="628257"/>
                </a:lnTo>
                <a:lnTo>
                  <a:pt x="285873" y="623697"/>
                </a:lnTo>
                <a:lnTo>
                  <a:pt x="292461" y="616358"/>
                </a:lnTo>
                <a:lnTo>
                  <a:pt x="296555" y="609491"/>
                </a:lnTo>
                <a:lnTo>
                  <a:pt x="297919" y="601680"/>
                </a:lnTo>
                <a:lnTo>
                  <a:pt x="296555" y="593869"/>
                </a:lnTo>
                <a:lnTo>
                  <a:pt x="292463" y="587003"/>
                </a:lnTo>
                <a:lnTo>
                  <a:pt x="234763" y="522730"/>
                </a:lnTo>
                <a:close/>
              </a:path>
              <a:path w="337819" h="629920">
                <a:moveTo>
                  <a:pt x="331323" y="249097"/>
                </a:moveTo>
                <a:lnTo>
                  <a:pt x="6435" y="249097"/>
                </a:lnTo>
                <a:lnTo>
                  <a:pt x="0" y="258391"/>
                </a:lnTo>
                <a:lnTo>
                  <a:pt x="0" y="291699"/>
                </a:lnTo>
                <a:lnTo>
                  <a:pt x="6435" y="300993"/>
                </a:lnTo>
                <a:lnTo>
                  <a:pt x="331323" y="300993"/>
                </a:lnTo>
                <a:lnTo>
                  <a:pt x="337759" y="291699"/>
                </a:lnTo>
                <a:lnTo>
                  <a:pt x="337759" y="258391"/>
                </a:lnTo>
                <a:lnTo>
                  <a:pt x="331323" y="249097"/>
                </a:lnTo>
                <a:close/>
              </a:path>
              <a:path w="337819" h="629920">
                <a:moveTo>
                  <a:pt x="168880" y="0"/>
                </a:moveTo>
                <a:lnTo>
                  <a:pt x="133818" y="7599"/>
                </a:lnTo>
                <a:lnTo>
                  <a:pt x="102995" y="30399"/>
                </a:lnTo>
                <a:lnTo>
                  <a:pt x="82527" y="64734"/>
                </a:lnTo>
                <a:lnTo>
                  <a:pt x="75704" y="103790"/>
                </a:lnTo>
                <a:lnTo>
                  <a:pt x="82527" y="142847"/>
                </a:lnTo>
                <a:lnTo>
                  <a:pt x="102995" y="177181"/>
                </a:lnTo>
                <a:lnTo>
                  <a:pt x="137932" y="201714"/>
                </a:lnTo>
                <a:lnTo>
                  <a:pt x="150914" y="205644"/>
                </a:lnTo>
                <a:lnTo>
                  <a:pt x="150914" y="249097"/>
                </a:lnTo>
                <a:lnTo>
                  <a:pt x="186846" y="249097"/>
                </a:lnTo>
                <a:lnTo>
                  <a:pt x="186846" y="205644"/>
                </a:lnTo>
                <a:lnTo>
                  <a:pt x="199827" y="201714"/>
                </a:lnTo>
                <a:lnTo>
                  <a:pt x="234764" y="177181"/>
                </a:lnTo>
                <a:lnTo>
                  <a:pt x="255232" y="142847"/>
                </a:lnTo>
                <a:lnTo>
                  <a:pt x="262054" y="103790"/>
                </a:lnTo>
                <a:lnTo>
                  <a:pt x="255232" y="64734"/>
                </a:lnTo>
                <a:lnTo>
                  <a:pt x="234764" y="30399"/>
                </a:lnTo>
                <a:lnTo>
                  <a:pt x="203941" y="7599"/>
                </a:lnTo>
                <a:lnTo>
                  <a:pt x="168880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768407" y="6089991"/>
            <a:ext cx="631190" cy="306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R="5080" indent="147955">
              <a:lnSpc>
                <a:spcPct val="100000"/>
              </a:lnSpc>
              <a:spcBef>
                <a:spcPts val="130"/>
              </a:spcBef>
            </a:pPr>
            <a:r>
              <a:rPr dirty="0" sz="900" spc="-10" b="1">
                <a:latin typeface="Arial"/>
                <a:cs typeface="Arial"/>
              </a:rPr>
              <a:t>Retail Customers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70221" y="1538680"/>
            <a:ext cx="2030095" cy="3256279"/>
            <a:chOff x="2370221" y="1538680"/>
            <a:chExt cx="2030095" cy="3256279"/>
          </a:xfrm>
        </p:grpSpPr>
        <p:sp>
          <p:nvSpPr>
            <p:cNvPr id="23" name="object 23"/>
            <p:cNvSpPr/>
            <p:nvPr/>
          </p:nvSpPr>
          <p:spPr>
            <a:xfrm>
              <a:off x="3784171" y="2791749"/>
              <a:ext cx="610870" cy="142240"/>
            </a:xfrm>
            <a:custGeom>
              <a:avLst/>
              <a:gdLst/>
              <a:ahLst/>
              <a:cxnLst/>
              <a:rect l="l" t="t" r="r" b="b"/>
              <a:pathLst>
                <a:path w="610870" h="142239">
                  <a:moveTo>
                    <a:pt x="195991" y="5618"/>
                  </a:moveTo>
                  <a:lnTo>
                    <a:pt x="0" y="78865"/>
                  </a:lnTo>
                  <a:lnTo>
                    <a:pt x="199550" y="141777"/>
                  </a:lnTo>
                  <a:lnTo>
                    <a:pt x="198672" y="108230"/>
                  </a:lnTo>
                  <a:lnTo>
                    <a:pt x="413696" y="102612"/>
                  </a:lnTo>
                  <a:lnTo>
                    <a:pt x="504334" y="102612"/>
                  </a:lnTo>
                  <a:lnTo>
                    <a:pt x="610563" y="62910"/>
                  </a:lnTo>
                  <a:lnTo>
                    <a:pt x="535241" y="39164"/>
                  </a:lnTo>
                  <a:lnTo>
                    <a:pt x="196867" y="39164"/>
                  </a:lnTo>
                  <a:lnTo>
                    <a:pt x="195991" y="5618"/>
                  </a:lnTo>
                  <a:close/>
                </a:path>
                <a:path w="610870" h="142239">
                  <a:moveTo>
                    <a:pt x="504334" y="102612"/>
                  </a:moveTo>
                  <a:lnTo>
                    <a:pt x="413696" y="102612"/>
                  </a:lnTo>
                  <a:lnTo>
                    <a:pt x="414572" y="136159"/>
                  </a:lnTo>
                  <a:lnTo>
                    <a:pt x="504334" y="102612"/>
                  </a:lnTo>
                  <a:close/>
                </a:path>
                <a:path w="610870" h="142239">
                  <a:moveTo>
                    <a:pt x="411013" y="0"/>
                  </a:moveTo>
                  <a:lnTo>
                    <a:pt x="411891" y="33545"/>
                  </a:lnTo>
                  <a:lnTo>
                    <a:pt x="196867" y="39164"/>
                  </a:lnTo>
                  <a:lnTo>
                    <a:pt x="535241" y="39164"/>
                  </a:lnTo>
                  <a:lnTo>
                    <a:pt x="411013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784172" y="2791749"/>
              <a:ext cx="610870" cy="142240"/>
            </a:xfrm>
            <a:custGeom>
              <a:avLst/>
              <a:gdLst/>
              <a:ahLst/>
              <a:cxnLst/>
              <a:rect l="l" t="t" r="r" b="b"/>
              <a:pathLst>
                <a:path w="610870" h="142239">
                  <a:moveTo>
                    <a:pt x="0" y="78866"/>
                  </a:moveTo>
                  <a:lnTo>
                    <a:pt x="195990" y="5618"/>
                  </a:lnTo>
                  <a:lnTo>
                    <a:pt x="196867" y="39164"/>
                  </a:lnTo>
                  <a:lnTo>
                    <a:pt x="411890" y="33546"/>
                  </a:lnTo>
                  <a:lnTo>
                    <a:pt x="411013" y="0"/>
                  </a:lnTo>
                  <a:lnTo>
                    <a:pt x="610563" y="62910"/>
                  </a:lnTo>
                  <a:lnTo>
                    <a:pt x="414572" y="136159"/>
                  </a:lnTo>
                  <a:lnTo>
                    <a:pt x="413695" y="102613"/>
                  </a:lnTo>
                  <a:lnTo>
                    <a:pt x="198672" y="108231"/>
                  </a:lnTo>
                  <a:lnTo>
                    <a:pt x="199549" y="141777"/>
                  </a:lnTo>
                  <a:lnTo>
                    <a:pt x="0" y="78866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375302" y="1543761"/>
              <a:ext cx="1397635" cy="3246120"/>
            </a:xfrm>
            <a:custGeom>
              <a:avLst/>
              <a:gdLst/>
              <a:ahLst/>
              <a:cxnLst/>
              <a:rect l="l" t="t" r="r" b="b"/>
              <a:pathLst>
                <a:path w="1397635" h="3246120">
                  <a:moveTo>
                    <a:pt x="1397228" y="0"/>
                  </a:moveTo>
                  <a:lnTo>
                    <a:pt x="0" y="0"/>
                  </a:lnTo>
                  <a:lnTo>
                    <a:pt x="0" y="3245812"/>
                  </a:lnTo>
                  <a:lnTo>
                    <a:pt x="1397228" y="3245812"/>
                  </a:lnTo>
                  <a:lnTo>
                    <a:pt x="1397228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75301" y="1543760"/>
              <a:ext cx="1397635" cy="3246120"/>
            </a:xfrm>
            <a:custGeom>
              <a:avLst/>
              <a:gdLst/>
              <a:ahLst/>
              <a:cxnLst/>
              <a:rect l="l" t="t" r="r" b="b"/>
              <a:pathLst>
                <a:path w="1397635" h="3246120">
                  <a:moveTo>
                    <a:pt x="0" y="0"/>
                  </a:moveTo>
                  <a:lnTo>
                    <a:pt x="1397228" y="0"/>
                  </a:lnTo>
                  <a:lnTo>
                    <a:pt x="1397228" y="3245812"/>
                  </a:lnTo>
                  <a:lnTo>
                    <a:pt x="0" y="3245812"/>
                  </a:lnTo>
                  <a:lnTo>
                    <a:pt x="0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744623" y="2783712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Times New Roman"/>
              <a:cs typeface="Times New Roman"/>
            </a:endParaRPr>
          </a:p>
          <a:p>
            <a:pPr marL="267335">
              <a:lnSpc>
                <a:spcPct val="100000"/>
              </a:lnSpc>
            </a:pPr>
            <a:r>
              <a:rPr dirty="0" sz="900" spc="-20" b="1">
                <a:latin typeface="Arial"/>
                <a:cs typeface="Arial"/>
              </a:rPr>
              <a:t>ECNs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44623" y="3434049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</a:pPr>
            <a:r>
              <a:rPr dirty="0" sz="900" b="1">
                <a:latin typeface="Arial"/>
                <a:cs typeface="Arial"/>
              </a:rPr>
              <a:t>Dark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Pools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77690" y="1585322"/>
            <a:ext cx="795655" cy="3594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0480" marR="5080" indent="-31115">
              <a:lnSpc>
                <a:spcPct val="104800"/>
              </a:lnSpc>
              <a:spcBef>
                <a:spcPts val="75"/>
              </a:spcBef>
            </a:pPr>
            <a:r>
              <a:rPr dirty="0" sz="1050" spc="-10" b="1">
                <a:latin typeface="Arial"/>
                <a:cs typeface="Arial"/>
              </a:rPr>
              <a:t>Institutional Customers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82511" y="2116017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220979" marR="223520" indent="12700">
              <a:lnSpc>
                <a:spcPct val="100000"/>
              </a:lnSpc>
              <a:spcBef>
                <a:spcPts val="650"/>
              </a:spcBef>
            </a:pPr>
            <a:r>
              <a:rPr dirty="0" sz="900" spc="-10" b="1">
                <a:latin typeface="Arial"/>
                <a:cs typeface="Arial"/>
              </a:rPr>
              <a:t>Market Makers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82511" y="2768726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</a:pPr>
            <a:r>
              <a:rPr dirty="0" sz="900" b="1">
                <a:latin typeface="Arial"/>
                <a:cs typeface="Arial"/>
              </a:rPr>
              <a:t>Hedge</a:t>
            </a:r>
            <a:r>
              <a:rPr dirty="0" sz="900" spc="8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Funds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82511" y="3428978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112395" marR="62230" indent="-52705">
              <a:lnSpc>
                <a:spcPct val="100000"/>
              </a:lnSpc>
              <a:spcBef>
                <a:spcPts val="650"/>
              </a:spcBef>
            </a:pPr>
            <a:r>
              <a:rPr dirty="0" sz="900" b="1">
                <a:latin typeface="Arial"/>
                <a:cs typeface="Arial"/>
              </a:rPr>
              <a:t>Prop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Trading Operations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43525" y="2140201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247650" marR="196850" indent="-52705">
              <a:lnSpc>
                <a:spcPct val="100000"/>
              </a:lnSpc>
              <a:spcBef>
                <a:spcPts val="650"/>
              </a:spcBef>
            </a:pPr>
            <a:r>
              <a:rPr dirty="0" sz="900" spc="-10" b="1">
                <a:latin typeface="Arial"/>
                <a:cs typeface="Arial"/>
              </a:rPr>
              <a:t>Pension Funds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43525" y="2800859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106045" marR="108585" indent="39370">
              <a:lnSpc>
                <a:spcPct val="100000"/>
              </a:lnSpc>
              <a:spcBef>
                <a:spcPts val="650"/>
              </a:spcBef>
            </a:pPr>
            <a:r>
              <a:rPr dirty="0" sz="900" spc="-10" b="1">
                <a:latin typeface="Arial"/>
                <a:cs typeface="Arial"/>
              </a:rPr>
              <a:t>Insurance Companies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638445" y="3446569"/>
            <a:ext cx="871219" cy="474345"/>
            <a:chOff x="2638445" y="3446569"/>
            <a:chExt cx="871219" cy="474345"/>
          </a:xfrm>
        </p:grpSpPr>
        <p:sp>
          <p:nvSpPr>
            <p:cNvPr id="36" name="object 36"/>
            <p:cNvSpPr/>
            <p:nvPr/>
          </p:nvSpPr>
          <p:spPr>
            <a:xfrm>
              <a:off x="2643525" y="3451649"/>
              <a:ext cx="861060" cy="464184"/>
            </a:xfrm>
            <a:custGeom>
              <a:avLst/>
              <a:gdLst/>
              <a:ahLst/>
              <a:cxnLst/>
              <a:rect l="l" t="t" r="r" b="b"/>
              <a:pathLst>
                <a:path w="861060" h="464185">
                  <a:moveTo>
                    <a:pt x="860781" y="0"/>
                  </a:moveTo>
                  <a:lnTo>
                    <a:pt x="0" y="0"/>
                  </a:lnTo>
                  <a:lnTo>
                    <a:pt x="0" y="463689"/>
                  </a:lnTo>
                  <a:lnTo>
                    <a:pt x="860781" y="463689"/>
                  </a:lnTo>
                  <a:lnTo>
                    <a:pt x="8607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643525" y="3451649"/>
              <a:ext cx="861060" cy="464184"/>
            </a:xfrm>
            <a:custGeom>
              <a:avLst/>
              <a:gdLst/>
              <a:ahLst/>
              <a:cxnLst/>
              <a:rect l="l" t="t" r="r" b="b"/>
              <a:pathLst>
                <a:path w="861060" h="464185">
                  <a:moveTo>
                    <a:pt x="0" y="0"/>
                  </a:moveTo>
                  <a:lnTo>
                    <a:pt x="860781" y="0"/>
                  </a:lnTo>
                  <a:lnTo>
                    <a:pt x="860781" y="463689"/>
                  </a:lnTo>
                  <a:lnTo>
                    <a:pt x="0" y="463689"/>
                  </a:lnTo>
                  <a:lnTo>
                    <a:pt x="0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2888077" y="3517875"/>
            <a:ext cx="374650" cy="306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175" marR="5715" indent="-3810">
              <a:lnSpc>
                <a:spcPct val="100000"/>
              </a:lnSpc>
              <a:spcBef>
                <a:spcPts val="130"/>
              </a:spcBef>
            </a:pPr>
            <a:r>
              <a:rPr dirty="0" sz="900" spc="-10" b="1">
                <a:latin typeface="Arial"/>
                <a:cs typeface="Arial"/>
              </a:rPr>
              <a:t>Hedge Funds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638445" y="4098395"/>
            <a:ext cx="871219" cy="474345"/>
            <a:chOff x="2638445" y="4098395"/>
            <a:chExt cx="871219" cy="474345"/>
          </a:xfrm>
        </p:grpSpPr>
        <p:sp>
          <p:nvSpPr>
            <p:cNvPr id="40" name="object 40"/>
            <p:cNvSpPr/>
            <p:nvPr/>
          </p:nvSpPr>
          <p:spPr>
            <a:xfrm>
              <a:off x="2643525" y="4103475"/>
              <a:ext cx="861060" cy="464184"/>
            </a:xfrm>
            <a:custGeom>
              <a:avLst/>
              <a:gdLst/>
              <a:ahLst/>
              <a:cxnLst/>
              <a:rect l="l" t="t" r="r" b="b"/>
              <a:pathLst>
                <a:path w="861060" h="464185">
                  <a:moveTo>
                    <a:pt x="860781" y="0"/>
                  </a:moveTo>
                  <a:lnTo>
                    <a:pt x="0" y="0"/>
                  </a:lnTo>
                  <a:lnTo>
                    <a:pt x="0" y="463689"/>
                  </a:lnTo>
                  <a:lnTo>
                    <a:pt x="860781" y="463689"/>
                  </a:lnTo>
                  <a:lnTo>
                    <a:pt x="8607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643525" y="4103475"/>
              <a:ext cx="861060" cy="464184"/>
            </a:xfrm>
            <a:custGeom>
              <a:avLst/>
              <a:gdLst/>
              <a:ahLst/>
              <a:cxnLst/>
              <a:rect l="l" t="t" r="r" b="b"/>
              <a:pathLst>
                <a:path w="861060" h="464185">
                  <a:moveTo>
                    <a:pt x="0" y="0"/>
                  </a:moveTo>
                  <a:lnTo>
                    <a:pt x="860781" y="0"/>
                  </a:lnTo>
                  <a:lnTo>
                    <a:pt x="860781" y="463689"/>
                  </a:lnTo>
                  <a:lnTo>
                    <a:pt x="0" y="463689"/>
                  </a:lnTo>
                  <a:lnTo>
                    <a:pt x="0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2684279" y="4169702"/>
            <a:ext cx="782320" cy="306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875" marR="5080" indent="-16510">
              <a:lnSpc>
                <a:spcPct val="100000"/>
              </a:lnSpc>
              <a:spcBef>
                <a:spcPts val="130"/>
              </a:spcBef>
            </a:pPr>
            <a:r>
              <a:rPr dirty="0" sz="900" b="1">
                <a:latin typeface="Arial"/>
                <a:cs typeface="Arial"/>
              </a:rPr>
              <a:t>Mutual</a:t>
            </a:r>
            <a:r>
              <a:rPr dirty="0" sz="900" spc="9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Funds </a:t>
            </a:r>
            <a:r>
              <a:rPr dirty="0" sz="900" b="1">
                <a:latin typeface="Arial"/>
                <a:cs typeface="Arial"/>
              </a:rPr>
              <a:t>&amp;</a:t>
            </a:r>
            <a:r>
              <a:rPr dirty="0" sz="900" spc="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Unit</a:t>
            </a:r>
            <a:r>
              <a:rPr dirty="0" sz="900" spc="4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Trusts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08591" y="2136454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201295" marR="190500" indent="-13335">
              <a:lnSpc>
                <a:spcPct val="100000"/>
              </a:lnSpc>
              <a:spcBef>
                <a:spcPts val="650"/>
              </a:spcBef>
            </a:pPr>
            <a:r>
              <a:rPr dirty="0" sz="900" spc="-10" b="1">
                <a:latin typeface="Arial"/>
                <a:cs typeface="Arial"/>
              </a:rPr>
              <a:t>Clearing Brokers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08591" y="2797455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201295" marR="65405" indent="-138430">
              <a:lnSpc>
                <a:spcPct val="100000"/>
              </a:lnSpc>
              <a:spcBef>
                <a:spcPts val="650"/>
              </a:spcBef>
            </a:pPr>
            <a:r>
              <a:rPr dirty="0" sz="900" b="1">
                <a:latin typeface="Arial"/>
                <a:cs typeface="Arial"/>
              </a:rPr>
              <a:t>Non-</a:t>
            </a:r>
            <a:r>
              <a:rPr dirty="0" sz="900" spc="-10" b="1">
                <a:latin typeface="Arial"/>
                <a:cs typeface="Arial"/>
              </a:rPr>
              <a:t>clearing Brokers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465784" y="2786669"/>
            <a:ext cx="3032760" cy="3631565"/>
            <a:chOff x="5465784" y="2786669"/>
            <a:chExt cx="3032760" cy="3631565"/>
          </a:xfrm>
        </p:grpSpPr>
        <p:sp>
          <p:nvSpPr>
            <p:cNvPr id="46" name="object 46"/>
            <p:cNvSpPr/>
            <p:nvPr/>
          </p:nvSpPr>
          <p:spPr>
            <a:xfrm>
              <a:off x="5856639" y="2791749"/>
              <a:ext cx="610870" cy="142240"/>
            </a:xfrm>
            <a:custGeom>
              <a:avLst/>
              <a:gdLst/>
              <a:ahLst/>
              <a:cxnLst/>
              <a:rect l="l" t="t" r="r" b="b"/>
              <a:pathLst>
                <a:path w="610870" h="142239">
                  <a:moveTo>
                    <a:pt x="195990" y="5618"/>
                  </a:moveTo>
                  <a:lnTo>
                    <a:pt x="0" y="78865"/>
                  </a:lnTo>
                  <a:lnTo>
                    <a:pt x="199548" y="141777"/>
                  </a:lnTo>
                  <a:lnTo>
                    <a:pt x="198672" y="108230"/>
                  </a:lnTo>
                  <a:lnTo>
                    <a:pt x="413694" y="102612"/>
                  </a:lnTo>
                  <a:lnTo>
                    <a:pt x="504333" y="102612"/>
                  </a:lnTo>
                  <a:lnTo>
                    <a:pt x="610562" y="62910"/>
                  </a:lnTo>
                  <a:lnTo>
                    <a:pt x="535239" y="39164"/>
                  </a:lnTo>
                  <a:lnTo>
                    <a:pt x="196867" y="39164"/>
                  </a:lnTo>
                  <a:lnTo>
                    <a:pt x="195990" y="5618"/>
                  </a:lnTo>
                  <a:close/>
                </a:path>
                <a:path w="610870" h="142239">
                  <a:moveTo>
                    <a:pt x="504333" y="102612"/>
                  </a:moveTo>
                  <a:lnTo>
                    <a:pt x="413694" y="102612"/>
                  </a:lnTo>
                  <a:lnTo>
                    <a:pt x="414571" y="136159"/>
                  </a:lnTo>
                  <a:lnTo>
                    <a:pt x="504333" y="102612"/>
                  </a:lnTo>
                  <a:close/>
                </a:path>
                <a:path w="610870" h="142239">
                  <a:moveTo>
                    <a:pt x="411012" y="0"/>
                  </a:moveTo>
                  <a:lnTo>
                    <a:pt x="411888" y="33545"/>
                  </a:lnTo>
                  <a:lnTo>
                    <a:pt x="196867" y="39164"/>
                  </a:lnTo>
                  <a:lnTo>
                    <a:pt x="535239" y="39164"/>
                  </a:lnTo>
                  <a:lnTo>
                    <a:pt x="411012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856638" y="2791749"/>
              <a:ext cx="610870" cy="142240"/>
            </a:xfrm>
            <a:custGeom>
              <a:avLst/>
              <a:gdLst/>
              <a:ahLst/>
              <a:cxnLst/>
              <a:rect l="l" t="t" r="r" b="b"/>
              <a:pathLst>
                <a:path w="610870" h="142239">
                  <a:moveTo>
                    <a:pt x="0" y="78866"/>
                  </a:moveTo>
                  <a:lnTo>
                    <a:pt x="195990" y="5618"/>
                  </a:lnTo>
                  <a:lnTo>
                    <a:pt x="196867" y="39164"/>
                  </a:lnTo>
                  <a:lnTo>
                    <a:pt x="411889" y="33546"/>
                  </a:lnTo>
                  <a:lnTo>
                    <a:pt x="411013" y="0"/>
                  </a:lnTo>
                  <a:lnTo>
                    <a:pt x="610563" y="62910"/>
                  </a:lnTo>
                  <a:lnTo>
                    <a:pt x="414572" y="136159"/>
                  </a:lnTo>
                  <a:lnTo>
                    <a:pt x="413695" y="102613"/>
                  </a:lnTo>
                  <a:lnTo>
                    <a:pt x="198672" y="108231"/>
                  </a:lnTo>
                  <a:lnTo>
                    <a:pt x="199549" y="141777"/>
                  </a:lnTo>
                  <a:lnTo>
                    <a:pt x="0" y="78866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882825" y="2791749"/>
              <a:ext cx="610870" cy="142240"/>
            </a:xfrm>
            <a:custGeom>
              <a:avLst/>
              <a:gdLst/>
              <a:ahLst/>
              <a:cxnLst/>
              <a:rect l="l" t="t" r="r" b="b"/>
              <a:pathLst>
                <a:path w="610870" h="142239">
                  <a:moveTo>
                    <a:pt x="195990" y="5618"/>
                  </a:moveTo>
                  <a:lnTo>
                    <a:pt x="0" y="78865"/>
                  </a:lnTo>
                  <a:lnTo>
                    <a:pt x="199548" y="141777"/>
                  </a:lnTo>
                  <a:lnTo>
                    <a:pt x="198673" y="108230"/>
                  </a:lnTo>
                  <a:lnTo>
                    <a:pt x="413694" y="102612"/>
                  </a:lnTo>
                  <a:lnTo>
                    <a:pt x="504333" y="102612"/>
                  </a:lnTo>
                  <a:lnTo>
                    <a:pt x="610562" y="62910"/>
                  </a:lnTo>
                  <a:lnTo>
                    <a:pt x="535240" y="39164"/>
                  </a:lnTo>
                  <a:lnTo>
                    <a:pt x="196867" y="39164"/>
                  </a:lnTo>
                  <a:lnTo>
                    <a:pt x="195990" y="5618"/>
                  </a:lnTo>
                  <a:close/>
                </a:path>
                <a:path w="610870" h="142239">
                  <a:moveTo>
                    <a:pt x="504333" y="102612"/>
                  </a:moveTo>
                  <a:lnTo>
                    <a:pt x="413694" y="102612"/>
                  </a:lnTo>
                  <a:lnTo>
                    <a:pt x="414572" y="136159"/>
                  </a:lnTo>
                  <a:lnTo>
                    <a:pt x="504333" y="102612"/>
                  </a:lnTo>
                  <a:close/>
                </a:path>
                <a:path w="610870" h="142239">
                  <a:moveTo>
                    <a:pt x="411013" y="0"/>
                  </a:moveTo>
                  <a:lnTo>
                    <a:pt x="411890" y="33545"/>
                  </a:lnTo>
                  <a:lnTo>
                    <a:pt x="196867" y="39164"/>
                  </a:lnTo>
                  <a:lnTo>
                    <a:pt x="535240" y="39164"/>
                  </a:lnTo>
                  <a:lnTo>
                    <a:pt x="411013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882825" y="2791749"/>
              <a:ext cx="610870" cy="142240"/>
            </a:xfrm>
            <a:custGeom>
              <a:avLst/>
              <a:gdLst/>
              <a:ahLst/>
              <a:cxnLst/>
              <a:rect l="l" t="t" r="r" b="b"/>
              <a:pathLst>
                <a:path w="610870" h="142239">
                  <a:moveTo>
                    <a:pt x="0" y="78866"/>
                  </a:moveTo>
                  <a:lnTo>
                    <a:pt x="195990" y="5618"/>
                  </a:lnTo>
                  <a:lnTo>
                    <a:pt x="196867" y="39164"/>
                  </a:lnTo>
                  <a:lnTo>
                    <a:pt x="411890" y="33546"/>
                  </a:lnTo>
                  <a:lnTo>
                    <a:pt x="411013" y="0"/>
                  </a:lnTo>
                  <a:lnTo>
                    <a:pt x="610563" y="62910"/>
                  </a:lnTo>
                  <a:lnTo>
                    <a:pt x="414572" y="136159"/>
                  </a:lnTo>
                  <a:lnTo>
                    <a:pt x="413695" y="102613"/>
                  </a:lnTo>
                  <a:lnTo>
                    <a:pt x="198673" y="108231"/>
                  </a:lnTo>
                  <a:lnTo>
                    <a:pt x="199549" y="141777"/>
                  </a:lnTo>
                  <a:lnTo>
                    <a:pt x="0" y="78866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465784" y="4662071"/>
              <a:ext cx="2407920" cy="1756410"/>
            </a:xfrm>
            <a:custGeom>
              <a:avLst/>
              <a:gdLst/>
              <a:ahLst/>
              <a:cxnLst/>
              <a:rect l="l" t="t" r="r" b="b"/>
              <a:pathLst>
                <a:path w="2407920" h="1756410">
                  <a:moveTo>
                    <a:pt x="2407850" y="0"/>
                  </a:moveTo>
                  <a:lnTo>
                    <a:pt x="0" y="0"/>
                  </a:lnTo>
                  <a:lnTo>
                    <a:pt x="0" y="1756093"/>
                  </a:lnTo>
                  <a:lnTo>
                    <a:pt x="2407850" y="1756093"/>
                  </a:lnTo>
                  <a:lnTo>
                    <a:pt x="240785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5465783" y="4662071"/>
            <a:ext cx="2407920" cy="1756410"/>
          </a:xfrm>
          <a:prstGeom prst="rect">
            <a:avLst/>
          </a:prstGeom>
          <a:ln w="9865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algn="ctr" marL="803275" marR="805815">
              <a:lnSpc>
                <a:spcPct val="104800"/>
              </a:lnSpc>
              <a:spcBef>
                <a:spcPts val="405"/>
              </a:spcBef>
            </a:pPr>
            <a:r>
              <a:rPr dirty="0" sz="1050" spc="-10" b="1">
                <a:latin typeface="Arial"/>
                <a:cs typeface="Arial"/>
              </a:rPr>
              <a:t>Other Participants</a:t>
            </a:r>
            <a:endParaRPr sz="10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54489" y="5187064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13970" rIns="0" bIns="0" rtlCol="0" vert="horz">
            <a:spAutoFit/>
          </a:bodyPr>
          <a:lstStyle/>
          <a:p>
            <a:pPr algn="ctr" marL="178435" marR="180975">
              <a:lnSpc>
                <a:spcPct val="100000"/>
              </a:lnSpc>
              <a:spcBef>
                <a:spcPts val="110"/>
              </a:spcBef>
            </a:pPr>
            <a:r>
              <a:rPr dirty="0" sz="900" spc="-10" b="1">
                <a:latin typeface="Arial"/>
                <a:cs typeface="Arial"/>
              </a:rPr>
              <a:t>Central Counter-parties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754489" y="5762116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13970" rIns="0" bIns="0" rtlCol="0" vert="horz">
            <a:spAutoFit/>
          </a:bodyPr>
          <a:lstStyle/>
          <a:p>
            <a:pPr algn="ctr" marL="66675" marR="68580" indent="-635">
              <a:lnSpc>
                <a:spcPct val="100000"/>
              </a:lnSpc>
              <a:spcBef>
                <a:spcPts val="110"/>
              </a:spcBef>
            </a:pPr>
            <a:r>
              <a:rPr dirty="0" sz="900" spc="-10" b="1">
                <a:latin typeface="Arial"/>
                <a:cs typeface="Arial"/>
              </a:rPr>
              <a:t>Central Securities Depositories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004146" y="3410785"/>
            <a:ext cx="4241800" cy="2055495"/>
            <a:chOff x="3004146" y="3410785"/>
            <a:chExt cx="4241800" cy="2055495"/>
          </a:xfrm>
        </p:grpSpPr>
        <p:sp>
          <p:nvSpPr>
            <p:cNvPr id="55" name="object 55"/>
            <p:cNvSpPr/>
            <p:nvPr/>
          </p:nvSpPr>
          <p:spPr>
            <a:xfrm>
              <a:off x="3009226" y="4824645"/>
              <a:ext cx="136525" cy="610870"/>
            </a:xfrm>
            <a:custGeom>
              <a:avLst/>
              <a:gdLst/>
              <a:ahLst/>
              <a:cxnLst/>
              <a:rect l="l" t="t" r="r" b="b"/>
              <a:pathLst>
                <a:path w="136525" h="610870">
                  <a:moveTo>
                    <a:pt x="136204" y="412932"/>
                  </a:moveTo>
                  <a:lnTo>
                    <a:pt x="0" y="412932"/>
                  </a:lnTo>
                  <a:lnTo>
                    <a:pt x="68102" y="610770"/>
                  </a:lnTo>
                  <a:lnTo>
                    <a:pt x="136204" y="412932"/>
                  </a:lnTo>
                  <a:close/>
                </a:path>
                <a:path w="136525" h="610870">
                  <a:moveTo>
                    <a:pt x="102647" y="197839"/>
                  </a:moveTo>
                  <a:lnTo>
                    <a:pt x="33557" y="197839"/>
                  </a:lnTo>
                  <a:lnTo>
                    <a:pt x="33557" y="412932"/>
                  </a:lnTo>
                  <a:lnTo>
                    <a:pt x="102647" y="412932"/>
                  </a:lnTo>
                  <a:lnTo>
                    <a:pt x="102647" y="197839"/>
                  </a:lnTo>
                  <a:close/>
                </a:path>
                <a:path w="136525" h="610870">
                  <a:moveTo>
                    <a:pt x="68102" y="0"/>
                  </a:moveTo>
                  <a:lnTo>
                    <a:pt x="0" y="197839"/>
                  </a:lnTo>
                  <a:lnTo>
                    <a:pt x="136204" y="197839"/>
                  </a:lnTo>
                  <a:lnTo>
                    <a:pt x="68102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009226" y="4824645"/>
              <a:ext cx="136525" cy="610870"/>
            </a:xfrm>
            <a:custGeom>
              <a:avLst/>
              <a:gdLst/>
              <a:ahLst/>
              <a:cxnLst/>
              <a:rect l="l" t="t" r="r" b="b"/>
              <a:pathLst>
                <a:path w="136525" h="610870">
                  <a:moveTo>
                    <a:pt x="68102" y="0"/>
                  </a:moveTo>
                  <a:lnTo>
                    <a:pt x="136205" y="197838"/>
                  </a:lnTo>
                  <a:lnTo>
                    <a:pt x="102647" y="197838"/>
                  </a:lnTo>
                  <a:lnTo>
                    <a:pt x="102647" y="412932"/>
                  </a:lnTo>
                  <a:lnTo>
                    <a:pt x="136205" y="412932"/>
                  </a:lnTo>
                  <a:lnTo>
                    <a:pt x="68102" y="610771"/>
                  </a:lnTo>
                  <a:lnTo>
                    <a:pt x="0" y="412932"/>
                  </a:lnTo>
                  <a:lnTo>
                    <a:pt x="33557" y="412932"/>
                  </a:lnTo>
                  <a:lnTo>
                    <a:pt x="33557" y="197838"/>
                  </a:lnTo>
                  <a:lnTo>
                    <a:pt x="0" y="197838"/>
                  </a:lnTo>
                  <a:lnTo>
                    <a:pt x="68102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236137" y="3428862"/>
              <a:ext cx="1913889" cy="2032635"/>
            </a:xfrm>
            <a:custGeom>
              <a:avLst/>
              <a:gdLst/>
              <a:ahLst/>
              <a:cxnLst/>
              <a:rect l="l" t="t" r="r" b="b"/>
              <a:pathLst>
                <a:path w="1913889" h="2032635">
                  <a:moveTo>
                    <a:pt x="86047" y="1841613"/>
                  </a:moveTo>
                  <a:lnTo>
                    <a:pt x="0" y="2032332"/>
                  </a:lnTo>
                  <a:lnTo>
                    <a:pt x="185209" y="1934988"/>
                  </a:lnTo>
                  <a:lnTo>
                    <a:pt x="160778" y="1911982"/>
                  </a:lnTo>
                  <a:lnTo>
                    <a:pt x="205377" y="1864619"/>
                  </a:lnTo>
                  <a:lnTo>
                    <a:pt x="110478" y="1864619"/>
                  </a:lnTo>
                  <a:lnTo>
                    <a:pt x="86047" y="1841613"/>
                  </a:lnTo>
                  <a:close/>
                </a:path>
                <a:path w="1913889" h="2032635">
                  <a:moveTo>
                    <a:pt x="1913750" y="0"/>
                  </a:moveTo>
                  <a:lnTo>
                    <a:pt x="1728541" y="97344"/>
                  </a:lnTo>
                  <a:lnTo>
                    <a:pt x="1752973" y="120349"/>
                  </a:lnTo>
                  <a:lnTo>
                    <a:pt x="110478" y="1864619"/>
                  </a:lnTo>
                  <a:lnTo>
                    <a:pt x="205377" y="1864619"/>
                  </a:lnTo>
                  <a:lnTo>
                    <a:pt x="1803271" y="167713"/>
                  </a:lnTo>
                  <a:lnTo>
                    <a:pt x="1838083" y="167713"/>
                  </a:lnTo>
                  <a:lnTo>
                    <a:pt x="1913750" y="0"/>
                  </a:lnTo>
                  <a:close/>
                </a:path>
                <a:path w="1913889" h="2032635">
                  <a:moveTo>
                    <a:pt x="1838083" y="167713"/>
                  </a:moveTo>
                  <a:lnTo>
                    <a:pt x="1803271" y="167713"/>
                  </a:lnTo>
                  <a:lnTo>
                    <a:pt x="1827703" y="190719"/>
                  </a:lnTo>
                  <a:lnTo>
                    <a:pt x="1838083" y="167713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236137" y="3428863"/>
              <a:ext cx="1913889" cy="2032635"/>
            </a:xfrm>
            <a:custGeom>
              <a:avLst/>
              <a:gdLst/>
              <a:ahLst/>
              <a:cxnLst/>
              <a:rect l="l" t="t" r="r" b="b"/>
              <a:pathLst>
                <a:path w="1913889" h="2032635">
                  <a:moveTo>
                    <a:pt x="1913750" y="0"/>
                  </a:moveTo>
                  <a:lnTo>
                    <a:pt x="1827703" y="190719"/>
                  </a:lnTo>
                  <a:lnTo>
                    <a:pt x="1803272" y="167713"/>
                  </a:lnTo>
                  <a:lnTo>
                    <a:pt x="160778" y="1911983"/>
                  </a:lnTo>
                  <a:lnTo>
                    <a:pt x="185208" y="1934988"/>
                  </a:lnTo>
                  <a:lnTo>
                    <a:pt x="0" y="2032332"/>
                  </a:lnTo>
                  <a:lnTo>
                    <a:pt x="86047" y="1841613"/>
                  </a:lnTo>
                  <a:lnTo>
                    <a:pt x="110478" y="1864618"/>
                  </a:lnTo>
                  <a:lnTo>
                    <a:pt x="1752972" y="120349"/>
                  </a:lnTo>
                  <a:lnTo>
                    <a:pt x="1728541" y="97343"/>
                  </a:lnTo>
                  <a:lnTo>
                    <a:pt x="1913750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829325" y="3415865"/>
              <a:ext cx="398145" cy="1242060"/>
            </a:xfrm>
            <a:custGeom>
              <a:avLst/>
              <a:gdLst/>
              <a:ahLst/>
              <a:cxnLst/>
              <a:rect l="l" t="t" r="r" b="b"/>
              <a:pathLst>
                <a:path w="398145" h="1242060">
                  <a:moveTo>
                    <a:pt x="104390" y="199189"/>
                  </a:moveTo>
                  <a:lnTo>
                    <a:pt x="32050" y="199189"/>
                  </a:lnTo>
                  <a:lnTo>
                    <a:pt x="299977" y="1062777"/>
                  </a:lnTo>
                  <a:lnTo>
                    <a:pt x="267926" y="1072722"/>
                  </a:lnTo>
                  <a:lnTo>
                    <a:pt x="391594" y="1241494"/>
                  </a:lnTo>
                  <a:lnTo>
                    <a:pt x="397710" y="1042304"/>
                  </a:lnTo>
                  <a:lnTo>
                    <a:pt x="365964" y="1042304"/>
                  </a:lnTo>
                  <a:lnTo>
                    <a:pt x="104390" y="199189"/>
                  </a:lnTo>
                  <a:close/>
                </a:path>
                <a:path w="398145" h="1242060">
                  <a:moveTo>
                    <a:pt x="398015" y="1032361"/>
                  </a:moveTo>
                  <a:lnTo>
                    <a:pt x="365964" y="1042304"/>
                  </a:lnTo>
                  <a:lnTo>
                    <a:pt x="397710" y="1042304"/>
                  </a:lnTo>
                  <a:lnTo>
                    <a:pt x="398015" y="1032361"/>
                  </a:lnTo>
                  <a:close/>
                </a:path>
                <a:path w="398145" h="1242060">
                  <a:moveTo>
                    <a:pt x="6422" y="0"/>
                  </a:moveTo>
                  <a:lnTo>
                    <a:pt x="0" y="209133"/>
                  </a:lnTo>
                  <a:lnTo>
                    <a:pt x="32050" y="199189"/>
                  </a:lnTo>
                  <a:lnTo>
                    <a:pt x="104390" y="199189"/>
                  </a:lnTo>
                  <a:lnTo>
                    <a:pt x="98038" y="178716"/>
                  </a:lnTo>
                  <a:lnTo>
                    <a:pt x="130088" y="168772"/>
                  </a:lnTo>
                  <a:lnTo>
                    <a:pt x="6422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829325" y="3415865"/>
              <a:ext cx="398145" cy="1242060"/>
            </a:xfrm>
            <a:custGeom>
              <a:avLst/>
              <a:gdLst/>
              <a:ahLst/>
              <a:cxnLst/>
              <a:rect l="l" t="t" r="r" b="b"/>
              <a:pathLst>
                <a:path w="398145" h="1242060">
                  <a:moveTo>
                    <a:pt x="391594" y="1241494"/>
                  </a:moveTo>
                  <a:lnTo>
                    <a:pt x="267926" y="1072721"/>
                  </a:lnTo>
                  <a:lnTo>
                    <a:pt x="299977" y="1062777"/>
                  </a:lnTo>
                  <a:lnTo>
                    <a:pt x="32050" y="199189"/>
                  </a:lnTo>
                  <a:lnTo>
                    <a:pt x="0" y="209132"/>
                  </a:lnTo>
                  <a:lnTo>
                    <a:pt x="6421" y="0"/>
                  </a:lnTo>
                  <a:lnTo>
                    <a:pt x="130089" y="168773"/>
                  </a:lnTo>
                  <a:lnTo>
                    <a:pt x="98038" y="178717"/>
                  </a:lnTo>
                  <a:lnTo>
                    <a:pt x="365964" y="1042304"/>
                  </a:lnTo>
                  <a:lnTo>
                    <a:pt x="398015" y="1032360"/>
                  </a:lnTo>
                  <a:lnTo>
                    <a:pt x="391594" y="1241494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103821" y="4099723"/>
              <a:ext cx="136525" cy="557530"/>
            </a:xfrm>
            <a:custGeom>
              <a:avLst/>
              <a:gdLst/>
              <a:ahLst/>
              <a:cxnLst/>
              <a:rect l="l" t="t" r="r" b="b"/>
              <a:pathLst>
                <a:path w="136525" h="557529">
                  <a:moveTo>
                    <a:pt x="136397" y="359690"/>
                  </a:moveTo>
                  <a:lnTo>
                    <a:pt x="270" y="359690"/>
                  </a:lnTo>
                  <a:lnTo>
                    <a:pt x="68703" y="557414"/>
                  </a:lnTo>
                  <a:lnTo>
                    <a:pt x="136397" y="359690"/>
                  </a:lnTo>
                  <a:close/>
                </a:path>
                <a:path w="136525" h="557529">
                  <a:moveTo>
                    <a:pt x="102648" y="197952"/>
                  </a:moveTo>
                  <a:lnTo>
                    <a:pt x="33558" y="197952"/>
                  </a:lnTo>
                  <a:lnTo>
                    <a:pt x="33827" y="359690"/>
                  </a:lnTo>
                  <a:lnTo>
                    <a:pt x="102918" y="359690"/>
                  </a:lnTo>
                  <a:lnTo>
                    <a:pt x="102648" y="197952"/>
                  </a:lnTo>
                  <a:close/>
                </a:path>
                <a:path w="136525" h="557529">
                  <a:moveTo>
                    <a:pt x="67773" y="0"/>
                  </a:moveTo>
                  <a:lnTo>
                    <a:pt x="0" y="197952"/>
                  </a:lnTo>
                  <a:lnTo>
                    <a:pt x="136284" y="197952"/>
                  </a:lnTo>
                  <a:lnTo>
                    <a:pt x="67773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103821" y="4099724"/>
              <a:ext cx="136525" cy="557530"/>
            </a:xfrm>
            <a:custGeom>
              <a:avLst/>
              <a:gdLst/>
              <a:ahLst/>
              <a:cxnLst/>
              <a:rect l="l" t="t" r="r" b="b"/>
              <a:pathLst>
                <a:path w="136525" h="557529">
                  <a:moveTo>
                    <a:pt x="67773" y="0"/>
                  </a:moveTo>
                  <a:lnTo>
                    <a:pt x="136205" y="197724"/>
                  </a:lnTo>
                  <a:lnTo>
                    <a:pt x="102647" y="197780"/>
                  </a:lnTo>
                  <a:lnTo>
                    <a:pt x="102917" y="359518"/>
                  </a:lnTo>
                  <a:lnTo>
                    <a:pt x="136475" y="359463"/>
                  </a:lnTo>
                  <a:lnTo>
                    <a:pt x="68702" y="557414"/>
                  </a:lnTo>
                  <a:lnTo>
                    <a:pt x="270" y="359690"/>
                  </a:lnTo>
                  <a:lnTo>
                    <a:pt x="33827" y="359634"/>
                  </a:lnTo>
                  <a:lnTo>
                    <a:pt x="33558" y="197895"/>
                  </a:lnTo>
                  <a:lnTo>
                    <a:pt x="0" y="197952"/>
                  </a:lnTo>
                  <a:lnTo>
                    <a:pt x="67773" y="0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7811418" y="4008101"/>
            <a:ext cx="756285" cy="443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54305" marR="159385">
              <a:lnSpc>
                <a:spcPct val="100000"/>
              </a:lnSpc>
              <a:spcBef>
                <a:spcPts val="130"/>
              </a:spcBef>
            </a:pPr>
            <a:r>
              <a:rPr dirty="0" sz="900" spc="-25">
                <a:latin typeface="Arial"/>
                <a:cs typeface="Arial"/>
              </a:rPr>
              <a:t>via </a:t>
            </a:r>
            <a:r>
              <a:rPr dirty="0" sz="900" spc="-10">
                <a:latin typeface="Arial"/>
                <a:cs typeface="Arial"/>
              </a:rPr>
              <a:t>financial</a:t>
            </a:r>
            <a:endParaRPr sz="900">
              <a:latin typeface="Arial"/>
              <a:cs typeface="Arial"/>
            </a:endParaRPr>
          </a:p>
          <a:p>
            <a:pPr algn="ctr" marR="5080">
              <a:lnSpc>
                <a:spcPct val="100000"/>
              </a:lnSpc>
              <a:spcBef>
                <a:spcPts val="15"/>
              </a:spcBef>
            </a:pPr>
            <a:r>
              <a:rPr dirty="0" sz="900" spc="-10">
                <a:latin typeface="Arial"/>
                <a:cs typeface="Arial"/>
              </a:rPr>
              <a:t>intermediaries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772791" y="2902127"/>
            <a:ext cx="4420870" cy="1765300"/>
            <a:chOff x="3772791" y="2902127"/>
            <a:chExt cx="4420870" cy="1765300"/>
          </a:xfrm>
        </p:grpSpPr>
        <p:sp>
          <p:nvSpPr>
            <p:cNvPr id="65" name="object 65"/>
            <p:cNvSpPr/>
            <p:nvPr/>
          </p:nvSpPr>
          <p:spPr>
            <a:xfrm>
              <a:off x="8188106" y="2902127"/>
              <a:ext cx="0" cy="1109345"/>
            </a:xfrm>
            <a:custGeom>
              <a:avLst/>
              <a:gdLst/>
              <a:ahLst/>
              <a:cxnLst/>
              <a:rect l="l" t="t" r="r" b="b"/>
              <a:pathLst>
                <a:path w="0" h="1109345">
                  <a:moveTo>
                    <a:pt x="0" y="0"/>
                  </a:moveTo>
                  <a:lnTo>
                    <a:pt x="0" y="1108808"/>
                  </a:lnTo>
                </a:path>
              </a:pathLst>
            </a:custGeom>
            <a:ln w="986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777724" y="3873621"/>
              <a:ext cx="1896745" cy="788670"/>
            </a:xfrm>
            <a:custGeom>
              <a:avLst/>
              <a:gdLst/>
              <a:ahLst/>
              <a:cxnLst/>
              <a:rect l="l" t="t" r="r" b="b"/>
              <a:pathLst>
                <a:path w="1896745" h="788670">
                  <a:moveTo>
                    <a:pt x="349401" y="107844"/>
                  </a:moveTo>
                  <a:lnTo>
                    <a:pt x="169419" y="107844"/>
                  </a:lnTo>
                  <a:lnTo>
                    <a:pt x="1700616" y="744402"/>
                  </a:lnTo>
                  <a:lnTo>
                    <a:pt x="1687733" y="775389"/>
                  </a:lnTo>
                  <a:lnTo>
                    <a:pt x="1896558" y="788449"/>
                  </a:lnTo>
                  <a:lnTo>
                    <a:pt x="1774959" y="680605"/>
                  </a:lnTo>
                  <a:lnTo>
                    <a:pt x="1727139" y="680605"/>
                  </a:lnTo>
                  <a:lnTo>
                    <a:pt x="349401" y="107844"/>
                  </a:lnTo>
                  <a:close/>
                </a:path>
                <a:path w="1896745" h="788670">
                  <a:moveTo>
                    <a:pt x="1740020" y="649618"/>
                  </a:moveTo>
                  <a:lnTo>
                    <a:pt x="1727139" y="680605"/>
                  </a:lnTo>
                  <a:lnTo>
                    <a:pt x="1774959" y="680605"/>
                  </a:lnTo>
                  <a:lnTo>
                    <a:pt x="1740020" y="649618"/>
                  </a:lnTo>
                  <a:close/>
                </a:path>
                <a:path w="1896745" h="788670">
                  <a:moveTo>
                    <a:pt x="0" y="0"/>
                  </a:moveTo>
                  <a:lnTo>
                    <a:pt x="156537" y="138831"/>
                  </a:lnTo>
                  <a:lnTo>
                    <a:pt x="169419" y="107844"/>
                  </a:lnTo>
                  <a:lnTo>
                    <a:pt x="349401" y="107844"/>
                  </a:lnTo>
                  <a:lnTo>
                    <a:pt x="195941" y="44047"/>
                  </a:lnTo>
                  <a:lnTo>
                    <a:pt x="208823" y="13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777723" y="3873622"/>
              <a:ext cx="1896745" cy="788670"/>
            </a:xfrm>
            <a:custGeom>
              <a:avLst/>
              <a:gdLst/>
              <a:ahLst/>
              <a:cxnLst/>
              <a:rect l="l" t="t" r="r" b="b"/>
              <a:pathLst>
                <a:path w="1896745" h="788670">
                  <a:moveTo>
                    <a:pt x="1896558" y="788449"/>
                  </a:moveTo>
                  <a:lnTo>
                    <a:pt x="1687733" y="775389"/>
                  </a:lnTo>
                  <a:lnTo>
                    <a:pt x="1700616" y="744403"/>
                  </a:lnTo>
                  <a:lnTo>
                    <a:pt x="169419" y="107843"/>
                  </a:lnTo>
                  <a:lnTo>
                    <a:pt x="156537" y="138831"/>
                  </a:lnTo>
                  <a:lnTo>
                    <a:pt x="0" y="0"/>
                  </a:lnTo>
                  <a:lnTo>
                    <a:pt x="208824" y="13060"/>
                  </a:lnTo>
                  <a:lnTo>
                    <a:pt x="195941" y="44047"/>
                  </a:lnTo>
                  <a:lnTo>
                    <a:pt x="1727138" y="680605"/>
                  </a:lnTo>
                  <a:lnTo>
                    <a:pt x="1740020" y="649619"/>
                  </a:lnTo>
                  <a:lnTo>
                    <a:pt x="1896558" y="788449"/>
                  </a:lnTo>
                  <a:close/>
                </a:path>
              </a:pathLst>
            </a:custGeom>
            <a:ln w="9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5714892" y="5187064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211454" marR="190500" indent="-23495">
              <a:lnSpc>
                <a:spcPct val="100000"/>
              </a:lnSpc>
              <a:spcBef>
                <a:spcPts val="650"/>
              </a:spcBef>
            </a:pPr>
            <a:r>
              <a:rPr dirty="0" sz="900" spc="-10" b="1">
                <a:latin typeface="Arial"/>
                <a:cs typeface="Arial"/>
              </a:rPr>
              <a:t>Clearing Houses</a:t>
            </a:r>
            <a:endParaRPr sz="900">
              <a:latin typeface="Arial"/>
              <a:cs typeface="Arial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9" name="object 69"/>
          <p:cNvSpPr txBox="1"/>
          <p:nvPr/>
        </p:nvSpPr>
        <p:spPr>
          <a:xfrm>
            <a:off x="5714892" y="5762116"/>
            <a:ext cx="861060" cy="464184"/>
          </a:xfrm>
          <a:prstGeom prst="rect">
            <a:avLst/>
          </a:prstGeom>
          <a:solidFill>
            <a:srgbClr val="FFFFFF"/>
          </a:solidFill>
          <a:ln w="986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Times New Roman"/>
              <a:cs typeface="Times New Roman"/>
            </a:endParaRPr>
          </a:p>
          <a:p>
            <a:pPr marL="102870">
              <a:lnSpc>
                <a:spcPct val="100000"/>
              </a:lnSpc>
            </a:pPr>
            <a:r>
              <a:rPr dirty="0" sz="900" spc="-10" b="1">
                <a:latin typeface="Arial"/>
                <a:cs typeface="Arial"/>
              </a:rPr>
              <a:t>Custodians</a:t>
            </a:r>
            <a:endParaRPr sz="9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479754" y="5305440"/>
            <a:ext cx="1438275" cy="443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30"/>
              </a:spcBef>
            </a:pPr>
            <a:r>
              <a:rPr dirty="0" sz="900">
                <a:solidFill>
                  <a:srgbClr val="DFE0DF"/>
                </a:solidFill>
                <a:latin typeface="Calibri"/>
                <a:cs typeface="Calibri"/>
              </a:rPr>
              <a:t>Source:</a:t>
            </a:r>
            <a:r>
              <a:rPr dirty="0" sz="900" spc="6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FE0DF"/>
                </a:solidFill>
                <a:latin typeface="Calibri"/>
                <a:cs typeface="Calibri"/>
              </a:rPr>
              <a:t>Duran,</a:t>
            </a:r>
            <a:r>
              <a:rPr dirty="0" sz="900" spc="6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FE0DF"/>
                </a:solidFill>
                <a:latin typeface="Calibri"/>
                <a:cs typeface="Calibri"/>
              </a:rPr>
              <a:t>R.</a:t>
            </a:r>
            <a:r>
              <a:rPr dirty="0" sz="900" spc="6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DFE0DF"/>
                </a:solidFill>
                <a:latin typeface="Calibri"/>
                <a:cs typeface="Calibri"/>
              </a:rPr>
              <a:t>E.,</a:t>
            </a:r>
            <a:r>
              <a:rPr dirty="0" sz="900" spc="50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DFE0DF"/>
                </a:solidFill>
                <a:latin typeface="Calibri"/>
                <a:cs typeface="Calibri"/>
              </a:rPr>
              <a:t>Financial</a:t>
            </a:r>
            <a:r>
              <a:rPr dirty="0" sz="900" spc="80" i="1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DFE0DF"/>
                </a:solidFill>
                <a:latin typeface="Calibri"/>
                <a:cs typeface="Calibri"/>
              </a:rPr>
              <a:t>Services</a:t>
            </a:r>
            <a:r>
              <a:rPr dirty="0" sz="900" spc="80" i="1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DFE0DF"/>
                </a:solidFill>
                <a:latin typeface="Calibri"/>
                <a:cs typeface="Calibri"/>
              </a:rPr>
              <a:t>Technology,</a:t>
            </a:r>
            <a:r>
              <a:rPr dirty="0" sz="900" spc="500" i="1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FE0DF"/>
                </a:solidFill>
                <a:latin typeface="Calibri"/>
                <a:cs typeface="Calibri"/>
              </a:rPr>
              <a:t>Cengage</a:t>
            </a:r>
            <a:r>
              <a:rPr dirty="0" sz="900" spc="8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FE0DF"/>
                </a:solidFill>
                <a:latin typeface="Calibri"/>
                <a:cs typeface="Calibri"/>
              </a:rPr>
              <a:t>Learning</a:t>
            </a:r>
            <a:r>
              <a:rPr dirty="0" sz="900" spc="8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FE0DF"/>
                </a:solidFill>
                <a:latin typeface="Calibri"/>
                <a:cs typeface="Calibri"/>
              </a:rPr>
              <a:t>Asia,</a:t>
            </a:r>
            <a:r>
              <a:rPr dirty="0" sz="900" spc="80">
                <a:solidFill>
                  <a:srgbClr val="DFE0D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DFE0DF"/>
                </a:solidFill>
                <a:latin typeface="Calibri"/>
                <a:cs typeface="Calibri"/>
              </a:rPr>
              <a:t>2018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28729" y="2863596"/>
            <a:ext cx="477964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Liquidity</a:t>
            </a:r>
            <a:r>
              <a:rPr dirty="0" spc="-95"/>
              <a:t> </a:t>
            </a:r>
            <a:r>
              <a:rPr dirty="0" spc="-10"/>
              <a:t>Providers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Market</a:t>
            </a:r>
            <a:r>
              <a:rPr dirty="0" spc="-95"/>
              <a:t> </a:t>
            </a:r>
            <a:r>
              <a:rPr dirty="0" spc="-10"/>
              <a:t>liquidity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9923145" cy="168973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39395" marR="87630" indent="-226695">
              <a:lnSpc>
                <a:spcPts val="218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 b="1">
                <a:latin typeface="Century Gothic"/>
                <a:cs typeface="Century Gothic"/>
              </a:rPr>
              <a:t>Market</a:t>
            </a:r>
            <a:r>
              <a:rPr dirty="0" sz="2000" spc="-35" b="1">
                <a:latin typeface="Century Gothic"/>
                <a:cs typeface="Century Gothic"/>
              </a:rPr>
              <a:t> </a:t>
            </a:r>
            <a:r>
              <a:rPr dirty="0" sz="2000" b="1">
                <a:latin typeface="Century Gothic"/>
                <a:cs typeface="Century Gothic"/>
              </a:rPr>
              <a:t>liquidity</a:t>
            </a:r>
            <a:r>
              <a:rPr dirty="0" sz="2000" spc="-40" b="1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extent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which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sell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asset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without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drastically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shifting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asset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price.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5080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Liquidity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often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measured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 b="1">
                <a:latin typeface="Century Gothic"/>
                <a:cs typeface="Century Gothic"/>
              </a:rPr>
              <a:t>bid-</a:t>
            </a:r>
            <a:r>
              <a:rPr dirty="0" sz="2000" b="1">
                <a:latin typeface="Century Gothic"/>
                <a:cs typeface="Century Gothic"/>
              </a:rPr>
              <a:t>ask</a:t>
            </a:r>
            <a:r>
              <a:rPr dirty="0" sz="2000" spc="-35" b="1">
                <a:latin typeface="Century Gothic"/>
                <a:cs typeface="Century Gothic"/>
              </a:rPr>
              <a:t> </a:t>
            </a:r>
            <a:r>
              <a:rPr dirty="0" sz="2000" b="1">
                <a:latin typeface="Century Gothic"/>
                <a:cs typeface="Century Gothic"/>
              </a:rPr>
              <a:t>spread</a:t>
            </a:r>
            <a:r>
              <a:rPr dirty="0" sz="2000">
                <a:latin typeface="Century Gothic"/>
                <a:cs typeface="Century Gothic"/>
              </a:rPr>
              <a:t>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which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difference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between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bid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price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ask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price.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94939" y="3725545"/>
            <a:ext cx="723900" cy="12700"/>
          </a:xfrm>
          <a:custGeom>
            <a:avLst/>
            <a:gdLst/>
            <a:ahLst/>
            <a:cxnLst/>
            <a:rect l="l" t="t" r="r" b="b"/>
            <a:pathLst>
              <a:path w="723900" h="12700">
                <a:moveTo>
                  <a:pt x="723900" y="0"/>
                </a:moveTo>
                <a:lnTo>
                  <a:pt x="0" y="0"/>
                </a:lnTo>
                <a:lnTo>
                  <a:pt x="0" y="12699"/>
                </a:lnTo>
                <a:lnTo>
                  <a:pt x="723900" y="12699"/>
                </a:lnTo>
                <a:lnTo>
                  <a:pt x="723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71139" y="3903345"/>
            <a:ext cx="584200" cy="12700"/>
          </a:xfrm>
          <a:custGeom>
            <a:avLst/>
            <a:gdLst/>
            <a:ahLst/>
            <a:cxnLst/>
            <a:rect l="l" t="t" r="r" b="b"/>
            <a:pathLst>
              <a:path w="584200" h="12700">
                <a:moveTo>
                  <a:pt x="584200" y="0"/>
                </a:moveTo>
                <a:lnTo>
                  <a:pt x="0" y="0"/>
                </a:lnTo>
                <a:lnTo>
                  <a:pt x="0" y="12699"/>
                </a:lnTo>
                <a:lnTo>
                  <a:pt x="584200" y="12699"/>
                </a:lnTo>
                <a:lnTo>
                  <a:pt x="584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53296" y="3703320"/>
            <a:ext cx="6127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0">
                <a:latin typeface="Cambria Math"/>
                <a:cs typeface="Cambria Math"/>
              </a:rPr>
              <a:t>𝑎𝑠𝑘+𝘣𝑖𝑑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1348739" y="3559555"/>
            <a:ext cx="2691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66065" algn="l"/>
              </a:tabLst>
            </a:pPr>
            <a:r>
              <a:rPr dirty="0" sz="1800">
                <a:latin typeface="Cambria Math"/>
                <a:cs typeface="Cambria Math"/>
              </a:rPr>
              <a:t>𝑆𝑝𝑟𝑒𝑎𝑑</a:t>
            </a:r>
            <a:r>
              <a:rPr dirty="0" sz="1800" spc="60">
                <a:latin typeface="Cambria Math"/>
                <a:cs typeface="Cambria Math"/>
              </a:rPr>
              <a:t> 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95">
                <a:latin typeface="Cambria Math"/>
                <a:cs typeface="Cambria Math"/>
              </a:rPr>
              <a:t> </a:t>
            </a:r>
            <a:r>
              <a:rPr dirty="0" baseline="44871" sz="1950" spc="89">
                <a:latin typeface="Cambria Math"/>
                <a:cs typeface="Cambria Math"/>
              </a:rPr>
              <a:t>𝑎𝑠𝑘</a:t>
            </a:r>
            <a:r>
              <a:rPr dirty="0" baseline="44871" sz="1950" spc="67">
                <a:latin typeface="Cambria Math"/>
                <a:cs typeface="Cambria Math"/>
              </a:rPr>
              <a:t> </a:t>
            </a:r>
            <a:r>
              <a:rPr dirty="0" baseline="44871" sz="1950">
                <a:latin typeface="Cambria Math"/>
                <a:cs typeface="Cambria Math"/>
              </a:rPr>
              <a:t>–</a:t>
            </a:r>
            <a:r>
              <a:rPr dirty="0" baseline="44871" sz="1950" spc="15">
                <a:latin typeface="Cambria Math"/>
                <a:cs typeface="Cambria Math"/>
              </a:rPr>
              <a:t> </a:t>
            </a:r>
            <a:r>
              <a:rPr dirty="0" baseline="44871" sz="1950" spc="97">
                <a:latin typeface="Cambria Math"/>
                <a:cs typeface="Cambria Math"/>
              </a:rPr>
              <a:t>𝑏𝑖𝑑</a:t>
            </a:r>
            <a:r>
              <a:rPr dirty="0" baseline="44871" sz="1950" spc="82">
                <a:latin typeface="Cambria Math"/>
                <a:cs typeface="Cambria Math"/>
              </a:rPr>
              <a:t> </a:t>
            </a:r>
            <a:r>
              <a:rPr dirty="0" sz="1800" spc="-20">
                <a:latin typeface="Cambria Math"/>
                <a:cs typeface="Cambria Math"/>
              </a:rPr>
              <a:t>×100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3886200"/>
            <a:ext cx="9970135" cy="1438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01215">
              <a:lnSpc>
                <a:spcPts val="1280"/>
              </a:lnSpc>
              <a:spcBef>
                <a:spcPts val="100"/>
              </a:spcBef>
            </a:pPr>
            <a:r>
              <a:rPr dirty="0" sz="1100" spc="-50">
                <a:latin typeface="Cambria Math"/>
                <a:cs typeface="Cambria Math"/>
              </a:rPr>
              <a:t>2</a:t>
            </a:r>
            <a:endParaRPr sz="1100">
              <a:latin typeface="Cambria Math"/>
              <a:cs typeface="Cambria Math"/>
            </a:endParaRPr>
          </a:p>
          <a:p>
            <a:pPr marL="697865" indent="-227965">
              <a:lnSpc>
                <a:spcPts val="2120"/>
              </a:lnSpc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smaller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spread,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more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liquid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market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25">
                <a:latin typeface="Century Gothic"/>
                <a:cs typeface="Century Gothic"/>
              </a:rPr>
              <a:t>is.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800">
              <a:latin typeface="Century Gothic"/>
              <a:cs typeface="Century Gothic"/>
            </a:endParaRPr>
          </a:p>
          <a:p>
            <a:pPr marL="239395" marR="5080" indent="-226695">
              <a:lnSpc>
                <a:spcPts val="20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Everyday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example: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second-</a:t>
            </a:r>
            <a:r>
              <a:rPr dirty="0" sz="2000">
                <a:latin typeface="Century Gothic"/>
                <a:cs typeface="Century Gothic"/>
              </a:rPr>
              <a:t>hand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cell-</a:t>
            </a:r>
            <a:r>
              <a:rPr dirty="0" sz="2000">
                <a:latin typeface="Century Gothic"/>
                <a:cs typeface="Century Gothic"/>
              </a:rPr>
              <a:t>phone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more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liquid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the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 spc="-10">
                <a:latin typeface="Century Gothic"/>
                <a:cs typeface="Century Gothic"/>
              </a:rPr>
              <a:t>second-</a:t>
            </a:r>
            <a:r>
              <a:rPr dirty="0" sz="2000">
                <a:latin typeface="Century Gothic"/>
                <a:cs typeface="Century Gothic"/>
              </a:rPr>
              <a:t>hand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housing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market.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Liquidity</a:t>
            </a:r>
            <a:r>
              <a:rPr dirty="0" spc="-95"/>
              <a:t> </a:t>
            </a:r>
            <a:r>
              <a:rPr dirty="0" spc="-10"/>
              <a:t>providers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5590540" cy="166433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40029" marR="5080" indent="-227329">
              <a:lnSpc>
                <a:spcPts val="262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Designated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makers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(DMM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or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 spc="-10">
                <a:latin typeface="Century Gothic"/>
                <a:cs typeface="Century Gothic"/>
              </a:rPr>
              <a:t>specialists)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positioning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advantages</a:t>
            </a:r>
            <a:endParaRPr sz="2000">
              <a:latin typeface="Century Gothic"/>
              <a:cs typeface="Century Gothic"/>
            </a:endParaRPr>
          </a:p>
          <a:p>
            <a:pPr lvl="1" marL="696595" marR="919480" indent="-226695">
              <a:lnSpc>
                <a:spcPts val="2090"/>
              </a:lnSpc>
              <a:spcBef>
                <a:spcPts val="64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additional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obligations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and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 spc="-10">
                <a:latin typeface="Century Gothic"/>
                <a:cs typeface="Century Gothic"/>
              </a:rPr>
              <a:t>responsibilities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954577"/>
            <a:ext cx="5407660" cy="1726564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Proprietary</a:t>
            </a:r>
            <a:r>
              <a:rPr dirty="0" sz="2400" spc="-12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traders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E.g.,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banks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hedge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funds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no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obligation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provide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liquidity</a:t>
            </a:r>
            <a:endParaRPr sz="2000">
              <a:latin typeface="Century Gothic"/>
              <a:cs typeface="Century Gothic"/>
            </a:endParaRPr>
          </a:p>
          <a:p>
            <a:pPr lvl="1" marL="696595" marR="534670" indent="-226695">
              <a:lnSpc>
                <a:spcPts val="2090"/>
              </a:lnSpc>
              <a:spcBef>
                <a:spcPts val="64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May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leave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turbulent 	conditions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6640" y="1825625"/>
            <a:ext cx="4495800" cy="23977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28915" y="4327144"/>
            <a:ext cx="364934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Century Gothic"/>
                <a:cs typeface="Century Gothic"/>
              </a:rPr>
              <a:t>Citadel</a:t>
            </a:r>
            <a:r>
              <a:rPr dirty="0" sz="1300" spc="-2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Securities</a:t>
            </a:r>
            <a:r>
              <a:rPr dirty="0" sz="1300" spc="-2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is</a:t>
            </a:r>
            <a:r>
              <a:rPr dirty="0" sz="1300" spc="-3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one</a:t>
            </a:r>
            <a:r>
              <a:rPr dirty="0" sz="1300" spc="-1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of</a:t>
            </a:r>
            <a:r>
              <a:rPr dirty="0" sz="1300" spc="-1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the</a:t>
            </a:r>
            <a:r>
              <a:rPr dirty="0" sz="1300" spc="-2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DMMs</a:t>
            </a:r>
            <a:r>
              <a:rPr dirty="0" sz="1300" spc="-2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on</a:t>
            </a:r>
            <a:r>
              <a:rPr dirty="0" sz="1300" spc="-25">
                <a:latin typeface="Century Gothic"/>
                <a:cs typeface="Century Gothic"/>
              </a:rPr>
              <a:t> </a:t>
            </a:r>
            <a:r>
              <a:rPr dirty="0" sz="1300" spc="-20">
                <a:latin typeface="Century Gothic"/>
                <a:cs typeface="Century Gothic"/>
              </a:rPr>
              <a:t>NYSE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High</a:t>
            </a:r>
            <a:r>
              <a:rPr dirty="0" spc="-130"/>
              <a:t> </a:t>
            </a:r>
            <a:r>
              <a:rPr dirty="0"/>
              <a:t>frequency</a:t>
            </a:r>
            <a:r>
              <a:rPr dirty="0" spc="-125"/>
              <a:t> </a:t>
            </a:r>
            <a:r>
              <a:rPr dirty="0"/>
              <a:t>trading</a:t>
            </a:r>
            <a:r>
              <a:rPr dirty="0" spc="-130"/>
              <a:t> </a:t>
            </a:r>
            <a:r>
              <a:rPr dirty="0" spc="-10"/>
              <a:t>(HFT)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155"/>
            <a:ext cx="5731510" cy="2410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ts val="252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Arguments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for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 spc="-25">
                <a:latin typeface="Century Gothic"/>
                <a:cs typeface="Century Gothic"/>
              </a:rPr>
              <a:t>HFT</a:t>
            </a:r>
            <a:endParaRPr sz="22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070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Improved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liquidity: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reduced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 spc="-20">
                <a:latin typeface="Century Gothic"/>
                <a:cs typeface="Century Gothic"/>
              </a:rPr>
              <a:t>bid-</a:t>
            </a:r>
            <a:r>
              <a:rPr dirty="0" sz="1900">
                <a:latin typeface="Century Gothic"/>
                <a:cs typeface="Century Gothic"/>
              </a:rPr>
              <a:t>ask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spread</a:t>
            </a:r>
            <a:endParaRPr sz="19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185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Approximation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to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perfect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market</a:t>
            </a:r>
            <a:endParaRPr sz="19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endParaRPr sz="1900">
              <a:latin typeface="Century Gothic"/>
              <a:cs typeface="Century Gothic"/>
            </a:endParaRPr>
          </a:p>
          <a:p>
            <a:pPr marL="241300" indent="-228600">
              <a:lnSpc>
                <a:spcPts val="2515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Arguments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against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 spc="-25">
                <a:latin typeface="Century Gothic"/>
                <a:cs typeface="Century Gothic"/>
              </a:rPr>
              <a:t>HFT</a:t>
            </a:r>
            <a:endParaRPr sz="22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070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Unfair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advantages</a:t>
            </a:r>
            <a:endParaRPr sz="19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100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Market</a:t>
            </a:r>
            <a:r>
              <a:rPr dirty="0" sz="1900" spc="-6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manipulation</a:t>
            </a:r>
            <a:endParaRPr sz="19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185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Increased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market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volatility</a:t>
            </a:r>
            <a:endParaRPr sz="19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462272"/>
            <a:ext cx="75069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latin typeface="Century Gothic"/>
                <a:cs typeface="Century Gothic"/>
              </a:rPr>
              <a:t>Frequent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Batch</a:t>
            </a:r>
            <a:r>
              <a:rPr dirty="0" sz="1700" spc="-3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Auctions</a:t>
            </a:r>
            <a:r>
              <a:rPr dirty="0" sz="1700" spc="-3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as</a:t>
            </a:r>
            <a:r>
              <a:rPr dirty="0" sz="1700" spc="-2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a</a:t>
            </a:r>
            <a:r>
              <a:rPr dirty="0" sz="1700" spc="-3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Market</a:t>
            </a:r>
            <a:r>
              <a:rPr dirty="0" sz="1700" spc="-3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Design</a:t>
            </a:r>
            <a:r>
              <a:rPr dirty="0" sz="1700" spc="-3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Response</a:t>
            </a:r>
            <a:r>
              <a:rPr dirty="0" sz="1700" spc="-4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to</a:t>
            </a:r>
            <a:r>
              <a:rPr dirty="0" sz="1700" spc="-3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HFT</a:t>
            </a:r>
            <a:r>
              <a:rPr dirty="0" sz="1700" spc="-2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Arm</a:t>
            </a:r>
            <a:r>
              <a:rPr dirty="0" sz="1700" spc="-30">
                <a:latin typeface="Century Gothic"/>
                <a:cs typeface="Century Gothic"/>
              </a:rPr>
              <a:t> </a:t>
            </a:r>
            <a:r>
              <a:rPr dirty="0" sz="1700" spc="-20">
                <a:latin typeface="Century Gothic"/>
                <a:cs typeface="Century Gothic"/>
              </a:rPr>
              <a:t>Race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4639055"/>
            <a:ext cx="624713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7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entury Gothic"/>
                <a:cs typeface="Century Gothic"/>
                <a:hlinkClick r:id="rId2"/>
              </a:rPr>
              <a:t>https://academic.oup.com/qje/article/130/4/1547/1916146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5215127"/>
            <a:ext cx="556323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dirty="0" sz="1700">
                <a:latin typeface="Century Gothic"/>
                <a:cs typeface="Century Gothic"/>
              </a:rPr>
              <a:t>Is</a:t>
            </a:r>
            <a:r>
              <a:rPr dirty="0" sz="1700" spc="-4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high</a:t>
            </a:r>
            <a:r>
              <a:rPr dirty="0" sz="1700" spc="-4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frequency</a:t>
            </a:r>
            <a:r>
              <a:rPr dirty="0" sz="1700" spc="-4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trading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good</a:t>
            </a:r>
            <a:r>
              <a:rPr dirty="0" sz="1700" spc="-4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for</a:t>
            </a:r>
            <a:r>
              <a:rPr dirty="0" sz="1700" spc="-4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financial</a:t>
            </a:r>
            <a:r>
              <a:rPr dirty="0" sz="1700" spc="-45">
                <a:latin typeface="Century Gothic"/>
                <a:cs typeface="Century Gothic"/>
              </a:rPr>
              <a:t> </a:t>
            </a:r>
            <a:r>
              <a:rPr dirty="0" sz="1700" spc="-10">
                <a:latin typeface="Century Gothic"/>
                <a:cs typeface="Century Gothic"/>
              </a:rPr>
              <a:t>markets? </a:t>
            </a:r>
            <a:r>
              <a:rPr dirty="0" u="sng" sz="17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entury Gothic"/>
                <a:cs typeface="Century Gothic"/>
                <a:hlinkClick r:id="rId3"/>
              </a:rPr>
              <a:t>https://www.youtube.com/watch?v=tyW6NCpVykI</a:t>
            </a:r>
            <a:endParaRPr sz="17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02447" y="2863596"/>
            <a:ext cx="62325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dirty="0" spc="-65"/>
              <a:t> </a:t>
            </a:r>
            <a:r>
              <a:rPr dirty="0"/>
              <a:t>study:</a:t>
            </a:r>
            <a:r>
              <a:rPr dirty="0" spc="-75"/>
              <a:t> </a:t>
            </a:r>
            <a:r>
              <a:rPr dirty="0" spc="-10"/>
              <a:t>Domeyard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109" y="282423"/>
            <a:ext cx="11322941" cy="61849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Christina</a:t>
            </a:r>
            <a:r>
              <a:rPr dirty="0" spc="-160"/>
              <a:t> </a:t>
            </a:r>
            <a:r>
              <a:rPr dirty="0" spc="-25"/>
              <a:t>Qi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593" y="1821179"/>
            <a:ext cx="11559540" cy="4951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9640" indent="-22669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929640" algn="l"/>
              </a:tabLst>
            </a:pPr>
            <a:r>
              <a:rPr dirty="0" u="sng" sz="2000" spc="-10">
                <a:solidFill>
                  <a:srgbClr val="954F72"/>
                </a:solidFill>
                <a:uFill>
                  <a:solidFill>
                    <a:srgbClr val="954F72"/>
                  </a:solidFill>
                </a:uFill>
                <a:latin typeface="Century Gothic"/>
                <a:cs typeface="Century Gothic"/>
                <a:hlinkClick r:id="rId2"/>
              </a:rPr>
              <a:t>https://www.youtube.com/watch?v=qxWObfV0IZM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3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929640" indent="-22669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29640" algn="l"/>
              </a:tabLst>
            </a:pPr>
            <a:r>
              <a:rPr dirty="0" u="sng" sz="2000" spc="-10">
                <a:solidFill>
                  <a:srgbClr val="954F72"/>
                </a:solidFill>
                <a:uFill>
                  <a:solidFill>
                    <a:srgbClr val="954F72"/>
                  </a:solidFill>
                </a:uFill>
                <a:latin typeface="Century Gothic"/>
                <a:cs typeface="Century Gothic"/>
                <a:hlinkClick r:id="rId3"/>
              </a:rPr>
              <a:t>https://www.youtube.com/watch?v=dk9fVo2bTbg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5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929640" indent="-22669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29640" algn="l"/>
              </a:tabLst>
            </a:pPr>
            <a:r>
              <a:rPr dirty="0" u="sng" sz="2000" spc="-10">
                <a:solidFill>
                  <a:srgbClr val="954F72"/>
                </a:solidFill>
                <a:uFill>
                  <a:solidFill>
                    <a:srgbClr val="954F72"/>
                  </a:solidFill>
                </a:uFill>
                <a:latin typeface="Century Gothic"/>
                <a:cs typeface="Century Gothic"/>
                <a:hlinkClick r:id="rId4"/>
              </a:rPr>
              <a:t>https://www.youtube.com/watch?v=5daXfre6sxE</a:t>
            </a:r>
            <a:endParaRPr sz="2000">
              <a:latin typeface="Century Gothic"/>
              <a:cs typeface="Century Gothic"/>
            </a:endParaRPr>
          </a:p>
          <a:p>
            <a:pPr marL="25400">
              <a:lnSpc>
                <a:spcPct val="100000"/>
              </a:lnSpc>
              <a:spcBef>
                <a:spcPts val="640"/>
              </a:spcBef>
            </a:pP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What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different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low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latency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2600"/>
                </a:solidFill>
                <a:latin typeface="Arial"/>
                <a:cs typeface="Arial"/>
              </a:rPr>
              <a:t>strategies</a:t>
            </a:r>
            <a:endParaRPr sz="1100">
              <a:latin typeface="Arial"/>
              <a:cs typeface="Arial"/>
            </a:endParaRPr>
          </a:p>
          <a:p>
            <a:pPr marL="25400" marR="17780">
              <a:lnSpc>
                <a:spcPct val="106100"/>
              </a:lnSpc>
            </a:pP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1.</a:t>
            </a:r>
            <a:r>
              <a:rPr dirty="0" sz="11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2600"/>
                </a:solidFill>
                <a:latin typeface="Arial"/>
                <a:cs typeface="Arial"/>
              </a:rPr>
              <a:t>Exploiting</a:t>
            </a:r>
            <a:r>
              <a:rPr dirty="0" sz="11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Arbitrage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Opportunities: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Leveraging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Law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One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Price,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HFT</a:t>
            </a:r>
            <a:r>
              <a:rPr dirty="0" sz="11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firms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identify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act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discrepancies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asset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prices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across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different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markets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exchanges,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capitalizing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on</a:t>
            </a:r>
            <a:r>
              <a:rPr dirty="0" sz="1100" spc="50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time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takes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prices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2600"/>
                </a:solidFill>
                <a:latin typeface="Arial"/>
                <a:cs typeface="Arial"/>
              </a:rPr>
              <a:t>equilibrate.2.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1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Advantages: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HFT</a:t>
            </a:r>
            <a:r>
              <a:rPr dirty="0" sz="11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firms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use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proprietary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feeds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advanced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gain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access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price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information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faster</a:t>
            </a:r>
            <a:r>
              <a:rPr dirty="0" sz="11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than</a:t>
            </a:r>
            <a:r>
              <a:rPr dirty="0" sz="11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what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is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available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through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standard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channels,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allowing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them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act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information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before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other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participants.3.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News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Event</a:t>
            </a:r>
            <a:r>
              <a:rPr dirty="0" sz="11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2600"/>
                </a:solidFill>
                <a:latin typeface="Arial"/>
                <a:cs typeface="Arial"/>
              </a:rPr>
              <a:t>Trading: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Utilizing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Natural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Language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2600"/>
                </a:solidFill>
                <a:latin typeface="Arial"/>
                <a:cs typeface="Arial"/>
              </a:rPr>
              <a:t>Processing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2600"/>
                </a:solidFill>
                <a:latin typeface="Arial"/>
                <a:cs typeface="Arial"/>
              </a:rPr>
              <a:t>(NLP)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other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technologies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analyze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news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releases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2600"/>
                </a:solidFill>
                <a:latin typeface="Arial"/>
                <a:cs typeface="Arial"/>
              </a:rPr>
              <a:t>milliseconds,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HFT</a:t>
            </a:r>
            <a:r>
              <a:rPr dirty="0" sz="11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firms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execute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trades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based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information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before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broader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has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2600"/>
                </a:solidFill>
                <a:latin typeface="Arial"/>
                <a:cs typeface="Arial"/>
              </a:rPr>
              <a:t>reacted.</a:t>
            </a:r>
            <a:endParaRPr sz="1100">
              <a:latin typeface="Arial"/>
              <a:cs typeface="Arial"/>
            </a:endParaRPr>
          </a:p>
          <a:p>
            <a:pPr marL="55244" marR="40640">
              <a:lnSpc>
                <a:spcPct val="100000"/>
              </a:lnSpc>
              <a:spcBef>
                <a:spcPts val="755"/>
              </a:spcBef>
            </a:pP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4.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Multi-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Venue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Low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Latency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Strategies:</a:t>
            </a:r>
            <a:r>
              <a:rPr dirty="0" sz="10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These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strategies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involve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front-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running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large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orders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one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racing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other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markets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buy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sell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assets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before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large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orders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impact the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prices.</a:t>
            </a:r>
            <a:r>
              <a:rPr dirty="0" sz="10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FF2600"/>
                </a:solidFill>
                <a:latin typeface="Arial"/>
                <a:cs typeface="Arial"/>
              </a:rPr>
              <a:t>is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exemplified by the construction of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the Spread Networks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fiber-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optic cable tunnel to reduce latency between Chicago and New</a:t>
            </a:r>
            <a:r>
              <a:rPr dirty="0" sz="10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York.5.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Order Book</a:t>
            </a:r>
            <a:r>
              <a:rPr dirty="0" sz="10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Analysis: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HFT</a:t>
            </a:r>
            <a:r>
              <a:rPr dirty="0" sz="10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firms analyze the order book to predict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short-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term price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movements based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on the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balance between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potential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buyers 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sellers.</a:t>
            </a:r>
            <a:r>
              <a:rPr dirty="0" sz="10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aim to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collect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bid-ask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spread 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any rebates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offered by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exchanges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for providing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liquidity.6.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Statistical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Arbitrage:This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strategy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involves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identifying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exploiting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stable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relationships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between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pairs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of stocks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instruments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using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vast amounts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of high-frequency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data, aiming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capture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profits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these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relationships.7.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Co- location: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Placing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servers in close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proximity to exchange matching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engines to minimize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the time it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takes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for orders to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be executed,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reducing latency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to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microseconds.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000">
              <a:latin typeface="Arial"/>
              <a:cs typeface="Arial"/>
            </a:endParaRPr>
          </a:p>
          <a:p>
            <a:pPr marL="73660" marR="107314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8.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High-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Speed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Feeds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APIs: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Using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high-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speed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feeds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application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programming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interfaces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(APIs)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process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act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as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quickly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possible.9.</a:t>
            </a:r>
            <a:r>
              <a:rPr dirty="0" sz="1300" spc="-8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Algorithmic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Trading: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Developing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algorithms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execute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speeds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measured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milliseconds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microseconds,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taking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advantage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minor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discrepancies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arise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due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inefficiencies.10.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Management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Execution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Speed: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Implementing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risk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management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systems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monitor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react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conditions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real-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time,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allowing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rapid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adjustment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strategies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FF2600"/>
                </a:solidFill>
                <a:latin typeface="Arial"/>
                <a:cs typeface="Arial"/>
              </a:rPr>
              <a:t>m</a:t>
            </a:r>
            <a:r>
              <a:rPr dirty="0" sz="1300" spc="30">
                <a:solidFill>
                  <a:srgbClr val="FF2600"/>
                </a:solidFill>
                <a:latin typeface="Arial"/>
                <a:cs typeface="Arial"/>
              </a:rPr>
              <a:t>ini</a:t>
            </a:r>
            <a:r>
              <a:rPr dirty="0" sz="1300" spc="20">
                <a:solidFill>
                  <a:srgbClr val="FF2600"/>
                </a:solidFill>
                <a:latin typeface="Arial"/>
                <a:cs typeface="Arial"/>
              </a:rPr>
              <a:t>m</a:t>
            </a:r>
            <a:r>
              <a:rPr dirty="0" sz="1300" spc="30">
                <a:solidFill>
                  <a:srgbClr val="FF2600"/>
                </a:solidFill>
                <a:latin typeface="Arial"/>
                <a:cs typeface="Arial"/>
              </a:rPr>
              <a:t>i</a:t>
            </a:r>
            <a:r>
              <a:rPr dirty="0" sz="1300" spc="25">
                <a:solidFill>
                  <a:srgbClr val="FF2600"/>
                </a:solidFill>
                <a:latin typeface="Arial"/>
                <a:cs typeface="Arial"/>
              </a:rPr>
              <a:t>z</a:t>
            </a:r>
            <a:r>
              <a:rPr dirty="0" sz="1300" spc="-484">
                <a:solidFill>
                  <a:srgbClr val="FF2600"/>
                </a:solidFill>
                <a:latin typeface="Arial"/>
                <a:cs typeface="Arial"/>
              </a:rPr>
              <a:t>e</a:t>
            </a:r>
            <a:r>
              <a:rPr dirty="0" baseline="-27777" sz="1800" spc="37">
                <a:solidFill>
                  <a:srgbClr val="898989"/>
                </a:solidFill>
                <a:latin typeface="Century Gothic"/>
                <a:cs typeface="Century Gothic"/>
              </a:rPr>
              <a:t>6</a:t>
            </a:r>
            <a:r>
              <a:rPr dirty="0" baseline="-27777" sz="1800" spc="-652">
                <a:solidFill>
                  <a:srgbClr val="898989"/>
                </a:solidFill>
                <a:latin typeface="Century Gothic"/>
                <a:cs typeface="Century Gothic"/>
              </a:rPr>
              <a:t>4</a:t>
            </a:r>
            <a:r>
              <a:rPr dirty="0" sz="1300" spc="30">
                <a:solidFill>
                  <a:srgbClr val="FF2600"/>
                </a:solidFill>
                <a:latin typeface="Arial"/>
                <a:cs typeface="Arial"/>
              </a:rPr>
              <a:t>lo</a:t>
            </a:r>
            <a:r>
              <a:rPr dirty="0" sz="1300" spc="20">
                <a:solidFill>
                  <a:srgbClr val="FF2600"/>
                </a:solidFill>
                <a:latin typeface="Arial"/>
                <a:cs typeface="Arial"/>
              </a:rPr>
              <a:t>ss</a:t>
            </a:r>
            <a:r>
              <a:rPr dirty="0" sz="1300" spc="30">
                <a:solidFill>
                  <a:srgbClr val="FF2600"/>
                </a:solidFill>
                <a:latin typeface="Arial"/>
                <a:cs typeface="Arial"/>
              </a:rPr>
              <a:t>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capitalize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opportunities.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Trading</a:t>
            </a:r>
            <a:r>
              <a:rPr dirty="0" spc="-80"/>
              <a:t> </a:t>
            </a:r>
            <a:r>
              <a:rPr dirty="0" spc="-1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10057765" cy="1479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What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are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different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low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latency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strategies?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9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What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is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basic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idea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behind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high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frequency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strategies?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1742" y="6458191"/>
            <a:ext cx="5515610" cy="3987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38100" marR="30480">
              <a:lnSpc>
                <a:spcPct val="104200"/>
              </a:lnSpc>
              <a:spcBef>
                <a:spcPts val="40"/>
              </a:spcBef>
            </a:pP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basis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their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ability to innovate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 adapt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their strategies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 </a:t>
            </a:r>
            <a:r>
              <a:rPr dirty="0" sz="1200" spc="-10">
                <a:latin typeface="Arial"/>
                <a:cs typeface="Arial"/>
              </a:rPr>
              <a:t>c</a:t>
            </a:r>
            <a:r>
              <a:rPr dirty="0" sz="1200" spc="-5">
                <a:latin typeface="Arial"/>
                <a:cs typeface="Arial"/>
              </a:rPr>
              <a:t>hangi</a:t>
            </a:r>
            <a:r>
              <a:rPr dirty="0" sz="1200" spc="-505">
                <a:latin typeface="Arial"/>
                <a:cs typeface="Arial"/>
              </a:rPr>
              <a:t>n</a:t>
            </a:r>
            <a:r>
              <a:rPr dirty="0" baseline="9259" sz="1800" spc="-262">
                <a:solidFill>
                  <a:srgbClr val="898989"/>
                </a:solidFill>
                <a:latin typeface="Century Gothic"/>
                <a:cs typeface="Century Gothic"/>
              </a:rPr>
              <a:t>6</a:t>
            </a:r>
            <a:r>
              <a:rPr dirty="0" sz="1200" spc="-509">
                <a:latin typeface="Arial"/>
                <a:cs typeface="Arial"/>
              </a:rPr>
              <a:t>g</a:t>
            </a:r>
            <a:r>
              <a:rPr dirty="0" baseline="9259" sz="1800" spc="-7">
                <a:solidFill>
                  <a:srgbClr val="898989"/>
                </a:solidFill>
                <a:latin typeface="Century Gothic"/>
                <a:cs typeface="Century Gothic"/>
              </a:rPr>
              <a:t>5</a:t>
            </a:r>
            <a:r>
              <a:rPr dirty="0" baseline="9259" sz="1800" spc="-247">
                <a:solidFill>
                  <a:srgbClr val="898989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latin typeface="Arial"/>
                <a:cs typeface="Arial"/>
              </a:rPr>
              <a:t>market conditions.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-12700" y="3312909"/>
            <a:ext cx="6164580" cy="2456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What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basic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idea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behind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high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frequency</a:t>
            </a:r>
            <a:r>
              <a:rPr dirty="0" sz="1200" spc="-10">
                <a:latin typeface="Arial"/>
                <a:cs typeface="Arial"/>
              </a:rPr>
              <a:t> strategies</a:t>
            </a:r>
            <a:endParaRPr sz="1200">
              <a:latin typeface="Arial"/>
              <a:cs typeface="Arial"/>
            </a:endParaRPr>
          </a:p>
          <a:p>
            <a:pPr marL="85090" marR="5080">
              <a:lnSpc>
                <a:spcPct val="104200"/>
              </a:lnSpc>
            </a:pPr>
            <a:r>
              <a:rPr dirty="0" sz="1200">
                <a:latin typeface="Arial"/>
                <a:cs typeface="Arial"/>
              </a:rPr>
              <a:t>Based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 case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Domeyard,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basic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idea behind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high-</a:t>
            </a:r>
            <a:r>
              <a:rPr dirty="0" sz="1200">
                <a:latin typeface="Arial"/>
                <a:cs typeface="Arial"/>
              </a:rPr>
              <a:t>frequency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trading </a:t>
            </a:r>
            <a:r>
              <a:rPr dirty="0" sz="1200" spc="-10">
                <a:latin typeface="Arial"/>
                <a:cs typeface="Arial"/>
              </a:rPr>
              <a:t>(HFT) </a:t>
            </a:r>
            <a:r>
              <a:rPr dirty="0" sz="1200">
                <a:latin typeface="Arial"/>
                <a:cs typeface="Arial"/>
              </a:rPr>
              <a:t>strategies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revolves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around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leveraging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technology,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speed,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sophisticated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algorithms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to </a:t>
            </a:r>
            <a:r>
              <a:rPr dirty="0" sz="1200">
                <a:latin typeface="Arial"/>
                <a:cs typeface="Arial"/>
              </a:rPr>
              <a:t>capitalize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minor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price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discrepancies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market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inef</a:t>
            </a:r>
            <a:r>
              <a:rPr dirty="0" sz="1200" spc="25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ciencies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occur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125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nancial markets.</a:t>
            </a:r>
            <a:endParaRPr sz="1200">
              <a:latin typeface="Arial"/>
              <a:cs typeface="Arial"/>
            </a:endParaRPr>
          </a:p>
          <a:p>
            <a:pPr marL="12700" marR="163830" indent="168910">
              <a:lnSpc>
                <a:spcPct val="104200"/>
              </a:lnSpc>
              <a:spcBef>
                <a:spcPts val="610"/>
              </a:spcBef>
              <a:buAutoNum type="arabicPeriod"/>
              <a:tabLst>
                <a:tab pos="181610" algn="l"/>
              </a:tabLst>
            </a:pPr>
            <a:r>
              <a:rPr dirty="0" sz="1200">
                <a:latin typeface="Arial"/>
                <a:cs typeface="Arial"/>
              </a:rPr>
              <a:t>Speed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Latency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Reduction: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HFT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rms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aim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minimize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time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delay,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latency,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in </a:t>
            </a:r>
            <a:r>
              <a:rPr dirty="0" sz="1200">
                <a:latin typeface="Arial"/>
                <a:cs typeface="Arial"/>
              </a:rPr>
              <a:t>receiving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market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processing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it,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executing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trades.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This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achieved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co-</a:t>
            </a:r>
            <a:r>
              <a:rPr dirty="0" sz="1200">
                <a:latin typeface="Arial"/>
                <a:cs typeface="Arial"/>
              </a:rPr>
              <a:t>location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servers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near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exchange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centers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using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fastest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possible</a:t>
            </a:r>
            <a:r>
              <a:rPr dirty="0" sz="1200" spc="-10">
                <a:latin typeface="Arial"/>
                <a:cs typeface="Arial"/>
              </a:rPr>
              <a:t> network connections.</a:t>
            </a:r>
            <a:endParaRPr sz="1200">
              <a:latin typeface="Arial"/>
              <a:cs typeface="Arial"/>
            </a:endParaRPr>
          </a:p>
          <a:p>
            <a:pPr marL="12700" marR="156845" indent="168910">
              <a:lnSpc>
                <a:spcPct val="104200"/>
              </a:lnSpc>
              <a:spcBef>
                <a:spcPts val="585"/>
              </a:spcBef>
              <a:buAutoNum type="arabicPeriod"/>
              <a:tabLst>
                <a:tab pos="181610" algn="l"/>
              </a:tabLst>
            </a:pPr>
            <a:r>
              <a:rPr dirty="0" sz="1200">
                <a:latin typeface="Arial"/>
                <a:cs typeface="Arial"/>
              </a:rPr>
              <a:t>Exploiting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Price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Discrepancies: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rapidly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identifying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acting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price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differences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of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securities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across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different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markets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venues,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HFT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strategies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seek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capture </a:t>
            </a:r>
            <a:r>
              <a:rPr dirty="0" sz="1200">
                <a:latin typeface="Arial"/>
                <a:cs typeface="Arial"/>
              </a:rPr>
              <a:t>arbitrage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opportunities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may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last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milliseconds.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2" y="5779770"/>
            <a:ext cx="6207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3.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Algorithmic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Trading:-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HFT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relies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complex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algorithms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can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analyze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large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volumes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of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2" y="5970270"/>
            <a:ext cx="6073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market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execute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trades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high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speeds.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These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algorithms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designed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identify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20" y="6133541"/>
            <a:ext cx="11802110" cy="342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25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4.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High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Turnover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Frequent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Trading:-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HFT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strategies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involve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high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volume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trades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baseline="20833" sz="1800">
                <a:latin typeface="Arial"/>
                <a:cs typeface="Arial"/>
              </a:rPr>
              <a:t>9.</a:t>
            </a:r>
            <a:r>
              <a:rPr dirty="0" baseline="20833" sz="1800" spc="-22">
                <a:latin typeface="Arial"/>
                <a:cs typeface="Arial"/>
              </a:rPr>
              <a:t> </a:t>
            </a:r>
            <a:r>
              <a:rPr dirty="0" baseline="20833" sz="1800">
                <a:latin typeface="Arial"/>
                <a:cs typeface="Arial"/>
              </a:rPr>
              <a:t>Commodity</a:t>
            </a:r>
            <a:r>
              <a:rPr dirty="0" baseline="20833" sz="1800" spc="-15">
                <a:latin typeface="Arial"/>
                <a:cs typeface="Arial"/>
              </a:rPr>
              <a:t> </a:t>
            </a:r>
            <a:r>
              <a:rPr dirty="0" baseline="20833" sz="1800">
                <a:latin typeface="Arial"/>
                <a:cs typeface="Arial"/>
              </a:rPr>
              <a:t>of</a:t>
            </a:r>
            <a:r>
              <a:rPr dirty="0" baseline="20833" sz="1800" spc="-30">
                <a:latin typeface="Arial"/>
                <a:cs typeface="Arial"/>
              </a:rPr>
              <a:t> </a:t>
            </a:r>
            <a:r>
              <a:rPr dirty="0" baseline="20833" sz="1800" spc="-67">
                <a:latin typeface="Arial"/>
                <a:cs typeface="Arial"/>
              </a:rPr>
              <a:t>HFT:</a:t>
            </a:r>
            <a:r>
              <a:rPr dirty="0" baseline="20833" sz="1800" spc="-104">
                <a:latin typeface="Arial"/>
                <a:cs typeface="Arial"/>
              </a:rPr>
              <a:t> </a:t>
            </a:r>
            <a:r>
              <a:rPr dirty="0" baseline="20833" sz="1800">
                <a:latin typeface="Arial"/>
                <a:cs typeface="Arial"/>
              </a:rPr>
              <a:t>As</a:t>
            </a:r>
            <a:r>
              <a:rPr dirty="0" baseline="20833" sz="1800" spc="-15">
                <a:latin typeface="Arial"/>
                <a:cs typeface="Arial"/>
              </a:rPr>
              <a:t> </a:t>
            </a:r>
            <a:r>
              <a:rPr dirty="0" baseline="20833" sz="1800">
                <a:latin typeface="Arial"/>
                <a:cs typeface="Arial"/>
              </a:rPr>
              <a:t>hardware</a:t>
            </a:r>
            <a:r>
              <a:rPr dirty="0" baseline="20833" sz="1800" spc="-15">
                <a:latin typeface="Arial"/>
                <a:cs typeface="Arial"/>
              </a:rPr>
              <a:t> </a:t>
            </a:r>
            <a:r>
              <a:rPr dirty="0" baseline="20833" sz="1800">
                <a:latin typeface="Arial"/>
                <a:cs typeface="Arial"/>
              </a:rPr>
              <a:t>costs</a:t>
            </a:r>
            <a:r>
              <a:rPr dirty="0" baseline="20833" sz="1800" spc="-22">
                <a:latin typeface="Arial"/>
                <a:cs typeface="Arial"/>
              </a:rPr>
              <a:t> </a:t>
            </a:r>
            <a:r>
              <a:rPr dirty="0" baseline="20833" sz="1800">
                <a:latin typeface="Arial"/>
                <a:cs typeface="Arial"/>
              </a:rPr>
              <a:t>decrease</a:t>
            </a:r>
            <a:r>
              <a:rPr dirty="0" baseline="20833" sz="1800" spc="-15">
                <a:latin typeface="Arial"/>
                <a:cs typeface="Arial"/>
              </a:rPr>
              <a:t> </a:t>
            </a:r>
            <a:r>
              <a:rPr dirty="0" baseline="20833" sz="1800">
                <a:latin typeface="Arial"/>
                <a:cs typeface="Arial"/>
              </a:rPr>
              <a:t>and</a:t>
            </a:r>
            <a:r>
              <a:rPr dirty="0" baseline="20833" sz="1800" spc="-15">
                <a:latin typeface="Arial"/>
                <a:cs typeface="Arial"/>
              </a:rPr>
              <a:t> </a:t>
            </a:r>
            <a:r>
              <a:rPr dirty="0" baseline="20833" sz="1800">
                <a:latin typeface="Arial"/>
                <a:cs typeface="Arial"/>
              </a:rPr>
              <a:t>commercial</a:t>
            </a:r>
            <a:r>
              <a:rPr dirty="0" baseline="20833" sz="1800" spc="-22">
                <a:latin typeface="Arial"/>
                <a:cs typeface="Arial"/>
              </a:rPr>
              <a:t> </a:t>
            </a:r>
            <a:r>
              <a:rPr dirty="0" baseline="20833" sz="1800" spc="-15">
                <a:latin typeface="Arial"/>
                <a:cs typeface="Arial"/>
              </a:rPr>
              <a:t>software</a:t>
            </a:r>
            <a:endParaRPr baseline="20833" sz="1800">
              <a:latin typeface="Arial"/>
              <a:cs typeface="Arial"/>
            </a:endParaRPr>
          </a:p>
          <a:p>
            <a:pPr marL="6285865">
              <a:lnSpc>
                <a:spcPts val="1250"/>
              </a:lnSpc>
            </a:pPr>
            <a:r>
              <a:rPr dirty="0" sz="1200">
                <a:latin typeface="Arial"/>
                <a:cs typeface="Arial"/>
              </a:rPr>
              <a:t>solutions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improve,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HFT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becoming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commoditized,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firms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competing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20" y="6324041"/>
            <a:ext cx="6028690" cy="3987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40"/>
              </a:spcBef>
            </a:pPr>
            <a:r>
              <a:rPr dirty="0" sz="1200">
                <a:latin typeface="Arial"/>
                <a:cs typeface="Arial"/>
              </a:rPr>
              <a:t>very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short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holding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periods.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goal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accumulate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small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profits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large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number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of </a:t>
            </a:r>
            <a:r>
              <a:rPr dirty="0" sz="1200">
                <a:latin typeface="Arial"/>
                <a:cs typeface="Arial"/>
              </a:rPr>
              <a:t>trades,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compound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over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time.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8633" y="3244976"/>
            <a:ext cx="5772785" cy="285051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459"/>
              </a:spcBef>
              <a:buAutoNum type="arabicPeriod" startAt="5"/>
              <a:tabLst>
                <a:tab pos="181610" algn="l"/>
              </a:tabLst>
            </a:pPr>
            <a:r>
              <a:rPr dirty="0" sz="1200" spc="-10">
                <a:latin typeface="Arial"/>
                <a:cs typeface="Arial"/>
              </a:rPr>
              <a:t>Statistical</a:t>
            </a:r>
            <a:r>
              <a:rPr dirty="0" sz="1200" spc="-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Arbitrage:-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Some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HFT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strategies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statistical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analysis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 </a:t>
            </a:r>
            <a:r>
              <a:rPr dirty="0" sz="1200" spc="-10">
                <a:latin typeface="Arial"/>
                <a:cs typeface="Arial"/>
              </a:rPr>
              <a:t>identify</a:t>
            </a:r>
            <a:endParaRPr sz="1200">
              <a:latin typeface="Arial"/>
              <a:cs typeface="Arial"/>
            </a:endParaRPr>
          </a:p>
          <a:p>
            <a:pPr marL="12700" marR="161925">
              <a:lnSpc>
                <a:spcPct val="104200"/>
              </a:lnSpc>
              <a:spcBef>
                <a:spcPts val="300"/>
              </a:spcBef>
            </a:pPr>
            <a:r>
              <a:rPr dirty="0" sz="1200">
                <a:latin typeface="Arial"/>
                <a:cs typeface="Arial"/>
              </a:rPr>
              <a:t>relationships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between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different</a:t>
            </a:r>
            <a:r>
              <a:rPr dirty="0" sz="1200" spc="114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nancial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instruments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exploit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these</a:t>
            </a:r>
            <a:r>
              <a:rPr dirty="0" sz="1200" spc="-10">
                <a:latin typeface="Arial"/>
                <a:cs typeface="Arial"/>
              </a:rPr>
              <a:t> relationships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generate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profits.</a:t>
            </a:r>
            <a:endParaRPr sz="1200">
              <a:latin typeface="Arial"/>
              <a:cs typeface="Arial"/>
            </a:endParaRPr>
          </a:p>
          <a:p>
            <a:pPr marL="120650" marR="207645" indent="168910">
              <a:lnSpc>
                <a:spcPct val="104200"/>
              </a:lnSpc>
              <a:spcBef>
                <a:spcPts val="640"/>
              </a:spcBef>
              <a:buAutoNum type="arabicPeriod" startAt="6"/>
              <a:tabLst>
                <a:tab pos="289560" algn="l"/>
              </a:tabLst>
            </a:pPr>
            <a:r>
              <a:rPr dirty="0" sz="1200">
                <a:latin typeface="Arial"/>
                <a:cs typeface="Arial"/>
              </a:rPr>
              <a:t>Order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</a:t>
            </a:r>
            <a:r>
              <a:rPr dirty="0" sz="1200" spc="-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Analysis:-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HFT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firms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analyze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order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predict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short-</a:t>
            </a:r>
            <a:r>
              <a:rPr dirty="0" sz="1200" spc="-20">
                <a:latin typeface="Arial"/>
                <a:cs typeface="Arial"/>
              </a:rPr>
              <a:t>term </a:t>
            </a:r>
            <a:r>
              <a:rPr dirty="0" sz="1200">
                <a:latin typeface="Arial"/>
                <a:cs typeface="Arial"/>
              </a:rPr>
              <a:t>price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movements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based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balance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between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buyers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sellers.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They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aim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to </a:t>
            </a:r>
            <a:r>
              <a:rPr dirty="0" sz="1200">
                <a:latin typeface="Arial"/>
                <a:cs typeface="Arial"/>
              </a:rPr>
              <a:t>collect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bid-</a:t>
            </a:r>
            <a:r>
              <a:rPr dirty="0" sz="1200">
                <a:latin typeface="Arial"/>
                <a:cs typeface="Arial"/>
              </a:rPr>
              <a:t>ask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spread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rebates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offered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exchanges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providing liquidity.</a:t>
            </a:r>
            <a:endParaRPr sz="1200">
              <a:latin typeface="Arial"/>
              <a:cs typeface="Arial"/>
            </a:endParaRPr>
          </a:p>
          <a:p>
            <a:pPr marL="120650" marR="221615" indent="166370">
              <a:lnSpc>
                <a:spcPct val="104200"/>
              </a:lnSpc>
              <a:buAutoNum type="arabicPeriod" startAt="6"/>
              <a:tabLst>
                <a:tab pos="287020" algn="l"/>
              </a:tabLst>
            </a:pPr>
            <a:r>
              <a:rPr dirty="0" sz="1200" spc="-20">
                <a:latin typeface="Arial"/>
                <a:cs typeface="Arial"/>
              </a:rPr>
              <a:t>Technology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Advantages:-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HFT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firms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invest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proprietary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technology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gain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a </a:t>
            </a:r>
            <a:r>
              <a:rPr dirty="0" sz="1200">
                <a:latin typeface="Arial"/>
                <a:cs typeface="Arial"/>
              </a:rPr>
              <a:t>competitive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edge.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This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includes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faster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feeds,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accurate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news</a:t>
            </a:r>
            <a:r>
              <a:rPr dirty="0" sz="1200" spc="-10">
                <a:latin typeface="Arial"/>
                <a:cs typeface="Arial"/>
              </a:rPr>
              <a:t> event </a:t>
            </a:r>
            <a:r>
              <a:rPr dirty="0" sz="1200">
                <a:latin typeface="Arial"/>
                <a:cs typeface="Arial"/>
              </a:rPr>
              <a:t>analysis,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ability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execute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trades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quickly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market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average.</a:t>
            </a:r>
            <a:endParaRPr sz="1200">
              <a:latin typeface="Arial"/>
              <a:cs typeface="Arial"/>
            </a:endParaRPr>
          </a:p>
          <a:p>
            <a:pPr marL="120650" marR="5080" indent="168910">
              <a:lnSpc>
                <a:spcPct val="104200"/>
              </a:lnSpc>
              <a:buAutoNum type="arabicPeriod" startAt="6"/>
              <a:tabLst>
                <a:tab pos="289560" algn="l"/>
              </a:tabLst>
            </a:pPr>
            <a:r>
              <a:rPr dirty="0" sz="1200">
                <a:latin typeface="Arial"/>
                <a:cs typeface="Arial"/>
              </a:rPr>
              <a:t>Risk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Management:-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While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pursuing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rapid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trading,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HFT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strategies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also</a:t>
            </a:r>
            <a:r>
              <a:rPr dirty="0" sz="1200" spc="-10">
                <a:latin typeface="Arial"/>
                <a:cs typeface="Arial"/>
              </a:rPr>
              <a:t> incorporate </a:t>
            </a:r>
            <a:r>
              <a:rPr dirty="0" sz="1200">
                <a:latin typeface="Arial"/>
                <a:cs typeface="Arial"/>
              </a:rPr>
              <a:t>rigorous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risk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management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control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potential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losses.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This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includes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setting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limits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on </a:t>
            </a:r>
            <a:r>
              <a:rPr dirty="0" sz="1200">
                <a:latin typeface="Arial"/>
                <a:cs typeface="Arial"/>
              </a:rPr>
              <a:t>trade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size,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employing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stop-</a:t>
            </a:r>
            <a:r>
              <a:rPr dirty="0" sz="1200">
                <a:latin typeface="Arial"/>
                <a:cs typeface="Arial"/>
              </a:rPr>
              <a:t>loss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orders,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using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algorithms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monitor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adjust </a:t>
            </a:r>
            <a:r>
              <a:rPr dirty="0" sz="1200">
                <a:latin typeface="Arial"/>
                <a:cs typeface="Arial"/>
              </a:rPr>
              <a:t>positions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real-</a:t>
            </a:r>
            <a:r>
              <a:rPr dirty="0" sz="1200" spc="-20">
                <a:latin typeface="Arial"/>
                <a:cs typeface="Arial"/>
              </a:rPr>
              <a:t>time.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66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286512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Dark</a:t>
            </a:r>
            <a:r>
              <a:rPr dirty="0" spc="-55"/>
              <a:t> </a:t>
            </a:r>
            <a:r>
              <a:rPr dirty="0" spc="-10"/>
              <a:t>pools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288" y="1577136"/>
            <a:ext cx="11102975" cy="4366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80"/>
              </a:lnSpc>
              <a:spcBef>
                <a:spcPts val="10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What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dark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pools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were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created</a:t>
            </a:r>
            <a:endParaRPr sz="1300">
              <a:latin typeface="Arial"/>
              <a:cs typeface="Arial"/>
            </a:endParaRPr>
          </a:p>
          <a:p>
            <a:pPr marL="12700" marR="656590">
              <a:lnSpc>
                <a:spcPct val="76900"/>
              </a:lnSpc>
              <a:spcBef>
                <a:spcPts val="18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Dark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pools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private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forums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exchanges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where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large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institutions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securities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away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public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eye.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They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called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"dark"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because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publish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quotes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prices,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providing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anonymity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traders.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300">
              <a:latin typeface="Arial"/>
              <a:cs typeface="Arial"/>
            </a:endParaRPr>
          </a:p>
          <a:p>
            <a:pPr marL="12700" marR="1290320" indent="173990">
              <a:lnSpc>
                <a:spcPct val="78900"/>
              </a:lnSpc>
              <a:buAutoNum type="arabicPeriod"/>
              <a:tabLst>
                <a:tab pos="18669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Anonymity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Large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Orders:-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Dark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pools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were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created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allow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institutional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execute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large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orders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without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revealing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their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intentions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public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cause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significant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movements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erode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value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trade.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AutoNum type="arabicPeriod"/>
            </a:pPr>
            <a:endParaRPr sz="1300">
              <a:latin typeface="Arial"/>
              <a:cs typeface="Arial"/>
            </a:endParaRPr>
          </a:p>
          <a:p>
            <a:pPr marL="37465" marR="1054735" indent="182880">
              <a:lnSpc>
                <a:spcPct val="78900"/>
              </a:lnSpc>
              <a:buAutoNum type="arabicPeriod"/>
              <a:tabLst>
                <a:tab pos="220345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Impact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Mitigation:-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dark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pools,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institutions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minimize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impact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trades.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large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order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were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be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placed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public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exchange,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move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against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trader,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making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execution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less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favorable.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5"/>
              </a:spcBef>
              <a:buAutoNum type="arabicPeriod"/>
            </a:pPr>
            <a:endParaRPr sz="1300">
              <a:latin typeface="Arial"/>
              <a:cs typeface="Arial"/>
            </a:endParaRPr>
          </a:p>
          <a:p>
            <a:pPr marL="37465" marR="386715" indent="153670">
              <a:lnSpc>
                <a:spcPts val="1080"/>
              </a:lnSpc>
              <a:spcBef>
                <a:spcPts val="5"/>
              </a:spcBef>
              <a:buAutoNum type="arabicPeriod"/>
              <a:tabLst>
                <a:tab pos="191135" algn="l"/>
              </a:tabLst>
            </a:pP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Pressure:</a:t>
            </a:r>
            <a:r>
              <a:rPr dirty="0" sz="11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creation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dark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pools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was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also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response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requirements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aimed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increase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competition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among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1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makers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1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reduce</a:t>
            </a:r>
            <a:r>
              <a:rPr dirty="0" sz="1100" spc="-25">
                <a:solidFill>
                  <a:srgbClr val="FF2600"/>
                </a:solidFill>
                <a:latin typeface="Arial"/>
                <a:cs typeface="Arial"/>
              </a:rPr>
              <a:t> the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dominance</a:t>
            </a:r>
            <a:r>
              <a:rPr dirty="0" sz="11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1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1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2600"/>
                </a:solidFill>
                <a:latin typeface="Arial"/>
                <a:cs typeface="Arial"/>
              </a:rPr>
              <a:t>exchanges.</a:t>
            </a:r>
            <a:endParaRPr sz="1100">
              <a:latin typeface="Arial"/>
              <a:cs typeface="Arial"/>
            </a:endParaRPr>
          </a:p>
          <a:p>
            <a:pPr marL="62230" marR="115570" indent="182880">
              <a:lnSpc>
                <a:spcPct val="102600"/>
              </a:lnSpc>
              <a:spcBef>
                <a:spcPts val="355"/>
              </a:spcBef>
              <a:buAutoNum type="arabicPeriod"/>
              <a:tabLst>
                <a:tab pos="24511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Protection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HFT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Strategies: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High-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frequency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(HFT)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firms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front-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run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large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orders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detecting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presence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market.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Dark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pools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provide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means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large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traders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hide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orders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HFT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firms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other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participants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might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take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advantage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information.</a:t>
            </a:r>
            <a:endParaRPr sz="1300">
              <a:latin typeface="Arial"/>
              <a:cs typeface="Arial"/>
            </a:endParaRPr>
          </a:p>
          <a:p>
            <a:pPr marL="62230" marR="203200" indent="182880">
              <a:lnSpc>
                <a:spcPct val="102600"/>
              </a:lnSpc>
              <a:buAutoNum type="arabicPeriod"/>
              <a:tabLst>
                <a:tab pos="245110" algn="l"/>
              </a:tabLst>
            </a:pP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Non-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Display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Orders: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Dark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pools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allow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non-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display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orders,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meaning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orders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executed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without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broadcast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wider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which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helps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maintaining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confidentiality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intentions.</a:t>
            </a:r>
            <a:endParaRPr sz="1300">
              <a:latin typeface="Arial"/>
              <a:cs typeface="Arial"/>
            </a:endParaRPr>
          </a:p>
          <a:p>
            <a:pPr marL="62230" marR="5080" indent="182880">
              <a:lnSpc>
                <a:spcPct val="102600"/>
              </a:lnSpc>
              <a:buAutoNum type="arabicPeriod"/>
              <a:tabLst>
                <a:tab pos="24511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Crossing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Networks: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often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crossing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networks,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where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buyers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sellers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same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security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matched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directly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without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for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maker,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potentially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reducing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costs.</a:t>
            </a:r>
            <a:endParaRPr sz="1300">
              <a:latin typeface="Arial"/>
              <a:cs typeface="Arial"/>
            </a:endParaRPr>
          </a:p>
          <a:p>
            <a:pPr marL="62230" marR="59055" indent="182880">
              <a:lnSpc>
                <a:spcPct val="102600"/>
              </a:lnSpc>
              <a:buAutoNum type="arabicPeriod"/>
              <a:tabLst>
                <a:tab pos="245110" algn="l"/>
              </a:tabLst>
            </a:pP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300" spc="-8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Arbitrage: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Some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entities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create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dark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pools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take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advantage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differences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across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markets,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allowing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them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operate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less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regulated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environment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compared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public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exchanges.</a:t>
            </a:r>
            <a:endParaRPr sz="1300">
              <a:latin typeface="Arial"/>
              <a:cs typeface="Arial"/>
            </a:endParaRPr>
          </a:p>
          <a:p>
            <a:pPr marL="62230" marR="858519" indent="182880">
              <a:lnSpc>
                <a:spcPct val="102600"/>
              </a:lnSpc>
              <a:buAutoNum type="arabicPeriod"/>
              <a:tabLst>
                <a:tab pos="24511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Microstructure: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evolution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microstructure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led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proliferation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venues,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including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dark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pools,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market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participants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seek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optimize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strategies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reduce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costs.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66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/>
              <a:t>Regulatory</a:t>
            </a:r>
            <a:r>
              <a:rPr dirty="0" spc="-170"/>
              <a:t> </a:t>
            </a:r>
            <a:r>
              <a:rPr dirty="0" spc="-10"/>
              <a:t>responses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5038725" cy="4164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Circuit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breakers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3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Dark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pool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regulations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5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Limiting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cancellations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Tax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cancellations,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minimal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time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interval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2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Randomized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auction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timing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Mitigate</a:t>
            </a:r>
            <a:r>
              <a:rPr dirty="0" sz="1800" spc="-10">
                <a:latin typeface="Century Gothic"/>
                <a:cs typeface="Century Gothic"/>
              </a:rPr>
              <a:t> front-running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2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Code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verification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80115" y="6433820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98989"/>
                </a:solidFill>
                <a:latin typeface="Century Gothic"/>
                <a:cs typeface="Century Gothic"/>
              </a:rPr>
              <a:t>68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875" y="1807971"/>
            <a:ext cx="11085830" cy="4518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6120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706120" algn="l"/>
              </a:tabLst>
            </a:pPr>
            <a:r>
              <a:rPr dirty="0" sz="2800">
                <a:latin typeface="Century Gothic"/>
                <a:cs typeface="Century Gothic"/>
              </a:rPr>
              <a:t>How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do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HFTs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affect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retail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investors?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How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HFTs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affect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retail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endParaRPr sz="1300">
              <a:latin typeface="Arial"/>
              <a:cs typeface="Arial"/>
            </a:endParaRPr>
          </a:p>
          <a:p>
            <a:pPr marL="12700" marR="530860" indent="182880">
              <a:lnSpc>
                <a:spcPct val="102600"/>
              </a:lnSpc>
              <a:buAutoNum type="arabicPeriod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Efficiency: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HFTs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contribute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efficiency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quickly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incorporating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information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security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prices.</a:t>
            </a:r>
            <a:r>
              <a:rPr dirty="0" sz="13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lead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more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accurate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reduced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bid-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ask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spreads,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benefit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providing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better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execution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prices.</a:t>
            </a:r>
            <a:endParaRPr sz="1300">
              <a:latin typeface="Arial"/>
              <a:cs typeface="Arial"/>
            </a:endParaRPr>
          </a:p>
          <a:p>
            <a:pPr marL="12700" marR="5080" indent="182880">
              <a:lnSpc>
                <a:spcPct val="102600"/>
              </a:lnSpc>
              <a:buAutoNum type="arabicPeriod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Liquidity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Provision: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HFT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firms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often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makers,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providing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liquidity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market.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beneficial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ensures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that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orders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likely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filled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quickly,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especially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less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liquid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stocks.</a:t>
            </a:r>
            <a:endParaRPr sz="1300">
              <a:latin typeface="Arial"/>
              <a:cs typeface="Arial"/>
            </a:endParaRPr>
          </a:p>
          <a:p>
            <a:pPr marL="12700" marR="344170" indent="182880">
              <a:lnSpc>
                <a:spcPct val="102600"/>
              </a:lnSpc>
              <a:buAutoNum type="arabicPeriod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Volatility: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While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HFTs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contribute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efficient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discovery,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also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potentially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increase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short-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term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volatility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due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the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speed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scale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activities.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might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make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difficult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predict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movements.</a:t>
            </a:r>
            <a:endParaRPr sz="1300">
              <a:latin typeface="Arial"/>
              <a:cs typeface="Arial"/>
            </a:endParaRPr>
          </a:p>
          <a:p>
            <a:pPr marL="12700" marR="410209" indent="173990">
              <a:lnSpc>
                <a:spcPct val="102600"/>
              </a:lnSpc>
              <a:buAutoNum type="arabicPeriod"/>
              <a:tabLst>
                <a:tab pos="18669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Access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Information: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HFTs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have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access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advanced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technologies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analytics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give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them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edge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processing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information quickly.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typically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have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less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access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resources,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might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harder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compete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equal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footing.</a:t>
            </a:r>
            <a:endParaRPr sz="1300">
              <a:latin typeface="Arial"/>
              <a:cs typeface="Arial"/>
            </a:endParaRPr>
          </a:p>
          <a:p>
            <a:pPr marL="12700" marR="172085" indent="182880">
              <a:lnSpc>
                <a:spcPct val="102600"/>
              </a:lnSpc>
              <a:buAutoNum type="arabicPeriod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Manipulation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Concerns: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Some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critics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argue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HFTs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engage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practices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manipulate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spoofing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quote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stuffing,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create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artificial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liquidity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distort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prices.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potentially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harm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rely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accurate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signals.</a:t>
            </a:r>
            <a:endParaRPr sz="1300">
              <a:latin typeface="Arial"/>
              <a:cs typeface="Arial"/>
            </a:endParaRPr>
          </a:p>
          <a:p>
            <a:pPr marL="12700" marR="246379" indent="180340">
              <a:lnSpc>
                <a:spcPct val="102600"/>
              </a:lnSpc>
              <a:buAutoNum type="arabicPeriod"/>
              <a:tabLst>
                <a:tab pos="193040" algn="l"/>
              </a:tabLst>
            </a:pP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Transaction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Costs: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-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presence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HFTs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lead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narrower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spreads,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reduces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cost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investors.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However,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retail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unable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access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same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low-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cost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due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higher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minimum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commissions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other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barriers,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might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benefit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much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from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these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reduced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spreads.</a:t>
            </a:r>
            <a:endParaRPr sz="1300">
              <a:latin typeface="Arial"/>
              <a:cs typeface="Arial"/>
            </a:endParaRPr>
          </a:p>
          <a:p>
            <a:pPr algn="just" marL="12700" marR="6350" indent="182880">
              <a:lnSpc>
                <a:spcPct val="102600"/>
              </a:lnSpc>
              <a:buAutoNum type="arabicPeriod" startAt="8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Fairness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Transparency: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use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dark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pools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other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private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venues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institutional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lead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concerns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about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fairness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transparency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market.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might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feel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disadvantage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because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cannot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access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these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venues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information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that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traded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them.</a:t>
            </a:r>
            <a:endParaRPr sz="1300">
              <a:latin typeface="Arial"/>
              <a:cs typeface="Arial"/>
            </a:endParaRPr>
          </a:p>
          <a:p>
            <a:pPr algn="just" marL="12700" marR="295910" indent="182880">
              <a:lnSpc>
                <a:spcPct val="102600"/>
              </a:lnSpc>
              <a:buAutoNum type="arabicPeriod" startAt="8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Systemic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Risk: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activities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HFTs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contribute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systemic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risk,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seen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events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like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Flash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Crash.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While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directly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involved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these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high-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speed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trades,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affected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broader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disruptions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occur.</a:t>
            </a:r>
            <a:endParaRPr sz="1300">
              <a:latin typeface="Arial"/>
              <a:cs typeface="Arial"/>
            </a:endParaRPr>
          </a:p>
          <a:p>
            <a:pPr algn="just" marL="287020" indent="-274320">
              <a:lnSpc>
                <a:spcPct val="100000"/>
              </a:lnSpc>
              <a:spcBef>
                <a:spcPts val="35"/>
              </a:spcBef>
              <a:buAutoNum type="arabicPeriod" startAt="8"/>
              <a:tabLst>
                <a:tab pos="28702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Education</a:t>
            </a:r>
            <a:r>
              <a:rPr dirty="0" sz="13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Adaptation: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evolves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influence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HFTs,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adapt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strategies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become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0875" y="6305803"/>
            <a:ext cx="110629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educated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about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dynamics.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challenge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those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less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tech-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savvy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do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have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resources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keep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up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with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0875" y="6509004"/>
            <a:ext cx="13843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rapid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changes.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644" rIns="0" bIns="0" rtlCol="0" vert="horz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9450705" cy="241109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Should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Domeyard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become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106J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member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or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106H </a:t>
            </a:r>
            <a:r>
              <a:rPr dirty="0" sz="2800">
                <a:latin typeface="Century Gothic"/>
                <a:cs typeface="Century Gothic"/>
              </a:rPr>
              <a:t>member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at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CME?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328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106J: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$6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million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upfrount</a:t>
            </a:r>
            <a:endParaRPr sz="24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39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106H: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$3800/month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916939" y="638556"/>
            <a:ext cx="208724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0">
                <a:latin typeface="Century Gothic"/>
                <a:cs typeface="Century Gothic"/>
              </a:rPr>
              <a:t>Update</a:t>
            </a:r>
            <a:endParaRPr sz="44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10011410" cy="104076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 marR="5080">
              <a:lnSpc>
                <a:spcPct val="88700"/>
              </a:lnSpc>
              <a:spcBef>
                <a:spcPts val="425"/>
              </a:spcBef>
            </a:pPr>
            <a:r>
              <a:rPr dirty="0" sz="2400">
                <a:latin typeface="Century Gothic"/>
                <a:cs typeface="Century Gothic"/>
              </a:rPr>
              <a:t>After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years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“making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billionaires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richer,”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founder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Domeyard, </a:t>
            </a:r>
            <a:r>
              <a:rPr dirty="0" sz="2400">
                <a:latin typeface="Century Gothic"/>
                <a:cs typeface="Century Gothic"/>
              </a:rPr>
              <a:t>Christina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Qi,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started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new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company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–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Databento,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data </a:t>
            </a:r>
            <a:r>
              <a:rPr dirty="0" sz="2400">
                <a:latin typeface="Century Gothic"/>
                <a:cs typeface="Century Gothic"/>
              </a:rPr>
              <a:t>provider,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aiming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break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down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barriers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finance.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6846" y="227087"/>
            <a:ext cx="1652423" cy="2705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9575" y="3170711"/>
            <a:ext cx="6960275" cy="34269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69</a:t>
            </a:fld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083" y="450126"/>
            <a:ext cx="9551700" cy="602061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2025-12-17T16:39:56Z</dcterms:created>
  <dcterms:modified xsi:type="dcterms:W3CDTF">2025-12-17T16:39:56Z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2025-10-01T00:00:00Z</vt:filetime>
  </property>
  <property fmtid="{D5CDD505-2E9C-101B-9397-08002B2CF9AE}" pid="3" name="LastSaved">
    <vt:filetime>2025-12-17T00:00:00Z</vt:filetime>
  </property>
  <property fmtid="{D5CDD505-2E9C-101B-9397-08002B2CF9AE}" pid="4" name="Producer">
    <vt:lpwstr>macOS 版本14.0（版号23A344） Quartz PDFContext, AppendMode 1.1</vt:lpwstr>
  </property>
</Properties>
</file>