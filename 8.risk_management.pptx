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82018" y="2605532"/>
            <a:ext cx="752157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2600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2600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64971"/>
            <a:ext cx="103581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8065" y="2797114"/>
            <a:ext cx="8590280" cy="1983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2600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4715" y="6432927"/>
            <a:ext cx="257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jpg"/><Relationship Id="rId11" Type="http://schemas.openxmlformats.org/officeDocument/2006/relationships/image" Target="../media/image41.jpg"/><Relationship Id="rId12" Type="http://schemas.openxmlformats.org/officeDocument/2006/relationships/image" Target="../media/image42.jpg"/><Relationship Id="rId13" Type="http://schemas.openxmlformats.org/officeDocument/2006/relationships/image" Target="../media/image4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ista.com/statistics/1313125/global-investment-activity-in-regtech/" TargetMode="External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hyperlink" Target="https://www.statista.com/statistics/1226494/fintech-companies-deals-emea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8.</a:t>
            </a:r>
            <a:r>
              <a:rPr dirty="0" sz="6000" spc="-35"/>
              <a:t> </a:t>
            </a:r>
            <a:r>
              <a:rPr dirty="0" sz="6000"/>
              <a:t>Risk</a:t>
            </a:r>
            <a:r>
              <a:rPr dirty="0" sz="6000" spc="-30"/>
              <a:t> </a:t>
            </a:r>
            <a:r>
              <a:rPr dirty="0" sz="6000" spc="-10"/>
              <a:t>Management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433218" y="4053332"/>
            <a:ext cx="1325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Qi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Wang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3361690" cy="3543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Regulatory</a:t>
            </a:r>
            <a:r>
              <a:rPr dirty="0" sz="2000" spc="-9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technologies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6: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Regtech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HSBC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3700" y="2902203"/>
            <a:ext cx="632587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Market</a:t>
            </a:r>
            <a:r>
              <a:rPr dirty="0" sz="4000" spc="-50"/>
              <a:t> </a:t>
            </a:r>
            <a:r>
              <a:rPr dirty="0" sz="4000"/>
              <a:t>Risk</a:t>
            </a:r>
            <a:r>
              <a:rPr dirty="0" sz="4000" spc="-40"/>
              <a:t> </a:t>
            </a:r>
            <a:r>
              <a:rPr dirty="0" sz="4000" spc="-10"/>
              <a:t>Management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dirty="0" spc="-5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0118" y="1533144"/>
            <a:ext cx="6979284" cy="896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72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entury Gothic"/>
                <a:cs typeface="Century Gothic"/>
              </a:rPr>
              <a:t>Risk</a:t>
            </a:r>
            <a:r>
              <a:rPr dirty="0" sz="2300" spc="-5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must</a:t>
            </a:r>
            <a:r>
              <a:rPr dirty="0" sz="2300" spc="-5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be</a:t>
            </a:r>
            <a:r>
              <a:rPr dirty="0" sz="2300" spc="-3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managed,</a:t>
            </a:r>
            <a:r>
              <a:rPr dirty="0" sz="2300" spc="-4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it</a:t>
            </a:r>
            <a:r>
              <a:rPr dirty="0" sz="2300" spc="-5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cannot</a:t>
            </a:r>
            <a:r>
              <a:rPr dirty="0" sz="2300" spc="-5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be</a:t>
            </a:r>
            <a:r>
              <a:rPr dirty="0" sz="2300" spc="-35">
                <a:latin typeface="Century Gothic"/>
                <a:cs typeface="Century Gothic"/>
              </a:rPr>
              <a:t> </a:t>
            </a:r>
            <a:r>
              <a:rPr dirty="0" sz="2300" spc="-10">
                <a:latin typeface="Century Gothic"/>
                <a:cs typeface="Century Gothic"/>
              </a:rPr>
              <a:t>eliminated</a:t>
            </a:r>
            <a:endParaRPr sz="2300">
              <a:latin typeface="Century Gothic"/>
              <a:cs typeface="Century Gothic"/>
            </a:endParaRPr>
          </a:p>
          <a:p>
            <a:pPr lvl="1" marL="697865" indent="-227965">
              <a:lnSpc>
                <a:spcPts val="2050"/>
              </a:lnSpc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Too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little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risk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lead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relative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underperformance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ts val="2090"/>
              </a:lnSpc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Too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much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risk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can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lead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catastrophic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losses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3005" y="5620745"/>
            <a:ext cx="1236980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US</a:t>
            </a:r>
            <a:r>
              <a:rPr dirty="0" sz="1250" spc="-2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Savings</a:t>
            </a:r>
            <a:r>
              <a:rPr dirty="0" sz="1250" spc="500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and</a:t>
            </a:r>
            <a:r>
              <a:rPr dirty="0" sz="1250" spc="-4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Loan</a:t>
            </a:r>
            <a:r>
              <a:rPr dirty="0" sz="1250" spc="-40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Crisis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2445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1980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12742" y="4653085"/>
            <a:ext cx="8408670" cy="290195"/>
            <a:chOff x="1812742" y="4653085"/>
            <a:chExt cx="8408670" cy="290195"/>
          </a:xfrm>
        </p:grpSpPr>
        <p:sp>
          <p:nvSpPr>
            <p:cNvPr id="7" name="object 7"/>
            <p:cNvSpPr/>
            <p:nvPr/>
          </p:nvSpPr>
          <p:spPr>
            <a:xfrm>
              <a:off x="10145097" y="4659753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w="0" h="276860">
                  <a:moveTo>
                    <a:pt x="0" y="0"/>
                  </a:moveTo>
                  <a:lnTo>
                    <a:pt x="0" y="276318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39094" y="4791333"/>
              <a:ext cx="8355965" cy="26670"/>
            </a:xfrm>
            <a:custGeom>
              <a:avLst/>
              <a:gdLst/>
              <a:ahLst/>
              <a:cxnLst/>
              <a:rect l="l" t="t" r="r" b="b"/>
              <a:pathLst>
                <a:path w="8355965" h="26670">
                  <a:moveTo>
                    <a:pt x="0" y="0"/>
                  </a:moveTo>
                  <a:lnTo>
                    <a:pt x="8355346" y="26316"/>
                  </a:lnTo>
                </a:path>
              </a:pathLst>
            </a:custGeom>
            <a:ln w="526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78568" y="4659753"/>
              <a:ext cx="6888480" cy="276860"/>
            </a:xfrm>
            <a:custGeom>
              <a:avLst/>
              <a:gdLst/>
              <a:ahLst/>
              <a:cxnLst/>
              <a:rect l="l" t="t" r="r" b="b"/>
              <a:pathLst>
                <a:path w="6888480" h="276860">
                  <a:moveTo>
                    <a:pt x="1375013" y="0"/>
                  </a:moveTo>
                  <a:lnTo>
                    <a:pt x="1375013" y="276318"/>
                  </a:lnTo>
                </a:path>
                <a:path w="6888480" h="276860">
                  <a:moveTo>
                    <a:pt x="2753316" y="0"/>
                  </a:moveTo>
                  <a:lnTo>
                    <a:pt x="2753316" y="276318"/>
                  </a:lnTo>
                </a:path>
                <a:path w="6888480" h="276860">
                  <a:moveTo>
                    <a:pt x="4131619" y="0"/>
                  </a:moveTo>
                  <a:lnTo>
                    <a:pt x="4131619" y="276318"/>
                  </a:lnTo>
                </a:path>
                <a:path w="6888480" h="276860">
                  <a:moveTo>
                    <a:pt x="5509923" y="0"/>
                  </a:moveTo>
                  <a:lnTo>
                    <a:pt x="5509923" y="276318"/>
                  </a:lnTo>
                </a:path>
                <a:path w="6888480" h="276860">
                  <a:moveTo>
                    <a:pt x="6888226" y="0"/>
                  </a:moveTo>
                  <a:lnTo>
                    <a:pt x="6888226" y="276318"/>
                  </a:lnTo>
                </a:path>
                <a:path w="6888480" h="276860">
                  <a:moveTo>
                    <a:pt x="0" y="0"/>
                  </a:moveTo>
                  <a:lnTo>
                    <a:pt x="0" y="276318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036933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1985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8788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1990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5183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1995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8683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2000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36986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2005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15290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2010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1147" y="5620745"/>
            <a:ext cx="1212850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Latin</a:t>
            </a:r>
            <a:r>
              <a:rPr dirty="0" sz="1250" spc="-4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American </a:t>
            </a:r>
            <a:r>
              <a:rPr dirty="0" sz="1250">
                <a:latin typeface="Verdana"/>
                <a:cs typeface="Verdana"/>
              </a:rPr>
              <a:t>Debt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Crisis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8418" y="5620745"/>
            <a:ext cx="1202055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Asian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Financial Crisis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54095" y="5620745"/>
            <a:ext cx="1271905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Global</a:t>
            </a:r>
            <a:r>
              <a:rPr dirty="0" sz="1250" spc="-50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Financial Crisis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5094" y="3574673"/>
            <a:ext cx="1258570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Kidder</a:t>
            </a:r>
            <a:r>
              <a:rPr dirty="0" sz="1250" spc="-4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Peabody </a:t>
            </a:r>
            <a:r>
              <a:rPr dirty="0" sz="1250">
                <a:latin typeface="Verdana"/>
                <a:cs typeface="Verdana"/>
              </a:rPr>
              <a:t>Loss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$350mil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8640" y="3982026"/>
            <a:ext cx="1297940" cy="803275"/>
            <a:chOff x="4508640" y="3982026"/>
            <a:chExt cx="1297940" cy="803275"/>
          </a:xfrm>
        </p:grpSpPr>
        <p:sp>
          <p:nvSpPr>
            <p:cNvPr id="21" name="object 21"/>
            <p:cNvSpPr/>
            <p:nvPr/>
          </p:nvSpPr>
          <p:spPr>
            <a:xfrm>
              <a:off x="4515307" y="3988693"/>
              <a:ext cx="1245235" cy="685165"/>
            </a:xfrm>
            <a:custGeom>
              <a:avLst/>
              <a:gdLst/>
              <a:ahLst/>
              <a:cxnLst/>
              <a:rect l="l" t="t" r="r" b="b"/>
              <a:pathLst>
                <a:path w="1245235" h="685164">
                  <a:moveTo>
                    <a:pt x="0" y="0"/>
                  </a:moveTo>
                  <a:lnTo>
                    <a:pt x="0" y="156580"/>
                  </a:lnTo>
                  <a:lnTo>
                    <a:pt x="0" y="342108"/>
                  </a:lnTo>
                  <a:lnTo>
                    <a:pt x="784347" y="342108"/>
                  </a:lnTo>
                  <a:lnTo>
                    <a:pt x="1244963" y="342108"/>
                  </a:lnTo>
                  <a:lnTo>
                    <a:pt x="1244963" y="658409"/>
                  </a:lnTo>
                  <a:lnTo>
                    <a:pt x="1244963" y="684725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218" y="4666840"/>
              <a:ext cx="92106" cy="11842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50111" y="3574673"/>
            <a:ext cx="1337945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>
                <a:latin typeface="Verdana"/>
                <a:cs typeface="Verdana"/>
              </a:rPr>
              <a:t>Barings</a:t>
            </a:r>
            <a:r>
              <a:rPr dirty="0" sz="1250" spc="-6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Collapse </a:t>
            </a:r>
            <a:r>
              <a:rPr dirty="0" sz="1250">
                <a:latin typeface="Verdana"/>
                <a:cs typeface="Verdana"/>
              </a:rPr>
              <a:t>Loss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$1.4bn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0118" y="2788920"/>
            <a:ext cx="8223250" cy="9220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300">
                <a:latin typeface="Century Gothic"/>
                <a:cs typeface="Century Gothic"/>
              </a:rPr>
              <a:t>Major</a:t>
            </a:r>
            <a:r>
              <a:rPr dirty="0" sz="2300" spc="-7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risk</a:t>
            </a:r>
            <a:r>
              <a:rPr dirty="0" sz="2300" spc="-6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management</a:t>
            </a:r>
            <a:r>
              <a:rPr dirty="0" sz="2300" spc="-6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failures</a:t>
            </a:r>
            <a:r>
              <a:rPr dirty="0" sz="2300" spc="-6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have</a:t>
            </a:r>
            <a:r>
              <a:rPr dirty="0" sz="2300" spc="-5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persisted</a:t>
            </a:r>
            <a:r>
              <a:rPr dirty="0" sz="2300" spc="-6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over</a:t>
            </a:r>
            <a:r>
              <a:rPr dirty="0" sz="2300" spc="-60">
                <a:latin typeface="Century Gothic"/>
                <a:cs typeface="Century Gothic"/>
              </a:rPr>
              <a:t> </a:t>
            </a:r>
            <a:r>
              <a:rPr dirty="0" sz="2300" spc="-20">
                <a:latin typeface="Century Gothic"/>
                <a:cs typeface="Century Gothic"/>
              </a:rPr>
              <a:t>time</a:t>
            </a:r>
            <a:endParaRPr sz="2300">
              <a:latin typeface="Century Gothic"/>
              <a:cs typeface="Century Gothic"/>
            </a:endParaRPr>
          </a:p>
          <a:p>
            <a:pPr marL="281940">
              <a:lnSpc>
                <a:spcPct val="100000"/>
              </a:lnSpc>
              <a:spcBef>
                <a:spcPts val="1245"/>
              </a:spcBef>
            </a:pPr>
            <a:r>
              <a:rPr dirty="0" sz="1250" spc="-10" b="1">
                <a:latin typeface="Verdana"/>
                <a:cs typeface="Verdana"/>
              </a:rPr>
              <a:t>Insitutional</a:t>
            </a:r>
            <a:endParaRPr sz="1250">
              <a:latin typeface="Verdana"/>
              <a:cs typeface="Verdana"/>
            </a:endParaRPr>
          </a:p>
          <a:p>
            <a:pPr marL="281940">
              <a:lnSpc>
                <a:spcPct val="100000"/>
              </a:lnSpc>
              <a:spcBef>
                <a:spcPts val="50"/>
              </a:spcBef>
            </a:pPr>
            <a:r>
              <a:rPr dirty="0" sz="1250" b="1">
                <a:latin typeface="Verdana"/>
                <a:cs typeface="Verdana"/>
              </a:rPr>
              <a:t>Risk</a:t>
            </a:r>
            <a:r>
              <a:rPr dirty="0" sz="1250" spc="-30" b="1">
                <a:latin typeface="Verdana"/>
                <a:cs typeface="Verdana"/>
              </a:rPr>
              <a:t> </a:t>
            </a:r>
            <a:r>
              <a:rPr dirty="0" sz="1250" spc="-10" b="1">
                <a:latin typeface="Verdana"/>
                <a:cs typeface="Verdana"/>
              </a:rPr>
              <a:t>Management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69812" y="5745746"/>
            <a:ext cx="1601470" cy="610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" b="1">
                <a:latin typeface="Verdana"/>
                <a:cs typeface="Verdana"/>
              </a:rPr>
              <a:t>Systemic</a:t>
            </a:r>
            <a:endParaRPr sz="1250">
              <a:latin typeface="Verdana"/>
              <a:cs typeface="Verdana"/>
            </a:endParaRPr>
          </a:p>
          <a:p>
            <a:pPr marL="12700" marR="5080">
              <a:lnSpc>
                <a:spcPct val="103600"/>
              </a:lnSpc>
            </a:pPr>
            <a:r>
              <a:rPr dirty="0" sz="1250" b="1">
                <a:latin typeface="Verdana"/>
                <a:cs typeface="Verdana"/>
              </a:rPr>
              <a:t>Risk</a:t>
            </a:r>
            <a:r>
              <a:rPr dirty="0" sz="1250" spc="-30" b="1">
                <a:latin typeface="Verdana"/>
                <a:cs typeface="Verdana"/>
              </a:rPr>
              <a:t> </a:t>
            </a:r>
            <a:r>
              <a:rPr dirty="0" sz="1250" spc="-10" b="1">
                <a:latin typeface="Verdana"/>
                <a:cs typeface="Verdana"/>
              </a:rPr>
              <a:t>Management Failures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14135" y="3982026"/>
            <a:ext cx="9204325" cy="1671320"/>
            <a:chOff x="2214135" y="3982026"/>
            <a:chExt cx="9204325" cy="1671320"/>
          </a:xfrm>
        </p:grpSpPr>
        <p:sp>
          <p:nvSpPr>
            <p:cNvPr id="27" name="object 27"/>
            <p:cNvSpPr/>
            <p:nvPr/>
          </p:nvSpPr>
          <p:spPr>
            <a:xfrm>
              <a:off x="9291470" y="4947913"/>
              <a:ext cx="553085" cy="699135"/>
            </a:xfrm>
            <a:custGeom>
              <a:avLst/>
              <a:gdLst/>
              <a:ahLst/>
              <a:cxnLst/>
              <a:rect l="l" t="t" r="r" b="b"/>
              <a:pathLst>
                <a:path w="553084" h="699135">
                  <a:moveTo>
                    <a:pt x="0" y="698691"/>
                  </a:moveTo>
                  <a:lnTo>
                    <a:pt x="0" y="580268"/>
                  </a:lnTo>
                  <a:lnTo>
                    <a:pt x="0" y="330266"/>
                  </a:lnTo>
                  <a:lnTo>
                    <a:pt x="271384" y="330266"/>
                  </a:lnTo>
                  <a:lnTo>
                    <a:pt x="552637" y="330266"/>
                  </a:lnTo>
                  <a:lnTo>
                    <a:pt x="552637" y="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98054" y="4836070"/>
              <a:ext cx="92106" cy="11842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830790" y="3988693"/>
              <a:ext cx="258445" cy="685800"/>
            </a:xfrm>
            <a:custGeom>
              <a:avLst/>
              <a:gdLst/>
              <a:ahLst/>
              <a:cxnLst/>
              <a:rect l="l" t="t" r="r" b="b"/>
              <a:pathLst>
                <a:path w="258445" h="685800">
                  <a:moveTo>
                    <a:pt x="0" y="0"/>
                  </a:moveTo>
                  <a:lnTo>
                    <a:pt x="0" y="156580"/>
                  </a:lnTo>
                  <a:lnTo>
                    <a:pt x="0" y="342108"/>
                  </a:lnTo>
                  <a:lnTo>
                    <a:pt x="179397" y="342108"/>
                  </a:lnTo>
                  <a:lnTo>
                    <a:pt x="258344" y="342108"/>
                  </a:lnTo>
                  <a:lnTo>
                    <a:pt x="258344" y="659444"/>
                  </a:lnTo>
                  <a:lnTo>
                    <a:pt x="258344" y="68576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3082" y="4667875"/>
              <a:ext cx="92106" cy="11842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44356" y="3988693"/>
              <a:ext cx="138430" cy="688975"/>
            </a:xfrm>
            <a:custGeom>
              <a:avLst/>
              <a:gdLst/>
              <a:ahLst/>
              <a:cxnLst/>
              <a:rect l="l" t="t" r="r" b="b"/>
              <a:pathLst>
                <a:path w="138429" h="688975">
                  <a:moveTo>
                    <a:pt x="137869" y="0"/>
                  </a:moveTo>
                  <a:lnTo>
                    <a:pt x="137869" y="156580"/>
                  </a:lnTo>
                  <a:lnTo>
                    <a:pt x="137869" y="353950"/>
                  </a:lnTo>
                  <a:lnTo>
                    <a:pt x="0" y="353950"/>
                  </a:lnTo>
                  <a:lnTo>
                    <a:pt x="0" y="662138"/>
                  </a:lnTo>
                  <a:lnTo>
                    <a:pt x="0" y="688454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8303" y="4670568"/>
              <a:ext cx="92106" cy="1184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816899" y="3988693"/>
              <a:ext cx="719455" cy="697230"/>
            </a:xfrm>
            <a:custGeom>
              <a:avLst/>
              <a:gdLst/>
              <a:ahLst/>
              <a:cxnLst/>
              <a:rect l="l" t="t" r="r" b="b"/>
              <a:pathLst>
                <a:path w="719454" h="697229">
                  <a:moveTo>
                    <a:pt x="0" y="0"/>
                  </a:moveTo>
                  <a:lnTo>
                    <a:pt x="0" y="156580"/>
                  </a:lnTo>
                  <a:lnTo>
                    <a:pt x="0" y="342108"/>
                  </a:lnTo>
                  <a:lnTo>
                    <a:pt x="474571" y="342108"/>
                  </a:lnTo>
                  <a:lnTo>
                    <a:pt x="719397" y="342108"/>
                  </a:lnTo>
                  <a:lnTo>
                    <a:pt x="719397" y="670302"/>
                  </a:lnTo>
                  <a:lnTo>
                    <a:pt x="719397" y="696618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0243" y="4678733"/>
              <a:ext cx="92106" cy="11842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773387" y="3988693"/>
              <a:ext cx="80645" cy="697865"/>
            </a:xfrm>
            <a:custGeom>
              <a:avLst/>
              <a:gdLst/>
              <a:ahLst/>
              <a:cxnLst/>
              <a:rect l="l" t="t" r="r" b="b"/>
              <a:pathLst>
                <a:path w="80645" h="697864">
                  <a:moveTo>
                    <a:pt x="80107" y="0"/>
                  </a:moveTo>
                  <a:lnTo>
                    <a:pt x="80107" y="156580"/>
                  </a:lnTo>
                  <a:lnTo>
                    <a:pt x="80107" y="342108"/>
                  </a:lnTo>
                  <a:lnTo>
                    <a:pt x="70720" y="342108"/>
                  </a:lnTo>
                  <a:lnTo>
                    <a:pt x="0" y="342108"/>
                  </a:lnTo>
                  <a:lnTo>
                    <a:pt x="0" y="671048"/>
                  </a:lnTo>
                  <a:lnTo>
                    <a:pt x="0" y="697364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7334" y="4679479"/>
              <a:ext cx="92106" cy="1184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615285" y="4936641"/>
              <a:ext cx="747395" cy="703580"/>
            </a:xfrm>
            <a:custGeom>
              <a:avLst/>
              <a:gdLst/>
              <a:ahLst/>
              <a:cxnLst/>
              <a:rect l="l" t="t" r="r" b="b"/>
              <a:pathLst>
                <a:path w="747395" h="703579">
                  <a:moveTo>
                    <a:pt x="746890" y="703384"/>
                  </a:moveTo>
                  <a:lnTo>
                    <a:pt x="746890" y="546804"/>
                  </a:lnTo>
                  <a:lnTo>
                    <a:pt x="746890" y="341538"/>
                  </a:lnTo>
                  <a:lnTo>
                    <a:pt x="421229" y="341538"/>
                  </a:lnTo>
                  <a:lnTo>
                    <a:pt x="0" y="341538"/>
                  </a:lnTo>
                  <a:lnTo>
                    <a:pt x="0" y="26316"/>
                  </a:lnTo>
                  <a:lnTo>
                    <a:pt x="0" y="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9231" y="4824798"/>
              <a:ext cx="92106" cy="11842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918041" y="4928145"/>
              <a:ext cx="1229360" cy="712470"/>
            </a:xfrm>
            <a:custGeom>
              <a:avLst/>
              <a:gdLst/>
              <a:ahLst/>
              <a:cxnLst/>
              <a:rect l="l" t="t" r="r" b="b"/>
              <a:pathLst>
                <a:path w="1229360" h="712470">
                  <a:moveTo>
                    <a:pt x="1229092" y="711880"/>
                  </a:moveTo>
                  <a:lnTo>
                    <a:pt x="1229092" y="555300"/>
                  </a:lnTo>
                  <a:lnTo>
                    <a:pt x="1229092" y="343456"/>
                  </a:lnTo>
                  <a:lnTo>
                    <a:pt x="170693" y="343456"/>
                  </a:lnTo>
                  <a:lnTo>
                    <a:pt x="0" y="343456"/>
                  </a:lnTo>
                  <a:lnTo>
                    <a:pt x="0" y="26316"/>
                  </a:lnTo>
                  <a:lnTo>
                    <a:pt x="0" y="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1988" y="4816302"/>
              <a:ext cx="92106" cy="11842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260188" y="4922924"/>
              <a:ext cx="1298575" cy="717550"/>
            </a:xfrm>
            <a:custGeom>
              <a:avLst/>
              <a:gdLst/>
              <a:ahLst/>
              <a:cxnLst/>
              <a:rect l="l" t="t" r="r" b="b"/>
              <a:pathLst>
                <a:path w="1298575" h="717550">
                  <a:moveTo>
                    <a:pt x="1297963" y="717101"/>
                  </a:moveTo>
                  <a:lnTo>
                    <a:pt x="1297963" y="560521"/>
                  </a:lnTo>
                  <a:lnTo>
                    <a:pt x="1297963" y="355256"/>
                  </a:lnTo>
                  <a:lnTo>
                    <a:pt x="276281" y="355256"/>
                  </a:lnTo>
                  <a:lnTo>
                    <a:pt x="0" y="355256"/>
                  </a:lnTo>
                  <a:lnTo>
                    <a:pt x="0" y="26316"/>
                  </a:lnTo>
                  <a:lnTo>
                    <a:pt x="0" y="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4135" y="4811080"/>
              <a:ext cx="92106" cy="11842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141808" y="4817649"/>
              <a:ext cx="1250315" cy="0"/>
            </a:xfrm>
            <a:custGeom>
              <a:avLst/>
              <a:gdLst/>
              <a:ahLst/>
              <a:cxnLst/>
              <a:rect l="l" t="t" r="r" b="b"/>
              <a:pathLst>
                <a:path w="1250315" h="0">
                  <a:moveTo>
                    <a:pt x="0" y="0"/>
                  </a:moveTo>
                  <a:lnTo>
                    <a:pt x="1250012" y="0"/>
                  </a:lnTo>
                </a:path>
              </a:pathLst>
            </a:custGeom>
            <a:ln w="526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1312872" y="4672911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w="0" h="276860">
                  <a:moveTo>
                    <a:pt x="0" y="0"/>
                  </a:moveTo>
                  <a:lnTo>
                    <a:pt x="0" y="276318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1096223" y="4923369"/>
            <a:ext cx="4273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20">
                <a:latin typeface="Verdana"/>
                <a:cs typeface="Verdana"/>
              </a:rPr>
              <a:t>2015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254109" y="5594429"/>
            <a:ext cx="1242060" cy="61023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</a:pPr>
            <a:r>
              <a:rPr dirty="0" sz="1250" spc="-10">
                <a:latin typeface="Verdana"/>
                <a:cs typeface="Verdana"/>
              </a:rPr>
              <a:t>European </a:t>
            </a:r>
            <a:r>
              <a:rPr dirty="0" sz="1250" spc="-20">
                <a:latin typeface="Verdana"/>
                <a:cs typeface="Verdana"/>
              </a:rPr>
              <a:t>Sovereign-debt </a:t>
            </a:r>
            <a:r>
              <a:rPr dirty="0" sz="1250" spc="-10">
                <a:latin typeface="Verdana"/>
                <a:cs typeface="Verdana"/>
              </a:rPr>
              <a:t>Crisis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372073" y="4836070"/>
            <a:ext cx="413384" cy="791210"/>
            <a:chOff x="10372073" y="4836070"/>
            <a:chExt cx="413384" cy="791210"/>
          </a:xfrm>
        </p:grpSpPr>
        <p:sp>
          <p:nvSpPr>
            <p:cNvPr id="48" name="object 48"/>
            <p:cNvSpPr/>
            <p:nvPr/>
          </p:nvSpPr>
          <p:spPr>
            <a:xfrm>
              <a:off x="10418126" y="4947913"/>
              <a:ext cx="360680" cy="672465"/>
            </a:xfrm>
            <a:custGeom>
              <a:avLst/>
              <a:gdLst/>
              <a:ahLst/>
              <a:cxnLst/>
              <a:rect l="l" t="t" r="r" b="b"/>
              <a:pathLst>
                <a:path w="360679" h="672464">
                  <a:moveTo>
                    <a:pt x="360200" y="672375"/>
                  </a:moveTo>
                  <a:lnTo>
                    <a:pt x="360200" y="553952"/>
                  </a:lnTo>
                  <a:lnTo>
                    <a:pt x="360200" y="264476"/>
                  </a:lnTo>
                  <a:lnTo>
                    <a:pt x="65790" y="264476"/>
                  </a:lnTo>
                  <a:lnTo>
                    <a:pt x="0" y="264476"/>
                  </a:lnTo>
                  <a:lnTo>
                    <a:pt x="0" y="26316"/>
                  </a:lnTo>
                  <a:lnTo>
                    <a:pt x="0" y="0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72073" y="4836070"/>
              <a:ext cx="92106" cy="118422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517230" y="3574673"/>
            <a:ext cx="5118735" cy="4127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0"/>
              </a:spcBef>
              <a:tabLst>
                <a:tab pos="1341120" algn="l"/>
                <a:tab pos="2788920" algn="l"/>
                <a:tab pos="3959860" algn="l"/>
              </a:tabLst>
            </a:pPr>
            <a:r>
              <a:rPr dirty="0" sz="1250" spc="-35">
                <a:latin typeface="Verdana"/>
                <a:cs typeface="Verdana"/>
              </a:rPr>
              <a:t>LTCM</a:t>
            </a:r>
            <a:r>
              <a:rPr dirty="0" sz="1250" spc="-50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Collapse</a:t>
            </a:r>
            <a:r>
              <a:rPr dirty="0" sz="1250">
                <a:latin typeface="Verdana"/>
                <a:cs typeface="Verdana"/>
              </a:rPr>
              <a:t>	Societe</a:t>
            </a:r>
            <a:r>
              <a:rPr dirty="0" sz="1250" spc="-60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Generale</a:t>
            </a:r>
            <a:r>
              <a:rPr dirty="0" sz="1250" spc="28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AIG</a:t>
            </a:r>
            <a:r>
              <a:rPr dirty="0" sz="1250" spc="-60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Bailout</a:t>
            </a:r>
            <a:r>
              <a:rPr dirty="0" sz="1250">
                <a:latin typeface="Verdana"/>
                <a:cs typeface="Verdana"/>
              </a:rPr>
              <a:t>	JP</a:t>
            </a:r>
            <a:r>
              <a:rPr dirty="0" sz="1250" spc="-1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Morgan </a:t>
            </a:r>
            <a:r>
              <a:rPr dirty="0" sz="1250">
                <a:latin typeface="Verdana"/>
                <a:cs typeface="Verdana"/>
              </a:rPr>
              <a:t>Loss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$4.6bn</a:t>
            </a:r>
            <a:r>
              <a:rPr dirty="0" sz="1250">
                <a:latin typeface="Verdana"/>
                <a:cs typeface="Verdana"/>
              </a:rPr>
              <a:t>	Loss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3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$7.1bn</a:t>
            </a:r>
            <a:r>
              <a:rPr dirty="0" sz="1250">
                <a:latin typeface="Verdana"/>
                <a:cs typeface="Verdana"/>
              </a:rPr>
              <a:t>	Loss</a:t>
            </a:r>
            <a:r>
              <a:rPr dirty="0" sz="1250" spc="-4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40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$60bn</a:t>
            </a:r>
            <a:r>
              <a:rPr dirty="0" sz="1250" spc="165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Loss</a:t>
            </a:r>
            <a:r>
              <a:rPr dirty="0" sz="1250" spc="-40">
                <a:latin typeface="Verdana"/>
                <a:cs typeface="Verdana"/>
              </a:rPr>
              <a:t> </a:t>
            </a:r>
            <a:r>
              <a:rPr dirty="0" sz="1250">
                <a:latin typeface="Verdana"/>
                <a:cs typeface="Verdana"/>
              </a:rPr>
              <a:t>=</a:t>
            </a:r>
            <a:r>
              <a:rPr dirty="0" sz="1250" spc="-40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$5.8bn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569444" y="3982115"/>
            <a:ext cx="360680" cy="817244"/>
            <a:chOff x="10569444" y="3982115"/>
            <a:chExt cx="360680" cy="817244"/>
          </a:xfrm>
        </p:grpSpPr>
        <p:sp>
          <p:nvSpPr>
            <p:cNvPr id="52" name="object 52"/>
            <p:cNvSpPr/>
            <p:nvPr/>
          </p:nvSpPr>
          <p:spPr>
            <a:xfrm>
              <a:off x="10602339" y="3988694"/>
              <a:ext cx="321310" cy="699135"/>
            </a:xfrm>
            <a:custGeom>
              <a:avLst/>
              <a:gdLst/>
              <a:ahLst/>
              <a:cxnLst/>
              <a:rect l="l" t="t" r="r" b="b"/>
              <a:pathLst>
                <a:path w="321309" h="699135">
                  <a:moveTo>
                    <a:pt x="320876" y="0"/>
                  </a:moveTo>
                  <a:lnTo>
                    <a:pt x="320876" y="156580"/>
                  </a:lnTo>
                  <a:lnTo>
                    <a:pt x="320876" y="381582"/>
                  </a:lnTo>
                  <a:lnTo>
                    <a:pt x="0" y="381582"/>
                  </a:lnTo>
                  <a:lnTo>
                    <a:pt x="0" y="421056"/>
                  </a:lnTo>
                  <a:lnTo>
                    <a:pt x="13158" y="421056"/>
                  </a:lnTo>
                  <a:lnTo>
                    <a:pt x="13158" y="672375"/>
                  </a:lnTo>
                  <a:lnTo>
                    <a:pt x="13158" y="698691"/>
                  </a:lnTo>
                </a:path>
              </a:pathLst>
            </a:custGeom>
            <a:ln w="13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69444" y="4680806"/>
              <a:ext cx="92106" cy="118422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1569812" y="3693095"/>
            <a:ext cx="1576070" cy="799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" b="1">
                <a:latin typeface="Verdana"/>
                <a:cs typeface="Verdana"/>
              </a:rPr>
              <a:t>Failures</a:t>
            </a:r>
            <a:endParaRPr sz="1250">
              <a:latin typeface="Verdana"/>
              <a:cs typeface="Verdana"/>
            </a:endParaRPr>
          </a:p>
          <a:p>
            <a:pPr marL="130810">
              <a:lnSpc>
                <a:spcPct val="100000"/>
              </a:lnSpc>
              <a:spcBef>
                <a:spcPts val="1235"/>
              </a:spcBef>
            </a:pP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Source:</a:t>
            </a:r>
            <a:r>
              <a:rPr dirty="0" sz="900" spc="6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Duran,</a:t>
            </a:r>
            <a:r>
              <a:rPr dirty="0" sz="900" spc="6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R.</a:t>
            </a:r>
            <a:r>
              <a:rPr dirty="0" sz="900" spc="6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3A3A3A"/>
                </a:solidFill>
                <a:latin typeface="Calibri"/>
                <a:cs typeface="Calibri"/>
              </a:rPr>
              <a:t>E.,</a:t>
            </a:r>
            <a:endParaRPr sz="900">
              <a:latin typeface="Calibri"/>
              <a:cs typeface="Calibri"/>
            </a:endParaRPr>
          </a:p>
          <a:p>
            <a:pPr marL="130810" marR="5080">
              <a:lnSpc>
                <a:spcPct val="105500"/>
              </a:lnSpc>
            </a:pP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Financial</a:t>
            </a:r>
            <a:r>
              <a:rPr dirty="0" sz="900" spc="9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Services</a:t>
            </a:r>
            <a:r>
              <a:rPr dirty="0" sz="900" spc="1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A3A3A"/>
                </a:solidFill>
                <a:latin typeface="Calibri"/>
                <a:cs typeface="Calibri"/>
              </a:rPr>
              <a:t>Technology,</a:t>
            </a:r>
            <a:r>
              <a:rPr dirty="0" sz="900" spc="5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Cengage</a:t>
            </a:r>
            <a:r>
              <a:rPr dirty="0" sz="900" spc="8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Learning</a:t>
            </a:r>
            <a:r>
              <a:rPr dirty="0" sz="900" spc="8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A3A3A"/>
                </a:solidFill>
                <a:latin typeface="Calibri"/>
                <a:cs typeface="Calibri"/>
              </a:rPr>
              <a:t>Asia,</a:t>
            </a:r>
            <a:r>
              <a:rPr dirty="0" sz="900" spc="8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3A3A3A"/>
                </a:solidFill>
                <a:latin typeface="Calibri"/>
                <a:cs typeface="Calibri"/>
              </a:rPr>
              <a:t>2013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35"/>
              <a:t> </a:t>
            </a:r>
            <a:r>
              <a:rPr dirty="0" spc="-2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7062470" cy="31051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4445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MF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Global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multinational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futures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bond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dealer.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Filed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bankruptcy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2011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$40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billion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liabilities.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2008,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Jon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Corzine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assumed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CEO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chairman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MF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Global.</a:t>
            </a:r>
            <a:endParaRPr sz="2000">
              <a:latin typeface="Century Gothic"/>
              <a:cs typeface="Century Gothic"/>
            </a:endParaRPr>
          </a:p>
          <a:p>
            <a:pPr lvl="1" marL="698500" marR="100965" indent="-228600">
              <a:lnSpc>
                <a:spcPts val="1900"/>
              </a:lnSpc>
              <a:spcBef>
                <a:spcPts val="53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Jon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Corzine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was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bond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trader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managing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partner </a:t>
            </a: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Goldman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Sachs.</a:t>
            </a:r>
            <a:endParaRPr sz="1800">
              <a:latin typeface="Century Gothic"/>
              <a:cs typeface="Century Gothic"/>
            </a:endParaRPr>
          </a:p>
          <a:p>
            <a:pPr lvl="1" marL="698500" marR="474345" indent="-228600">
              <a:lnSpc>
                <a:spcPts val="1900"/>
              </a:lnSpc>
              <a:spcBef>
                <a:spcPts val="59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Aimed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transform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MF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Global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from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third-</a:t>
            </a:r>
            <a:r>
              <a:rPr dirty="0" sz="1800" spc="-20">
                <a:latin typeface="Century Gothic"/>
                <a:cs typeface="Century Gothic"/>
              </a:rPr>
              <a:t>tier </a:t>
            </a:r>
            <a:r>
              <a:rPr dirty="0" sz="1800">
                <a:latin typeface="Century Gothic"/>
                <a:cs typeface="Century Gothic"/>
              </a:rPr>
              <a:t>commodities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broker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high-</a:t>
            </a:r>
            <a:r>
              <a:rPr dirty="0" sz="1800">
                <a:latin typeface="Century Gothic"/>
                <a:cs typeface="Century Gothic"/>
              </a:rPr>
              <a:t>flying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investment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bank.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1411" y="3755571"/>
            <a:ext cx="2930143" cy="2141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6269" y="1654420"/>
            <a:ext cx="2359216" cy="8222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35"/>
              <a:t> </a:t>
            </a:r>
            <a:r>
              <a:rPr dirty="0" spc="-2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315575" cy="3567429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2008,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rogue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trader’s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futures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losses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$141.5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million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regulatory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$10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million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management.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2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Losses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traditional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agency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business.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80899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Leverage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own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capital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means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proprietary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that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exceeded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$6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billion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bonds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less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Eurozone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governments.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239395" indent="-226695">
              <a:lnSpc>
                <a:spcPts val="218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Before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bankruptcy,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Global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funds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support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proprietary 	trading.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35"/>
              <a:t> </a:t>
            </a:r>
            <a:r>
              <a:rPr dirty="0" spc="-2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165080" cy="28695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842644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MF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Global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employees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later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testified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organization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had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inadequate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control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frameworks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capabilities.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When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shifting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brokerage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prop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upgrade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its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back-</a:t>
            </a:r>
            <a:r>
              <a:rPr dirty="0" sz="2400">
                <a:latin typeface="Century Gothic"/>
                <a:cs typeface="Century Gothic"/>
              </a:rPr>
              <a:t>office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infrastructure.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Drop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European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debt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market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20"/>
              <a:t> </a:t>
            </a:r>
            <a:r>
              <a:rPr dirty="0"/>
              <a:t>context:</a:t>
            </a:r>
            <a:r>
              <a:rPr dirty="0" spc="-130"/>
              <a:t> </a:t>
            </a:r>
            <a:r>
              <a:rPr dirty="0"/>
              <a:t>risk</a:t>
            </a:r>
            <a:r>
              <a:rPr dirty="0" spc="-120"/>
              <a:t> </a:t>
            </a:r>
            <a:r>
              <a:rPr dirty="0" spc="-1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427210" cy="35572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must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managed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level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taken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line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with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the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expected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returned.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Consider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worst-</a:t>
            </a:r>
            <a:r>
              <a:rPr dirty="0" sz="2400">
                <a:latin typeface="Century Gothic"/>
                <a:cs typeface="Century Gothic"/>
              </a:rPr>
              <a:t>case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scenarios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Ensure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expected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outcomes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acceptable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performance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determined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luck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skill?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Danger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having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low-</a:t>
            </a:r>
            <a:r>
              <a:rPr dirty="0" sz="2000">
                <a:latin typeface="Century Gothic"/>
                <a:cs typeface="Century Gothic"/>
              </a:rPr>
              <a:t>skilled,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lucky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takers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Eventually,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luck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runs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out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05"/>
              <a:t> </a:t>
            </a:r>
            <a:r>
              <a:rPr dirty="0"/>
              <a:t>context:</a:t>
            </a:r>
            <a:r>
              <a:rPr dirty="0" spc="-110"/>
              <a:t> </a:t>
            </a:r>
            <a:r>
              <a:rPr dirty="0"/>
              <a:t>types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2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9780270" cy="41503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</a:t>
            </a:r>
            <a:endParaRPr sz="2400">
              <a:latin typeface="Century Gothic"/>
              <a:cs typeface="Century Gothic"/>
            </a:endParaRPr>
          </a:p>
          <a:p>
            <a:pPr lvl="1" marL="696595" marR="461645" indent="-226695">
              <a:lnSpc>
                <a:spcPts val="2210"/>
              </a:lnSpc>
              <a:spcBef>
                <a:spcPts val="46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fluctuations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value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assets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positions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financial 	instruments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primary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focus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this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section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34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liquidity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instrument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ready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buyers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sellers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Lack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adversely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affect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asset’s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price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Credit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counterparty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default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credit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repayment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obligations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16939" y="1783791"/>
            <a:ext cx="9510395" cy="42056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Settlement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</a:t>
            </a:r>
            <a:endParaRPr sz="24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210"/>
              </a:lnSpc>
              <a:spcBef>
                <a:spcPts val="46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counterparty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does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not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receive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corresponding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delivery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securities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8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13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losses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failures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example:</a:t>
            </a:r>
            <a:endParaRPr sz="20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Failure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controls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that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lead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fraud</a:t>
            </a:r>
            <a:endParaRPr sz="18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Downtime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critical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systems</a:t>
            </a:r>
            <a:endParaRPr sz="18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Compliance</a:t>
            </a:r>
            <a:r>
              <a:rPr dirty="0" sz="2600" spc="-120">
                <a:latin typeface="Century Gothic"/>
                <a:cs typeface="Century Gothic"/>
              </a:rPr>
              <a:t> </a:t>
            </a:r>
            <a:r>
              <a:rPr dirty="0" sz="2600" spc="-20">
                <a:latin typeface="Century Gothic"/>
                <a:cs typeface="Century Gothic"/>
              </a:rPr>
              <a:t>risk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05"/>
              <a:t> </a:t>
            </a:r>
            <a:r>
              <a:rPr dirty="0"/>
              <a:t>context:</a:t>
            </a:r>
            <a:r>
              <a:rPr dirty="0" spc="-110"/>
              <a:t> </a:t>
            </a:r>
            <a:r>
              <a:rPr dirty="0"/>
              <a:t>types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20"/>
              <a:t>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80"/>
              <a:t> </a:t>
            </a:r>
            <a:r>
              <a:rPr dirty="0"/>
              <a:t>Risk</a:t>
            </a:r>
            <a:r>
              <a:rPr dirty="0" spc="-65"/>
              <a:t> </a:t>
            </a:r>
            <a:r>
              <a:rPr dirty="0" spc="-1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329639"/>
            <a:ext cx="6081395" cy="7613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latin typeface="Century Gothic"/>
                <a:cs typeface="Century Gothic"/>
              </a:rPr>
              <a:t>Non-</a:t>
            </a:r>
            <a:r>
              <a:rPr dirty="0" sz="2400">
                <a:latin typeface="Century Gothic"/>
                <a:cs typeface="Century Gothic"/>
              </a:rPr>
              <a:t>normal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return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distributions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(fat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tails)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lead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larger-</a:t>
            </a:r>
            <a:r>
              <a:rPr dirty="0" sz="2000" spc="-20">
                <a:latin typeface="Century Gothic"/>
                <a:cs typeface="Century Gothic"/>
              </a:rPr>
              <a:t>than-</a:t>
            </a:r>
            <a:r>
              <a:rPr dirty="0" sz="2000">
                <a:latin typeface="Century Gothic"/>
                <a:cs typeface="Century Gothic"/>
              </a:rPr>
              <a:t>expected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losses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0663" y="2348155"/>
            <a:ext cx="4241255" cy="36532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80"/>
              <a:t> </a:t>
            </a:r>
            <a:r>
              <a:rPr dirty="0"/>
              <a:t>Risk</a:t>
            </a:r>
            <a:r>
              <a:rPr dirty="0" spc="-65"/>
              <a:t> </a:t>
            </a:r>
            <a:r>
              <a:rPr dirty="0" spc="-1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8359140" cy="7613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Correlation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asset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prices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Inverse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correlations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offset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another,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reducing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579" y="3015921"/>
            <a:ext cx="8855693" cy="31840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80"/>
              <a:t> </a:t>
            </a:r>
            <a:r>
              <a:rPr dirty="0"/>
              <a:t>Risk</a:t>
            </a:r>
            <a:r>
              <a:rPr dirty="0" spc="-65"/>
              <a:t> </a:t>
            </a:r>
            <a:r>
              <a:rPr dirty="0" spc="-1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6767195" cy="8820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Real-</a:t>
            </a:r>
            <a:r>
              <a:rPr dirty="0" sz="2800">
                <a:latin typeface="Century Gothic"/>
                <a:cs typeface="Century Gothic"/>
              </a:rPr>
              <a:t>world</a:t>
            </a:r>
            <a:r>
              <a:rPr dirty="0" sz="2800" spc="-10">
                <a:latin typeface="Century Gothic"/>
                <a:cs typeface="Century Gothic"/>
              </a:rPr>
              <a:t> complications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Unfortunately,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correlations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vary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over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time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564" y="2785253"/>
            <a:ext cx="5274565" cy="3391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Market</a:t>
            </a:r>
            <a:r>
              <a:rPr dirty="0" spc="-80"/>
              <a:t> </a:t>
            </a:r>
            <a:r>
              <a:rPr dirty="0"/>
              <a:t>Risk</a:t>
            </a:r>
            <a:r>
              <a:rPr dirty="0" spc="-65"/>
              <a:t> </a:t>
            </a:r>
            <a:r>
              <a:rPr dirty="0" spc="-1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9627235" cy="121412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Real-</a:t>
            </a:r>
            <a:r>
              <a:rPr dirty="0" sz="2800">
                <a:latin typeface="Century Gothic"/>
                <a:cs typeface="Century Gothic"/>
              </a:rPr>
              <a:t>world</a:t>
            </a:r>
            <a:r>
              <a:rPr dirty="0" sz="2800" spc="-10">
                <a:latin typeface="Century Gothic"/>
                <a:cs typeface="Century Gothic"/>
              </a:rPr>
              <a:t> complications</a:t>
            </a:r>
            <a:endParaRPr sz="28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ts val="262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Using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corporate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bonds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substitute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government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bonds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worked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well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until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2007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474" y="2988978"/>
            <a:ext cx="8755214" cy="3391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6803"/>
            <a:ext cx="9712325" cy="1290320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755"/>
              </a:spcBef>
            </a:pPr>
            <a:r>
              <a:rPr dirty="0"/>
              <a:t>Measuring</a:t>
            </a:r>
            <a:r>
              <a:rPr dirty="0" spc="-90"/>
              <a:t> </a:t>
            </a:r>
            <a:r>
              <a:rPr dirty="0"/>
              <a:t>Market</a:t>
            </a:r>
            <a:r>
              <a:rPr dirty="0" spc="-95"/>
              <a:t> </a:t>
            </a:r>
            <a:r>
              <a:rPr dirty="0"/>
              <a:t>Risk:</a:t>
            </a:r>
            <a:r>
              <a:rPr dirty="0" spc="-100"/>
              <a:t> </a:t>
            </a:r>
            <a:r>
              <a:rPr dirty="0"/>
              <a:t>Value</a:t>
            </a:r>
            <a:r>
              <a:rPr dirty="0" spc="-90"/>
              <a:t> </a:t>
            </a:r>
            <a:r>
              <a:rPr dirty="0"/>
              <a:t>at</a:t>
            </a:r>
            <a:r>
              <a:rPr dirty="0" spc="-95"/>
              <a:t> </a:t>
            </a:r>
            <a:r>
              <a:rPr dirty="0" spc="-20"/>
              <a:t>Risk </a:t>
            </a:r>
            <a:r>
              <a:rPr dirty="0" spc="-10"/>
              <a:t>(VaR)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217785" cy="4002404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VaR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is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An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expected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loss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expressed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monetary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terms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Within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specific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timeframe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certain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probability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07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marR="799465" indent="-226695">
              <a:lnSpc>
                <a:spcPts val="20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VaR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developed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simplify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standardize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institutions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quantify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Example:</a:t>
            </a:r>
            <a:endParaRPr sz="2000">
              <a:latin typeface="Century Gothic"/>
              <a:cs typeface="Century Gothic"/>
            </a:endParaRPr>
          </a:p>
          <a:p>
            <a:pPr lvl="1" marL="698500" marR="5080" indent="-228600">
              <a:lnSpc>
                <a:spcPts val="1989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daily</a:t>
            </a:r>
            <a:r>
              <a:rPr dirty="0" sz="1800" spc="-2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VaR</a:t>
            </a:r>
            <a:r>
              <a:rPr dirty="0" sz="1800" spc="-20" b="1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portfolio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assets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total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value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$2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billion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$60</a:t>
            </a:r>
            <a:r>
              <a:rPr dirty="0" sz="1800" spc="-2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million</a:t>
            </a:r>
            <a:r>
              <a:rPr dirty="0" sz="1800" spc="-30" b="1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5" b="1">
                <a:latin typeface="Century Gothic"/>
                <a:cs typeface="Century Gothic"/>
              </a:rPr>
              <a:t>95% </a:t>
            </a:r>
            <a:r>
              <a:rPr dirty="0" sz="1800" b="1">
                <a:latin typeface="Century Gothic"/>
                <a:cs typeface="Century Gothic"/>
              </a:rPr>
              <a:t>confidence</a:t>
            </a:r>
            <a:r>
              <a:rPr dirty="0" sz="1800" spc="-65" b="1">
                <a:latin typeface="Century Gothic"/>
                <a:cs typeface="Century Gothic"/>
              </a:rPr>
              <a:t> </a:t>
            </a:r>
            <a:r>
              <a:rPr dirty="0" sz="1800" spc="-10" b="1">
                <a:latin typeface="Century Gothic"/>
                <a:cs typeface="Century Gothic"/>
              </a:rPr>
              <a:t>level</a:t>
            </a:r>
            <a:r>
              <a:rPr dirty="0" sz="1800" spc="-10">
                <a:latin typeface="Century Gothic"/>
                <a:cs typeface="Century Gothic"/>
              </a:rPr>
              <a:t>.</a:t>
            </a:r>
            <a:endParaRPr sz="1800">
              <a:latin typeface="Century Gothic"/>
              <a:cs typeface="Century Gothic"/>
            </a:endParaRPr>
          </a:p>
          <a:p>
            <a:pPr lvl="2" marL="1155065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400">
                <a:latin typeface="Century Gothic"/>
                <a:cs typeface="Century Gothic"/>
              </a:rPr>
              <a:t>i.e.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any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given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day,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there</a:t>
            </a:r>
            <a:r>
              <a:rPr dirty="0" sz="1400" spc="-1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is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less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than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</a:t>
            </a:r>
            <a:r>
              <a:rPr dirty="0" sz="1400" spc="-1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5%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chance</a:t>
            </a:r>
            <a:r>
              <a:rPr dirty="0" sz="1400" spc="-1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that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loss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portfolio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will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exceed</a:t>
            </a:r>
            <a:r>
              <a:rPr dirty="0" sz="1400" spc="-1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$60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million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Measuring</a:t>
            </a:r>
            <a:r>
              <a:rPr dirty="0" spc="-120"/>
              <a:t> </a:t>
            </a:r>
            <a:r>
              <a:rPr dirty="0"/>
              <a:t>Market</a:t>
            </a:r>
            <a:r>
              <a:rPr dirty="0" spc="-120"/>
              <a:t> </a:t>
            </a:r>
            <a:r>
              <a:rPr dirty="0"/>
              <a:t>Risk:</a:t>
            </a:r>
            <a:r>
              <a:rPr dirty="0" spc="-125"/>
              <a:t> </a:t>
            </a:r>
            <a:r>
              <a:rPr dirty="0" spc="-25"/>
              <a:t>VaR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586483"/>
            <a:ext cx="8001634" cy="836294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5%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daily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losses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portfolio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exceed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$2.7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million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5%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daily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losses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equity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portfolio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exceed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$4.2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million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326" y="2678648"/>
            <a:ext cx="7905344" cy="39618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6803"/>
            <a:ext cx="9791700" cy="1290320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755"/>
              </a:spcBef>
            </a:pPr>
            <a:r>
              <a:rPr dirty="0"/>
              <a:t>Measuring</a:t>
            </a:r>
            <a:r>
              <a:rPr dirty="0" spc="-120"/>
              <a:t> </a:t>
            </a:r>
            <a:r>
              <a:rPr dirty="0"/>
              <a:t>Market</a:t>
            </a:r>
            <a:r>
              <a:rPr dirty="0" spc="-125"/>
              <a:t> </a:t>
            </a:r>
            <a:r>
              <a:rPr dirty="0"/>
              <a:t>Risk:</a:t>
            </a:r>
            <a:r>
              <a:rPr dirty="0" spc="-130"/>
              <a:t> </a:t>
            </a:r>
            <a:r>
              <a:rPr dirty="0"/>
              <a:t>Limitations</a:t>
            </a:r>
            <a:r>
              <a:rPr dirty="0" spc="-120"/>
              <a:t> </a:t>
            </a:r>
            <a:r>
              <a:rPr dirty="0" spc="-25"/>
              <a:t>of VaR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998"/>
            <a:ext cx="10123805" cy="39255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Accuracy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under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variable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market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conditions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Asset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volatilities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price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return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correlations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may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deviate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significantly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times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crisis</a:t>
            </a:r>
            <a:endParaRPr sz="16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Difficult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estimate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effect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weak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market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liquidity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prices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20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very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simple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measure</a:t>
            </a:r>
            <a:endParaRPr sz="1800">
              <a:latin typeface="Century Gothic"/>
              <a:cs typeface="Century Gothic"/>
            </a:endParaRPr>
          </a:p>
          <a:p>
            <a:pPr lvl="1" marL="698500" marR="604520" indent="-228600">
              <a:lnSpc>
                <a:spcPts val="1680"/>
              </a:lnSpc>
              <a:spcBef>
                <a:spcPts val="6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VaR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amount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does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reflect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maximum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potential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loss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may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incurred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above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25">
                <a:latin typeface="Century Gothic"/>
                <a:cs typeface="Century Gothic"/>
              </a:rPr>
              <a:t>the </a:t>
            </a:r>
            <a:r>
              <a:rPr dirty="0" sz="1600">
                <a:latin typeface="Century Gothic"/>
                <a:cs typeface="Century Gothic"/>
              </a:rPr>
              <a:t>percentage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threshold</a:t>
            </a:r>
            <a:endParaRPr sz="1600">
              <a:latin typeface="Century Gothic"/>
              <a:cs typeface="Century Gothic"/>
            </a:endParaRPr>
          </a:p>
          <a:p>
            <a:pPr lvl="1" marL="698500" marR="5080" indent="-228600">
              <a:lnSpc>
                <a:spcPts val="17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This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potentially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lead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overconfidence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regarding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safety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positions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riskiness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25">
                <a:latin typeface="Century Gothic"/>
                <a:cs typeface="Century Gothic"/>
              </a:rPr>
              <a:t>of </a:t>
            </a:r>
            <a:r>
              <a:rPr dirty="0" sz="1600" spc="-10">
                <a:latin typeface="Century Gothic"/>
                <a:cs typeface="Century Gothic"/>
              </a:rPr>
              <a:t>holdings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0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Accuracy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highly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dependent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inputs</a:t>
            </a:r>
            <a:endParaRPr sz="1800">
              <a:latin typeface="Century Gothic"/>
              <a:cs typeface="Century Gothic"/>
            </a:endParaRPr>
          </a:p>
          <a:p>
            <a:pPr lvl="1" marL="698500" marR="231775" indent="-228600">
              <a:lnSpc>
                <a:spcPts val="1680"/>
              </a:lnSpc>
              <a:spcBef>
                <a:spcPts val="6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E.g.,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changing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historical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period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used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for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estimating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volatilities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can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significantly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affect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25">
                <a:latin typeface="Century Gothic"/>
                <a:cs typeface="Century Gothic"/>
              </a:rPr>
              <a:t>the </a:t>
            </a:r>
            <a:r>
              <a:rPr dirty="0" sz="1600">
                <a:latin typeface="Century Gothic"/>
                <a:cs typeface="Century Gothic"/>
              </a:rPr>
              <a:t>VaR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results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60"/>
              <a:t> </a:t>
            </a:r>
            <a:r>
              <a:rPr dirty="0" spc="-10"/>
              <a:t>Opportunities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038715" cy="31445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leverage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management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capabilities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provide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advisory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services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Help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customers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assess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manage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their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risk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62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capital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protected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products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Calculate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exposure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time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VaR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other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enterprise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risk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measures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usually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calculated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overnight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Near-real-</a:t>
            </a:r>
            <a:r>
              <a:rPr dirty="0" sz="1800">
                <a:latin typeface="Century Gothic"/>
                <a:cs typeface="Century Gothic"/>
              </a:rPr>
              <a:t>time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has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been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implemented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using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custom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hardware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implementations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60"/>
              <a:t> </a:t>
            </a:r>
            <a:r>
              <a:rPr dirty="0" spc="-1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300970" cy="308800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failures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Incorrect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false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information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used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risk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calculations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2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Compensation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structures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misaligned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management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objectives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Maintaining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balance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between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taking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prudence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Getting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everyone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transaction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lifecycle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understand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3769" y="2902203"/>
            <a:ext cx="758507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Operational</a:t>
            </a:r>
            <a:r>
              <a:rPr dirty="0" sz="4000" spc="-70"/>
              <a:t> </a:t>
            </a:r>
            <a:r>
              <a:rPr dirty="0" sz="4000"/>
              <a:t>Risk</a:t>
            </a:r>
            <a:r>
              <a:rPr dirty="0" sz="4000" spc="-65"/>
              <a:t> </a:t>
            </a:r>
            <a:r>
              <a:rPr dirty="0" sz="4000" spc="-10"/>
              <a:t>Management</a:t>
            </a:r>
            <a:endParaRPr sz="4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85"/>
              <a:t> </a:t>
            </a:r>
            <a:r>
              <a:rPr dirty="0" spc="-10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046970" cy="7239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loss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resulting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inadequate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failed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internal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processes,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people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external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events.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0615" y="3172897"/>
            <a:ext cx="6008130" cy="2897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70"/>
              <a:t> </a:t>
            </a:r>
            <a:r>
              <a:rPr dirty="0"/>
              <a:t>case:</a:t>
            </a:r>
            <a:r>
              <a:rPr dirty="0" spc="-65"/>
              <a:t> </a:t>
            </a:r>
            <a:r>
              <a:rPr dirty="0"/>
              <a:t>Barings</a:t>
            </a:r>
            <a:r>
              <a:rPr dirty="0" spc="-50"/>
              <a:t> </a:t>
            </a:r>
            <a:r>
              <a:rPr dirty="0" spc="-20"/>
              <a:t>Bank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7869555" cy="407542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1300" marR="5080" indent="-228600">
              <a:lnSpc>
                <a:spcPct val="90600"/>
              </a:lnSpc>
              <a:spcBef>
                <a:spcPts val="3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1993,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UK-</a:t>
            </a:r>
            <a:r>
              <a:rPr dirty="0" sz="1800">
                <a:latin typeface="Century Gothic"/>
                <a:cs typeface="Century Gothic"/>
              </a:rPr>
              <a:t>based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Baring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appointed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25-</a:t>
            </a:r>
            <a:r>
              <a:rPr dirty="0" sz="1800" spc="-10">
                <a:latin typeface="Century Gothic"/>
                <a:cs typeface="Century Gothic"/>
              </a:rPr>
              <a:t>year-</a:t>
            </a:r>
            <a:r>
              <a:rPr dirty="0" sz="1800">
                <a:latin typeface="Century Gothic"/>
                <a:cs typeface="Century Gothic"/>
              </a:rPr>
              <a:t>old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Nick </a:t>
            </a:r>
            <a:r>
              <a:rPr dirty="0" sz="1800">
                <a:latin typeface="Century Gothic"/>
                <a:cs typeface="Century Gothic"/>
              </a:rPr>
              <a:t>Leeson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general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manager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new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futures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operation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Singapore.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4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335280" indent="-228600">
              <a:lnSpc>
                <a:spcPts val="1989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Leeson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was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charge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both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front-</a:t>
            </a:r>
            <a:r>
              <a:rPr dirty="0" sz="1800">
                <a:latin typeface="Century Gothic"/>
                <a:cs typeface="Century Gothic"/>
              </a:rPr>
              <a:t>office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back-office </a:t>
            </a:r>
            <a:r>
              <a:rPr dirty="0" sz="1800">
                <a:latin typeface="Century Gothic"/>
                <a:cs typeface="Century Gothic"/>
              </a:rPr>
              <a:t>accounting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settlements.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8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502920" indent="-228600">
              <a:lnSpc>
                <a:spcPts val="19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When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went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sour,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Leeson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hid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loss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through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accounting manipulations.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headquarter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was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unaware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until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much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later.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2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accumulated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losses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amounted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£827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million.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 spc="-10">
                <a:latin typeface="Century Gothic"/>
                <a:cs typeface="Century Gothic"/>
              </a:rPr>
              <a:t>Bankruptcy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8717" y="897299"/>
            <a:ext cx="1373258" cy="157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5563" y="3773397"/>
            <a:ext cx="3278295" cy="24035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85"/>
              <a:t> </a:t>
            </a:r>
            <a:r>
              <a:rPr dirty="0" spc="-2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596"/>
            <a:ext cx="7640955" cy="32321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Types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operational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risks: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internal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fraud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external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fraud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employment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practices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workplace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safety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products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business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practices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damage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physical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assets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business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disruption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failure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execution,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delivery,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process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management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85"/>
              <a:t> </a:t>
            </a:r>
            <a:r>
              <a:rPr dirty="0" spc="-20"/>
              <a:t>Risk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7382" y="1704878"/>
            <a:ext cx="10654665" cy="4455160"/>
            <a:chOff x="847382" y="1704878"/>
            <a:chExt cx="10654665" cy="4455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382" y="3347906"/>
              <a:ext cx="1725861" cy="11772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2419" y="1760357"/>
              <a:ext cx="1725861" cy="11772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0274" y="4983790"/>
              <a:ext cx="1725861" cy="11758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5138" y="4983790"/>
              <a:ext cx="1725861" cy="11758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3547" y="1704878"/>
              <a:ext cx="1725861" cy="11772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9670" y="3347905"/>
              <a:ext cx="1725861" cy="11886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1958" y="3347905"/>
              <a:ext cx="1725861" cy="11886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4248" y="3347905"/>
              <a:ext cx="1725861" cy="11886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5409" y="4983790"/>
              <a:ext cx="1725861" cy="11758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6726" y="4983790"/>
              <a:ext cx="1725235" cy="11758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804" y="1704878"/>
              <a:ext cx="1725861" cy="11772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4675" y="1704879"/>
              <a:ext cx="1725861" cy="118867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73107" y="3427913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441325" marR="191135" indent="-254635">
              <a:lnSpc>
                <a:spcPts val="1580"/>
              </a:lnSpc>
            </a:pPr>
            <a:r>
              <a:rPr dirty="0" sz="1400" spc="-10">
                <a:latin typeface="Arial"/>
                <a:cs typeface="Arial"/>
              </a:rPr>
              <a:t>Unauthorised Activity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18144" y="1840364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algn="ctr" marL="197485" marR="201295" indent="-635">
              <a:lnSpc>
                <a:spcPts val="1580"/>
              </a:lnSpc>
              <a:spcBef>
                <a:spcPts val="440"/>
              </a:spcBef>
            </a:pPr>
            <a:r>
              <a:rPr dirty="0" sz="1400" spc="-10">
                <a:latin typeface="Arial"/>
                <a:cs typeface="Arial"/>
              </a:rPr>
              <a:t>Execution, Delivery Management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Process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5998" y="5063797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algn="ctr" marL="151765" marR="155575">
              <a:lnSpc>
                <a:spcPts val="1580"/>
              </a:lnSpc>
              <a:spcBef>
                <a:spcPts val="440"/>
              </a:spcBef>
            </a:pPr>
            <a:r>
              <a:rPr dirty="0" sz="1400" spc="-10">
                <a:latin typeface="Arial"/>
                <a:cs typeface="Arial"/>
              </a:rPr>
              <a:t>Transaction Capture, </a:t>
            </a:r>
            <a:r>
              <a:rPr dirty="0" sz="1400">
                <a:latin typeface="Arial"/>
                <a:cs typeface="Arial"/>
              </a:rPr>
              <a:t>Execution</a:t>
            </a:r>
            <a:r>
              <a:rPr dirty="0" sz="1400" spc="1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10">
                <a:latin typeface="Arial"/>
                <a:cs typeface="Arial"/>
              </a:rPr>
              <a:t>Maintenance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00863" y="5063797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334645" marR="130175" indent="-208915">
              <a:lnSpc>
                <a:spcPts val="1580"/>
              </a:lnSpc>
            </a:pPr>
            <a:r>
              <a:rPr dirty="0" sz="1400">
                <a:latin typeface="Arial"/>
                <a:cs typeface="Arial"/>
              </a:rPr>
              <a:t>Monitoring</a:t>
            </a:r>
            <a:r>
              <a:rPr dirty="0" sz="1400" spc="19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10">
                <a:latin typeface="Arial"/>
                <a:cs typeface="Arial"/>
              </a:rPr>
              <a:t>Reporting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9272" y="1784886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56210" rIns="0" bIns="0" rtlCol="0" vert="horz">
            <a:spAutoFit/>
          </a:bodyPr>
          <a:lstStyle/>
          <a:p>
            <a:pPr algn="ctr" marL="75565" marR="79375" indent="-635">
              <a:lnSpc>
                <a:spcPts val="1580"/>
              </a:lnSpc>
              <a:spcBef>
                <a:spcPts val="1230"/>
              </a:spcBef>
            </a:pPr>
            <a:r>
              <a:rPr dirty="0" sz="1400" spc="-10">
                <a:latin typeface="Arial"/>
                <a:cs typeface="Arial"/>
              </a:rPr>
              <a:t>Business </a:t>
            </a:r>
            <a:r>
              <a:rPr dirty="0" sz="1400">
                <a:latin typeface="Arial"/>
                <a:cs typeface="Arial"/>
              </a:rPr>
              <a:t>Disruption</a:t>
            </a:r>
            <a:r>
              <a:rPr dirty="0" sz="1400" spc="17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>
                <a:latin typeface="Arial"/>
                <a:cs typeface="Arial"/>
              </a:rPr>
              <a:t>System</a:t>
            </a:r>
            <a:r>
              <a:rPr dirty="0" sz="1400" spc="1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Failures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73547" y="2702106"/>
            <a:ext cx="699135" cy="726440"/>
            <a:chOff x="1873547" y="2702106"/>
            <a:chExt cx="699135" cy="726440"/>
          </a:xfrm>
        </p:grpSpPr>
        <p:sp>
          <p:nvSpPr>
            <p:cNvPr id="22" name="object 22"/>
            <p:cNvSpPr/>
            <p:nvPr/>
          </p:nvSpPr>
          <p:spPr>
            <a:xfrm>
              <a:off x="1965749" y="2710679"/>
              <a:ext cx="598170" cy="622300"/>
            </a:xfrm>
            <a:custGeom>
              <a:avLst/>
              <a:gdLst/>
              <a:ahLst/>
              <a:cxnLst/>
              <a:rect l="l" t="t" r="r" b="b"/>
              <a:pathLst>
                <a:path w="598169" h="622300">
                  <a:moveTo>
                    <a:pt x="597733" y="0"/>
                  </a:moveTo>
                  <a:lnTo>
                    <a:pt x="0" y="622009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3547" y="3292756"/>
              <a:ext cx="133409" cy="13553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785396" y="3427913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4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Theft</a:t>
            </a:r>
            <a:r>
              <a:rPr dirty="0" sz="1400" spc="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9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Fraud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97683" y="3427913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400685" marR="384175" indent="-20320">
              <a:lnSpc>
                <a:spcPts val="1580"/>
              </a:lnSpc>
            </a:pPr>
            <a:r>
              <a:rPr dirty="0" sz="1400" spc="-10">
                <a:latin typeface="Arial"/>
                <a:cs typeface="Arial"/>
              </a:rPr>
              <a:t>Systems Security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9973" y="3427913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4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IT</a:t>
            </a:r>
            <a:r>
              <a:rPr dirty="0" sz="1400" spc="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1134" y="5063797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56210" rIns="0" bIns="0" rtlCol="0" vert="horz">
            <a:spAutoFit/>
          </a:bodyPr>
          <a:lstStyle/>
          <a:p>
            <a:pPr algn="ctr" marL="60325" marR="64135">
              <a:lnSpc>
                <a:spcPts val="1580"/>
              </a:lnSpc>
              <a:spcBef>
                <a:spcPts val="1230"/>
              </a:spcBef>
            </a:pPr>
            <a:r>
              <a:rPr dirty="0" sz="1400">
                <a:latin typeface="Arial"/>
                <a:cs typeface="Arial"/>
              </a:rPr>
              <a:t>Customer</a:t>
            </a:r>
            <a:r>
              <a:rPr dirty="0" sz="1400" spc="1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Intake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10"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02452" y="5063797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349885" marR="216535" indent="-137795">
              <a:lnSpc>
                <a:spcPts val="1580"/>
              </a:lnSpc>
            </a:pPr>
            <a:r>
              <a:rPr dirty="0" sz="1400">
                <a:latin typeface="Arial"/>
                <a:cs typeface="Arial"/>
              </a:rPr>
              <a:t>Vendors</a:t>
            </a:r>
            <a:r>
              <a:rPr dirty="0" sz="1400" spc="14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10">
                <a:latin typeface="Arial"/>
                <a:cs typeface="Arial"/>
              </a:rPr>
              <a:t>Suppliers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554910" y="2702107"/>
            <a:ext cx="8007984" cy="2373630"/>
            <a:chOff x="2554910" y="2702107"/>
            <a:chExt cx="8007984" cy="2373630"/>
          </a:xfrm>
        </p:grpSpPr>
        <p:sp>
          <p:nvSpPr>
            <p:cNvPr id="30" name="object 30"/>
            <p:cNvSpPr/>
            <p:nvPr/>
          </p:nvSpPr>
          <p:spPr>
            <a:xfrm>
              <a:off x="3706611" y="2710679"/>
              <a:ext cx="1076960" cy="640715"/>
            </a:xfrm>
            <a:custGeom>
              <a:avLst/>
              <a:gdLst/>
              <a:ahLst/>
              <a:cxnLst/>
              <a:rect l="l" t="t" r="r" b="b"/>
              <a:pathLst>
                <a:path w="1076960" h="640714">
                  <a:moveTo>
                    <a:pt x="1076949" y="0"/>
                  </a:moveTo>
                  <a:lnTo>
                    <a:pt x="0" y="640361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4297" y="3303565"/>
              <a:ext cx="144017" cy="11773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783561" y="2725437"/>
              <a:ext cx="446405" cy="583565"/>
            </a:xfrm>
            <a:custGeom>
              <a:avLst/>
              <a:gdLst/>
              <a:ahLst/>
              <a:cxnLst/>
              <a:rect l="l" t="t" r="r" b="b"/>
              <a:pathLst>
                <a:path w="446404" h="583564">
                  <a:moveTo>
                    <a:pt x="0" y="0"/>
                  </a:moveTo>
                  <a:lnTo>
                    <a:pt x="445857" y="582999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4893" y="3272369"/>
              <a:ext cx="126417" cy="1405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563482" y="2725437"/>
              <a:ext cx="822325" cy="612775"/>
            </a:xfrm>
            <a:custGeom>
              <a:avLst/>
              <a:gdLst/>
              <a:ahLst/>
              <a:cxnLst/>
              <a:rect l="l" t="t" r="r" b="b"/>
              <a:pathLst>
                <a:path w="822325" h="612775">
                  <a:moveTo>
                    <a:pt x="0" y="0"/>
                  </a:moveTo>
                  <a:lnTo>
                    <a:pt x="822272" y="612614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0141" y="3293183"/>
              <a:ext cx="140973" cy="1255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33845" y="2725437"/>
              <a:ext cx="88265" cy="554355"/>
            </a:xfrm>
            <a:custGeom>
              <a:avLst/>
              <a:gdLst/>
              <a:ahLst/>
              <a:cxnLst/>
              <a:rect l="l" t="t" r="r" b="b"/>
              <a:pathLst>
                <a:path w="88265" h="554354">
                  <a:moveTo>
                    <a:pt x="0" y="0"/>
                  </a:moveTo>
                  <a:lnTo>
                    <a:pt x="87920" y="553923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68493" y="3263694"/>
              <a:ext cx="106547" cy="14344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273994" y="2766157"/>
              <a:ext cx="1169670" cy="2239010"/>
            </a:xfrm>
            <a:custGeom>
              <a:avLst/>
              <a:gdLst/>
              <a:ahLst/>
              <a:cxnLst/>
              <a:rect l="l" t="t" r="r" b="b"/>
              <a:pathLst>
                <a:path w="1169670" h="2239010">
                  <a:moveTo>
                    <a:pt x="0" y="0"/>
                  </a:moveTo>
                  <a:lnTo>
                    <a:pt x="0" y="1737762"/>
                  </a:lnTo>
                </a:path>
                <a:path w="1169670" h="2239010">
                  <a:moveTo>
                    <a:pt x="11429" y="1742831"/>
                  </a:moveTo>
                  <a:lnTo>
                    <a:pt x="1169319" y="2238452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16931" y="4954427"/>
              <a:ext cx="145912" cy="1062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967654" y="4509446"/>
              <a:ext cx="318135" cy="433705"/>
            </a:xfrm>
            <a:custGeom>
              <a:avLst/>
              <a:gdLst/>
              <a:ahLst/>
              <a:cxnLst/>
              <a:rect l="l" t="t" r="r" b="b"/>
              <a:pathLst>
                <a:path w="318134" h="433704">
                  <a:moveTo>
                    <a:pt x="317768" y="0"/>
                  </a:moveTo>
                  <a:lnTo>
                    <a:pt x="0" y="433081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87681" y="4907180"/>
              <a:ext cx="125036" cy="14123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28042" y="4509446"/>
              <a:ext cx="3946525" cy="512445"/>
            </a:xfrm>
            <a:custGeom>
              <a:avLst/>
              <a:gdLst/>
              <a:ahLst/>
              <a:cxnLst/>
              <a:rect l="l" t="t" r="r" b="b"/>
              <a:pathLst>
                <a:path w="3946525" h="512445">
                  <a:moveTo>
                    <a:pt x="3945950" y="0"/>
                  </a:moveTo>
                  <a:lnTo>
                    <a:pt x="0" y="512205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9778" y="4968196"/>
              <a:ext cx="142662" cy="10691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548166" y="4509446"/>
              <a:ext cx="1725930" cy="495934"/>
            </a:xfrm>
            <a:custGeom>
              <a:avLst/>
              <a:gdLst/>
              <a:ahLst/>
              <a:cxnLst/>
              <a:rect l="l" t="t" r="r" b="b"/>
              <a:pathLst>
                <a:path w="1725929" h="495935">
                  <a:moveTo>
                    <a:pt x="1725827" y="0"/>
                  </a:moveTo>
                  <a:lnTo>
                    <a:pt x="0" y="495706"/>
                  </a:lnTo>
                </a:path>
              </a:pathLst>
            </a:custGeom>
            <a:ln w="17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23588" y="4953078"/>
              <a:ext cx="145644" cy="10414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861529" y="1784886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40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Internal</a:t>
            </a:r>
            <a:r>
              <a:rPr dirty="0" sz="1400" spc="1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Fraud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7" name="object 47"/>
          <p:cNvSpPr txBox="1"/>
          <p:nvPr/>
        </p:nvSpPr>
        <p:spPr>
          <a:xfrm>
            <a:off x="4080400" y="1784886"/>
            <a:ext cx="1474470" cy="925830"/>
          </a:xfrm>
          <a:prstGeom prst="rect">
            <a:avLst/>
          </a:prstGeom>
          <a:solidFill>
            <a:srgbClr val="EBEBEB"/>
          </a:solidFill>
          <a:ln w="11429">
            <a:solidFill>
              <a:srgbClr val="000000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400">
              <a:latin typeface="Times New Roman"/>
              <a:cs typeface="Times New Roman"/>
            </a:endParaRPr>
          </a:p>
          <a:p>
            <a:pPr marL="13144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External</a:t>
            </a:r>
            <a:r>
              <a:rPr dirty="0" sz="1400" spc="1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Fraud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42622" y="5316743"/>
            <a:ext cx="1546225" cy="47370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Source:</a:t>
            </a:r>
            <a:r>
              <a:rPr dirty="0" sz="950" spc="7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Duran,</a:t>
            </a:r>
            <a:r>
              <a:rPr dirty="0" sz="95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R.</a:t>
            </a:r>
            <a:r>
              <a:rPr dirty="0" sz="950" spc="7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3A3A3A"/>
                </a:solidFill>
                <a:latin typeface="Calibri"/>
                <a:cs typeface="Calibri"/>
              </a:rPr>
              <a:t>E.,</a:t>
            </a:r>
            <a:endParaRPr sz="95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</a:pP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Financial</a:t>
            </a:r>
            <a:r>
              <a:rPr dirty="0" sz="950" spc="13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Services</a:t>
            </a:r>
            <a:r>
              <a:rPr dirty="0" sz="950" spc="13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A3A3A"/>
                </a:solidFill>
                <a:latin typeface="Calibri"/>
                <a:cs typeface="Calibri"/>
              </a:rPr>
              <a:t>Technology,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Cengage</a:t>
            </a:r>
            <a:r>
              <a:rPr dirty="0" sz="950" spc="1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Learning</a:t>
            </a:r>
            <a:r>
              <a:rPr dirty="0" sz="950" spc="1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A3A3A"/>
                </a:solidFill>
                <a:latin typeface="Calibri"/>
                <a:cs typeface="Calibri"/>
              </a:rPr>
              <a:t>Asia,</a:t>
            </a:r>
            <a:r>
              <a:rPr dirty="0" sz="950" spc="1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A3A3A"/>
                </a:solidFill>
                <a:latin typeface="Calibri"/>
                <a:cs typeface="Calibri"/>
              </a:rPr>
              <a:t>2018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Operational</a:t>
            </a:r>
            <a:r>
              <a:rPr dirty="0" sz="4000" spc="-95"/>
              <a:t> </a:t>
            </a:r>
            <a:r>
              <a:rPr dirty="0" sz="4000"/>
              <a:t>Risk:</a:t>
            </a:r>
            <a:r>
              <a:rPr dirty="0" sz="4000" spc="-80"/>
              <a:t> </a:t>
            </a:r>
            <a:r>
              <a:rPr dirty="0" sz="4000"/>
              <a:t>Unauthorized</a:t>
            </a:r>
            <a:r>
              <a:rPr dirty="0" sz="4000" spc="-90"/>
              <a:t> </a:t>
            </a:r>
            <a:r>
              <a:rPr dirty="0" sz="4000" spc="-10"/>
              <a:t>Activity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059670" cy="315214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Unauthorized</a:t>
            </a:r>
            <a:r>
              <a:rPr dirty="0" sz="2000" spc="-114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activity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Unauthorized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activities,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e.g.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“rogue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traders”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Intentional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mismarking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positions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hide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losses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95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marR="5461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 spc="-10">
                <a:latin typeface="Century Gothic"/>
                <a:cs typeface="Century Gothic"/>
              </a:rPr>
              <a:t>Exception-</a:t>
            </a: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monitoring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identify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inconsistencies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inaccuracies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result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unauthorized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activities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18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Knowing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effective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monitoring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place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strong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disincentive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unauthorized</a:t>
            </a:r>
            <a:r>
              <a:rPr dirty="0" sz="2000" spc="-11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activity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105"/>
              <a:t> </a:t>
            </a:r>
            <a:r>
              <a:rPr dirty="0"/>
              <a:t>Risk:</a:t>
            </a:r>
            <a:r>
              <a:rPr dirty="0" spc="-105"/>
              <a:t> </a:t>
            </a:r>
            <a:r>
              <a:rPr dirty="0"/>
              <a:t>Theft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Fraud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58425" cy="3783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major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source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institutions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8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78105" indent="-227329">
              <a:lnSpc>
                <a:spcPts val="26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Insiders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able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easily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bypass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controls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protect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against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theft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fraud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75%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fraud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perpetrated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facilitated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insiders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Customer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information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been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leaked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through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data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breaches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enables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external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fraud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via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account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takeovers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identity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theft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85"/>
              <a:t> </a:t>
            </a:r>
            <a:r>
              <a:rPr dirty="0" spc="-20"/>
              <a:t>Risk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96641" y="2048824"/>
            <a:ext cx="6031865" cy="4375785"/>
            <a:chOff x="3896641" y="2048824"/>
            <a:chExt cx="6031865" cy="4375785"/>
          </a:xfrm>
        </p:grpSpPr>
        <p:sp>
          <p:nvSpPr>
            <p:cNvPr id="4" name="object 4"/>
            <p:cNvSpPr/>
            <p:nvPr/>
          </p:nvSpPr>
          <p:spPr>
            <a:xfrm>
              <a:off x="3945877" y="2206332"/>
              <a:ext cx="3947795" cy="4022090"/>
            </a:xfrm>
            <a:custGeom>
              <a:avLst/>
              <a:gdLst/>
              <a:ahLst/>
              <a:cxnLst/>
              <a:rect l="l" t="t" r="r" b="b"/>
              <a:pathLst>
                <a:path w="3947795" h="4022090">
                  <a:moveTo>
                    <a:pt x="660476" y="3089148"/>
                  </a:moveTo>
                  <a:lnTo>
                    <a:pt x="0" y="3089148"/>
                  </a:lnTo>
                  <a:lnTo>
                    <a:pt x="0" y="3400006"/>
                  </a:lnTo>
                  <a:lnTo>
                    <a:pt x="660476" y="3400006"/>
                  </a:lnTo>
                  <a:lnTo>
                    <a:pt x="660476" y="3089148"/>
                  </a:lnTo>
                  <a:close/>
                </a:path>
                <a:path w="3947795" h="4022090">
                  <a:moveTo>
                    <a:pt x="718654" y="2477135"/>
                  </a:moveTo>
                  <a:lnTo>
                    <a:pt x="0" y="2477135"/>
                  </a:lnTo>
                  <a:lnTo>
                    <a:pt x="0" y="2787993"/>
                  </a:lnTo>
                  <a:lnTo>
                    <a:pt x="718654" y="2787993"/>
                  </a:lnTo>
                  <a:lnTo>
                    <a:pt x="718654" y="2477135"/>
                  </a:lnTo>
                  <a:close/>
                </a:path>
                <a:path w="3947795" h="4022090">
                  <a:moveTo>
                    <a:pt x="718654" y="1855431"/>
                  </a:moveTo>
                  <a:lnTo>
                    <a:pt x="0" y="1855431"/>
                  </a:lnTo>
                  <a:lnTo>
                    <a:pt x="0" y="2166277"/>
                  </a:lnTo>
                  <a:lnTo>
                    <a:pt x="718654" y="2166277"/>
                  </a:lnTo>
                  <a:lnTo>
                    <a:pt x="718654" y="1855431"/>
                  </a:lnTo>
                  <a:close/>
                </a:path>
                <a:path w="3947795" h="4022090">
                  <a:moveTo>
                    <a:pt x="776833" y="1233716"/>
                  </a:moveTo>
                  <a:lnTo>
                    <a:pt x="0" y="1233716"/>
                  </a:lnTo>
                  <a:lnTo>
                    <a:pt x="0" y="1544574"/>
                  </a:lnTo>
                  <a:lnTo>
                    <a:pt x="776833" y="1544574"/>
                  </a:lnTo>
                  <a:lnTo>
                    <a:pt x="776833" y="1233716"/>
                  </a:lnTo>
                  <a:close/>
                </a:path>
                <a:path w="3947795" h="4022090">
                  <a:moveTo>
                    <a:pt x="893191" y="3710863"/>
                  </a:moveTo>
                  <a:lnTo>
                    <a:pt x="0" y="3710863"/>
                  </a:lnTo>
                  <a:lnTo>
                    <a:pt x="0" y="4021709"/>
                  </a:lnTo>
                  <a:lnTo>
                    <a:pt x="893191" y="4021709"/>
                  </a:lnTo>
                  <a:lnTo>
                    <a:pt x="893191" y="3710863"/>
                  </a:lnTo>
                  <a:close/>
                </a:path>
                <a:path w="3947795" h="4022090">
                  <a:moveTo>
                    <a:pt x="1610715" y="621703"/>
                  </a:moveTo>
                  <a:lnTo>
                    <a:pt x="0" y="621703"/>
                  </a:lnTo>
                  <a:lnTo>
                    <a:pt x="0" y="932561"/>
                  </a:lnTo>
                  <a:lnTo>
                    <a:pt x="1610715" y="932561"/>
                  </a:lnTo>
                  <a:lnTo>
                    <a:pt x="1610715" y="621703"/>
                  </a:lnTo>
                  <a:close/>
                </a:path>
                <a:path w="3947795" h="4022090">
                  <a:moveTo>
                    <a:pt x="3947515" y="0"/>
                  </a:moveTo>
                  <a:lnTo>
                    <a:pt x="0" y="0"/>
                  </a:lnTo>
                  <a:lnTo>
                    <a:pt x="0" y="310857"/>
                  </a:lnTo>
                  <a:lnTo>
                    <a:pt x="3947515" y="310857"/>
                  </a:lnTo>
                  <a:lnTo>
                    <a:pt x="394751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45883" y="6381044"/>
              <a:ext cx="5977255" cy="4327525"/>
            </a:xfrm>
            <a:custGeom>
              <a:avLst/>
              <a:gdLst/>
              <a:ahLst/>
              <a:cxnLst/>
              <a:rect l="l" t="t" r="r" b="b"/>
              <a:pathLst>
                <a:path w="5977255" h="4327525">
                  <a:moveTo>
                    <a:pt x="0" y="0"/>
                  </a:moveTo>
                  <a:lnTo>
                    <a:pt x="5977160" y="0"/>
                  </a:lnTo>
                </a:path>
                <a:path w="5977255" h="4327525">
                  <a:moveTo>
                    <a:pt x="0" y="0"/>
                  </a:moveTo>
                  <a:lnTo>
                    <a:pt x="0" y="43163"/>
                  </a:lnTo>
                </a:path>
                <a:path w="5977255" h="4327525">
                  <a:moveTo>
                    <a:pt x="602301" y="0"/>
                  </a:moveTo>
                  <a:lnTo>
                    <a:pt x="602301" y="43163"/>
                  </a:lnTo>
                </a:path>
                <a:path w="5977255" h="4327525">
                  <a:moveTo>
                    <a:pt x="1193773" y="0"/>
                  </a:moveTo>
                  <a:lnTo>
                    <a:pt x="1193773" y="43163"/>
                  </a:lnTo>
                </a:path>
                <a:path w="5977255" h="4327525">
                  <a:moveTo>
                    <a:pt x="1794942" y="0"/>
                  </a:moveTo>
                  <a:lnTo>
                    <a:pt x="1794942" y="43163"/>
                  </a:lnTo>
                </a:path>
                <a:path w="5977255" h="4327525">
                  <a:moveTo>
                    <a:pt x="2386414" y="0"/>
                  </a:moveTo>
                  <a:lnTo>
                    <a:pt x="2386414" y="43163"/>
                  </a:lnTo>
                </a:path>
                <a:path w="5977255" h="4327525">
                  <a:moveTo>
                    <a:pt x="2987583" y="0"/>
                  </a:moveTo>
                  <a:lnTo>
                    <a:pt x="2987583" y="43163"/>
                  </a:lnTo>
                </a:path>
                <a:path w="5977255" h="4327525">
                  <a:moveTo>
                    <a:pt x="3588752" y="0"/>
                  </a:moveTo>
                  <a:lnTo>
                    <a:pt x="3588752" y="43163"/>
                  </a:lnTo>
                </a:path>
                <a:path w="5977255" h="4327525">
                  <a:moveTo>
                    <a:pt x="4180224" y="0"/>
                  </a:moveTo>
                  <a:lnTo>
                    <a:pt x="4180224" y="43163"/>
                  </a:lnTo>
                </a:path>
                <a:path w="5977255" h="4327525">
                  <a:moveTo>
                    <a:pt x="4781393" y="0"/>
                  </a:moveTo>
                  <a:lnTo>
                    <a:pt x="4781393" y="43163"/>
                  </a:lnTo>
                </a:path>
                <a:path w="5977255" h="4327525">
                  <a:moveTo>
                    <a:pt x="5382561" y="0"/>
                  </a:moveTo>
                  <a:lnTo>
                    <a:pt x="5382561" y="43163"/>
                  </a:lnTo>
                </a:path>
                <a:path w="5977255" h="4327525">
                  <a:moveTo>
                    <a:pt x="5977160" y="0"/>
                  </a:moveTo>
                  <a:lnTo>
                    <a:pt x="5977160" y="43163"/>
                  </a:lnTo>
                </a:path>
                <a:path w="5977255" h="4327525">
                  <a:moveTo>
                    <a:pt x="0" y="0"/>
                  </a:moveTo>
                  <a:lnTo>
                    <a:pt x="0" y="4327363"/>
                  </a:lnTo>
                </a:path>
              </a:pathLst>
            </a:custGeom>
            <a:ln w="970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96641" y="2053681"/>
              <a:ext cx="49530" cy="4327525"/>
            </a:xfrm>
            <a:custGeom>
              <a:avLst/>
              <a:gdLst/>
              <a:ahLst/>
              <a:cxnLst/>
              <a:rect l="l" t="t" r="r" b="b"/>
              <a:pathLst>
                <a:path w="49529" h="4327525">
                  <a:moveTo>
                    <a:pt x="0" y="4327363"/>
                  </a:moveTo>
                  <a:lnTo>
                    <a:pt x="49241" y="4327363"/>
                  </a:lnTo>
                </a:path>
                <a:path w="49529" h="4327525">
                  <a:moveTo>
                    <a:pt x="0" y="3708075"/>
                  </a:moveTo>
                  <a:lnTo>
                    <a:pt x="49241" y="3708075"/>
                  </a:lnTo>
                </a:path>
                <a:path w="49529" h="4327525">
                  <a:moveTo>
                    <a:pt x="0" y="3086359"/>
                  </a:moveTo>
                  <a:lnTo>
                    <a:pt x="49241" y="3086359"/>
                  </a:lnTo>
                </a:path>
                <a:path w="49529" h="4327525">
                  <a:moveTo>
                    <a:pt x="0" y="2474358"/>
                  </a:moveTo>
                  <a:lnTo>
                    <a:pt x="49241" y="2474358"/>
                  </a:lnTo>
                </a:path>
                <a:path w="49529" h="4327525">
                  <a:moveTo>
                    <a:pt x="0" y="1852643"/>
                  </a:moveTo>
                  <a:lnTo>
                    <a:pt x="49241" y="1852643"/>
                  </a:lnTo>
                </a:path>
                <a:path w="49529" h="4327525">
                  <a:moveTo>
                    <a:pt x="0" y="1240642"/>
                  </a:moveTo>
                  <a:lnTo>
                    <a:pt x="49241" y="1240642"/>
                  </a:lnTo>
                </a:path>
                <a:path w="49529" h="4327525">
                  <a:moveTo>
                    <a:pt x="0" y="618927"/>
                  </a:moveTo>
                  <a:lnTo>
                    <a:pt x="49241" y="618927"/>
                  </a:lnTo>
                </a:path>
                <a:path w="49529" h="4327525">
                  <a:moveTo>
                    <a:pt x="0" y="0"/>
                  </a:moveTo>
                  <a:lnTo>
                    <a:pt x="49241" y="0"/>
                  </a:lnTo>
                </a:path>
              </a:pathLst>
            </a:custGeom>
            <a:ln w="970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850255" y="6448484"/>
            <a:ext cx="189865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3575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10%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1291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20%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9007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30%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06723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40%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4437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50%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2154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60%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99870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70%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97586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80%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95303" y="6448484"/>
            <a:ext cx="25781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5">
                <a:latin typeface="Calibri"/>
                <a:cs typeface="Calibri"/>
              </a:rPr>
              <a:t>90%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8621" y="6448484"/>
            <a:ext cx="325755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20">
                <a:latin typeface="Calibri"/>
                <a:cs typeface="Calibri"/>
              </a:rPr>
              <a:t>100%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1768" y="5943341"/>
            <a:ext cx="3898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10">
                <a:latin typeface="Calibri"/>
                <a:cs typeface="Calibri"/>
              </a:rPr>
              <a:t>Other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29676" y="2145050"/>
            <a:ext cx="1492885" cy="35833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16839" marR="13335">
              <a:lnSpc>
                <a:spcPct val="100899"/>
              </a:lnSpc>
              <a:spcBef>
                <a:spcPts val="110"/>
              </a:spcBef>
            </a:pP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personal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financial </a:t>
            </a:r>
            <a:r>
              <a:rPr dirty="0" sz="1200">
                <a:latin typeface="Calibri"/>
                <a:cs typeface="Calibri"/>
              </a:rPr>
              <a:t>gain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greed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200">
              <a:latin typeface="Calibri"/>
              <a:cs typeface="Calibri"/>
            </a:endParaRPr>
          </a:p>
          <a:p>
            <a:pPr algn="ctr" marL="5905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Eager/”Because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can”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200">
              <a:latin typeface="Calibri"/>
              <a:cs typeface="Calibri"/>
            </a:endParaRPr>
          </a:p>
          <a:p>
            <a:pPr algn="ctr" marL="71755" marR="17145">
              <a:lnSpc>
                <a:spcPct val="106200"/>
              </a:lnSpc>
            </a:pPr>
            <a:r>
              <a:rPr dirty="0" sz="1200">
                <a:latin typeface="Calibri"/>
                <a:cs typeface="Calibri"/>
              </a:rPr>
              <a:t>Organizational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culture driven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 marR="15240" indent="153035">
              <a:lnSpc>
                <a:spcPct val="100899"/>
              </a:lnSpc>
            </a:pPr>
            <a:r>
              <a:rPr dirty="0" sz="1200">
                <a:latin typeface="Calibri"/>
                <a:cs typeface="Calibri"/>
              </a:rPr>
              <a:t>Meet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targets/hide </a:t>
            </a:r>
            <a:r>
              <a:rPr dirty="0" sz="1200">
                <a:latin typeface="Calibri"/>
                <a:cs typeface="Calibri"/>
              </a:rPr>
              <a:t>losses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bonus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Calibri"/>
              <a:cs typeface="Calibri"/>
            </a:endParaRPr>
          </a:p>
          <a:p>
            <a:pPr marL="267970" marR="8255" indent="-13335">
              <a:lnSpc>
                <a:spcPct val="106200"/>
              </a:lnSpc>
            </a:pPr>
            <a:r>
              <a:rPr dirty="0" sz="1200">
                <a:latin typeface="Calibri"/>
                <a:cs typeface="Calibri"/>
              </a:rPr>
              <a:t>Meet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budgets/hide </a:t>
            </a:r>
            <a:r>
              <a:rPr dirty="0" sz="1200">
                <a:latin typeface="Calibri"/>
                <a:cs typeface="Calibri"/>
              </a:rPr>
              <a:t>losses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job</a:t>
            </a:r>
            <a:endParaRPr sz="1200">
              <a:latin typeface="Calibri"/>
              <a:cs typeface="Calibri"/>
            </a:endParaRPr>
          </a:p>
          <a:p>
            <a:pPr algn="ctr" marL="181610" marR="13970" indent="1270">
              <a:lnSpc>
                <a:spcPct val="103600"/>
              </a:lnSpc>
              <a:spcBef>
                <a:spcPts val="1110"/>
              </a:spcBef>
            </a:pPr>
            <a:r>
              <a:rPr dirty="0" sz="1200">
                <a:latin typeface="Calibri"/>
                <a:cs typeface="Calibri"/>
              </a:rPr>
              <a:t>Meet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targets/hide </a:t>
            </a:r>
            <a:r>
              <a:rPr dirty="0" sz="1200">
                <a:latin typeface="Calibri"/>
                <a:cs typeface="Calibri"/>
              </a:rPr>
              <a:t>losses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protect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79015" y="5729626"/>
            <a:ext cx="1094740" cy="344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Source:</a:t>
            </a:r>
            <a:r>
              <a:rPr dirty="0" sz="650" spc="4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Duran,</a:t>
            </a:r>
            <a:r>
              <a:rPr dirty="0" sz="650" spc="7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R.</a:t>
            </a:r>
            <a:r>
              <a:rPr dirty="0" sz="650" spc="7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endParaRPr sz="650">
              <a:latin typeface="Calibri"/>
              <a:cs typeface="Calibri"/>
            </a:endParaRPr>
          </a:p>
          <a:p>
            <a:pPr marL="12700" marR="5080">
              <a:lnSpc>
                <a:spcPct val="107900"/>
              </a:lnSpc>
            </a:pP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Financial</a:t>
            </a:r>
            <a:r>
              <a:rPr dirty="0" sz="6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Services</a:t>
            </a:r>
            <a:r>
              <a:rPr dirty="0" sz="650" spc="19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595959"/>
                </a:solidFill>
                <a:latin typeface="Calibri"/>
                <a:cs typeface="Calibri"/>
              </a:rPr>
              <a:t>Technology,</a:t>
            </a:r>
            <a:r>
              <a:rPr dirty="0" sz="650" spc="5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Cengage</a:t>
            </a:r>
            <a:r>
              <a:rPr dirty="0" sz="650" spc="114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dirty="0" sz="650" spc="1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595959"/>
                </a:solidFill>
                <a:latin typeface="Calibri"/>
                <a:cs typeface="Calibri"/>
              </a:rPr>
              <a:t>Asia,</a:t>
            </a:r>
            <a:r>
              <a:rPr dirty="0" sz="650" spc="4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595959"/>
                </a:solidFill>
                <a:latin typeface="Calibri"/>
                <a:cs typeface="Calibri"/>
              </a:rPr>
              <a:t>2018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2105" y="1557020"/>
            <a:ext cx="2787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Motivations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fraud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27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105"/>
              <a:t> </a:t>
            </a:r>
            <a:r>
              <a:rPr dirty="0"/>
              <a:t>Risk:</a:t>
            </a:r>
            <a:r>
              <a:rPr dirty="0" spc="-105"/>
              <a:t> </a:t>
            </a:r>
            <a:r>
              <a:rPr dirty="0"/>
              <a:t>Theft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fraud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962515" cy="38354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431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10">
                <a:latin typeface="Century Gothic"/>
                <a:cs typeface="Century Gothic"/>
              </a:rPr>
              <a:t>Technology-</a:t>
            </a: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attacks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become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increasingly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common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avenue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20">
                <a:latin typeface="Century Gothic"/>
                <a:cs typeface="Century Gothic"/>
              </a:rPr>
              <a:t>fraud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671195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made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easier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fraudsters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attack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institutions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remotely,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often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foreign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nations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11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implement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controls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prevent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 spc="-20">
                <a:latin typeface="Century Gothic"/>
                <a:cs typeface="Century Gothic"/>
              </a:rPr>
              <a:t>fraud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152400" indent="-226695">
              <a:lnSpc>
                <a:spcPts val="21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detect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exceptions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anomalies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symptoms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of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fraudulent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activity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110"/>
              <a:t> </a:t>
            </a:r>
            <a:r>
              <a:rPr dirty="0"/>
              <a:t>Risk:</a:t>
            </a:r>
            <a:r>
              <a:rPr dirty="0" spc="-105"/>
              <a:t> </a:t>
            </a:r>
            <a:r>
              <a:rPr dirty="0"/>
              <a:t>IT</a:t>
            </a:r>
            <a:r>
              <a:rPr dirty="0" spc="-100"/>
              <a:t> </a:t>
            </a:r>
            <a:r>
              <a:rPr dirty="0"/>
              <a:t>systems</a:t>
            </a:r>
            <a:r>
              <a:rPr dirty="0" spc="-100"/>
              <a:t> </a:t>
            </a:r>
            <a:r>
              <a:rPr dirty="0" spc="-1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9961880" cy="30226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related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hackers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Denial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service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attacks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Malware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designed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erase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render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unusable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Fraud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related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hackers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Issuing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falsified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instructions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Sabotaging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direct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cash,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ATMs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Stealing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contact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account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information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95"/>
              <a:t> </a:t>
            </a:r>
            <a:r>
              <a:rPr dirty="0"/>
              <a:t>Risk:</a:t>
            </a:r>
            <a:r>
              <a:rPr dirty="0" spc="-90"/>
              <a:t> </a:t>
            </a:r>
            <a:r>
              <a:rPr dirty="0"/>
              <a:t>IT</a:t>
            </a:r>
            <a:r>
              <a:rPr dirty="0" spc="-80"/>
              <a:t> </a:t>
            </a:r>
            <a:r>
              <a:rPr dirty="0"/>
              <a:t>systems</a:t>
            </a:r>
            <a:r>
              <a:rPr dirty="0" spc="-80"/>
              <a:t> </a:t>
            </a:r>
            <a:r>
              <a:rPr dirty="0" spc="-10"/>
              <a:t>resilience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10168890" cy="42640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Failures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disruptions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occur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many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different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levels: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Hardware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Software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Networks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telecommunications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Power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18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Redundancy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communications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mitigates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of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failures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2705" indent="-227329">
              <a:lnSpc>
                <a:spcPts val="26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Redundancy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skills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knowledge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across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staff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also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necessary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Operational</a:t>
            </a:r>
            <a:r>
              <a:rPr dirty="0" sz="3600" spc="-130"/>
              <a:t> </a:t>
            </a:r>
            <a:r>
              <a:rPr dirty="0" sz="3600"/>
              <a:t>Risk:</a:t>
            </a:r>
            <a:r>
              <a:rPr dirty="0" sz="3600" spc="-130"/>
              <a:t> </a:t>
            </a:r>
            <a:r>
              <a:rPr dirty="0" sz="3600"/>
              <a:t>Information</a:t>
            </a:r>
            <a:r>
              <a:rPr dirty="0" sz="3600" spc="-130"/>
              <a:t> </a:t>
            </a:r>
            <a:r>
              <a:rPr dirty="0" sz="3600" spc="-10"/>
              <a:t>mismanagement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10332720" cy="3352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Examples: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“Fat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fingering”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entry,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extra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zero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updated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another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Stale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reference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SWIFT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identifier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codes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Failed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transfer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batch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inputs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processing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18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When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designing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solutions,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important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think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about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types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of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could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arise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related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information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management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Design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build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safeguards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avoid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Operational</a:t>
            </a:r>
            <a:r>
              <a:rPr dirty="0" sz="4000" spc="-55"/>
              <a:t> </a:t>
            </a:r>
            <a:r>
              <a:rPr dirty="0" sz="4000"/>
              <a:t>Risk:</a:t>
            </a:r>
            <a:r>
              <a:rPr dirty="0" sz="4000" spc="-45"/>
              <a:t> </a:t>
            </a:r>
            <a:r>
              <a:rPr dirty="0" sz="4000"/>
              <a:t>Vendor</a:t>
            </a:r>
            <a:r>
              <a:rPr dirty="0" sz="4000" spc="-55"/>
              <a:t> </a:t>
            </a:r>
            <a:r>
              <a:rPr dirty="0" sz="4000"/>
              <a:t>and</a:t>
            </a:r>
            <a:r>
              <a:rPr dirty="0" sz="4000" spc="-55"/>
              <a:t> </a:t>
            </a:r>
            <a:r>
              <a:rPr dirty="0" sz="4000"/>
              <a:t>supplier</a:t>
            </a:r>
            <a:r>
              <a:rPr dirty="0" sz="4000" spc="-55"/>
              <a:t> </a:t>
            </a:r>
            <a:r>
              <a:rPr dirty="0" sz="4000" spc="-20"/>
              <a:t>risk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566910" cy="3884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Dependencies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vendors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suppliers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lead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potential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outage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service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bank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Recent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trends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increase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Third-</a:t>
            </a:r>
            <a:r>
              <a:rPr dirty="0" sz="1800">
                <a:latin typeface="Century Gothic"/>
                <a:cs typeface="Century Gothic"/>
              </a:rPr>
              <a:t>party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hosting,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i.e.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cloud-</a:t>
            </a:r>
            <a:r>
              <a:rPr dirty="0" sz="1800">
                <a:latin typeface="Century Gothic"/>
                <a:cs typeface="Century Gothic"/>
              </a:rPr>
              <a:t>based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services</a:t>
            </a:r>
            <a:endParaRPr sz="1800">
              <a:latin typeface="Century Gothic"/>
              <a:cs typeface="Century Gothic"/>
            </a:endParaRPr>
          </a:p>
          <a:p>
            <a:pPr lvl="1" marL="698500" marR="5080" indent="-228600">
              <a:lnSpc>
                <a:spcPts val="19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Use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remotely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accessed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third-</a:t>
            </a:r>
            <a:r>
              <a:rPr dirty="0" sz="1800">
                <a:latin typeface="Century Gothic"/>
                <a:cs typeface="Century Gothic"/>
              </a:rPr>
              <a:t>party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components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via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application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programming </a:t>
            </a:r>
            <a:r>
              <a:rPr dirty="0" sz="1800">
                <a:latin typeface="Century Gothic"/>
                <a:cs typeface="Century Gothic"/>
              </a:rPr>
              <a:t>interfaces</a:t>
            </a:r>
            <a:r>
              <a:rPr dirty="0" sz="1800" spc="-7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(API)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97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marR="149225" indent="-226695">
              <a:lnSpc>
                <a:spcPts val="218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10">
                <a:latin typeface="Century Gothic"/>
                <a:cs typeface="Century Gothic"/>
              </a:rPr>
              <a:t>Well-</a:t>
            </a:r>
            <a:r>
              <a:rPr dirty="0" sz="2000">
                <a:latin typeface="Century Gothic"/>
                <a:cs typeface="Century Gothic"/>
              </a:rPr>
              <a:t>designed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service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level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agreements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performance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monitoring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help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mitigate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vendor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18937" y="2902203"/>
            <a:ext cx="76892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Compliance</a:t>
            </a:r>
            <a:r>
              <a:rPr dirty="0" sz="4000" spc="-75"/>
              <a:t> </a:t>
            </a:r>
            <a:r>
              <a:rPr dirty="0" sz="4000"/>
              <a:t>Risk</a:t>
            </a:r>
            <a:r>
              <a:rPr dirty="0" sz="4000" spc="-75"/>
              <a:t> </a:t>
            </a:r>
            <a:r>
              <a:rPr dirty="0" sz="4000" spc="-10"/>
              <a:t>Management</a:t>
            </a:r>
            <a:endParaRPr sz="4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Compliance</a:t>
            </a:r>
            <a:r>
              <a:rPr dirty="0" spc="-145"/>
              <a:t> </a:t>
            </a:r>
            <a:r>
              <a:rPr dirty="0" spc="-2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116185" cy="104076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ct val="887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Compliance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losses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reputational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damage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50">
                <a:latin typeface="Century Gothic"/>
                <a:cs typeface="Century Gothic"/>
              </a:rPr>
              <a:t>a </a:t>
            </a:r>
            <a:r>
              <a:rPr dirty="0" sz="2400" spc="-5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institution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incur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failing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comply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with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laws,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regulations,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rules,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codes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conduct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applicable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activities.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2068" y="4107908"/>
            <a:ext cx="5492330" cy="2031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Regulatory</a:t>
            </a:r>
            <a:r>
              <a:rPr dirty="0" sz="4000" spc="-114"/>
              <a:t> </a:t>
            </a:r>
            <a:r>
              <a:rPr dirty="0" sz="4000" spc="-10"/>
              <a:t>Objectives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769998"/>
            <a:ext cx="9939655" cy="398208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Common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goals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Protecting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depositors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consumers</a:t>
            </a:r>
            <a:endParaRPr sz="16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Maintaining</a:t>
            </a:r>
            <a:r>
              <a:rPr dirty="0" sz="1600" spc="-8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financial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stability</a:t>
            </a:r>
            <a:endParaRPr sz="16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Ensuring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financial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system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efficient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0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Protection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depositor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funds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from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failures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key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concern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Ensure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banks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do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take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excessive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risks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2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An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efficient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payment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system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underpins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banking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services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financial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markets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4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5080" indent="-228600">
              <a:lnSpc>
                <a:spcPts val="1989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Banking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other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financial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services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should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provided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competitive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prices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high </a:t>
            </a:r>
            <a:r>
              <a:rPr dirty="0" sz="1800" spc="-10">
                <a:latin typeface="Century Gothic"/>
                <a:cs typeface="Century Gothic"/>
              </a:rPr>
              <a:t>quality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Glass-Steagall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364"/>
            <a:ext cx="725233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Following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crash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1929,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congress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1973579"/>
            <a:ext cx="48698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enacted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Glass-</a:t>
            </a:r>
            <a:r>
              <a:rPr dirty="0" sz="2000">
                <a:latin typeface="Century Gothic"/>
                <a:cs typeface="Century Gothic"/>
              </a:rPr>
              <a:t>Steagall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1933.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659379"/>
            <a:ext cx="7616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key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provision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commercial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underwriting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2875788"/>
            <a:ext cx="67748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dealing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securities,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from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539" y="3089147"/>
            <a:ext cx="194246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taking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deposits.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762755"/>
            <a:ext cx="7527925" cy="5467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39395" marR="5080" indent="-226695">
              <a:lnSpc>
                <a:spcPct val="71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Glass-</a:t>
            </a:r>
            <a:r>
              <a:rPr dirty="0" sz="2000">
                <a:latin typeface="Century Gothic"/>
                <a:cs typeface="Century Gothic"/>
              </a:rPr>
              <a:t>Steagall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restored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public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confidence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US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banking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aftermath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great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depression.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664964"/>
            <a:ext cx="654113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1999,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law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was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repealed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–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commercial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banks,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4869179"/>
            <a:ext cx="73945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investment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insurance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companies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allowed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to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539" y="5085588"/>
            <a:ext cx="6555740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45"/>
              </a:lnSpc>
              <a:spcBef>
                <a:spcPts val="100"/>
              </a:spcBef>
            </a:pPr>
            <a:r>
              <a:rPr dirty="0" sz="2000" spc="-10">
                <a:latin typeface="Century Gothic"/>
                <a:cs typeface="Century Gothic"/>
              </a:rPr>
              <a:t>consolidate.</a:t>
            </a:r>
            <a:endParaRPr sz="2000">
              <a:latin typeface="Century Gothic"/>
              <a:cs typeface="Century Gothic"/>
            </a:endParaRPr>
          </a:p>
          <a:p>
            <a:pPr marL="469265" indent="-227965">
              <a:lnSpc>
                <a:spcPts val="1985"/>
              </a:lnSpc>
              <a:buFont typeface="Arial"/>
              <a:buChar char="•"/>
              <a:tabLst>
                <a:tab pos="469265" algn="l"/>
              </a:tabLst>
            </a:pPr>
            <a:r>
              <a:rPr dirty="0" sz="1700">
                <a:latin typeface="Century Gothic"/>
                <a:cs typeface="Century Gothic"/>
              </a:rPr>
              <a:t>Some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argued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it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has</a:t>
            </a:r>
            <a:r>
              <a:rPr dirty="0" sz="1700" spc="-2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contributed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to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the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2008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financial</a:t>
            </a:r>
            <a:r>
              <a:rPr dirty="0" sz="1700" spc="-4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crisis.</a:t>
            </a:r>
            <a:endParaRPr sz="1700">
              <a:latin typeface="Century Gothic"/>
              <a:cs typeface="Century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8354" y="1055475"/>
            <a:ext cx="2795273" cy="21773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0452" y="3974773"/>
            <a:ext cx="2943176" cy="195953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Dodd–Frank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7162800" cy="37807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1300" marR="212725" indent="-228600">
              <a:lnSpc>
                <a:spcPct val="90600"/>
              </a:lnSpc>
              <a:spcBef>
                <a:spcPts val="3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2010,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4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Dodd-</a:t>
            </a:r>
            <a:r>
              <a:rPr dirty="0" sz="1800">
                <a:latin typeface="Century Gothic"/>
                <a:cs typeface="Century Gothic"/>
              </a:rPr>
              <a:t>Frank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Wall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Street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Reform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Consumer </a:t>
            </a:r>
            <a:r>
              <a:rPr dirty="0" sz="1800">
                <a:latin typeface="Century Gothic"/>
                <a:cs typeface="Century Gothic"/>
              </a:rPr>
              <a:t>Protection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was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signed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law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response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2008 </a:t>
            </a:r>
            <a:r>
              <a:rPr dirty="0" sz="1800">
                <a:latin typeface="Century Gothic"/>
                <a:cs typeface="Century Gothic"/>
              </a:rPr>
              <a:t>financial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crisis.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Key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provisions:</a:t>
            </a:r>
            <a:endParaRPr sz="1800">
              <a:latin typeface="Century Gothic"/>
              <a:cs typeface="Century Gothic"/>
            </a:endParaRPr>
          </a:p>
          <a:p>
            <a:pPr lvl="1" marL="698500" marR="126364" indent="-228600">
              <a:lnSpc>
                <a:spcPts val="1680"/>
              </a:lnSpc>
              <a:spcBef>
                <a:spcPts val="6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Restricting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banks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from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proprietary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trading,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derivates,</a:t>
            </a:r>
            <a:r>
              <a:rPr dirty="0" sz="1600" spc="-6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private </a:t>
            </a:r>
            <a:r>
              <a:rPr dirty="0" sz="1600">
                <a:latin typeface="Century Gothic"/>
                <a:cs typeface="Century Gothic"/>
              </a:rPr>
              <a:t>equity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businesses.</a:t>
            </a:r>
            <a:endParaRPr sz="16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Financial</a:t>
            </a:r>
            <a:r>
              <a:rPr dirty="0" sz="1600" spc="-6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Stability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Oversight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Council</a:t>
            </a:r>
            <a:endParaRPr sz="16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Regulating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credit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rating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agencies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(e.g.,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S&amp;P,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Moody’s)</a:t>
            </a:r>
            <a:endParaRPr sz="1600">
              <a:latin typeface="Century Gothic"/>
              <a:cs typeface="Century Gothic"/>
            </a:endParaRPr>
          </a:p>
          <a:p>
            <a:pPr lvl="1" marL="698500" marR="5080" indent="-228600">
              <a:lnSpc>
                <a:spcPts val="168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Consumer</a:t>
            </a:r>
            <a:r>
              <a:rPr dirty="0" sz="1600" spc="-6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Financial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Protection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Bureau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(CFPB)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protects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consumers </a:t>
            </a:r>
            <a:r>
              <a:rPr dirty="0" sz="1600">
                <a:latin typeface="Century Gothic"/>
                <a:cs typeface="Century Gothic"/>
              </a:rPr>
              <a:t>from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predatory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lending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mortgages,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credit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cards,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etc.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110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2018,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Dodd-</a:t>
            </a:r>
            <a:r>
              <a:rPr dirty="0" sz="1800">
                <a:latin typeface="Century Gothic"/>
                <a:cs typeface="Century Gothic"/>
              </a:rPr>
              <a:t>Frank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was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partially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repealed.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1779" y="966218"/>
            <a:ext cx="3087056" cy="21493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1779" y="3821808"/>
            <a:ext cx="3092196" cy="214936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Regulatory</a:t>
            </a:r>
            <a:r>
              <a:rPr dirty="0" spc="-170"/>
              <a:t> </a:t>
            </a:r>
            <a:r>
              <a:rPr dirty="0" spc="-10"/>
              <a:t>agencies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807"/>
            <a:ext cx="4994275" cy="3973829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 spc="-25">
                <a:latin typeface="Century Gothic"/>
                <a:cs typeface="Century Gothic"/>
              </a:rPr>
              <a:t>US</a:t>
            </a:r>
            <a:endParaRPr sz="15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Securities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and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Exchange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(SEC)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Commodity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Futures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Trading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(CFTC)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Federal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Reserve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System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("Fed")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ts val="1535"/>
              </a:lnSpc>
              <a:spcBef>
                <a:spcPts val="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Federal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Deposit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Insurance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Corporation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(FDIC)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ts val="1535"/>
              </a:lnSpc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Office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of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the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Comptroller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of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the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Currency</a:t>
            </a:r>
            <a:r>
              <a:rPr dirty="0" sz="1300" spc="-2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(OCC)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Consumer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Financial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Protection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Bureau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(CFPB)</a:t>
            </a:r>
            <a:endParaRPr sz="13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465"/>
              </a:spcBef>
              <a:buFont typeface="Arial"/>
              <a:buChar char="•"/>
            </a:pPr>
            <a:endParaRPr sz="13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500" spc="-10">
                <a:latin typeface="Century Gothic"/>
                <a:cs typeface="Century Gothic"/>
              </a:rPr>
              <a:t>China</a:t>
            </a:r>
            <a:endParaRPr sz="15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China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Banking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Regulatory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(CBRC)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China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Securities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Regulatory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(CSRC)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China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Insurance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Regulatory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(CIRC)</a:t>
            </a:r>
            <a:endParaRPr sz="13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035"/>
              </a:spcBef>
              <a:buFont typeface="Arial"/>
              <a:buChar char="•"/>
            </a:pPr>
            <a:endParaRPr sz="13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500">
                <a:latin typeface="Century Gothic"/>
                <a:cs typeface="Century Gothic"/>
              </a:rPr>
              <a:t>Hong</a:t>
            </a:r>
            <a:r>
              <a:rPr dirty="0" sz="1500" spc="-35">
                <a:latin typeface="Century Gothic"/>
                <a:cs typeface="Century Gothic"/>
              </a:rPr>
              <a:t> </a:t>
            </a:r>
            <a:r>
              <a:rPr dirty="0" sz="1500" spc="-20">
                <a:latin typeface="Century Gothic"/>
                <a:cs typeface="Century Gothic"/>
              </a:rPr>
              <a:t>Kong</a:t>
            </a:r>
            <a:endParaRPr sz="15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Hong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Kong</a:t>
            </a:r>
            <a:r>
              <a:rPr dirty="0" sz="1300" spc="-4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Monetary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Authority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(HKMA)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Securities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and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Futures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Commission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 spc="-20">
                <a:latin typeface="Century Gothic"/>
                <a:cs typeface="Century Gothic"/>
              </a:rPr>
              <a:t>(SFC)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Mandatory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Provident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Fund</a:t>
            </a:r>
            <a:r>
              <a:rPr dirty="0" sz="1300" spc="-3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Schemes</a:t>
            </a:r>
            <a:r>
              <a:rPr dirty="0" sz="1300" spc="-40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Authority</a:t>
            </a:r>
            <a:r>
              <a:rPr dirty="0" sz="1300" spc="-30">
                <a:latin typeface="Century Gothic"/>
                <a:cs typeface="Century Gothic"/>
              </a:rPr>
              <a:t> </a:t>
            </a:r>
            <a:r>
              <a:rPr dirty="0" sz="1300" spc="-10">
                <a:latin typeface="Century Gothic"/>
                <a:cs typeface="Century Gothic"/>
              </a:rPr>
              <a:t>(MPFA)</a:t>
            </a:r>
            <a:endParaRPr sz="13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300">
                <a:latin typeface="Century Gothic"/>
                <a:cs typeface="Century Gothic"/>
              </a:rPr>
              <a:t>Insurance</a:t>
            </a:r>
            <a:r>
              <a:rPr dirty="0" sz="1300" spc="-55">
                <a:latin typeface="Century Gothic"/>
                <a:cs typeface="Century Gothic"/>
              </a:rPr>
              <a:t> </a:t>
            </a:r>
            <a:r>
              <a:rPr dirty="0" sz="1300">
                <a:latin typeface="Century Gothic"/>
                <a:cs typeface="Century Gothic"/>
              </a:rPr>
              <a:t>Authority</a:t>
            </a:r>
            <a:r>
              <a:rPr dirty="0" sz="1300" spc="-50">
                <a:latin typeface="Century Gothic"/>
                <a:cs typeface="Century Gothic"/>
              </a:rPr>
              <a:t> </a:t>
            </a:r>
            <a:r>
              <a:rPr dirty="0" sz="1300" spc="-20">
                <a:latin typeface="Century Gothic"/>
                <a:cs typeface="Century Gothic"/>
              </a:rPr>
              <a:t>(IA)</a:t>
            </a:r>
            <a:endParaRPr sz="13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1617" y="1441319"/>
            <a:ext cx="897169" cy="8971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87477" y="230187"/>
            <a:ext cx="897169" cy="8971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7318" y="2182956"/>
            <a:ext cx="897169" cy="8971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16413" y="2182958"/>
            <a:ext cx="897168" cy="8971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601" y="822607"/>
            <a:ext cx="812162" cy="8121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01776" y="647461"/>
            <a:ext cx="834893" cy="8348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18324" y="3525502"/>
            <a:ext cx="691492" cy="8413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63085" y="3525503"/>
            <a:ext cx="745952" cy="84139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68294" y="5000845"/>
            <a:ext cx="970934" cy="94423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50188" y="5065379"/>
            <a:ext cx="1214299" cy="7832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01414" y="5065165"/>
            <a:ext cx="772800" cy="8470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16413" y="5240023"/>
            <a:ext cx="1522040" cy="71802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204" y="1870075"/>
            <a:ext cx="7810735" cy="478091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Compliance</a:t>
            </a:r>
            <a:r>
              <a:rPr dirty="0" spc="-145"/>
              <a:t> </a:t>
            </a:r>
            <a:r>
              <a:rPr dirty="0" spc="-20"/>
              <a:t>Risk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2059939" y="1429003"/>
            <a:ext cx="6931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400">
                <a:latin typeface="Arial"/>
                <a:cs typeface="Arial"/>
              </a:rPr>
              <a:t>Complaint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volume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financial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product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service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11309" y="5148579"/>
            <a:ext cx="2312670" cy="1247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u="sng" sz="16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DengXian"/>
                <a:cs typeface="DengXian"/>
              </a:rPr>
              <a:t>https://www.consumerfina</a:t>
            </a:r>
            <a:r>
              <a:rPr dirty="0" u="none" sz="1600" spc="-10">
                <a:solidFill>
                  <a:srgbClr val="0563C1"/>
                </a:solidFill>
                <a:latin typeface="DengXian"/>
                <a:cs typeface="DengXian"/>
              </a:rPr>
              <a:t> </a:t>
            </a:r>
            <a:r>
              <a:rPr dirty="0" u="sng" sz="16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DengXian"/>
                <a:cs typeface="DengXian"/>
              </a:rPr>
              <a:t>nce.gov/data-research/research-reports/2024-consumer-response-annual-report/</a:t>
            </a:r>
            <a:endParaRPr sz="1600">
              <a:latin typeface="DengXian"/>
              <a:cs typeface="DengXi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6803"/>
            <a:ext cx="8896985" cy="1290320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755"/>
              </a:spcBef>
            </a:pPr>
            <a:r>
              <a:rPr dirty="0"/>
              <a:t>Regulatory</a:t>
            </a:r>
            <a:r>
              <a:rPr dirty="0" spc="-105"/>
              <a:t> </a:t>
            </a:r>
            <a:r>
              <a:rPr dirty="0"/>
              <a:t>responses</a:t>
            </a:r>
            <a:r>
              <a:rPr dirty="0" spc="-105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 spc="-20"/>
              <a:t>2008 </a:t>
            </a:r>
            <a:r>
              <a:rPr dirty="0"/>
              <a:t>financial</a:t>
            </a:r>
            <a:r>
              <a:rPr dirty="0" spc="-150"/>
              <a:t> </a:t>
            </a:r>
            <a:r>
              <a:rPr dirty="0" spc="-10"/>
              <a:t>crises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2571"/>
            <a:ext cx="10235565" cy="431927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40029" marR="640715" indent="-227329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wake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2008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crises,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governments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across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the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world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have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started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wave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regulatory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changes.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872490" indent="-227329">
              <a:lnSpc>
                <a:spcPts val="23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number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regulatory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changes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year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been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steadily 	increasing</a:t>
            </a:r>
            <a:endParaRPr sz="24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ct val="790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typical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services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organization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deals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average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217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-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at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times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conflicting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-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regulatory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developments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daily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basis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(Thomas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Reuters).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22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70485" indent="-226695">
              <a:lnSpc>
                <a:spcPts val="20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US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foreign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countries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also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supervised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by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regulators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those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jurisdictions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436245" indent="-226695">
              <a:lnSpc>
                <a:spcPts val="19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Industry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bodies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also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regulate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supervise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banks’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activities,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i.e.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Visa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Mastercard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Examples</a:t>
            </a:r>
            <a:r>
              <a:rPr dirty="0" sz="3600" spc="-60"/>
              <a:t> </a:t>
            </a:r>
            <a:r>
              <a:rPr dirty="0" sz="3600"/>
              <a:t>of</a:t>
            </a:r>
            <a:r>
              <a:rPr dirty="0" sz="3600" spc="-55"/>
              <a:t> </a:t>
            </a:r>
            <a:r>
              <a:rPr dirty="0" sz="3600"/>
              <a:t>laws</a:t>
            </a:r>
            <a:r>
              <a:rPr dirty="0" sz="3600" spc="-55"/>
              <a:t> </a:t>
            </a:r>
            <a:r>
              <a:rPr dirty="0" sz="3600"/>
              <a:t>and</a:t>
            </a:r>
            <a:r>
              <a:rPr dirty="0" sz="3600" spc="-60"/>
              <a:t> </a:t>
            </a:r>
            <a:r>
              <a:rPr dirty="0" sz="3600"/>
              <a:t>regulatory</a:t>
            </a:r>
            <a:r>
              <a:rPr dirty="0" sz="3600" spc="-60"/>
              <a:t> </a:t>
            </a:r>
            <a:r>
              <a:rPr dirty="0" sz="3600" spc="-10"/>
              <a:t>guidance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99738" y="2618263"/>
          <a:ext cx="8468995" cy="316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9729"/>
                <a:gridCol w="4189729"/>
              </a:tblGrid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Type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Enforcer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Americans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with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Disabilities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6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(ADA)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law/Department</a:t>
                      </a:r>
                      <a:r>
                        <a:rPr dirty="0" sz="16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Justice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Bank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Secrecy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0">
                          <a:latin typeface="Century Gothic"/>
                          <a:cs typeface="Century Gothic"/>
                        </a:rPr>
                        <a:t>(BSA)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law/OCC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20">
                          <a:latin typeface="Century Gothic"/>
                          <a:cs typeface="Century Gothic"/>
                        </a:rPr>
                        <a:t>CAN-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SPAM</a:t>
                      </a:r>
                      <a:r>
                        <a:rPr dirty="0" sz="160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Act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law/Federal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Trade</a:t>
                      </a:r>
                      <a:r>
                        <a:rPr dirty="0" sz="16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Commission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0805" marR="109855">
                        <a:lnSpc>
                          <a:spcPts val="1900"/>
                        </a:lnSpc>
                        <a:spcBef>
                          <a:spcPts val="44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Credit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Card</a:t>
                      </a:r>
                      <a:r>
                        <a:rPr dirty="0" sz="16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Accountability</a:t>
                      </a:r>
                      <a:r>
                        <a:rPr dirty="0" sz="1600" spc="50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Responsibility</a:t>
                      </a:r>
                      <a:r>
                        <a:rPr dirty="0" sz="16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Disclosure</a:t>
                      </a:r>
                      <a:r>
                        <a:rPr dirty="0" sz="1600" spc="-6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(CARD)</a:t>
                      </a:r>
                      <a:r>
                        <a:rPr dirty="0" sz="16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Act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law/CFPB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Equal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Credit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Opportunity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(ECOA)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7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law/multiple</a:t>
                      </a:r>
                      <a:r>
                        <a:rPr dirty="0" sz="1600" spc="-6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agencies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Fair</a:t>
                      </a:r>
                      <a:r>
                        <a:rPr dirty="0" sz="16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Credit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Reporting</a:t>
                      </a:r>
                      <a:r>
                        <a:rPr dirty="0" sz="16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(FCRA)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law/CFPB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0805" marR="773430">
                        <a:lnSpc>
                          <a:spcPts val="1900"/>
                        </a:lnSpc>
                        <a:spcBef>
                          <a:spcPts val="44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Fair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Debt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Collection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>
                          <a:latin typeface="Century Gothic"/>
                          <a:cs typeface="Century Gothic"/>
                        </a:rPr>
                        <a:t>Practices</a:t>
                      </a:r>
                      <a:r>
                        <a:rPr dirty="0" sz="16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Act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(FDCPA)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6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law/CFPB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30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Examples</a:t>
            </a:r>
            <a:r>
              <a:rPr dirty="0" sz="3600" spc="-60"/>
              <a:t> </a:t>
            </a:r>
            <a:r>
              <a:rPr dirty="0" sz="3600"/>
              <a:t>of</a:t>
            </a:r>
            <a:r>
              <a:rPr dirty="0" sz="3600" spc="-55"/>
              <a:t> </a:t>
            </a:r>
            <a:r>
              <a:rPr dirty="0" sz="3600"/>
              <a:t>laws</a:t>
            </a:r>
            <a:r>
              <a:rPr dirty="0" sz="3600" spc="-55"/>
              <a:t> </a:t>
            </a:r>
            <a:r>
              <a:rPr dirty="0" sz="3600"/>
              <a:t>and</a:t>
            </a:r>
            <a:r>
              <a:rPr dirty="0" sz="3600" spc="-60"/>
              <a:t> </a:t>
            </a:r>
            <a:r>
              <a:rPr dirty="0" sz="3600"/>
              <a:t>regulatory</a:t>
            </a:r>
            <a:r>
              <a:rPr dirty="0" sz="3600" spc="-60"/>
              <a:t> </a:t>
            </a:r>
            <a:r>
              <a:rPr dirty="0" sz="3600" spc="-10"/>
              <a:t>guidance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79336" y="2218499"/>
          <a:ext cx="950214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6620"/>
                <a:gridCol w="4706620"/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Type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Enforcer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10">
                          <a:latin typeface="Century Gothic"/>
                          <a:cs typeface="Century Gothic"/>
                        </a:rPr>
                        <a:t>Gramm-Leach-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Bliley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80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(GLBA)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800" spc="-6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law/Federal</a:t>
                      </a:r>
                      <a:r>
                        <a:rPr dirty="0" sz="18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Trade</a:t>
                      </a:r>
                      <a:r>
                        <a:rPr dirty="0" sz="18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Commission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 marR="1183640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Massachusetts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Debt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Collection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Regulations,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940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CMR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7.00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51535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State</a:t>
                      </a:r>
                      <a:r>
                        <a:rPr dirty="0" sz="1800" spc="-7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law/Massachusetts</a:t>
                      </a:r>
                      <a:r>
                        <a:rPr dirty="0" sz="1800" spc="-7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Attorney General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 marR="521970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Payment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Card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Industry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Data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Security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Standard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(PCI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DSS)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23215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Proprietary</a:t>
                      </a:r>
                      <a:r>
                        <a:rPr dirty="0" sz="1800" spc="-8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standard/card</a:t>
                      </a:r>
                      <a:r>
                        <a:rPr dirty="0" sz="1800" spc="-7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associations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(e.g.,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0">
                          <a:latin typeface="Century Gothic"/>
                          <a:cs typeface="Century Gothic"/>
                        </a:rPr>
                        <a:t>Visa)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Servicemembers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Civil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Relief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Act</a:t>
                      </a:r>
                      <a:r>
                        <a:rPr dirty="0" sz="18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(SCRA)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8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law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 marR="572135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Telephone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Consumer</a:t>
                      </a:r>
                      <a:r>
                        <a:rPr dirty="0" sz="1800" spc="-6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Protection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Act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(TCPA)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8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law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 marR="330200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Unfair,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Deceptive,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or</a:t>
                      </a:r>
                      <a:r>
                        <a:rPr dirty="0" sz="18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Abusive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Acts</a:t>
                      </a:r>
                      <a:r>
                        <a:rPr dirty="0" sz="18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25"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Practices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(UDAAP)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46735">
                        <a:lnSpc>
                          <a:spcPts val="2090"/>
                        </a:lnSpc>
                        <a:spcBef>
                          <a:spcPts val="489"/>
                        </a:spcBef>
                      </a:pPr>
                      <a:r>
                        <a:rPr dirty="0" sz="18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8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law/CFPB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>
                          <a:latin typeface="Century Gothic"/>
                          <a:cs typeface="Century Gothic"/>
                        </a:rPr>
                        <a:t>Federal</a:t>
                      </a:r>
                      <a:r>
                        <a:rPr dirty="0" sz="18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800" spc="-10">
                          <a:latin typeface="Century Gothic"/>
                          <a:cs typeface="Century Gothic"/>
                        </a:rPr>
                        <a:t>Trade Commission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Compliance</a:t>
            </a:r>
            <a:r>
              <a:rPr dirty="0" sz="4000" spc="-75"/>
              <a:t> </a:t>
            </a:r>
            <a:r>
              <a:rPr dirty="0" sz="4000"/>
              <a:t>Risk:</a:t>
            </a:r>
            <a:r>
              <a:rPr dirty="0" sz="4000" spc="-65"/>
              <a:t> </a:t>
            </a:r>
            <a:r>
              <a:rPr dirty="0" sz="4000"/>
              <a:t>Vendor</a:t>
            </a:r>
            <a:r>
              <a:rPr dirty="0" sz="4000" spc="-75"/>
              <a:t> </a:t>
            </a:r>
            <a:r>
              <a:rPr dirty="0" sz="4000" spc="-10"/>
              <a:t>Management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178415" cy="354012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41300" marR="5080" indent="-228600">
              <a:lnSpc>
                <a:spcPts val="2020"/>
              </a:lnSpc>
              <a:spcBef>
                <a:spcPts val="2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Banks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rely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third-</a:t>
            </a:r>
            <a:r>
              <a:rPr dirty="0" sz="1800">
                <a:latin typeface="Century Gothic"/>
                <a:cs typeface="Century Gothic"/>
              </a:rPr>
              <a:t>party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service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providers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execute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business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processes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implement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IT </a:t>
            </a:r>
            <a:r>
              <a:rPr dirty="0" sz="1800" spc="-10">
                <a:latin typeface="Century Gothic"/>
                <a:cs typeface="Century Gothic"/>
              </a:rPr>
              <a:t>systems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121285" indent="-228600">
              <a:lnSpc>
                <a:spcPts val="19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From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regulatory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perspective,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third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parties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factored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banks’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risk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planning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must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effectively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managed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2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315595" indent="-228600">
              <a:lnSpc>
                <a:spcPts val="1989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Vendor</a:t>
            </a:r>
            <a:r>
              <a:rPr dirty="0" sz="1800" spc="-7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management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programs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define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roles,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responsibilities,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procedures,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reporting </a:t>
            </a:r>
            <a:r>
              <a:rPr dirty="0" sz="1800">
                <a:latin typeface="Century Gothic"/>
                <a:cs typeface="Century Gothic"/>
              </a:rPr>
              <a:t>mechanisms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overseeing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managing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vendor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relationship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marR="934719" indent="-228600">
              <a:lnSpc>
                <a:spcPts val="1989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Banks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face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challenge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having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limited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visibility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their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vendors’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technology </a:t>
            </a:r>
            <a:r>
              <a:rPr dirty="0" sz="1800">
                <a:latin typeface="Century Gothic"/>
                <a:cs typeface="Century Gothic"/>
              </a:rPr>
              <a:t>operations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infrastructure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6803"/>
            <a:ext cx="8443595" cy="1290320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755"/>
              </a:spcBef>
            </a:pPr>
            <a:r>
              <a:rPr dirty="0"/>
              <a:t>Compliance</a:t>
            </a:r>
            <a:r>
              <a:rPr dirty="0" spc="-135"/>
              <a:t> </a:t>
            </a:r>
            <a:r>
              <a:rPr dirty="0"/>
              <a:t>Risk:</a:t>
            </a:r>
            <a:r>
              <a:rPr dirty="0" spc="-140"/>
              <a:t> </a:t>
            </a:r>
            <a:r>
              <a:rPr dirty="0"/>
              <a:t>Regulation</a:t>
            </a:r>
            <a:r>
              <a:rPr dirty="0" spc="-130"/>
              <a:t> </a:t>
            </a:r>
            <a:r>
              <a:rPr dirty="0" spc="-25"/>
              <a:t>of </a:t>
            </a:r>
            <a:r>
              <a:rPr dirty="0"/>
              <a:t>Payments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 spc="-25"/>
              <a:t>USA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9811385" cy="319151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wide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range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laws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regulatory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guidance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apply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examples:</a:t>
            </a:r>
            <a:endParaRPr sz="2000">
              <a:latin typeface="Century Gothic"/>
              <a:cs typeface="Century Gothic"/>
            </a:endParaRPr>
          </a:p>
          <a:p>
            <a:pPr lvl="1" marL="698500" marR="511175" indent="-228600">
              <a:lnSpc>
                <a:spcPts val="19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 b="1">
                <a:latin typeface="Century Gothic"/>
                <a:cs typeface="Century Gothic"/>
              </a:rPr>
              <a:t>Processing</a:t>
            </a:r>
            <a:r>
              <a:rPr dirty="0" sz="1800" spc="-5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of</a:t>
            </a:r>
            <a:r>
              <a:rPr dirty="0" sz="1800" spc="-45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checks</a:t>
            </a:r>
            <a:r>
              <a:rPr dirty="0" sz="1800">
                <a:latin typeface="Century Gothic"/>
                <a:cs typeface="Century Gothic"/>
              </a:rPr>
              <a:t>: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Uniform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Commercial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Code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(UCC)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Expedited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Funds </a:t>
            </a:r>
            <a:r>
              <a:rPr dirty="0" sz="1800">
                <a:latin typeface="Century Gothic"/>
                <a:cs typeface="Century Gothic"/>
              </a:rPr>
              <a:t>Availability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Act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(EFAA),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b="1">
                <a:latin typeface="Century Gothic"/>
                <a:cs typeface="Century Gothic"/>
              </a:rPr>
              <a:t>Credit</a:t>
            </a:r>
            <a:r>
              <a:rPr dirty="0" sz="1800" spc="-35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card</a:t>
            </a:r>
            <a:r>
              <a:rPr dirty="0" sz="1800" spc="-3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payments</a:t>
            </a:r>
            <a:r>
              <a:rPr dirty="0" sz="1800">
                <a:latin typeface="Century Gothic"/>
                <a:cs typeface="Century Gothic"/>
              </a:rPr>
              <a:t>: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CARD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act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PCI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DSS</a:t>
            </a:r>
            <a:endParaRPr sz="1800">
              <a:latin typeface="Century Gothic"/>
              <a:cs typeface="Century Gothic"/>
            </a:endParaRPr>
          </a:p>
          <a:p>
            <a:pPr lvl="1" marL="698500" marR="838200" indent="-228600">
              <a:lnSpc>
                <a:spcPts val="2020"/>
              </a:lnSpc>
              <a:spcBef>
                <a:spcPts val="42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 b="1">
                <a:latin typeface="Century Gothic"/>
                <a:cs typeface="Century Gothic"/>
              </a:rPr>
              <a:t>Automated</a:t>
            </a:r>
            <a:r>
              <a:rPr dirty="0" sz="1800" spc="-6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clearing</a:t>
            </a:r>
            <a:r>
              <a:rPr dirty="0" sz="1800" spc="-55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house</a:t>
            </a:r>
            <a:r>
              <a:rPr dirty="0" sz="1800" spc="-6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(ACH)</a:t>
            </a:r>
            <a:r>
              <a:rPr dirty="0" sz="1800" spc="-50" b="1">
                <a:latin typeface="Century Gothic"/>
                <a:cs typeface="Century Gothic"/>
              </a:rPr>
              <a:t> </a:t>
            </a:r>
            <a:r>
              <a:rPr dirty="0" sz="1800" b="1">
                <a:latin typeface="Century Gothic"/>
                <a:cs typeface="Century Gothic"/>
              </a:rPr>
              <a:t>payments</a:t>
            </a:r>
            <a:r>
              <a:rPr dirty="0" sz="1800">
                <a:latin typeface="Century Gothic"/>
                <a:cs typeface="Century Gothic"/>
              </a:rPr>
              <a:t>: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NACHA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operating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rules,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UCC, </a:t>
            </a:r>
            <a:r>
              <a:rPr dirty="0" sz="1800">
                <a:latin typeface="Century Gothic"/>
                <a:cs typeface="Century Gothic"/>
              </a:rPr>
              <a:t>Regulation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E,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Code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Federal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Regulations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All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payments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must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comply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Bank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Secrecy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Act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95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marR="64770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 spc="-10">
                <a:latin typeface="Century Gothic"/>
                <a:cs typeface="Century Gothic"/>
              </a:rPr>
              <a:t>Anti-</a:t>
            </a:r>
            <a:r>
              <a:rPr dirty="0" sz="2000">
                <a:latin typeface="Century Gothic"/>
                <a:cs typeface="Century Gothic"/>
              </a:rPr>
              <a:t>money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laundering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(AML)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major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concern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banks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Compliance</a:t>
            </a:r>
            <a:r>
              <a:rPr dirty="0" spc="-110"/>
              <a:t> </a:t>
            </a:r>
            <a:r>
              <a:rPr dirty="0"/>
              <a:t>Risk:</a:t>
            </a:r>
            <a:r>
              <a:rPr dirty="0" spc="-120"/>
              <a:t> </a:t>
            </a:r>
            <a:r>
              <a:rPr dirty="0"/>
              <a:t>Trade</a:t>
            </a:r>
            <a:r>
              <a:rPr dirty="0" spc="-110"/>
              <a:t> </a:t>
            </a:r>
            <a:r>
              <a:rPr dirty="0" spc="-10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325735" cy="372681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Implemented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after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crisis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visibility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presented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use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OTC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derivatives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1373505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Details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OTC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derivatives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must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reported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sanctioned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trade 	repositories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9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Each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national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jurisdiction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different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requirements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to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What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asset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classes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need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reported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Which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details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needs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reported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timeliness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reporting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required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Which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market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participants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report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62287" y="2902203"/>
            <a:ext cx="60680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Regulatory</a:t>
            </a:r>
            <a:r>
              <a:rPr dirty="0" sz="4000" spc="-114"/>
              <a:t> </a:t>
            </a:r>
            <a:r>
              <a:rPr dirty="0" sz="4000" spc="-10"/>
              <a:t>Technologies</a:t>
            </a:r>
            <a:endParaRPr sz="4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Regulatory</a:t>
            </a:r>
            <a:r>
              <a:rPr dirty="0" spc="-170"/>
              <a:t> </a:t>
            </a:r>
            <a:r>
              <a:rPr dirty="0" spc="-1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932035" cy="31984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277495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Regulatory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technology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(RegTech)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uses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enhance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regulatory 	processes.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Strictly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speaking,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RegTech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subset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FinTech,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RegTech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is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applicable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non-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institutions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well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(e.g.,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healthcare 	industries).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RegTech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still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early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stage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development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adoption.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Number</a:t>
            </a:r>
            <a:r>
              <a:rPr dirty="0" sz="4000" spc="-70"/>
              <a:t> </a:t>
            </a:r>
            <a:r>
              <a:rPr dirty="0" sz="4000"/>
              <a:t>of</a:t>
            </a:r>
            <a:r>
              <a:rPr dirty="0" sz="4000" spc="-70"/>
              <a:t> </a:t>
            </a:r>
            <a:r>
              <a:rPr dirty="0" sz="4000"/>
              <a:t>regulatory</a:t>
            </a:r>
            <a:r>
              <a:rPr dirty="0" sz="4000" spc="-60"/>
              <a:t> </a:t>
            </a:r>
            <a:r>
              <a:rPr dirty="0" sz="4000" spc="-10"/>
              <a:t>alerts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37" y="1899195"/>
            <a:ext cx="9226712" cy="38710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409" y="406907"/>
            <a:ext cx="63544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Investments</a:t>
            </a:r>
            <a:r>
              <a:rPr dirty="0" spc="-120"/>
              <a:t> </a:t>
            </a:r>
            <a:r>
              <a:rPr dirty="0"/>
              <a:t>in</a:t>
            </a:r>
            <a:r>
              <a:rPr dirty="0" spc="-120"/>
              <a:t> </a:t>
            </a:r>
            <a:r>
              <a:rPr dirty="0" spc="-10"/>
              <a:t>RegTech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475" y="5980684"/>
            <a:ext cx="45148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6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DengXian"/>
                <a:cs typeface="DengXian"/>
                <a:hlinkClick r:id="rId2"/>
              </a:rPr>
              <a:t>https://www.statista.com/statistics/1313125/global-investment-activity-in-regtech/</a:t>
            </a:r>
            <a:endParaRPr sz="1600">
              <a:latin typeface="DengXian"/>
              <a:cs typeface="DengXi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720" y="1390014"/>
            <a:ext cx="5796915" cy="43872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2184" y="1396364"/>
            <a:ext cx="5918199" cy="43808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710680" y="5980684"/>
            <a:ext cx="4562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6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DengXian"/>
                <a:cs typeface="DengXian"/>
                <a:hlinkClick r:id="rId5"/>
              </a:rPr>
              <a:t>https://www.statista.com/statistics/1226494/fintech-companies-deals-emea/</a:t>
            </a:r>
            <a:endParaRPr sz="1600">
              <a:latin typeface="DengXian"/>
              <a:cs typeface="DengXi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7892" y="167002"/>
            <a:ext cx="4891921" cy="6664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dirty="0" spc="-105"/>
              <a:t> </a:t>
            </a:r>
            <a:r>
              <a:rPr dirty="0"/>
              <a:t>RegTech</a:t>
            </a:r>
            <a:r>
              <a:rPr dirty="0" spc="-110"/>
              <a:t> </a:t>
            </a:r>
            <a:r>
              <a:rPr dirty="0" spc="-1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9831705" cy="35807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Client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identification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E.g.,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Know-Your-</a:t>
            </a:r>
            <a:r>
              <a:rPr dirty="0" sz="2000">
                <a:latin typeface="Century Gothic"/>
                <a:cs typeface="Century Gothic"/>
              </a:rPr>
              <a:t>Customer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(KYC),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Diligence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9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Monitoring</a:t>
            </a:r>
            <a:endParaRPr sz="2400">
              <a:latin typeface="Century Gothic"/>
              <a:cs typeface="Century Gothic"/>
            </a:endParaRPr>
          </a:p>
          <a:p>
            <a:pPr lvl="1" marL="696595" marR="21590" indent="-226695">
              <a:lnSpc>
                <a:spcPts val="2180"/>
              </a:lnSpc>
              <a:spcBef>
                <a:spcPts val="484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E.g.,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Anti-</a:t>
            </a:r>
            <a:r>
              <a:rPr dirty="0" sz="2000">
                <a:latin typeface="Century Gothic"/>
                <a:cs typeface="Century Gothic"/>
              </a:rPr>
              <a:t>Money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Laundering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(AML),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Combatting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Terrorism 	(CFT)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Reporting</a:t>
            </a:r>
            <a:endParaRPr sz="24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210"/>
              </a:lnSpc>
              <a:spcBef>
                <a:spcPts val="53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Organizations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compelled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submit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regulatory 	authorities.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dirty="0" spc="-114"/>
              <a:t> </a:t>
            </a:r>
            <a:r>
              <a:rPr dirty="0"/>
              <a:t>in</a:t>
            </a:r>
            <a:r>
              <a:rPr dirty="0" spc="-120"/>
              <a:t> </a:t>
            </a:r>
            <a:r>
              <a:rPr dirty="0" spc="-10"/>
              <a:t>RegTech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588"/>
            <a:ext cx="5783580" cy="430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AI,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maching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learning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Distributed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Ledger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Technology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(DLT)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 spc="-10">
                <a:latin typeface="Century Gothic"/>
                <a:cs typeface="Century Gothic"/>
              </a:rPr>
              <a:t>Biometrics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Cloud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computing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Application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programming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interface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(API)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Robotic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process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automation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(RPA)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206355" cy="328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management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tradeoff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between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returns.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through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design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processes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business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practices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68325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implement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mitigating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controls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monitor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compliance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1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also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source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54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46400" y="66078"/>
            <a:ext cx="626364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Case</a:t>
            </a:r>
            <a:r>
              <a:rPr dirty="0" sz="4000" spc="-90"/>
              <a:t> </a:t>
            </a:r>
            <a:r>
              <a:rPr dirty="0" sz="4000"/>
              <a:t>6:</a:t>
            </a:r>
            <a:r>
              <a:rPr dirty="0" sz="4000" spc="-85"/>
              <a:t> </a:t>
            </a:r>
            <a:r>
              <a:rPr dirty="0" sz="4000"/>
              <a:t>RegTech</a:t>
            </a:r>
            <a:r>
              <a:rPr dirty="0" sz="4000" spc="-90"/>
              <a:t> </a:t>
            </a:r>
            <a:r>
              <a:rPr dirty="0" sz="4000"/>
              <a:t>at</a:t>
            </a:r>
            <a:r>
              <a:rPr dirty="0" sz="4000" spc="-95"/>
              <a:t> </a:t>
            </a:r>
            <a:r>
              <a:rPr dirty="0" sz="4000" spc="-20"/>
              <a:t>HSBC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81114" y="725500"/>
            <a:ext cx="11842115" cy="3869054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31445" marR="5725160" indent="168910">
              <a:lnSpc>
                <a:spcPct val="104200"/>
              </a:lnSpc>
              <a:spcBef>
                <a:spcPts val="40"/>
              </a:spcBef>
              <a:buAutoNum type="arabicPeriod"/>
              <a:tabLst>
                <a:tab pos="300355" algn="l"/>
              </a:tabLst>
            </a:pP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Mark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Cooke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expand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solutions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HSBC’s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control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systems? </a:t>
            </a:r>
            <a:r>
              <a:rPr dirty="0" sz="1200" spc="-40">
                <a:solidFill>
                  <a:srgbClr val="FF2600"/>
                </a:solidFill>
                <a:latin typeface="Arial"/>
                <a:cs typeface="Arial"/>
              </a:rPr>
              <a:t>Yes—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in a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phased and controlled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manner,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 full immediate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rollout.</a:t>
            </a:r>
            <a:endParaRPr sz="1200">
              <a:latin typeface="Arial"/>
              <a:cs typeface="Arial"/>
            </a:endParaRPr>
          </a:p>
          <a:p>
            <a:pPr marL="131445" marR="285750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pilot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showed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generate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leading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indicators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revealing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breakdowns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communication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collaboration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2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Three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Lines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Defense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(3LoD),</a:t>
            </a:r>
            <a:r>
              <a:rPr dirty="0" sz="12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something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metrics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cannot</a:t>
            </a:r>
            <a:r>
              <a:rPr dirty="0" sz="12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2600"/>
                </a:solidFill>
                <a:latin typeface="Arial"/>
                <a:cs typeface="Arial"/>
              </a:rPr>
              <a:t>do</a:t>
            </a:r>
            <a:endParaRPr sz="12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.</a:t>
            </a:r>
            <a:r>
              <a:rPr dirty="0" sz="12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addresses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board’s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concern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about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whether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HSBC’s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massive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compliance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spending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delivering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results.</a:t>
            </a:r>
            <a:endParaRPr sz="1200">
              <a:latin typeface="Arial"/>
              <a:cs typeface="Arial"/>
            </a:endParaRPr>
          </a:p>
          <a:p>
            <a:pPr marL="131445" marR="107950">
              <a:lnSpc>
                <a:spcPct val="104200"/>
              </a:lnSpc>
            </a:pP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However,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unproven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scale,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relies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small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startup,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raises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employee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2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concerns.</a:t>
            </a:r>
            <a:r>
              <a:rPr dirty="0" sz="12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Therefore,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Cooke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expand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multi-region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pilots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selective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scaling,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positioning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complement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to—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a replacement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 for—</a:t>
            </a:r>
            <a:r>
              <a:rPr dirty="0" sz="12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2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Arial"/>
                <a:cs typeface="Arial"/>
              </a:rPr>
              <a:t>controls.</a:t>
            </a:r>
            <a:endParaRPr sz="1200">
              <a:latin typeface="Arial"/>
              <a:cs typeface="Arial"/>
            </a:endParaRPr>
          </a:p>
          <a:p>
            <a:pPr marL="12700" marR="5080" indent="139700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152400" algn="l"/>
              </a:tabLst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are the main risks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HSBC faces? What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control failures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has HSBC faced in 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past,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 why?Main risks:Operational 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compliance risk (money laundering,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sanctions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breaches,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tax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evasion)Reputational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 from repeated regulatory failuresCultural 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risk—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weak risk ownership and siloed behaviorRegulatory risk,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including fines,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DPAs,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 oversight by monitorsPast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control failures:HSBC experienced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repeated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failures in</a:t>
            </a:r>
            <a:r>
              <a:rPr dirty="0" sz="10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AML,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sanctions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compliance,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client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due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diligence,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culminating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 $1.9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billion fine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 a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Deferred Prosecution</a:t>
            </a:r>
            <a:r>
              <a:rPr dirty="0" sz="10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Agreement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U.S. authorities Underlying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causes:Rapid global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expansion 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with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insufficient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centralized oversightFragmented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communication across geographies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 functionsWeak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 culture 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unclear accountabilityOverreliance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on manual,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backward-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looking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controlsOutsourcing </a:t>
            </a:r>
            <a:r>
              <a:rPr dirty="0" sz="10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operational distance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awareness</a:t>
            </a:r>
            <a:endParaRPr sz="1000">
              <a:latin typeface="Arial"/>
              <a:cs typeface="Arial"/>
            </a:endParaRPr>
          </a:p>
          <a:p>
            <a:pPr marL="271145" indent="-139700">
              <a:lnSpc>
                <a:spcPct val="100000"/>
              </a:lnSpc>
              <a:spcBef>
                <a:spcPts val="465"/>
              </a:spcBef>
              <a:buAutoNum type="arabicPeriod" startAt="2"/>
              <a:tabLst>
                <a:tab pos="271145" algn="l"/>
              </a:tabLst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How does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3LoD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model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work?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What are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strengths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weaknesses?</a:t>
            </a:r>
            <a:endParaRPr sz="1000">
              <a:latin typeface="Arial"/>
              <a:cs typeface="Arial"/>
            </a:endParaRPr>
          </a:p>
          <a:p>
            <a:pPr marL="131445" marR="450850">
              <a:lnSpc>
                <a:spcPct val="100000"/>
              </a:lnSpc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it works:First Line: Business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units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own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riskSecond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Line: Risk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compliance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functions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set policy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oversightThird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Line: Internal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audit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independently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assesses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effectiveness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Strengths:Clear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allocation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responsibilityEncourages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ownership</a:t>
            </a:r>
            <a:endParaRPr sz="1000">
              <a:latin typeface="Arial"/>
              <a:cs typeface="Arial"/>
            </a:endParaRPr>
          </a:p>
          <a:p>
            <a:pPr marL="131445" marR="459105">
              <a:lnSpc>
                <a:spcPct val="100000"/>
              </a:lnSpc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Widely accepted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regulators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best practice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Weaknesses:Heavy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reliance on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human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behavior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cultureConflicts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revenue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goals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 risk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responsibilities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first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lineTension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first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second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linesLimited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real-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time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visibility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whether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collaboration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actually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happeningEffectiveness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measured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indirectly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retrospectively</a:t>
            </a:r>
            <a:endParaRPr sz="10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755"/>
              </a:spcBef>
              <a:buAutoNum type="arabicPeriod" startAt="4"/>
              <a:tabLst>
                <a:tab pos="152400" algn="l"/>
              </a:tabLst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What are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strengths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weaknesses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solution?Strengths:Provides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forward-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looking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signals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endParaRPr sz="1000">
              <a:latin typeface="Arial"/>
              <a:cs typeface="Arial"/>
            </a:endParaRPr>
          </a:p>
          <a:p>
            <a:pPr marL="12700" marR="4274185">
              <a:lnSpc>
                <a:spcPct val="100000"/>
              </a:lnSpc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Quantifies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cultural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behavioral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dimensions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3LoDHard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game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due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continuous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collectionScales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better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than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manual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audits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Helps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identify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areas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needing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support before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failures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occur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Weaknesses:</a:t>
            </a:r>
            <a:endParaRPr sz="1000">
              <a:latin typeface="Arial"/>
              <a:cs typeface="Arial"/>
            </a:endParaRPr>
          </a:p>
          <a:p>
            <a:pPr marL="12700" marR="1151255">
              <a:lnSpc>
                <a:spcPct val="100000"/>
              </a:lnSpc>
            </a:pP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Startup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vendor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(financial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stability,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scalability)Not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plug-and-play product—requires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close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calibrationPrivacy and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employee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surveillance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concernsRisk of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false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positives or</a:t>
            </a:r>
            <a:r>
              <a:rPr dirty="0" sz="10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misinterpretation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Uncertain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perceptions</a:t>
            </a:r>
            <a:r>
              <a:rPr dirty="0" sz="10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0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2600"/>
                </a:solidFill>
                <a:latin typeface="Arial"/>
                <a:cs typeface="Arial"/>
              </a:rPr>
              <a:t>jurisdictions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948" y="5267071"/>
            <a:ext cx="9978390" cy="153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5.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Cooke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rolls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globally,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do?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Key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recommendations:Phased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deploymenStart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high-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regions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functions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before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global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rollout.Clear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governance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purposeExplicitly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frame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 as a risk support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 cultural tool,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employee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surveillance.Transparency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with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employeesCommunicate clearly that only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metadata—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content—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is analyzed, and explain</a:t>
            </a:r>
            <a:r>
              <a:rPr dirty="0" sz="14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benefits.Integrate,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don’t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replaceEmbed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insights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RCAs,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audits,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reporting.Vendor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mitigationSecure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IP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rights,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contingency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plans,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possibly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development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arrangements.Board-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level metricsTranslate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 outputs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into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understandable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indicators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tied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3LoD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effectiveness.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dirty="0" spc="-65"/>
              <a:t> </a:t>
            </a:r>
            <a:r>
              <a:rPr dirty="0"/>
              <a:t>study</a:t>
            </a:r>
            <a:r>
              <a:rPr dirty="0" spc="-65"/>
              <a:t> </a:t>
            </a:r>
            <a:r>
              <a:rPr dirty="0" spc="-1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59060" cy="35306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33655" indent="-227329">
              <a:lnSpc>
                <a:spcPct val="887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Understand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banks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traditional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control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employ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mitigate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these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risks.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particular,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understand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three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lines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defence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(3LoD)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model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Understand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role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trust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communications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between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employees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enhancing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internal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controls,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compliance,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culture.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21970" indent="-227329">
              <a:lnSpc>
                <a:spcPts val="26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Understand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assess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merits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emerging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technologies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in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improving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internal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control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curtailing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risk.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Overarching</a:t>
            </a:r>
            <a:r>
              <a:rPr dirty="0" spc="-254"/>
              <a:t> </a:t>
            </a:r>
            <a:r>
              <a:rPr dirty="0" spc="-1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917" y="1322425"/>
            <a:ext cx="11824970" cy="4938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what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extent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should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HSBC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adopt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RegTech?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adopt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incrementally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strategically,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rather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immediate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full-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rollout.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case,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shows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strong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value: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pilot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demonstrated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analyzing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communication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metadata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reveal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meaningful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patterns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linked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outsourcing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gaps,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weaknesses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Three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Lines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Defense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(3LoD)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model.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Importantly,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offers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something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currently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lacks—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forward-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looking,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data-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driven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indicator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culture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3LoD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effectiveness,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rather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than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relying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backward-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looking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metrics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losses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audit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findings</a:t>
            </a:r>
            <a:endParaRPr sz="1500">
              <a:latin typeface="Arial"/>
              <a:cs typeface="Arial"/>
            </a:endParaRPr>
          </a:p>
          <a:p>
            <a:pPr marL="12700" marR="137160">
              <a:lnSpc>
                <a:spcPct val="100000"/>
              </a:lnSpc>
            </a:pP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However,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adopt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wholesale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stage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several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reasons.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First,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solution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unproven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scale: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pilot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covered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unit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country,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HSBC’s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operations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span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70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countries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major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cultural,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regulatory,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differences.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Second,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provider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small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startup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limited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resilience,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creates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vendor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continuity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system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could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become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critical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management.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Third,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there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employee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concerns,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large-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monitoring—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even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metadata—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perceived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surveillance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undermine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very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culture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trying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strengthen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Therefore,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appropriate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extent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adoption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phased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expansion: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Extend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pilots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multiple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regions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lines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test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robustness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generalizability.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complement,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replacement,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governance,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training,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human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judgment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3LoD.</a:t>
            </a:r>
            <a:endParaRPr sz="1500">
              <a:latin typeface="Arial"/>
              <a:cs typeface="Arial"/>
            </a:endParaRPr>
          </a:p>
          <a:p>
            <a:pPr marL="12700" marR="7175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Gradually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formalize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metrics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support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board-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level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assurance,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maintaining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transparency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employees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about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purpose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limits.</a:t>
            </a:r>
            <a:endParaRPr sz="1500">
              <a:latin typeface="Arial"/>
              <a:cs typeface="Arial"/>
            </a:endParaRPr>
          </a:p>
          <a:p>
            <a:pPr marL="12700" marR="31369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short,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HSBC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should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adopt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RegTech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experimental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strategic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layer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top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framework,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scaling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once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effectiveness,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trust,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organizational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clearly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established.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balances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bank’s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obligations,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cultural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challenges,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systemic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exposure.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40513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dirty="0" spc="-65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95624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sz="2200" spc="-25">
                <a:latin typeface="Century Gothic"/>
                <a:cs typeface="Century Gothic"/>
              </a:rPr>
              <a:t>1.</a:t>
            </a:r>
            <a:r>
              <a:rPr dirty="0" sz="2200">
                <a:latin typeface="Century Gothic"/>
                <a:cs typeface="Century Gothic"/>
              </a:rPr>
              <a:t>	Should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Mark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Cooke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expand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use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RegTech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solutions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HSBC’s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1289" y="1984755"/>
            <a:ext cx="22307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entury Gothic"/>
                <a:cs typeface="Century Gothic"/>
              </a:rPr>
              <a:t>control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systems?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710179"/>
            <a:ext cx="2597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>
                <a:latin typeface="Century Gothic"/>
                <a:cs typeface="Century Gothic"/>
              </a:rPr>
              <a:t>2.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1289" y="2710179"/>
            <a:ext cx="9448165" cy="601980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dirty="0" sz="2200">
                <a:latin typeface="Century Gothic"/>
                <a:cs typeface="Century Gothic"/>
              </a:rPr>
              <a:t>What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main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risks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HSBC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faces?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control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failures </a:t>
            </a:r>
            <a:r>
              <a:rPr dirty="0" sz="2200">
                <a:latin typeface="Century Gothic"/>
                <a:cs typeface="Century Gothic"/>
              </a:rPr>
              <a:t>HSBC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has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faced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past,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factors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gave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rise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them?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673348"/>
            <a:ext cx="85744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sz="2200" spc="-25">
                <a:latin typeface="Century Gothic"/>
                <a:cs typeface="Century Gothic"/>
              </a:rPr>
              <a:t>3.</a:t>
            </a:r>
            <a:r>
              <a:rPr dirty="0" sz="2200">
                <a:latin typeface="Century Gothic"/>
                <a:cs typeface="Century Gothic"/>
              </a:rPr>
              <a:t>	How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does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3LoD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model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work?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its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strengths</a:t>
            </a:r>
            <a:r>
              <a:rPr dirty="0" sz="2200" spc="-25">
                <a:latin typeface="Century Gothic"/>
                <a:cs typeface="Century Gothic"/>
              </a:rPr>
              <a:t> and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1289" y="3901948"/>
            <a:ext cx="17887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latin typeface="Century Gothic"/>
                <a:cs typeface="Century Gothic"/>
              </a:rPr>
              <a:t>weaknesses?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627372"/>
            <a:ext cx="93046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sz="2200" spc="-25">
                <a:latin typeface="Century Gothic"/>
                <a:cs typeface="Century Gothic"/>
              </a:rPr>
              <a:t>4.</a:t>
            </a:r>
            <a:r>
              <a:rPr dirty="0" sz="2200">
                <a:latin typeface="Century Gothic"/>
                <a:cs typeface="Century Gothic"/>
              </a:rPr>
              <a:t>	What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strengths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weaknesses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RegTech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solution?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5349747"/>
            <a:ext cx="2597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>
                <a:latin typeface="Century Gothic"/>
                <a:cs typeface="Century Gothic"/>
              </a:rPr>
              <a:t>5.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1289" y="5349747"/>
            <a:ext cx="9776460" cy="60452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 marR="5080">
              <a:lnSpc>
                <a:spcPct val="72700"/>
              </a:lnSpc>
              <a:spcBef>
                <a:spcPts val="819"/>
              </a:spcBef>
            </a:pPr>
            <a:r>
              <a:rPr dirty="0" sz="2200">
                <a:latin typeface="Century Gothic"/>
                <a:cs typeface="Century Gothic"/>
              </a:rPr>
              <a:t>If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Cooke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decides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roll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out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RegTech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across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all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HSBC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branches,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what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are </a:t>
            </a:r>
            <a:r>
              <a:rPr dirty="0" sz="2200">
                <a:latin typeface="Century Gothic"/>
                <a:cs typeface="Century Gothic"/>
              </a:rPr>
              <a:t>your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recommendations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him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how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implement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this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strategy?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7753" y="816241"/>
            <a:ext cx="558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2600"/>
                </a:solidFill>
                <a:latin typeface="PMingLiU"/>
                <a:cs typeface="PMingLiU"/>
              </a:rPr>
              <a:t>往前看</a:t>
            </a:r>
            <a:endParaRPr sz="14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55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</a:t>
            </a:r>
            <a:r>
              <a:rPr dirty="0" spc="-45"/>
              <a:t> </a:t>
            </a:r>
            <a:r>
              <a:rPr dirty="0"/>
              <a:t>out</a:t>
            </a:r>
            <a:r>
              <a:rPr dirty="0" spc="-45"/>
              <a:t> </a:t>
            </a:r>
            <a:r>
              <a:rPr dirty="0" spc="-10"/>
              <a:t>RegTech?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7683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5">
                <a:latin typeface="Century Gothic"/>
                <a:cs typeface="Century Gothic"/>
              </a:rPr>
              <a:t>For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344164"/>
            <a:ext cx="15481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Against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7739" y="1598002"/>
            <a:ext cx="278193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Arguments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rolling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out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1.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Provides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forward-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looking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signals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7739" y="1979002"/>
            <a:ext cx="8678545" cy="43992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0"/>
              </a:spcBef>
            </a:pP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Traditional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backward-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looking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(losses,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audits,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fines).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uses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communication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patterns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detect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early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warning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signs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breakdowns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Three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Lines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Defense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(3LoD),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allowing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intervention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before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event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occurs.2.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Makes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 measurable</a:t>
            </a:r>
            <a:endParaRPr sz="1200">
              <a:latin typeface="Century Gothic"/>
              <a:cs typeface="Century Gothic"/>
            </a:endParaRPr>
          </a:p>
          <a:p>
            <a:pPr marL="12700" marR="253365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HSBC’s</a:t>
            </a:r>
            <a:r>
              <a:rPr dirty="0" sz="12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biggest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weakness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has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been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behavior.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directly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addresses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this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by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revealing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whether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risk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owners,</a:t>
            </a:r>
            <a:r>
              <a:rPr dirty="0" sz="12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stewards,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functions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actually</a:t>
            </a:r>
            <a:r>
              <a:rPr dirty="0" sz="12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collaborating,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rather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than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just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following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formal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processes.3.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Improves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efficiency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scalability</a:t>
            </a:r>
            <a:endParaRPr sz="1200">
              <a:latin typeface="Century Gothic"/>
              <a:cs typeface="Century Gothic"/>
            </a:endParaRPr>
          </a:p>
          <a:p>
            <a:pPr marL="12700" marR="8255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200" spc="-4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spends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billions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annually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compliance.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can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scale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organization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lower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marginal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cost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than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hiring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more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staff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expanding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audits,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improving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cost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efficiency.4.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Hard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game</a:t>
            </a:r>
            <a:endParaRPr sz="1200">
              <a:latin typeface="Century Gothic"/>
              <a:cs typeface="Century Gothic"/>
            </a:endParaRPr>
          </a:p>
          <a:p>
            <a:pPr marL="12700" marR="537845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Because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system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analyzes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large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volumes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continuous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metadata,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difficult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employees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manipulate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behavior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artificially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over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time.5.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Competitive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regulatory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advantage</a:t>
            </a:r>
            <a:endParaRPr sz="1200">
              <a:latin typeface="Century Gothic"/>
              <a:cs typeface="Century Gothic"/>
            </a:endParaRPr>
          </a:p>
          <a:p>
            <a:pPr marL="12700" marR="481330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Effective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has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become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competitive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factor.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Stronger,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data-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driven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reduce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fines,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regulatory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scrutiny,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capital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drag.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Arguments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AGAINST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rolling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out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RegTech1.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Technology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vendor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endParaRPr sz="1200">
              <a:latin typeface="Century Gothic"/>
              <a:cs typeface="Century Gothic"/>
            </a:endParaRPr>
          </a:p>
          <a:p>
            <a:pPr marL="12700" marR="249554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provider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small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startup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limited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financial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stability.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Relying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core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system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creates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continuity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risk.2.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Limited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proof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at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scale</a:t>
            </a:r>
            <a:endParaRPr sz="1200">
              <a:latin typeface="Century Gothic"/>
              <a:cs typeface="Century Gothic"/>
            </a:endParaRPr>
          </a:p>
          <a:p>
            <a:pPr marL="12700" marR="246379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pilot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covered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only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one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unit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one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country.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operates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70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countries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diverse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cultures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regulations,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making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results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uncertain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when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scaled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globally.3.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Employee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trust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privacy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concerns</a:t>
            </a:r>
            <a:endParaRPr sz="1200">
              <a:latin typeface="Century Gothic"/>
              <a:cs typeface="Century Gothic"/>
            </a:endParaRPr>
          </a:p>
          <a:p>
            <a:pPr marL="12700" marR="116839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Even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metadata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monitoring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may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perceived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surveillance,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potentially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undermining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trust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culture,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very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thing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aims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improve.4.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false</a:t>
            </a:r>
            <a:r>
              <a:rPr dirty="0" sz="12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signals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2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misinterpretation</a:t>
            </a:r>
            <a:endParaRPr sz="1200">
              <a:latin typeface="Century Gothic"/>
              <a:cs typeface="Century Gothic"/>
            </a:endParaRPr>
          </a:p>
          <a:p>
            <a:pPr marL="12700" marR="213995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Correlation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does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equal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causation.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Communication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patterns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may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reflect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workload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cultural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differences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rather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than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true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risk,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leading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false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positives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managerial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overreaction.5.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Organizational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resistance</a:t>
            </a:r>
            <a:endParaRPr sz="1200">
              <a:latin typeface="Century Gothic"/>
              <a:cs typeface="Century Gothic"/>
            </a:endParaRPr>
          </a:p>
          <a:p>
            <a:pPr marL="12700" marR="49530">
              <a:lnSpc>
                <a:spcPct val="104200"/>
              </a:lnSpc>
            </a:pP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conservative,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bureaucratic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organization.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Adoption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may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face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internal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resistance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from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managers</a:t>
            </a:r>
            <a:r>
              <a:rPr dirty="0" sz="12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who</a:t>
            </a:r>
            <a:r>
              <a:rPr dirty="0" sz="12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prefer 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traditional,</a:t>
            </a:r>
            <a:r>
              <a:rPr dirty="0" sz="12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well-</a:t>
            </a:r>
            <a:r>
              <a:rPr dirty="0" sz="1200">
                <a:solidFill>
                  <a:srgbClr val="FF2600"/>
                </a:solidFill>
                <a:latin typeface="Century Gothic"/>
                <a:cs typeface="Century Gothic"/>
              </a:rPr>
              <a:t>understood</a:t>
            </a:r>
            <a:r>
              <a:rPr dirty="0" sz="12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200" spc="-10">
                <a:solidFill>
                  <a:srgbClr val="FF2600"/>
                </a:solidFill>
                <a:latin typeface="Century Gothic"/>
                <a:cs typeface="Century Gothic"/>
              </a:rPr>
              <a:t>controls.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35045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Risks</a:t>
            </a:r>
            <a:r>
              <a:rPr dirty="0" spc="-45"/>
              <a:t> </a:t>
            </a:r>
            <a:r>
              <a:rPr dirty="0"/>
              <a:t>at</a:t>
            </a:r>
            <a:r>
              <a:rPr dirty="0" spc="-45"/>
              <a:t> </a:t>
            </a:r>
            <a:r>
              <a:rPr dirty="0" spc="-20"/>
              <a:t>HSBC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25228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Financial</a:t>
            </a:r>
            <a:r>
              <a:rPr dirty="0" sz="2800" spc="-13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risks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344164"/>
            <a:ext cx="30753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Operational</a:t>
            </a:r>
            <a:r>
              <a:rPr dirty="0" sz="2800" spc="-16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risks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6873" y="324307"/>
            <a:ext cx="7498080" cy="367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Financial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Risks</a:t>
            </a:r>
            <a:r>
              <a:rPr dirty="0" sz="13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at</a:t>
            </a:r>
            <a:r>
              <a:rPr dirty="0" sz="13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Regulatory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fines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penalties</a:t>
            </a:r>
            <a:endParaRPr sz="1300">
              <a:latin typeface="Century Gothic"/>
              <a:cs typeface="Century Gothic"/>
            </a:endParaRPr>
          </a:p>
          <a:p>
            <a:pPr marL="12700" marR="540385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has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paid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over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US$5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billion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fines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related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AML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failures,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sanctions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violations,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and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misconduct.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These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directly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reduce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profitability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shareholder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value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2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Capital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profitability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pressure</a:t>
            </a:r>
            <a:endParaRPr sz="1300">
              <a:latin typeface="Century Gothic"/>
              <a:cs typeface="Century Gothic"/>
            </a:endParaRPr>
          </a:p>
          <a:p>
            <a:pPr marL="12700" marR="43815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Stricter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post-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crisis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regulations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require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hold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more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regulatory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capital.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Capital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tied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up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for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cannot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be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used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lending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growth,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lowering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return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equity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35"/>
              </a:spcBef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Revenue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pressure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from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macro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conditions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Low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interest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rates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increased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competition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from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fintechs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compress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net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interest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margins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and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fee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income,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weakening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performance.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4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Litigation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contingent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liabilities</a:t>
            </a:r>
            <a:endParaRPr sz="1300">
              <a:latin typeface="Century Gothic"/>
              <a:cs typeface="Century Gothic"/>
            </a:endParaRPr>
          </a:p>
          <a:p>
            <a:pPr marL="12700" marR="302895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Deferred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Prosecution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Agreements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(DPAs)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ongoing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regulatory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scrutiny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expose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to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future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legal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liabilities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if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recur.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Risks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AML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endParaRPr sz="1300">
              <a:latin typeface="Century Gothic"/>
              <a:cs typeface="Century Gothic"/>
            </a:endParaRPr>
          </a:p>
          <a:p>
            <a:pPr marL="12700" marR="234315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historically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failed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prevent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money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laundering,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sanctions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breaches,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tax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evasion,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revealing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weaknesses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controls,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monitoring,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due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diligence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processes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2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Weak</a:t>
            </a:r>
            <a:r>
              <a:rPr dirty="0" sz="13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3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6873" y="3981907"/>
            <a:ext cx="7519034" cy="28651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ownership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was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inconsistent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geographies.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Employees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often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prioritized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goals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over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compliance,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leading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breakdowns.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Complex</a:t>
            </a:r>
            <a:r>
              <a:rPr dirty="0" sz="13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global</a:t>
            </a:r>
            <a:r>
              <a:rPr dirty="0" sz="13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operations</a:t>
            </a:r>
            <a:endParaRPr sz="1300">
              <a:latin typeface="Century Gothic"/>
              <a:cs typeface="Century Gothic"/>
            </a:endParaRPr>
          </a:p>
          <a:p>
            <a:pPr marL="12700" marR="63373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Operating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70+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countries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diverse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cultures,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regulations,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outsourced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functions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reduced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transparency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coordination,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increasing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risk.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35"/>
              </a:spcBef>
              <a:buAutoNum type="arabicPeriod" startAt="4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Ineffective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communication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Three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Lines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Defense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(3LoD)</a:t>
            </a:r>
            <a:endParaRPr sz="1300">
              <a:latin typeface="Century Gothic"/>
              <a:cs typeface="Century Gothic"/>
            </a:endParaRPr>
          </a:p>
          <a:p>
            <a:pPr marL="12700" marR="169545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Poor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collaboration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between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units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(first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line),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functions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(second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line),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internal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audit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(third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line)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weakened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early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detection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risks.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5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Overreliance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manual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backward-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looking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controls</a:t>
            </a:r>
            <a:endParaRPr sz="1300">
              <a:latin typeface="Century Gothic"/>
              <a:cs typeface="Century Gothic"/>
            </a:endParaRPr>
          </a:p>
          <a:p>
            <a:pPr marL="12700" marR="470534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Traditional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audits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loss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metrics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detect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problems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after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damage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occurs,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limiting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HSBC’s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ability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prevent</a:t>
            </a:r>
            <a:r>
              <a:rPr dirty="0" sz="13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emerging</a:t>
            </a:r>
            <a:r>
              <a:rPr dirty="0" sz="13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risks.</a:t>
            </a:r>
            <a:endParaRPr sz="1300">
              <a:latin typeface="Century Gothic"/>
              <a:cs typeface="Century Gothic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AutoNum type="arabicPeriod" startAt="6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Outsourcing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3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distance</a:t>
            </a:r>
            <a:endParaRPr sz="1300">
              <a:latin typeface="Century Gothic"/>
              <a:cs typeface="Century Gothic"/>
            </a:endParaRPr>
          </a:p>
          <a:p>
            <a:pPr marL="12700" marR="393700">
              <a:lnSpc>
                <a:spcPct val="102200"/>
              </a:lnSpc>
              <a:spcBef>
                <a:spcPts val="15"/>
              </a:spcBef>
            </a:pP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Shifting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activities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lower-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cost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external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providers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reduced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engagement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560">
                <a:solidFill>
                  <a:srgbClr val="FF2600"/>
                </a:solidFill>
                <a:latin typeface="Century Gothic"/>
                <a:cs typeface="Century Gothic"/>
              </a:rPr>
              <a:t>o</a:t>
            </a:r>
            <a:r>
              <a:rPr dirty="0" sz="1200" spc="-90">
                <a:solidFill>
                  <a:srgbClr val="898989"/>
                </a:solidFill>
                <a:latin typeface="Century Gothic"/>
                <a:cs typeface="Century Gothic"/>
              </a:rPr>
              <a:t>5</a:t>
            </a:r>
            <a:r>
              <a:rPr dirty="0" sz="1300" spc="-625">
                <a:solidFill>
                  <a:srgbClr val="FF2600"/>
                </a:solidFill>
                <a:latin typeface="Century Gothic"/>
                <a:cs typeface="Century Gothic"/>
              </a:rPr>
              <a:t>v</a:t>
            </a:r>
            <a:r>
              <a:rPr dirty="0" sz="1200" spc="-35">
                <a:solidFill>
                  <a:srgbClr val="898989"/>
                </a:solidFill>
                <a:latin typeface="Century Gothic"/>
                <a:cs typeface="Century Gothic"/>
              </a:rPr>
              <a:t>9</a:t>
            </a:r>
            <a:r>
              <a:rPr dirty="0" sz="1300" spc="10">
                <a:solidFill>
                  <a:srgbClr val="FF2600"/>
                </a:solidFill>
                <a:latin typeface="Century Gothic"/>
                <a:cs typeface="Century Gothic"/>
              </a:rPr>
              <a:t>ersight,</a:t>
            </a:r>
            <a:r>
              <a:rPr dirty="0" sz="1300" spc="-10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increasing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likelihood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3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Century Gothic"/>
                <a:cs typeface="Century Gothic"/>
              </a:rPr>
              <a:t>events.</a:t>
            </a:r>
            <a:endParaRPr sz="1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86740"/>
            <a:ext cx="63493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95"/>
              <a:t> </a:t>
            </a:r>
            <a:r>
              <a:rPr dirty="0"/>
              <a:t>failures</a:t>
            </a:r>
            <a:r>
              <a:rPr dirty="0" spc="-85"/>
              <a:t> </a:t>
            </a:r>
            <a:r>
              <a:rPr dirty="0"/>
              <a:t>at</a:t>
            </a:r>
            <a:r>
              <a:rPr dirty="0" spc="-85"/>
              <a:t> </a:t>
            </a:r>
            <a:r>
              <a:rPr dirty="0" spc="-20"/>
              <a:t>HSBC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134" y="770610"/>
            <a:ext cx="11989435" cy="50780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93775" marR="112585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993775" algn="l"/>
              </a:tabLst>
            </a:pPr>
            <a:r>
              <a:rPr dirty="0" sz="2800">
                <a:latin typeface="Century Gothic"/>
                <a:cs typeface="Century Gothic"/>
              </a:rPr>
              <a:t>What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are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types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control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failures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that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HSBC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has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been </a:t>
            </a:r>
            <a:r>
              <a:rPr dirty="0" sz="2800">
                <a:latin typeface="Century Gothic"/>
                <a:cs typeface="Century Gothic"/>
              </a:rPr>
              <a:t>subject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to?</a:t>
            </a:r>
            <a:endParaRPr sz="2800">
              <a:latin typeface="Century Gothic"/>
              <a:cs typeface="Century Gothic"/>
            </a:endParaRPr>
          </a:p>
          <a:p>
            <a:pPr marL="558165" indent="-19621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558165" algn="l"/>
              </a:tabLst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400" spc="-4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AML</a:t>
            </a:r>
            <a:r>
              <a:rPr dirty="0" sz="1400" spc="-4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endParaRPr sz="1400">
              <a:latin typeface="Century Gothic"/>
              <a:cs typeface="Century Gothic"/>
            </a:endParaRPr>
          </a:p>
          <a:p>
            <a:pPr marL="361950" marR="2844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failed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maintain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anti–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money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laundering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(AML)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sanctions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screening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controls.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This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allowed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money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laundering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by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drug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cartels,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dealings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sanctioned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countries,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weak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customer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due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diligence,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leading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major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regulatory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actions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fines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(including</a:t>
            </a:r>
            <a:r>
              <a:rPr dirty="0" sz="14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U.S.</a:t>
            </a:r>
            <a:r>
              <a:rPr dirty="0" sz="14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Deferred</a:t>
            </a:r>
            <a:r>
              <a:rPr dirty="0" sz="1400" spc="-4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Prosecution</a:t>
            </a:r>
            <a:r>
              <a:rPr dirty="0" sz="1400" spc="-4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Agreement)</a:t>
            </a:r>
            <a:endParaRPr sz="1400">
              <a:latin typeface="Century Gothic"/>
              <a:cs typeface="Century Gothic"/>
            </a:endParaRPr>
          </a:p>
          <a:p>
            <a:pPr marL="248285" indent="-196850">
              <a:lnSpc>
                <a:spcPct val="100000"/>
              </a:lnSpc>
              <a:spcBef>
                <a:spcPts val="25"/>
              </a:spcBef>
              <a:buAutoNum type="arabicPeriod" startAt="2"/>
              <a:tabLst>
                <a:tab pos="248285" algn="l"/>
              </a:tabLst>
            </a:pP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Weak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monitoring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detection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endParaRPr sz="1400">
              <a:latin typeface="Century Gothic"/>
              <a:cs typeface="Century Gothic"/>
            </a:endParaRPr>
          </a:p>
          <a:p>
            <a:pPr marL="51435" marR="59055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relied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heavily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backward-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looking,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manual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(audits,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loss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reports,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RCAs),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which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detected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problems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only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after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violations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occurred.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insufficient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early-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warning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mechanisms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identify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emerging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before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escalated</a:t>
            </a:r>
            <a:endParaRPr sz="1400">
              <a:latin typeface="Century Gothic"/>
              <a:cs typeface="Century Gothic"/>
            </a:endParaRPr>
          </a:p>
          <a:p>
            <a:pPr marL="51435" marR="219075" indent="196850">
              <a:lnSpc>
                <a:spcPct val="102200"/>
              </a:lnSpc>
              <a:buAutoNum type="arabicPeriod" startAt="3"/>
              <a:tabLst>
                <a:tab pos="248285" algn="l"/>
              </a:tabLst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Governance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oversight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failuresThere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breakdowns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oversight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Three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Defense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(3LoD):First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prioritized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growth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complianceSecond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struggled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effectively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challenge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businessThird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audits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resource-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intensive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and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slowThis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resulted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gaps,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overlaps,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unclear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accountability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Clr>
                <a:srgbClr val="FF2600"/>
              </a:buClr>
              <a:buFont typeface="Century Gothic"/>
              <a:buAutoNum type="arabicPeriod" startAt="3"/>
            </a:pPr>
            <a:endParaRPr sz="1400">
              <a:latin typeface="Century Gothic"/>
              <a:cs typeface="Century Gothic"/>
            </a:endParaRPr>
          </a:p>
          <a:p>
            <a:pPr marL="209550" indent="-196850">
              <a:lnSpc>
                <a:spcPct val="100000"/>
              </a:lnSpc>
              <a:buAutoNum type="arabicPeriod" startAt="3"/>
              <a:tabLst>
                <a:tab pos="209550" algn="l"/>
              </a:tabLst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behavioral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suffered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from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weak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including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poor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ownership,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insufficient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“speaking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up,”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limited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curiosity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about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end-to-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risks.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Regulators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explicitly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criticized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HSBC’s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deficient,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showing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formal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existed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effectively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embedded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in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behavior</a:t>
            </a:r>
            <a:endParaRPr sz="1400">
              <a:latin typeface="Century Gothic"/>
              <a:cs typeface="Century Gothic"/>
            </a:endParaRPr>
          </a:p>
          <a:p>
            <a:pPr marL="209550" indent="-196850">
              <a:lnSpc>
                <a:spcPct val="100000"/>
              </a:lnSpc>
              <a:spcBef>
                <a:spcPts val="40"/>
              </a:spcBef>
              <a:buAutoNum type="arabicPeriod" startAt="5"/>
              <a:tabLst>
                <a:tab pos="209550" algn="l"/>
              </a:tabLst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Outsourcing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distance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endParaRPr sz="1400">
              <a:latin typeface="Century Gothic"/>
              <a:cs typeface="Century Gothic"/>
            </a:endParaRPr>
          </a:p>
          <a:p>
            <a:pPr marL="12700" marR="600710">
              <a:lnSpc>
                <a:spcPct val="102200"/>
              </a:lnSpc>
              <a:spcBef>
                <a:spcPts val="1714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outsourced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globalized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operations,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effectiveness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weakened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due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reduced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engagement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communication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between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managers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operational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teams,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increasing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likelihood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unnoticed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breakdowns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16939" y="5261355"/>
            <a:ext cx="23260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Opportunity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6361" y="186499"/>
            <a:ext cx="63493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95"/>
              <a:t> </a:t>
            </a:r>
            <a:r>
              <a:rPr dirty="0"/>
              <a:t>failures</a:t>
            </a:r>
            <a:r>
              <a:rPr dirty="0" spc="-85"/>
              <a:t> </a:t>
            </a:r>
            <a:r>
              <a:rPr dirty="0"/>
              <a:t>at</a:t>
            </a:r>
            <a:r>
              <a:rPr dirty="0" spc="-85"/>
              <a:t> </a:t>
            </a:r>
            <a:r>
              <a:rPr dirty="0" spc="-20"/>
              <a:t>HSBC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6361" y="958367"/>
            <a:ext cx="9293860" cy="83311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What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factors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HSBC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think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gave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rise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these failures?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450" y="1572095"/>
            <a:ext cx="2778125" cy="1285875"/>
          </a:xfrm>
          <a:prstGeom prst="rect">
            <a:avLst/>
          </a:prstGeom>
        </p:spPr>
        <p:txBody>
          <a:bodyPr wrap="square" lIns="0" tIns="215900" rIns="0" bIns="0" rtlCol="0" vert="horz">
            <a:spAutoFit/>
          </a:bodyPr>
          <a:lstStyle/>
          <a:p>
            <a:pPr marL="471805" indent="-227965">
              <a:lnSpc>
                <a:spcPct val="100000"/>
              </a:lnSpc>
              <a:spcBef>
                <a:spcPts val="1700"/>
              </a:spcBef>
              <a:buFont typeface="Arial"/>
              <a:buChar char="•"/>
              <a:tabLst>
                <a:tab pos="471805" algn="l"/>
              </a:tabLst>
            </a:pPr>
            <a:r>
              <a:rPr dirty="0" sz="2800" spc="-10">
                <a:latin typeface="Century Gothic"/>
                <a:cs typeface="Century Gothic"/>
              </a:rPr>
              <a:t>Pressure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6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Rationalization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8065" y="1707134"/>
            <a:ext cx="8332470" cy="89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Pressure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faced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strong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growth,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profitability,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cost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pressures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low-interest,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highly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regulated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environment.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Front-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employees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were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expected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meet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targets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while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also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managing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complex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requirements,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creating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incentives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prioritize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performance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controls.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Rationalization</a:t>
            </a:r>
          </a:p>
          <a:p>
            <a:pPr marL="12700" marR="5080">
              <a:lnSpc>
                <a:spcPct val="102200"/>
              </a:lnSpc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bank’s</a:t>
            </a:r>
            <a:r>
              <a:rPr dirty="0" spc="-15"/>
              <a:t> </a:t>
            </a:r>
            <a:r>
              <a:rPr dirty="0"/>
              <a:t>size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complexity</a:t>
            </a:r>
            <a:r>
              <a:rPr dirty="0" spc="-15"/>
              <a:t> </a:t>
            </a:r>
            <a:r>
              <a:rPr dirty="0"/>
              <a:t>allowed</a:t>
            </a:r>
            <a:r>
              <a:rPr dirty="0" spc="-20"/>
              <a:t> </a:t>
            </a:r>
            <a:r>
              <a:rPr dirty="0"/>
              <a:t>employees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rationalize</a:t>
            </a:r>
            <a:r>
              <a:rPr dirty="0" spc="-15"/>
              <a:t> </a:t>
            </a:r>
            <a:r>
              <a:rPr dirty="0"/>
              <a:t>weak</a:t>
            </a:r>
            <a:r>
              <a:rPr dirty="0" spc="-15"/>
              <a:t> </a:t>
            </a:r>
            <a:r>
              <a:rPr dirty="0"/>
              <a:t>compliance</a:t>
            </a:r>
            <a:r>
              <a:rPr dirty="0" spc="-15"/>
              <a:t> </a:t>
            </a:r>
            <a:r>
              <a:rPr dirty="0"/>
              <a:t>as</a:t>
            </a:r>
            <a:r>
              <a:rPr dirty="0" spc="-20"/>
              <a:t> </a:t>
            </a:r>
            <a:r>
              <a:rPr dirty="0" spc="-10"/>
              <a:t>“industry </a:t>
            </a:r>
            <a:r>
              <a:rPr dirty="0"/>
              <a:t>practice,”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local</a:t>
            </a:r>
            <a:r>
              <a:rPr dirty="0" spc="-15"/>
              <a:t> </a:t>
            </a:r>
            <a:r>
              <a:rPr dirty="0"/>
              <a:t>issue,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someone</a:t>
            </a:r>
            <a:r>
              <a:rPr dirty="0" spc="-15"/>
              <a:t> </a:t>
            </a:r>
            <a:r>
              <a:rPr dirty="0"/>
              <a:t>else’s</a:t>
            </a:r>
            <a:r>
              <a:rPr dirty="0" spc="-15"/>
              <a:t> </a:t>
            </a:r>
            <a:r>
              <a:rPr dirty="0"/>
              <a:t>responsibility.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distance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15"/>
              <a:t> </a:t>
            </a:r>
            <a:r>
              <a:rPr dirty="0"/>
              <a:t>senior</a:t>
            </a:r>
            <a:r>
              <a:rPr dirty="0" spc="-15"/>
              <a:t> </a:t>
            </a:r>
            <a:r>
              <a:rPr dirty="0"/>
              <a:t>management</a:t>
            </a:r>
            <a:r>
              <a:rPr dirty="0" spc="-15"/>
              <a:t> </a:t>
            </a:r>
            <a:r>
              <a:rPr dirty="0" spc="-25"/>
              <a:t>and </a:t>
            </a:r>
            <a:r>
              <a:rPr dirty="0"/>
              <a:t>consequences</a:t>
            </a:r>
            <a:r>
              <a:rPr dirty="0" spc="-15"/>
              <a:t> </a:t>
            </a:r>
            <a:r>
              <a:rPr dirty="0"/>
              <a:t>reduced</a:t>
            </a:r>
            <a:r>
              <a:rPr dirty="0" spc="-15"/>
              <a:t> </a:t>
            </a:r>
            <a:r>
              <a:rPr dirty="0"/>
              <a:t>personal</a:t>
            </a:r>
            <a:r>
              <a:rPr dirty="0" spc="-15"/>
              <a:t> </a:t>
            </a:r>
            <a:r>
              <a:rPr dirty="0"/>
              <a:t>accountability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risk</a:t>
            </a:r>
            <a:r>
              <a:rPr dirty="0" spc="-15"/>
              <a:t> </a:t>
            </a:r>
            <a:r>
              <a:rPr dirty="0" spc="-10"/>
              <a:t>failures.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/>
              <a:t>Opportunity</a:t>
            </a:r>
          </a:p>
          <a:p>
            <a:pPr marL="12700" marR="60325">
              <a:lnSpc>
                <a:spcPct val="102200"/>
              </a:lnSpc>
            </a:pPr>
            <a:r>
              <a:rPr dirty="0"/>
              <a:t>Gaps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coordination</a:t>
            </a:r>
            <a:r>
              <a:rPr dirty="0" spc="-15"/>
              <a:t> </a:t>
            </a:r>
            <a:r>
              <a:rPr dirty="0"/>
              <a:t>across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Three</a:t>
            </a:r>
            <a:r>
              <a:rPr dirty="0" spc="-15"/>
              <a:t> </a:t>
            </a:r>
            <a:r>
              <a:rPr dirty="0"/>
              <a:t>Lines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Defense,</a:t>
            </a:r>
            <a:r>
              <a:rPr dirty="0" spc="-15"/>
              <a:t> </a:t>
            </a:r>
            <a:r>
              <a:rPr dirty="0"/>
              <a:t>reliance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manual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backward-looking </a:t>
            </a:r>
            <a:r>
              <a:rPr dirty="0"/>
              <a:t>controls,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extensive</a:t>
            </a:r>
            <a:r>
              <a:rPr dirty="0" spc="-20"/>
              <a:t> </a:t>
            </a:r>
            <a:r>
              <a:rPr dirty="0"/>
              <a:t>outsourcing</a:t>
            </a:r>
            <a:r>
              <a:rPr dirty="0" spc="-20"/>
              <a:t> </a:t>
            </a:r>
            <a:r>
              <a:rPr dirty="0"/>
              <a:t>weakened</a:t>
            </a:r>
            <a:r>
              <a:rPr dirty="0" spc="-20"/>
              <a:t> </a:t>
            </a:r>
            <a:r>
              <a:rPr dirty="0"/>
              <a:t>oversight.</a:t>
            </a:r>
            <a:r>
              <a:rPr dirty="0" spc="-20"/>
              <a:t> </a:t>
            </a:r>
            <a:r>
              <a:rPr dirty="0"/>
              <a:t>These</a:t>
            </a:r>
            <a:r>
              <a:rPr dirty="0" spc="-20"/>
              <a:t> </a:t>
            </a:r>
            <a:r>
              <a:rPr dirty="0"/>
              <a:t>structural</a:t>
            </a:r>
            <a:r>
              <a:rPr dirty="0" spc="-20"/>
              <a:t> </a:t>
            </a:r>
            <a:r>
              <a:rPr dirty="0"/>
              <a:t>weaknesses</a:t>
            </a:r>
            <a:r>
              <a:rPr dirty="0" spc="-20"/>
              <a:t> </a:t>
            </a:r>
            <a:r>
              <a:rPr dirty="0" spc="-10"/>
              <a:t>created </a:t>
            </a:r>
            <a:r>
              <a:rPr dirty="0"/>
              <a:t>opportunities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control</a:t>
            </a:r>
            <a:r>
              <a:rPr dirty="0" spc="-15"/>
              <a:t> </a:t>
            </a:r>
            <a:r>
              <a:rPr dirty="0"/>
              <a:t>breakdowns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persist</a:t>
            </a:r>
            <a:r>
              <a:rPr dirty="0" spc="-15"/>
              <a:t> </a:t>
            </a:r>
            <a:r>
              <a:rPr dirty="0" spc="-10"/>
              <a:t>undetected.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43624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3LoD</a:t>
            </a:r>
            <a:r>
              <a:rPr dirty="0" spc="-85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38023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First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line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defence?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835147"/>
            <a:ext cx="45275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Second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line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defence?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853179"/>
            <a:ext cx="398335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Third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line</a:t>
            </a:r>
            <a:r>
              <a:rPr dirty="0" sz="2800" spc="-2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defence?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2425" y="456057"/>
            <a:ext cx="6466840" cy="89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First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Defence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units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that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their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day-to-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day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activities.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responsible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identifying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implementing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and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operating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within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bank’s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appetite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while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pursuing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objectives.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2425" y="1546037"/>
            <a:ext cx="6597650" cy="89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Second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Defence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management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functions.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set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policies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and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standards,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provide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guidance,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monitor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challenge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first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to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ensure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properly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managed,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themselves.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2425" y="2636017"/>
            <a:ext cx="6566534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Third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Defence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Internal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audit,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which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provides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independent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assurance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senior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management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board.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evaluates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whether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first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second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lines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functioning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whether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overall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management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framework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working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intended.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3LoD</a:t>
            </a:r>
            <a:r>
              <a:rPr dirty="0" spc="-85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439" y="1807971"/>
            <a:ext cx="11450320" cy="441642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70280" marR="67754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970280" algn="l"/>
              </a:tabLst>
            </a:pPr>
            <a:r>
              <a:rPr dirty="0" sz="2800">
                <a:latin typeface="Century Gothic"/>
                <a:cs typeface="Century Gothic"/>
              </a:rPr>
              <a:t>Does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3LoD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model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effectively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address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factors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that </a:t>
            </a:r>
            <a:r>
              <a:rPr dirty="0" sz="2800">
                <a:latin typeface="Century Gothic"/>
                <a:cs typeface="Century Gothic"/>
              </a:rPr>
              <a:t>gave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rise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control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failures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HSBC?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Short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answer:</a:t>
            </a:r>
            <a:r>
              <a:rPr dirty="0" sz="1400" spc="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Partially—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fully.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3LoD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model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addresses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some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root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causes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HSBC’s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failures,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its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does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eliminate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pressure,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rationalization,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or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opportunity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unless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execution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strong.</a:t>
            </a:r>
            <a:endParaRPr sz="1400">
              <a:latin typeface="Century Gothic"/>
              <a:cs typeface="Century Gothic"/>
            </a:endParaRPr>
          </a:p>
          <a:p>
            <a:pPr marL="12700" marR="814324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Does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3LoD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address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failure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factors?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Pressure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—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Partially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addressed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3LoD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clarifies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accountability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embeds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ownership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first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which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should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counter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pressure.</a:t>
            </a:r>
            <a:endParaRPr sz="1400">
              <a:latin typeface="Century Gothic"/>
              <a:cs typeface="Century Gothic"/>
            </a:endParaRPr>
          </a:p>
          <a:p>
            <a:pPr marL="12700" marR="60325">
              <a:lnSpc>
                <a:spcPct val="102200"/>
              </a:lnSpc>
            </a:pP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However,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first-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staff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still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face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conflicting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incentives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(revenue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vs.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compliance),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so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pressure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reduced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theory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remains</a:t>
            </a:r>
            <a:r>
              <a:rPr dirty="0" sz="1400" spc="-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strong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in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practice.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Rationalization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—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Weakly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addressed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3LoD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defines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roles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responsibilities,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reducing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ambiguity.</a:t>
            </a:r>
            <a:endParaRPr sz="1400">
              <a:latin typeface="Century Gothic"/>
              <a:cs typeface="Century Gothic"/>
            </a:endParaRPr>
          </a:p>
          <a:p>
            <a:pPr marL="12700" marR="45085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does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directly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change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mindset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culture.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Employees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can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still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rationalize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non-compliance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“someone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else’s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problem,”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especially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large,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complex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organization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like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HSBC.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Opportunity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—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Better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addressed,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imperfectly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Separation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duties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independent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oversight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reduce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opportunities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for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failures.</a:t>
            </a:r>
            <a:endParaRPr sz="1400">
              <a:latin typeface="Century Gothic"/>
              <a:cs typeface="Century Gothic"/>
            </a:endParaRPr>
          </a:p>
          <a:p>
            <a:pPr marL="12700" marR="207645">
              <a:lnSpc>
                <a:spcPct val="102200"/>
              </a:lnSpc>
            </a:pP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Yet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HSBC’s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experience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shows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poor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coordination,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siloed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communication,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outsourcing,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backward-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looking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left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gaps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where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failures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persisted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undetected.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RegTech</a:t>
            </a:r>
            <a:r>
              <a:rPr dirty="0" spc="-180"/>
              <a:t> </a:t>
            </a:r>
            <a:r>
              <a:rPr dirty="0" spc="-1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9436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Pros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344164"/>
            <a:ext cx="11322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Cons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64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3413" y="1531975"/>
            <a:ext cx="15627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3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Solutions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3413" y="1749971"/>
            <a:ext cx="368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Pros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3413" y="2185963"/>
            <a:ext cx="7668895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Provide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forward-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looking,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early-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warning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signals</a:t>
            </a:r>
            <a:r>
              <a:rPr dirty="0" sz="1400" spc="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rather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than</a:t>
            </a:r>
            <a:r>
              <a:rPr dirty="0" sz="1400" spc="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backward-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looking</a:t>
            </a:r>
            <a:r>
              <a:rPr dirty="0" sz="1400" spc="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audits</a:t>
            </a:r>
            <a:endParaRPr sz="1400">
              <a:latin typeface="Century Gothic"/>
              <a:cs typeface="Century Gothic"/>
            </a:endParaRPr>
          </a:p>
          <a:p>
            <a:pPr marL="12700" marR="832485">
              <a:lnSpc>
                <a:spcPct val="2043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Improve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efficiency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scalability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compared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manual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processes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Help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make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behavior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observable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through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data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3413" y="3493940"/>
            <a:ext cx="6123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Reduce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reliance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adding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compliance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staff,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lowering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long-term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costs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3413" y="3929931"/>
            <a:ext cx="7262495" cy="2418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Harder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manipulate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due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continuous,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large-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scale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data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analysis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Cons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2043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Unproven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scale,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especially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countries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different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cultures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regulations 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Vendor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many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firms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are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small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startups</a:t>
            </a:r>
            <a:endParaRPr sz="1400">
              <a:latin typeface="Century Gothic"/>
              <a:cs typeface="Century Gothic"/>
            </a:endParaRPr>
          </a:p>
          <a:p>
            <a:pPr marL="12700" marR="622300">
              <a:lnSpc>
                <a:spcPct val="2043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Privacy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employee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trust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concerns,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even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when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only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metadata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analyzed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false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positives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misinterpretation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data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3413" y="6545883"/>
            <a:ext cx="59137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Requires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significant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change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management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organizational</a:t>
            </a:r>
            <a:r>
              <a:rPr dirty="0" sz="1400" spc="-3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buy-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in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Decision</a:t>
            </a:r>
            <a:r>
              <a:rPr dirty="0" spc="-105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 spc="-1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6135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Any</a:t>
            </a:r>
            <a:r>
              <a:rPr dirty="0" sz="2800" spc="-9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recommendations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Cooke?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886" y="2742310"/>
            <a:ext cx="10996295" cy="372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Decision: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Cooke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should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proceed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phased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rollout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RegTech,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full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immediate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implementation.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Implementation</a:t>
            </a:r>
            <a:r>
              <a:rPr dirty="0" sz="1400" spc="-5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recommendations: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Expand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pilots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gradually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across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multiple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regions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business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lines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test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scalability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cultural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differences.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Position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support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tool,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employee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surveillance;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communicate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clearly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it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analyzes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metadata,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content.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ct val="1022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Integrate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existing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3LoD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processes,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using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insights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enhance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RCAs,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audits,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management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reporting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rather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than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replacing</a:t>
            </a:r>
            <a:r>
              <a:rPr dirty="0" sz="1400" spc="-4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them.</a:t>
            </a:r>
            <a:endParaRPr sz="1400">
              <a:latin typeface="Century Gothic"/>
              <a:cs typeface="Century Gothic"/>
            </a:endParaRPr>
          </a:p>
          <a:p>
            <a:pPr marL="12700" marR="1268730">
              <a:lnSpc>
                <a:spcPct val="2043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Strengthen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governance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oversight,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clear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ownership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outputs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escalation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procedures.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Mitigate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vendor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through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strong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contracts,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contingency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plans,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possible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co-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development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or</a:t>
            </a:r>
            <a:r>
              <a:rPr dirty="0" sz="1400" spc="-1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IP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 safeguards.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Engage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board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early,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translating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Century Gothic"/>
                <a:cs typeface="Century Gothic"/>
              </a:rPr>
              <a:t>RegTech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outputs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into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clear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metrics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that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demonstrate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control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effectiveness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FF2600"/>
                </a:solidFill>
                <a:latin typeface="Century Gothic"/>
                <a:cs typeface="Century Gothic"/>
              </a:rPr>
              <a:t>and</a:t>
            </a:r>
            <a:r>
              <a:rPr dirty="0" sz="1400" spc="-25">
                <a:solidFill>
                  <a:srgbClr val="FF2600"/>
                </a:solidFill>
                <a:latin typeface="Century Gothic"/>
                <a:cs typeface="Century Gothic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Century Gothic"/>
                <a:cs typeface="Century Gothic"/>
              </a:rPr>
              <a:t>ROI.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Update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4849495" cy="22415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1300" marR="5080" indent="-228600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HSBC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decided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continue </a:t>
            </a:r>
            <a:r>
              <a:rPr dirty="0" sz="2800">
                <a:latin typeface="Century Gothic"/>
                <a:cs typeface="Century Gothic"/>
              </a:rPr>
              <a:t>working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with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RegTech provider.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New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trouble.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2788" y="237938"/>
            <a:ext cx="6095176" cy="62531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65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dirty="0" spc="-65"/>
              <a:t> </a:t>
            </a:r>
            <a:r>
              <a:rPr dirty="0" spc="-1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9671685" cy="3259454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Understand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various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type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risks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HSBC,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especially </a:t>
            </a:r>
            <a:r>
              <a:rPr dirty="0" sz="2800">
                <a:latin typeface="Century Gothic"/>
                <a:cs typeface="Century Gothic"/>
              </a:rPr>
              <a:t>operational</a:t>
            </a:r>
            <a:r>
              <a:rPr dirty="0" sz="2800" spc="-16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risk.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2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3LoD</a:t>
            </a:r>
            <a:r>
              <a:rPr dirty="0" sz="2800" spc="-2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model.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1300" marR="19431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merits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and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limitations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emerging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technologies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in </a:t>
            </a:r>
            <a:r>
              <a:rPr dirty="0" sz="2800" spc="-10">
                <a:latin typeface="Century Gothic"/>
                <a:cs typeface="Century Gothic"/>
              </a:rPr>
              <a:t>compliance.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65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Afterword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689465" cy="421894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1094105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institutions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business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taking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-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risk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management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crucial.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44069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Compliance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strategic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factor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separating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organization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competitors.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Compliance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just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one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way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reducing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operational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risks.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Other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aspects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include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Ethics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training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Safe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interactive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corporate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culture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Appropriate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employee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selection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procedures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2025-12-17T18:11:17Z</dcterms:created>
  <dcterms:modified xsi:type="dcterms:W3CDTF">2025-12-17T18:11:17Z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LastSaved">
    <vt:filetime>2025-12-17T00:00:00Z</vt:filetime>
  </property>
  <property fmtid="{D5CDD505-2E9C-101B-9397-08002B2CF9AE}" pid="4" name="Producer">
    <vt:lpwstr>macOS Version 14.0 (Build 23A344) Quartz PDFContext</vt:lpwstr>
  </property>
</Properties>
</file>